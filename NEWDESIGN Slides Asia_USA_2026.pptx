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omments/modernComment_12B_2C70539A.xml" ContentType="application/vnd.ms-powerpoint.comments+xml"/>
  <Override PartName="/ppt/comments/modernComment_7FE4EBAB_F9E6FE09.xml" ContentType="application/vnd.ms-powerpoint.comments+xml"/>
  <Override PartName="/ppt/comments/modernComment_7FFFF630_5D6E66AE.xml" ContentType="application/vnd.ms-powerpoint.comments+xml"/>
  <Override PartName="/ppt/comments/modernComment_7FFFF65B_5BB2EFC7.xml" ContentType="application/vnd.ms-powerpoint.comments+xml"/>
  <Override PartName="/ppt/comments/modernComment_7FFFF631_DB052139.xml" ContentType="application/vnd.ms-powerpoint.comments+xml"/>
  <Override PartName="/ppt/notesSlides/notesSlide1.xml" ContentType="application/vnd.openxmlformats-officedocument.presentationml.notesSlide+xml"/>
  <Override PartName="/ppt/comments/modernComment_7FE4EBBE_131E264D.xml" ContentType="application/vnd.ms-powerpoint.comments+xml"/>
  <Override PartName="/ppt/notesSlides/notesSlide2.xml" ContentType="application/vnd.openxmlformats-officedocument.presentationml.notesSlide+xml"/>
  <Override PartName="/ppt/comments/modernComment_7FFFF633_D36CDF0F.xml" ContentType="application/vnd.ms-powerpoint.comments+xml"/>
  <Override PartName="/ppt/notesSlides/notesSlide3.xml" ContentType="application/vnd.openxmlformats-officedocument.presentationml.notesSlide+xml"/>
  <Override PartName="/ppt/comments/modernComment_7FFFF634_3220D005.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7FFFF638_391870D1.xml" ContentType="application/vnd.ms-powerpoint.comments+xml"/>
  <Override PartName="/ppt/notesSlides/notesSlide8.xml" ContentType="application/vnd.openxmlformats-officedocument.presentationml.notesSlide+xml"/>
  <Override PartName="/ppt/comments/modernComment_7FFFF65A_F1D620F.xml" ContentType="application/vnd.ms-powerpoint.comments+xml"/>
  <Override PartName="/ppt/notesSlides/notesSlide9.xml" ContentType="application/vnd.openxmlformats-officedocument.presentationml.notesSlide+xml"/>
  <Override PartName="/ppt/comments/modernComment_7FFFF639_CF77B45A.xml" ContentType="application/vnd.ms-powerpoint.comments+xml"/>
  <Override PartName="/ppt/notesSlides/notesSlide10.xml" ContentType="application/vnd.openxmlformats-officedocument.presentationml.notesSlide+xml"/>
  <Override PartName="/ppt/comments/modernComment_7FFFF63A_D12F4B9F.xml" ContentType="application/vnd.ms-powerpoint.comments+xml"/>
  <Override PartName="/ppt/notesSlides/notesSlide11.xml" ContentType="application/vnd.openxmlformats-officedocument.presentationml.notesSlide+xml"/>
  <Override PartName="/ppt/comments/modernComment_7FFFF63B_4F8E0A0F.xml" ContentType="application/vnd.ms-powerpoint.comments+xml"/>
  <Override PartName="/ppt/notesSlides/notesSlide12.xml" ContentType="application/vnd.openxmlformats-officedocument.presentationml.notesSlide+xml"/>
  <Override PartName="/ppt/comments/modernComment_7FFFF63C_FAF58924.xml" ContentType="application/vnd.ms-powerpoint.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4.xml" ContentType="application/vnd.openxmlformats-officedocument.presentationml.notesSlide+xml"/>
  <Override PartName="/ppt/comments/modernComment_7FFFF647_55A69B63.xml" ContentType="application/vnd.ms-powerpoint.comments+xml"/>
  <Override PartName="/ppt/notesSlides/notesSlide25.xml" ContentType="application/vnd.openxmlformats-officedocument.presentationml.notesSlide+xml"/>
  <Override PartName="/ppt/comments/modernComment_7FFFF648_432D9690.xml" ContentType="application/vnd.ms-powerpoint.comments+xml"/>
  <Override PartName="/ppt/notesSlides/notesSlide26.xml" ContentType="application/vnd.openxmlformats-officedocument.presentationml.notesSlide+xml"/>
  <Override PartName="/ppt/comments/modernComment_7FFFF649_4A052A62.xml" ContentType="application/vnd.ms-powerpoint.comments+xml"/>
  <Override PartName="/ppt/notesSlides/notesSlide27.xml" ContentType="application/vnd.openxmlformats-officedocument.presentationml.notesSlide+xml"/>
  <Override PartName="/ppt/comments/modernComment_7FFFF64A_F6DC2BB1.xml" ContentType="application/vnd.ms-powerpoint.comment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7FFFF64C_F4E1C4F9.xml" ContentType="application/vnd.ms-powerpoint.comment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omments/modernComment_7FFFF64E_A5BC318E.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omments/modernComment_7FFFF657_4C3FE6D.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7FFFF65D_B12C5BBF.xml" ContentType="application/vnd.ms-powerpoint.comments+xml"/>
  <Override PartName="/ppt/notesSlides/notesSlide43.xml" ContentType="application/vnd.openxmlformats-officedocument.presentationml.notesSlide+xml"/>
  <Override PartName="/ppt/comments/modernComment_7FFFF65E_2E014C17.xml" ContentType="application/vnd.ms-powerpoint.comments+xml"/>
  <Override PartName="/ppt/notesSlides/notesSlide44.xml" ContentType="application/vnd.openxmlformats-officedocument.presentationml.notesSlide+xml"/>
  <Override PartName="/ppt/comments/modernComment_7FFFF65F_D5494608.xml" ContentType="application/vnd.ms-powerpoint.comments+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omments/modernComment_7FFFF666_6B20DFE6.xml" ContentType="application/vnd.ms-powerpoint.comment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Lst>
  <p:notesMasterIdLst>
    <p:notesMasterId r:id="rId66"/>
  </p:notesMasterIdLst>
  <p:sldIdLst>
    <p:sldId id="299" r:id="rId6"/>
    <p:sldId id="2145708971" r:id="rId7"/>
    <p:sldId id="2147481136" r:id="rId8"/>
    <p:sldId id="2147481179" r:id="rId9"/>
    <p:sldId id="2147481180" r:id="rId10"/>
    <p:sldId id="2147481137" r:id="rId11"/>
    <p:sldId id="2147481138" r:id="rId12"/>
    <p:sldId id="2145708990" r:id="rId13"/>
    <p:sldId id="2147481139" r:id="rId14"/>
    <p:sldId id="2147481140" r:id="rId15"/>
    <p:sldId id="2147481141" r:id="rId16"/>
    <p:sldId id="2147481142" r:id="rId17"/>
    <p:sldId id="2147481143" r:id="rId18"/>
    <p:sldId id="2147481144" r:id="rId19"/>
    <p:sldId id="2147481178" r:id="rId20"/>
    <p:sldId id="2147481145" r:id="rId21"/>
    <p:sldId id="2147481146" r:id="rId22"/>
    <p:sldId id="2147481147" r:id="rId23"/>
    <p:sldId id="2147481148" r:id="rId24"/>
    <p:sldId id="2147481149" r:id="rId25"/>
    <p:sldId id="2147481150" r:id="rId26"/>
    <p:sldId id="2147481151" r:id="rId27"/>
    <p:sldId id="2147481152" r:id="rId28"/>
    <p:sldId id="2147481153" r:id="rId29"/>
    <p:sldId id="2147481154" r:id="rId30"/>
    <p:sldId id="2147481177" r:id="rId31"/>
    <p:sldId id="2147481155" r:id="rId32"/>
    <p:sldId id="2147481156" r:id="rId33"/>
    <p:sldId id="2147481158" r:id="rId34"/>
    <p:sldId id="2147481157" r:id="rId35"/>
    <p:sldId id="2147481159" r:id="rId36"/>
    <p:sldId id="2147481160" r:id="rId37"/>
    <p:sldId id="2147481161" r:id="rId38"/>
    <p:sldId id="2147481162" r:id="rId39"/>
    <p:sldId id="2147481163" r:id="rId40"/>
    <p:sldId id="2147481164" r:id="rId41"/>
    <p:sldId id="2147481165" r:id="rId42"/>
    <p:sldId id="2147481166" r:id="rId43"/>
    <p:sldId id="2147481167" r:id="rId44"/>
    <p:sldId id="2147481168" r:id="rId45"/>
    <p:sldId id="2147481169" r:id="rId46"/>
    <p:sldId id="2147481170" r:id="rId47"/>
    <p:sldId id="2147481171" r:id="rId48"/>
    <p:sldId id="2147481172" r:id="rId49"/>
    <p:sldId id="2147481173" r:id="rId50"/>
    <p:sldId id="2147481174" r:id="rId51"/>
    <p:sldId id="2147481175" r:id="rId52"/>
    <p:sldId id="2147481176" r:id="rId53"/>
    <p:sldId id="2147481181" r:id="rId54"/>
    <p:sldId id="2147481182" r:id="rId55"/>
    <p:sldId id="2147481183" r:id="rId56"/>
    <p:sldId id="2147481184" r:id="rId57"/>
    <p:sldId id="2147481185" r:id="rId58"/>
    <p:sldId id="2147481186" r:id="rId59"/>
    <p:sldId id="2147481187" r:id="rId60"/>
    <p:sldId id="2147481189" r:id="rId61"/>
    <p:sldId id="2147481190" r:id="rId62"/>
    <p:sldId id="2147481191" r:id="rId63"/>
    <p:sldId id="2147481192" r:id="rId64"/>
    <p:sldId id="2147481193" r:id="rId65"/>
  </p:sldIdLst>
  <p:sldSz cx="12192000" cy="6858000"/>
  <p:notesSz cx="6858000" cy="9144000"/>
  <p:defaultTextStyle>
    <a:defPPr lvl="0">
      <a:defRPr lang="en-KE"/>
    </a:defPPr>
    <a:lvl1pPr marL="0" lvl="1" algn="l" defTabSz="914400" rtl="0" eaLnBrk="1" latinLnBrk="0" hangingPunct="1">
      <a:defRPr sz="1800" kern="1200">
        <a:solidFill>
          <a:schemeClr val="tx1"/>
        </a:solidFill>
        <a:latin typeface="+mn-lt"/>
        <a:ea typeface="+mn-ea"/>
        <a:cs typeface="+mn-cs"/>
      </a:defRPr>
    </a:lvl1pPr>
    <a:lvl2pPr marL="457200" lvl="2" algn="l" defTabSz="914400" rtl="0" eaLnBrk="1" latinLnBrk="0" hangingPunct="1">
      <a:defRPr sz="1800" kern="1200">
        <a:solidFill>
          <a:schemeClr val="tx1"/>
        </a:solidFill>
        <a:latin typeface="+mn-lt"/>
        <a:ea typeface="+mn-ea"/>
        <a:cs typeface="+mn-cs"/>
      </a:defRPr>
    </a:lvl2pPr>
    <a:lvl3pPr marL="914400" lvl="3" algn="l" defTabSz="914400" rtl="0" eaLnBrk="1" latinLnBrk="0" hangingPunct="1">
      <a:defRPr sz="1800" kern="1200">
        <a:solidFill>
          <a:schemeClr val="tx1"/>
        </a:solidFill>
        <a:latin typeface="+mn-lt"/>
        <a:ea typeface="+mn-ea"/>
        <a:cs typeface="+mn-cs"/>
      </a:defRPr>
    </a:lvl3pPr>
    <a:lvl4pPr marL="1371600" lvl="4"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3ADA58A-5817-4023-86AF-123EE166D6FC}">
          <p14:sldIdLst>
            <p14:sldId id="299"/>
            <p14:sldId id="2145708971"/>
            <p14:sldId id="2147481136"/>
            <p14:sldId id="2147481179"/>
            <p14:sldId id="2147481180"/>
          </p14:sldIdLst>
        </p14:section>
        <p14:section name="Contents" id="{EB0CDE21-4A18-49C8-8233-B0604D6DDEBC}">
          <p14:sldIdLst>
            <p14:sldId id="2147481137"/>
          </p14:sldIdLst>
        </p14:section>
        <p14:section name="Vision - clean" id="{01E3612B-994F-4FE1-BE0C-BDABCE8F2466}">
          <p14:sldIdLst>
            <p14:sldId id="2147481138"/>
          </p14:sldIdLst>
        </p14:section>
        <p14:section name="Vision - with text" id="{F868F9BA-0904-40A9-8F77-2A35E097AB97}">
          <p14:sldIdLst>
            <p14:sldId id="2145708990"/>
          </p14:sldIdLst>
        </p14:section>
        <p14:section name="Context - clean" id="{9ADDD980-9349-44DB-AD29-F94CE508535C}">
          <p14:sldIdLst>
            <p14:sldId id="2147481139"/>
            <p14:sldId id="2147481140"/>
          </p14:sldIdLst>
        </p14:section>
        <p14:section name="Context - investment thesis" id="{CA86DB54-4F9C-4CD7-B1B7-FA3277E9CB56}">
          <p14:sldIdLst>
            <p14:sldId id="2147481141"/>
            <p14:sldId id="2147481142"/>
            <p14:sldId id="2147481143"/>
            <p14:sldId id="2147481144"/>
            <p14:sldId id="2147481178"/>
            <p14:sldId id="2147481145"/>
            <p14:sldId id="2147481146"/>
            <p14:sldId id="2147481147"/>
          </p14:sldIdLst>
        </p14:section>
        <p14:section name="Aqua for All and Water Resilience Coalition" id="{53F385D4-3F2B-4898-8B90-5A69FDEAF61E}">
          <p14:sldIdLst>
            <p14:sldId id="2147481148"/>
            <p14:sldId id="2147481149"/>
            <p14:sldId id="2147481150"/>
            <p14:sldId id="2147481151"/>
          </p14:sldIdLst>
        </p14:section>
        <p14:section name="A Global Water Investment Facility - Clean" id="{73712653-B74F-47A4-883D-DBD0D1FCDBC6}">
          <p14:sldIdLst>
            <p14:sldId id="2147481152"/>
            <p14:sldId id="2147481153"/>
            <p14:sldId id="2147481154"/>
            <p14:sldId id="2147481177"/>
            <p14:sldId id="2147481155"/>
          </p14:sldIdLst>
        </p14:section>
        <p14:section name="Investment Approach" id="{11392936-4DD2-4E6E-982F-23210CA17092}">
          <p14:sldIdLst>
            <p14:sldId id="2147481156"/>
            <p14:sldId id="2147481158"/>
            <p14:sldId id="2147481157"/>
            <p14:sldId id="2147481159"/>
            <p14:sldId id="2147481160"/>
            <p14:sldId id="2147481161"/>
            <p14:sldId id="2147481162"/>
            <p14:sldId id="2147481163"/>
          </p14:sldIdLst>
        </p14:section>
        <p14:section name="Targeted Portfolio" id="{2BDD66B8-0A1B-47A8-9960-19FD58193027}">
          <p14:sldIdLst>
            <p14:sldId id="2147481164"/>
            <p14:sldId id="2147481165"/>
            <p14:sldId id="2147481166"/>
            <p14:sldId id="2147481167"/>
            <p14:sldId id="2147481168"/>
            <p14:sldId id="2147481169"/>
          </p14:sldIdLst>
        </p14:section>
        <p14:section name="Impact" id="{5C0287CB-A1A4-40A8-BB6F-0138485880AF}">
          <p14:sldIdLst>
            <p14:sldId id="2147481170"/>
            <p14:sldId id="2147481171"/>
            <p14:sldId id="2147481172"/>
            <p14:sldId id="2147481173"/>
          </p14:sldIdLst>
        </p14:section>
        <p14:section name="Governance" id="{F25F2141-29EB-4982-A9A4-DFC933FA46B4}">
          <p14:sldIdLst>
            <p14:sldId id="2147481174"/>
            <p14:sldId id="2147481175"/>
            <p14:sldId id="2147481176"/>
          </p14:sldIdLst>
        </p14:section>
        <p14:section name="Call to Action" id="{B0B326B9-F81F-4DB6-8BA2-6CB5933C8A99}">
          <p14:sldIdLst>
            <p14:sldId id="2147481181"/>
            <p14:sldId id="2147481182"/>
          </p14:sldIdLst>
        </p14:section>
        <p14:section name="Annex - Structure and Terms" id="{1F1F4DE9-01ED-466D-B0C3-DC37773DF9DA}">
          <p14:sldIdLst>
            <p14:sldId id="2147481183"/>
            <p14:sldId id="2147481184"/>
            <p14:sldId id="2147481185"/>
            <p14:sldId id="2147481186"/>
            <p14:sldId id="2147481187"/>
            <p14:sldId id="2147481189"/>
          </p14:sldIdLst>
        </p14:section>
        <p14:section name="Annex - Forecast" id="{E3C90E04-BEB7-47BF-A6EC-B91D82DCEF75}">
          <p14:sldIdLst>
            <p14:sldId id="2147481190"/>
            <p14:sldId id="2147481191"/>
            <p14:sldId id="2147481192"/>
          </p14:sldIdLst>
        </p14:section>
        <p14:section name="Dsiclaimer and contact info" id="{FB71212B-58EC-45B6-977F-9131C823A8BD}">
          <p14:sldIdLst>
            <p14:sldId id="214748119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700C67-1BB0-CEE6-E468-89DE67BCA553}" name="lyn@rainbowcollection.nl" initials="" userId="c5d9d68535366eb8" providerId="Windows Live"/>
  <p188:author id="{12AE2DB8-650F-1A85-FA73-62C4BA677082}" name="Ingwell Kuil" initials="IK" userId="S::Ingwell.Kuil@rebelgroup.com::d494afbc-ad02-4976-91fa-c6dc27f847cd" providerId="AD"/>
  <p188:author id="{DD4EF8D5-657D-3CBD-3046-00DB3EBE6229}" name="Ingwell Kuil" initials="IK" userId="S::i.kuil@aquaforall.org::7ed60581-95cc-48c6-8f40-f8ea71e113bc"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B7D6E1"/>
    <a:srgbClr val="FFA726"/>
    <a:srgbClr val="004D7A"/>
    <a:srgbClr val="F3F1ED"/>
    <a:srgbClr val="173E55"/>
    <a:srgbClr val="3E78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55" autoAdjust="0"/>
    <p:restoredTop sz="94703"/>
  </p:normalViewPr>
  <p:slideViewPr>
    <p:cSldViewPr snapToGrid="0">
      <p:cViewPr>
        <p:scale>
          <a:sx n="120" d="100"/>
          <a:sy n="120" d="100"/>
        </p:scale>
        <p:origin x="200" y="6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viewProps" Target="viewProps.xml"/><Relationship Id="rId7" Type="http://schemas.openxmlformats.org/officeDocument/2006/relationships/slide" Target="slides/slide2.xml"/><Relationship Id="rId71"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theme" Target="theme/theme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charts/_rels/chart1.xml.rels><?xml version="1.0" encoding="UTF-8" standalone="yes"?>
<Relationships xmlns="http://schemas.openxmlformats.org/package/2006/relationships"><Relationship Id="rId3" Type="http://schemas.openxmlformats.org/officeDocument/2006/relationships/oleObject" Target="https://aquaforall.sharepoint.com/sites/Communication/Shared%20Documents/Corporate%20Communications/Fundraising/CEO%20Water%20Mandate/NYC%20Sept%202025/Brainstorm.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werkblad.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werkblad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aquaforall.sharepoint.com/sites/Communication/Shared%20Documents/Corporate%20Communications/Fundraising/CEO%20Water%20Mandate/NYC%20Sept%202025/Brainstorm.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5225167522005145"/>
          <c:y val="4.2345726515960337E-2"/>
          <c:w val="0.84774835330795351"/>
          <c:h val="0.75387864782438541"/>
        </c:manualLayout>
      </c:layout>
      <c:barChart>
        <c:barDir val="col"/>
        <c:grouping val="clustered"/>
        <c:varyColors val="0"/>
        <c:ser>
          <c:idx val="1"/>
          <c:order val="0"/>
          <c:tx>
            <c:strRef>
              <c:f>CorporateCommitment!$C$2</c:f>
              <c:strCache>
                <c:ptCount val="1"/>
                <c:pt idx="0">
                  <c:v>Annual Collective Investment Target ($M)</c:v>
                </c:pt>
              </c:strCache>
            </c:strRef>
          </c:tx>
          <c:spPr>
            <a:solidFill>
              <a:srgbClr val="004D7A"/>
            </a:solidFill>
            <a:ln>
              <a:noFill/>
            </a:ln>
            <a:effectLst/>
          </c:spPr>
          <c:invertIfNegative val="0"/>
          <c:dLbls>
            <c:dLbl>
              <c:idx val="0"/>
              <c:layout>
                <c:manualLayout>
                  <c:x val="-1.3932653939096127E-3"/>
                  <c:y val="5.8022359390556541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3.7774057771365589E-2"/>
                      <c:h val="5.5739935542113504E-2"/>
                    </c:manualLayout>
                  </c15:layout>
                </c:ext>
                <c:ext xmlns:c16="http://schemas.microsoft.com/office/drawing/2014/chart" uri="{C3380CC4-5D6E-409C-BE32-E72D297353CC}">
                  <c16:uniqueId val="{00000000-F64B-404E-9C6B-9DF88DB19B35}"/>
                </c:ext>
              </c:extLst>
            </c:dLbl>
            <c:dLbl>
              <c:idx val="1"/>
              <c:layout>
                <c:manualLayout>
                  <c:x val="-1.3932653939095871E-3"/>
                  <c:y val="7.032697639254907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64B-404E-9C6B-9DF88DB19B35}"/>
                </c:ext>
              </c:extLst>
            </c:dLbl>
            <c:dLbl>
              <c:idx val="2"/>
              <c:layout>
                <c:manualLayout>
                  <c:x val="0"/>
                  <c:y val="8.19040499490897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64B-404E-9C6B-9DF88DB19B35}"/>
                </c:ext>
              </c:extLst>
            </c:dLbl>
            <c:spPr>
              <a:noFill/>
              <a:ln>
                <a:noFill/>
              </a:ln>
              <a:effectLst/>
            </c:spPr>
            <c:txPr>
              <a:bodyPr rot="0" spcFirstLastPara="1" vertOverflow="overflow" horzOverflow="overflow" vert="horz" wrap="none" lIns="18000" tIns="18000" rIns="18000" bIns="18000" anchor="ctr" anchorCtr="1">
                <a:spAutoFit/>
              </a:bodyPr>
              <a:lstStyle/>
              <a:p>
                <a:pPr>
                  <a:defRPr sz="1400" b="0" i="0" u="none" strike="noStrike" kern="1200" baseline="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CorporateCommitment!$B$3:$B$8</c:f>
              <c:strCache>
                <c:ptCount val="6"/>
                <c:pt idx="0">
                  <c:v>2023-2024¹</c:v>
                </c:pt>
                <c:pt idx="1">
                  <c:v>2025-2026</c:v>
                </c:pt>
                <c:pt idx="2">
                  <c:v>2027</c:v>
                </c:pt>
                <c:pt idx="3">
                  <c:v>2028</c:v>
                </c:pt>
                <c:pt idx="4">
                  <c:v>2029</c:v>
                </c:pt>
                <c:pt idx="5">
                  <c:v>2030</c:v>
                </c:pt>
              </c:strCache>
            </c:strRef>
          </c:cat>
          <c:val>
            <c:numRef>
              <c:f>CorporateCommitment!$C$3:$C$8</c:f>
              <c:numCache>
                <c:formatCode>0</c:formatCode>
                <c:ptCount val="6"/>
                <c:pt idx="0">
                  <c:v>160</c:v>
                </c:pt>
                <c:pt idx="1">
                  <c:v>190</c:v>
                </c:pt>
                <c:pt idx="2">
                  <c:v>250</c:v>
                </c:pt>
                <c:pt idx="3">
                  <c:v>400</c:v>
                </c:pt>
                <c:pt idx="4">
                  <c:v>500</c:v>
                </c:pt>
                <c:pt idx="5">
                  <c:v>500</c:v>
                </c:pt>
              </c:numCache>
            </c:numRef>
          </c:val>
          <c:extLst>
            <c:ext xmlns:c16="http://schemas.microsoft.com/office/drawing/2014/chart" uri="{C3380CC4-5D6E-409C-BE32-E72D297353CC}">
              <c16:uniqueId val="{00000003-F64B-404E-9C6B-9DF88DB19B35}"/>
            </c:ext>
          </c:extLst>
        </c:ser>
        <c:dLbls>
          <c:showLegendKey val="0"/>
          <c:showVal val="0"/>
          <c:showCatName val="0"/>
          <c:showSerName val="0"/>
          <c:showPercent val="0"/>
          <c:showBubbleSize val="0"/>
        </c:dLbls>
        <c:gapWidth val="219"/>
        <c:overlap val="-27"/>
        <c:axId val="198569904"/>
        <c:axId val="198571824"/>
      </c:barChart>
      <c:lineChart>
        <c:grouping val="standard"/>
        <c:varyColors val="0"/>
        <c:ser>
          <c:idx val="2"/>
          <c:order val="1"/>
          <c:tx>
            <c:strRef>
              <c:f>CorporateCommitment!$D$2</c:f>
              <c:strCache>
                <c:ptCount val="1"/>
                <c:pt idx="0">
                  <c:v>Cumulative Investment Achieved ($M)</c:v>
                </c:pt>
              </c:strCache>
            </c:strRef>
          </c:tx>
          <c:spPr>
            <a:ln w="28575" cap="rnd">
              <a:solidFill>
                <a:schemeClr val="accent4">
                  <a:tint val="65000"/>
                </a:schemeClr>
              </a:solidFill>
              <a:round/>
            </a:ln>
            <a:effectLst/>
          </c:spPr>
          <c:marker>
            <c:symbol val="circle"/>
            <c:size val="5"/>
            <c:spPr>
              <a:solidFill>
                <a:schemeClr val="accent4">
                  <a:tint val="65000"/>
                </a:schemeClr>
              </a:solidFill>
              <a:ln w="9525">
                <a:solidFill>
                  <a:schemeClr val="accent4">
                    <a:tint val="65000"/>
                  </a:schemeClr>
                </a:solidFill>
              </a:ln>
              <a:effectLst/>
            </c:spPr>
          </c:marker>
          <c:dLbls>
            <c:dLbl>
              <c:idx val="0"/>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4-F64B-404E-9C6B-9DF88DB19B35}"/>
                </c:ext>
              </c:extLst>
            </c:dLbl>
            <c:dLbl>
              <c:idx val="1"/>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5-F64B-404E-9C6B-9DF88DB19B35}"/>
                </c:ext>
              </c:extLst>
            </c:dLbl>
            <c:dLbl>
              <c:idx val="2"/>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6-F64B-404E-9C6B-9DF88DB19B35}"/>
                </c:ext>
              </c:extLst>
            </c:dLbl>
            <c:dLbl>
              <c:idx val="3"/>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7-F64B-404E-9C6B-9DF88DB19B35}"/>
                </c:ext>
              </c:extLst>
            </c:dLbl>
            <c:dLbl>
              <c:idx val="4"/>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8-F64B-404E-9C6B-9DF88DB19B35}"/>
                </c:ext>
              </c:extLst>
            </c:dLbl>
            <c:dLbl>
              <c:idx val="5"/>
              <c:layout>
                <c:manualLayout>
                  <c:x val="-1.8426099393359183E-2"/>
                  <c:y val="-7.3071169705665575E-3"/>
                </c:manualLayout>
              </c:layout>
              <c:tx>
                <c:rich>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baseline="0">
                        <a:solidFill>
                          <a:srgbClr val="FFB703"/>
                        </a:solidFill>
                        <a:latin typeface="Open Sans" panose="020B0606030504020204" pitchFamily="34" charset="0"/>
                        <a:ea typeface="Open Sans" panose="020B0606030504020204" pitchFamily="34" charset="0"/>
                        <a:cs typeface="Open Sans" panose="020B0606030504020204" pitchFamily="34" charset="0"/>
                      </a:defRPr>
                    </a:pPr>
                    <a:fld id="{DE98FA60-BE85-6E4A-B718-CC5CD6E9376C}" type="VALUE">
                      <a:rPr lang="en-US" smtClean="0">
                        <a:solidFill>
                          <a:srgbClr val="FFA726"/>
                        </a:solidFill>
                      </a:rPr>
                      <a:pPr marL="0" marR="0" lvl="0" indent="0" algn="ctr" defTabSz="914400" rtl="0" eaLnBrk="1" fontAlgn="auto" latinLnBrk="0" hangingPunct="1">
                        <a:lnSpc>
                          <a:spcPct val="100000"/>
                        </a:lnSpc>
                        <a:spcBef>
                          <a:spcPts val="0"/>
                        </a:spcBef>
                        <a:spcAft>
                          <a:spcPts val="0"/>
                        </a:spcAft>
                        <a:buClrTx/>
                        <a:buSzTx/>
                        <a:buFontTx/>
                        <a:buNone/>
                        <a:tabLst/>
                        <a:defRPr b="1">
                          <a:solidFill>
                            <a:srgbClr val="FFB703"/>
                          </a:solidFill>
                        </a:defRPr>
                      </a:pPr>
                      <a:t>[WAARDE]</a:t>
                    </a:fld>
                    <a:br>
                      <a:rPr lang="en-US" dirty="0">
                        <a:solidFill>
                          <a:srgbClr val="FFA726"/>
                        </a:solidFill>
                      </a:rPr>
                    </a:br>
                    <a:r>
                      <a:rPr lang="en-US" sz="1400" b="1" dirty="0">
                        <a:solidFill>
                          <a:srgbClr val="FFA726"/>
                        </a:solidFill>
                      </a:rPr>
                      <a:t>Target</a:t>
                    </a:r>
                  </a:p>
                </c:rich>
              </c:tx>
              <c:spPr>
                <a:noFill/>
                <a:ln>
                  <a:noFill/>
                </a:ln>
                <a:effectLst/>
              </c:spPr>
              <c:txPr>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baseline="0">
                      <a:solidFill>
                        <a:srgbClr val="FFB703"/>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r"/>
              <c:showLegendKey val="0"/>
              <c:showVal val="1"/>
              <c:showCatName val="0"/>
              <c:showSerName val="0"/>
              <c:showPercent val="0"/>
              <c:showBubbleSize val="0"/>
              <c:extLst>
                <c:ext xmlns:c15="http://schemas.microsoft.com/office/drawing/2012/chart" uri="{CE6537A1-D6FC-4f65-9D91-7224C49458BB}">
                  <c15:layout>
                    <c:manualLayout>
                      <c:w val="0.10443917392746266"/>
                      <c:h val="0.17614606691706541"/>
                    </c:manualLayout>
                  </c15:layout>
                  <c15:dlblFieldTable/>
                  <c15:showDataLabelsRange val="0"/>
                </c:ext>
                <c:ext xmlns:c16="http://schemas.microsoft.com/office/drawing/2014/chart" uri="{C3380CC4-5D6E-409C-BE32-E72D297353CC}">
                  <c16:uniqueId val="{00000009-F64B-404E-9C6B-9DF88DB19B35}"/>
                </c:ext>
              </c:extLst>
            </c:dLbl>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CorporateCommitment!$D$3:$D$8</c:f>
              <c:numCache>
                <c:formatCode>0</c:formatCode>
                <c:ptCount val="6"/>
                <c:pt idx="0" formatCode="General">
                  <c:v>160</c:v>
                </c:pt>
                <c:pt idx="1">
                  <c:v>350</c:v>
                </c:pt>
                <c:pt idx="2">
                  <c:v>600</c:v>
                </c:pt>
                <c:pt idx="3">
                  <c:v>1000</c:v>
                </c:pt>
                <c:pt idx="4">
                  <c:v>1500</c:v>
                </c:pt>
                <c:pt idx="5">
                  <c:v>2000</c:v>
                </c:pt>
              </c:numCache>
            </c:numRef>
          </c:val>
          <c:smooth val="0"/>
          <c:extLst>
            <c:ext xmlns:c16="http://schemas.microsoft.com/office/drawing/2014/chart" uri="{C3380CC4-5D6E-409C-BE32-E72D297353CC}">
              <c16:uniqueId val="{0000000A-F64B-404E-9C6B-9DF88DB19B35}"/>
            </c:ext>
          </c:extLst>
        </c:ser>
        <c:dLbls>
          <c:showLegendKey val="0"/>
          <c:showVal val="0"/>
          <c:showCatName val="0"/>
          <c:showSerName val="0"/>
          <c:showPercent val="0"/>
          <c:showBubbleSize val="0"/>
        </c:dLbls>
        <c:marker val="1"/>
        <c:smooth val="0"/>
        <c:axId val="198569904"/>
        <c:axId val="198571824"/>
      </c:lineChart>
      <c:catAx>
        <c:axId val="19856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FFA726"/>
                </a:solidFill>
                <a:latin typeface="Open Sans" panose="020B0606030504020204" pitchFamily="34" charset="0"/>
                <a:ea typeface="Open Sans" panose="020B0606030504020204" pitchFamily="34" charset="0"/>
                <a:cs typeface="Open Sans" panose="020B0606030504020204" pitchFamily="34" charset="0"/>
              </a:defRPr>
            </a:pPr>
            <a:endParaRPr lang="nl-NL"/>
          </a:p>
        </c:txPr>
        <c:crossAx val="198571824"/>
        <c:crosses val="autoZero"/>
        <c:auto val="1"/>
        <c:lblAlgn val="ctr"/>
        <c:lblOffset val="100"/>
        <c:noMultiLvlLbl val="0"/>
      </c:catAx>
      <c:valAx>
        <c:axId val="198571824"/>
        <c:scaling>
          <c:orientation val="minMax"/>
        </c:scaling>
        <c:delete val="1"/>
        <c:axPos val="l"/>
        <c:numFmt formatCode="0" sourceLinked="1"/>
        <c:majorTickMark val="none"/>
        <c:minorTickMark val="none"/>
        <c:tickLblPos val="nextTo"/>
        <c:crossAx val="1985699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Open Sans" panose="020B0606030504020204" pitchFamily="34" charset="0"/>
          <a:ea typeface="Open Sans" panose="020B0606030504020204" pitchFamily="34" charset="0"/>
          <a:cs typeface="Open Sans" panose="020B0606030504020204" pitchFamily="34" charset="0"/>
        </a:defRPr>
      </a:pPr>
      <a:endParaRPr lang="nl-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90"/>
      <c:rotY val="0"/>
      <c:depthPercent val="100"/>
      <c:rAngAx val="0"/>
      <c:perspective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0"/>
          <c:y val="0.10935814518565835"/>
          <c:w val="0.56033070256892026"/>
          <c:h val="0.78128370962868332"/>
        </c:manualLayout>
      </c:layout>
      <c:pie3DChart>
        <c:varyColors val="1"/>
        <c:ser>
          <c:idx val="0"/>
          <c:order val="0"/>
          <c:tx>
            <c:strRef>
              <c:f>Sheet1!$B$1</c:f>
              <c:strCache>
                <c:ptCount val="1"/>
                <c:pt idx="0">
                  <c:v>Project portfolio</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7020-4644-B383-70F59AD0EE67}"/>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7020-4644-B383-70F59AD0EE67}"/>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7020-4644-B383-70F59AD0EE67}"/>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7020-4644-B383-70F59AD0EE67}"/>
              </c:ext>
            </c:extLst>
          </c:dPt>
          <c:cat>
            <c:strRef>
              <c:f>Sheet1!$A$2:$A$5</c:f>
              <c:strCache>
                <c:ptCount val="4"/>
                <c:pt idx="0">
                  <c:v>Water Infrastructure</c:v>
                </c:pt>
                <c:pt idx="1">
                  <c:v>NBS</c:v>
                </c:pt>
                <c:pt idx="2">
                  <c:v>MFI / FI</c:v>
                </c:pt>
                <c:pt idx="3">
                  <c:v>SMEs</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7020-4644-B383-70F59AD0EE67}"/>
            </c:ext>
          </c:extLst>
        </c:ser>
        <c:dLbls>
          <c:showLegendKey val="0"/>
          <c:showVal val="0"/>
          <c:showCatName val="0"/>
          <c:showSerName val="0"/>
          <c:showPercent val="0"/>
          <c:showBubbleSize val="0"/>
          <c:showLeaderLines val="1"/>
        </c:dLbls>
      </c:pie3DChart>
      <c:spPr>
        <a:noFill/>
        <a:ln>
          <a:noFill/>
        </a:ln>
        <a:effectLst/>
      </c:spPr>
    </c:plotArea>
    <c:legend>
      <c:legendPos val="r"/>
      <c:legendEntry>
        <c:idx val="0"/>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1"/>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2"/>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3"/>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ayout>
        <c:manualLayout>
          <c:xMode val="edge"/>
          <c:yMode val="edge"/>
          <c:x val="0.52349250745193898"/>
          <c:y val="8.8981677618137328E-2"/>
          <c:w val="0.33447333809473628"/>
          <c:h val="0.8220366447637254"/>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nl-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nl-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view3D>
      <c:rotX val="90"/>
      <c:rotY val="0"/>
      <c:depthPercent val="100"/>
      <c:rAngAx val="0"/>
      <c:perspective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Project portfolio</c:v>
                </c:pt>
              </c:strCache>
            </c:strRef>
          </c:tx>
          <c:dPt>
            <c:idx val="0"/>
            <c:bubble3D val="0"/>
            <c:spPr>
              <a:solidFill>
                <a:schemeClr val="accent5">
                  <a:shade val="53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1-ACD2-9443-AE9F-FBF8375E2D6C}"/>
              </c:ext>
            </c:extLst>
          </c:dPt>
          <c:dPt>
            <c:idx val="1"/>
            <c:bubble3D val="0"/>
            <c:spPr>
              <a:solidFill>
                <a:schemeClr val="accent5">
                  <a:shade val="76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3-ACD2-9443-AE9F-FBF8375E2D6C}"/>
              </c:ext>
            </c:extLst>
          </c:dPt>
          <c:dPt>
            <c:idx val="2"/>
            <c:bubble3D val="0"/>
            <c:spPr>
              <a:solidFill>
                <a:schemeClr val="accent5"/>
              </a:solidFill>
              <a:ln w="25400">
                <a:solidFill>
                  <a:schemeClr val="lt1"/>
                </a:solidFill>
              </a:ln>
              <a:effectLst/>
              <a:sp3d contourW="25400">
                <a:contourClr>
                  <a:schemeClr val="lt1"/>
                </a:contourClr>
              </a:sp3d>
            </c:spPr>
            <c:extLst>
              <c:ext xmlns:c16="http://schemas.microsoft.com/office/drawing/2014/chart" uri="{C3380CC4-5D6E-409C-BE32-E72D297353CC}">
                <c16:uniqueId val="{00000005-ACD2-9443-AE9F-FBF8375E2D6C}"/>
              </c:ext>
            </c:extLst>
          </c:dPt>
          <c:dPt>
            <c:idx val="3"/>
            <c:bubble3D val="0"/>
            <c:spPr>
              <a:solidFill>
                <a:schemeClr val="accent5">
                  <a:tint val="77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7-ACD2-9443-AE9F-FBF8375E2D6C}"/>
              </c:ext>
            </c:extLst>
          </c:dPt>
          <c:dPt>
            <c:idx val="4"/>
            <c:bubble3D val="0"/>
            <c:spPr>
              <a:solidFill>
                <a:schemeClr val="accent5">
                  <a:tint val="54000"/>
                </a:schemeClr>
              </a:solidFill>
              <a:ln w="25400">
                <a:solidFill>
                  <a:schemeClr val="lt1"/>
                </a:solidFill>
              </a:ln>
              <a:effectLst/>
              <a:sp3d contourW="25400">
                <a:contourClr>
                  <a:schemeClr val="lt1"/>
                </a:contourClr>
              </a:sp3d>
            </c:spPr>
            <c:extLst>
              <c:ext xmlns:c16="http://schemas.microsoft.com/office/drawing/2014/chart" uri="{C3380CC4-5D6E-409C-BE32-E72D297353CC}">
                <c16:uniqueId val="{00000009-ACD2-9443-AE9F-FBF8375E2D6C}"/>
              </c:ext>
            </c:extLst>
          </c:dPt>
          <c:cat>
            <c:strRef>
              <c:f>Sheet1!$A$2:$A$6</c:f>
              <c:strCache>
                <c:ptCount val="5"/>
                <c:pt idx="0">
                  <c:v>EU</c:v>
                </c:pt>
                <c:pt idx="1">
                  <c:v>US</c:v>
                </c:pt>
                <c:pt idx="2">
                  <c:v>Asia</c:v>
                </c:pt>
                <c:pt idx="3">
                  <c:v>MENA </c:v>
                </c:pt>
                <c:pt idx="4">
                  <c:v>SSA</c:v>
                </c:pt>
              </c:strCache>
            </c:strRef>
          </c:cat>
          <c:val>
            <c:numRef>
              <c:f>Sheet1!$B$2:$B$6</c:f>
              <c:numCache>
                <c:formatCode>General</c:formatCode>
                <c:ptCount val="5"/>
                <c:pt idx="0">
                  <c:v>6.2</c:v>
                </c:pt>
                <c:pt idx="1">
                  <c:v>6.2</c:v>
                </c:pt>
                <c:pt idx="2">
                  <c:v>3.4</c:v>
                </c:pt>
                <c:pt idx="3">
                  <c:v>3.4</c:v>
                </c:pt>
                <c:pt idx="4">
                  <c:v>1.2</c:v>
                </c:pt>
              </c:numCache>
            </c:numRef>
          </c:val>
          <c:extLst>
            <c:ext xmlns:c16="http://schemas.microsoft.com/office/drawing/2014/chart" uri="{C3380CC4-5D6E-409C-BE32-E72D297353CC}">
              <c16:uniqueId val="{0000000A-ACD2-9443-AE9F-FBF8375E2D6C}"/>
            </c:ext>
          </c:extLst>
        </c:ser>
        <c:dLbls>
          <c:showLegendKey val="0"/>
          <c:showVal val="0"/>
          <c:showCatName val="0"/>
          <c:showSerName val="0"/>
          <c:showPercent val="0"/>
          <c:showBubbleSize val="0"/>
          <c:showLeaderLines val="1"/>
        </c:dLbls>
      </c:pie3DChart>
      <c:spPr>
        <a:noFill/>
        <a:ln>
          <a:noFill/>
        </a:ln>
        <a:effectLst/>
      </c:spPr>
    </c:plotArea>
    <c:legend>
      <c:legendPos val="r"/>
      <c:legendEntry>
        <c:idx val="0"/>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1"/>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2"/>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3"/>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egendEntry>
        <c:idx val="4"/>
        <c:txPr>
          <a:bodyPr rot="0" spcFirstLastPara="1" vertOverflow="ellipsis" vert="horz" wrap="square" anchor="ctr" anchorCtr="1"/>
          <a:lstStyle/>
          <a:p>
            <a:pPr>
              <a:defRPr sz="800" b="0" i="0" u="none" strike="noStrike" kern="1200" baseline="0">
                <a:solidFill>
                  <a:schemeClr val="tx1">
                    <a:lumMod val="65000"/>
                    <a:lumOff val="35000"/>
                  </a:schemeClr>
                </a:solidFill>
                <a:latin typeface="+mn-lt"/>
                <a:ea typeface="+mn-ea"/>
                <a:cs typeface="+mn-cs"/>
              </a:defRPr>
            </a:pPr>
            <a:endParaRPr lang="nl-NL"/>
          </a:p>
        </c:txPr>
      </c:legendEntry>
      <c:layout>
        <c:manualLayout>
          <c:xMode val="edge"/>
          <c:yMode val="edge"/>
          <c:x val="0.65655384194732258"/>
          <c:y val="8.2921968227427367E-2"/>
          <c:w val="0.20637437745067275"/>
          <c:h val="0.83415528073809309"/>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nl-NL"/>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nl-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6"/>
    </mc:Choice>
    <mc:Fallback>
      <c:style val="6"/>
    </mc:Fallback>
  </mc:AlternateContent>
  <c:chart>
    <c:autoTitleDeleted val="1"/>
    <c:plotArea>
      <c:layout>
        <c:manualLayout>
          <c:layoutTarget val="inner"/>
          <c:xMode val="edge"/>
          <c:yMode val="edge"/>
          <c:x val="0.15225167618330207"/>
          <c:y val="8.9019845838839758E-3"/>
          <c:w val="0.84774835330795351"/>
          <c:h val="0.75387864782438541"/>
        </c:manualLayout>
      </c:layout>
      <c:barChart>
        <c:barDir val="col"/>
        <c:grouping val="clustered"/>
        <c:varyColors val="0"/>
        <c:ser>
          <c:idx val="1"/>
          <c:order val="0"/>
          <c:tx>
            <c:strRef>
              <c:f>CorporateCommitment!$C$2</c:f>
              <c:strCache>
                <c:ptCount val="1"/>
                <c:pt idx="0">
                  <c:v>Annual Collective Investment Target ($M)</c:v>
                </c:pt>
              </c:strCache>
            </c:strRef>
          </c:tx>
          <c:spPr>
            <a:solidFill>
              <a:srgbClr val="004D7A"/>
            </a:solidFill>
            <a:ln>
              <a:noFill/>
            </a:ln>
            <a:effectLst/>
          </c:spPr>
          <c:invertIfNegative val="0"/>
          <c:dLbls>
            <c:dLbl>
              <c:idx val="0"/>
              <c:layout>
                <c:manualLayout>
                  <c:x val="-1.3932653939096127E-3"/>
                  <c:y val="5.8022359390556541E-2"/>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3.7774057771365589E-2"/>
                      <c:h val="5.5739935542113504E-2"/>
                    </c:manualLayout>
                  </c15:layout>
                </c:ext>
                <c:ext xmlns:c16="http://schemas.microsoft.com/office/drawing/2014/chart" uri="{C3380CC4-5D6E-409C-BE32-E72D297353CC}">
                  <c16:uniqueId val="{00000000-F64B-404E-9C6B-9DF88DB19B35}"/>
                </c:ext>
              </c:extLst>
            </c:dLbl>
            <c:dLbl>
              <c:idx val="1"/>
              <c:layout>
                <c:manualLayout>
                  <c:x val="-1.3932653939095871E-3"/>
                  <c:y val="7.0326976392549076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64B-404E-9C6B-9DF88DB19B35}"/>
                </c:ext>
              </c:extLst>
            </c:dLbl>
            <c:dLbl>
              <c:idx val="2"/>
              <c:layout>
                <c:manualLayout>
                  <c:x val="0"/>
                  <c:y val="8.1904049949089799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64B-404E-9C6B-9DF88DB19B35}"/>
                </c:ext>
              </c:extLst>
            </c:dLbl>
            <c:spPr>
              <a:noFill/>
              <a:ln>
                <a:noFill/>
              </a:ln>
              <a:effectLst/>
            </c:spPr>
            <c:txPr>
              <a:bodyPr rot="0" spcFirstLastPara="1" vertOverflow="overflow" horzOverflow="overflow" vert="horz" wrap="none" lIns="18000" tIns="18000" rIns="18000" bIns="18000" anchor="ctr" anchorCtr="1">
                <a:spAutoFit/>
              </a:bodyPr>
              <a:lstStyle/>
              <a:p>
                <a:pPr>
                  <a:defRPr sz="1400" b="0" i="0" u="none" strike="noStrike" kern="1200" baseline="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inBase"/>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a:noFill/>
                  <a:ln>
                    <a:noFill/>
                  </a:ln>
                </c15:spPr>
                <c15:showLeaderLines val="1"/>
                <c15:leaderLines>
                  <c:spPr>
                    <a:ln w="9525" cap="flat" cmpd="sng" algn="ctr">
                      <a:solidFill>
                        <a:schemeClr val="tx1">
                          <a:lumMod val="35000"/>
                          <a:lumOff val="65000"/>
                        </a:schemeClr>
                      </a:solidFill>
                      <a:round/>
                    </a:ln>
                    <a:effectLst/>
                  </c:spPr>
                </c15:leaderLines>
              </c:ext>
            </c:extLst>
          </c:dLbls>
          <c:cat>
            <c:strRef>
              <c:f>CorporateCommitment!$B$3:$B$8</c:f>
              <c:strCache>
                <c:ptCount val="6"/>
                <c:pt idx="0">
                  <c:v>2023-2024¹</c:v>
                </c:pt>
                <c:pt idx="1">
                  <c:v>2025-2026</c:v>
                </c:pt>
                <c:pt idx="2">
                  <c:v>2027</c:v>
                </c:pt>
                <c:pt idx="3">
                  <c:v>2028</c:v>
                </c:pt>
                <c:pt idx="4">
                  <c:v>2029</c:v>
                </c:pt>
                <c:pt idx="5">
                  <c:v>2030</c:v>
                </c:pt>
              </c:strCache>
            </c:strRef>
          </c:cat>
          <c:val>
            <c:numRef>
              <c:f>CorporateCommitment!$C$3:$C$8</c:f>
              <c:numCache>
                <c:formatCode>0</c:formatCode>
                <c:ptCount val="6"/>
                <c:pt idx="0">
                  <c:v>160</c:v>
                </c:pt>
                <c:pt idx="1">
                  <c:v>190</c:v>
                </c:pt>
                <c:pt idx="2">
                  <c:v>250</c:v>
                </c:pt>
                <c:pt idx="3">
                  <c:v>400</c:v>
                </c:pt>
                <c:pt idx="4">
                  <c:v>500</c:v>
                </c:pt>
                <c:pt idx="5">
                  <c:v>500</c:v>
                </c:pt>
              </c:numCache>
            </c:numRef>
          </c:val>
          <c:extLst>
            <c:ext xmlns:c16="http://schemas.microsoft.com/office/drawing/2014/chart" uri="{C3380CC4-5D6E-409C-BE32-E72D297353CC}">
              <c16:uniqueId val="{00000003-F64B-404E-9C6B-9DF88DB19B35}"/>
            </c:ext>
          </c:extLst>
        </c:ser>
        <c:dLbls>
          <c:showLegendKey val="0"/>
          <c:showVal val="0"/>
          <c:showCatName val="0"/>
          <c:showSerName val="0"/>
          <c:showPercent val="0"/>
          <c:showBubbleSize val="0"/>
        </c:dLbls>
        <c:gapWidth val="219"/>
        <c:overlap val="-27"/>
        <c:axId val="198569904"/>
        <c:axId val="198571824"/>
      </c:barChart>
      <c:lineChart>
        <c:grouping val="standard"/>
        <c:varyColors val="0"/>
        <c:ser>
          <c:idx val="2"/>
          <c:order val="1"/>
          <c:tx>
            <c:strRef>
              <c:f>CorporateCommitment!$D$2</c:f>
              <c:strCache>
                <c:ptCount val="1"/>
                <c:pt idx="0">
                  <c:v>Cumulative Investment Achieved ($M)</c:v>
                </c:pt>
              </c:strCache>
            </c:strRef>
          </c:tx>
          <c:spPr>
            <a:ln w="28575" cap="rnd">
              <a:solidFill>
                <a:schemeClr val="accent4">
                  <a:tint val="65000"/>
                </a:schemeClr>
              </a:solidFill>
              <a:round/>
            </a:ln>
            <a:effectLst/>
          </c:spPr>
          <c:marker>
            <c:symbol val="circle"/>
            <c:size val="5"/>
            <c:spPr>
              <a:solidFill>
                <a:schemeClr val="accent4">
                  <a:tint val="65000"/>
                </a:schemeClr>
              </a:solidFill>
              <a:ln w="9525">
                <a:solidFill>
                  <a:schemeClr val="accent4">
                    <a:tint val="65000"/>
                  </a:schemeClr>
                </a:solidFill>
              </a:ln>
              <a:effectLst/>
            </c:spPr>
          </c:marker>
          <c:dLbls>
            <c:dLbl>
              <c:idx val="0"/>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4-F64B-404E-9C6B-9DF88DB19B35}"/>
                </c:ext>
              </c:extLst>
            </c:dLbl>
            <c:dLbl>
              <c:idx val="1"/>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5-F64B-404E-9C6B-9DF88DB19B35}"/>
                </c:ext>
              </c:extLst>
            </c:dLbl>
            <c:dLbl>
              <c:idx val="2"/>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6-F64B-404E-9C6B-9DF88DB19B35}"/>
                </c:ext>
              </c:extLst>
            </c:dLbl>
            <c:dLbl>
              <c:idx val="3"/>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7-F64B-404E-9C6B-9DF88DB19B35}"/>
                </c:ext>
              </c:extLst>
            </c:dLbl>
            <c:dLbl>
              <c:idx val="4"/>
              <c:spPr>
                <a:noFill/>
                <a:ln>
                  <a:noFill/>
                </a:ln>
                <a:effectLst/>
              </c:spPr>
              <c:txPr>
                <a:bodyPr rot="0" spcFirstLastPara="1" vertOverflow="ellipsis" vert="horz" wrap="square" anchor="ctr" anchorCtr="1"/>
                <a:lstStyle/>
                <a:p>
                  <a:pPr>
                    <a:defRPr sz="1400" b="1" i="0" u="none" strike="noStrike" kern="1200" baseline="0">
                      <a:solidFill>
                        <a:srgbClr val="B7D6E1"/>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extLst>
                <c:ext xmlns:c16="http://schemas.microsoft.com/office/drawing/2014/chart" uri="{C3380CC4-5D6E-409C-BE32-E72D297353CC}">
                  <c16:uniqueId val="{00000008-F64B-404E-9C6B-9DF88DB19B35}"/>
                </c:ext>
              </c:extLst>
            </c:dLbl>
            <c:dLbl>
              <c:idx val="5"/>
              <c:layout>
                <c:manualLayout>
                  <c:x val="-1.8426131055913637E-2"/>
                  <c:y val="8.3012257396341202E-2"/>
                </c:manualLayout>
              </c:layout>
              <c:tx>
                <c:rich>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baseline="0">
                        <a:solidFill>
                          <a:srgbClr val="FFB703"/>
                        </a:solidFill>
                        <a:latin typeface="Open Sans" panose="020B0606030504020204" pitchFamily="34" charset="0"/>
                        <a:ea typeface="Open Sans" panose="020B0606030504020204" pitchFamily="34" charset="0"/>
                        <a:cs typeface="Open Sans" panose="020B0606030504020204" pitchFamily="34" charset="0"/>
                      </a:defRPr>
                    </a:pPr>
                    <a:fld id="{DE98FA60-BE85-6E4A-B718-CC5CD6E9376C}" type="VALUE">
                      <a:rPr lang="en-US" smtClean="0">
                        <a:solidFill>
                          <a:srgbClr val="FFA726"/>
                        </a:solidFill>
                      </a:rPr>
                      <a:pPr marL="0" marR="0" lvl="0" indent="0" algn="ctr" defTabSz="914400" rtl="0" eaLnBrk="1" fontAlgn="auto" latinLnBrk="0" hangingPunct="1">
                        <a:lnSpc>
                          <a:spcPct val="100000"/>
                        </a:lnSpc>
                        <a:spcBef>
                          <a:spcPts val="0"/>
                        </a:spcBef>
                        <a:spcAft>
                          <a:spcPts val="0"/>
                        </a:spcAft>
                        <a:buClrTx/>
                        <a:buSzTx/>
                        <a:buFontTx/>
                        <a:buNone/>
                        <a:tabLst/>
                        <a:defRPr b="1">
                          <a:solidFill>
                            <a:srgbClr val="FFB703"/>
                          </a:solidFill>
                        </a:defRPr>
                      </a:pPr>
                      <a:t>[WAARDE]</a:t>
                    </a:fld>
                    <a:br>
                      <a:rPr lang="en-US" dirty="0">
                        <a:solidFill>
                          <a:srgbClr val="FFA726"/>
                        </a:solidFill>
                      </a:rPr>
                    </a:br>
                    <a:r>
                      <a:rPr lang="en-US" sz="1400" b="1" dirty="0">
                        <a:solidFill>
                          <a:srgbClr val="FFA726"/>
                        </a:solidFill>
                      </a:rPr>
                      <a:t>Target</a:t>
                    </a:r>
                  </a:p>
                </c:rich>
              </c:tx>
              <c:spPr>
                <a:noFill/>
                <a:ln>
                  <a:noFill/>
                </a:ln>
                <a:effectLst/>
              </c:spPr>
              <c:txPr>
                <a:bodyPr rot="0" spcFirstLastPara="1" vertOverflow="ellipsis" vert="horz" wrap="square" anchor="ctr" anchorCtr="0"/>
                <a:lstStyle/>
                <a:p>
                  <a:pPr marL="0" marR="0" lvl="0" indent="0" algn="ctr" defTabSz="914400" rtl="0" eaLnBrk="1" fontAlgn="auto" latinLnBrk="0" hangingPunct="1">
                    <a:lnSpc>
                      <a:spcPct val="100000"/>
                    </a:lnSpc>
                    <a:spcBef>
                      <a:spcPts val="0"/>
                    </a:spcBef>
                    <a:spcAft>
                      <a:spcPts val="0"/>
                    </a:spcAft>
                    <a:buClrTx/>
                    <a:buSzTx/>
                    <a:buFontTx/>
                    <a:buNone/>
                    <a:tabLst/>
                    <a:defRPr sz="1400" b="1" i="0" u="none" strike="noStrike" kern="1200" baseline="0">
                      <a:solidFill>
                        <a:srgbClr val="FFB703"/>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r"/>
              <c:showLegendKey val="0"/>
              <c:showVal val="1"/>
              <c:showCatName val="0"/>
              <c:showSerName val="0"/>
              <c:showPercent val="0"/>
              <c:showBubbleSize val="0"/>
              <c:extLst>
                <c:ext xmlns:c15="http://schemas.microsoft.com/office/drawing/2012/chart" uri="{CE6537A1-D6FC-4f65-9D91-7224C49458BB}">
                  <c15:layout>
                    <c:manualLayout>
                      <c:w val="0.10443911060235375"/>
                      <c:h val="0.35678481565088094"/>
                    </c:manualLayout>
                  </c15:layout>
                  <c15:dlblFieldTable/>
                  <c15:showDataLabelsRange val="0"/>
                </c:ext>
                <c:ext xmlns:c16="http://schemas.microsoft.com/office/drawing/2014/chart" uri="{C3380CC4-5D6E-409C-BE32-E72D297353CC}">
                  <c16:uniqueId val="{00000009-F64B-404E-9C6B-9DF88DB19B35}"/>
                </c:ext>
              </c:extLst>
            </c:dLbl>
            <c:spPr>
              <a:noFill/>
              <a:ln>
                <a:noFill/>
              </a:ln>
              <a:effectLst/>
            </c:spPr>
            <c:txPr>
              <a:bodyPr rot="0" spcFirstLastPara="1" vertOverflow="ellipsis" vert="horz" wrap="square" anchor="ctr" anchorCtr="1"/>
              <a:lstStyle/>
              <a:p>
                <a:pPr>
                  <a:defRPr sz="1400" b="1" i="0" u="none" strike="noStrike" kern="1200" baseline="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defRPr>
                </a:pPr>
                <a:endParaRPr lang="nl-NL"/>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CorporateCommitment!$D$3:$D$8</c:f>
              <c:numCache>
                <c:formatCode>0</c:formatCode>
                <c:ptCount val="6"/>
                <c:pt idx="0" formatCode="General">
                  <c:v>160</c:v>
                </c:pt>
                <c:pt idx="1">
                  <c:v>350</c:v>
                </c:pt>
                <c:pt idx="2">
                  <c:v>600</c:v>
                </c:pt>
                <c:pt idx="3">
                  <c:v>1000</c:v>
                </c:pt>
                <c:pt idx="4">
                  <c:v>1500</c:v>
                </c:pt>
                <c:pt idx="5">
                  <c:v>2000</c:v>
                </c:pt>
              </c:numCache>
            </c:numRef>
          </c:val>
          <c:smooth val="0"/>
          <c:extLst>
            <c:ext xmlns:c16="http://schemas.microsoft.com/office/drawing/2014/chart" uri="{C3380CC4-5D6E-409C-BE32-E72D297353CC}">
              <c16:uniqueId val="{0000000A-F64B-404E-9C6B-9DF88DB19B35}"/>
            </c:ext>
          </c:extLst>
        </c:ser>
        <c:dLbls>
          <c:showLegendKey val="0"/>
          <c:showVal val="0"/>
          <c:showCatName val="0"/>
          <c:showSerName val="0"/>
          <c:showPercent val="0"/>
          <c:showBubbleSize val="0"/>
        </c:dLbls>
        <c:marker val="1"/>
        <c:smooth val="0"/>
        <c:axId val="198569904"/>
        <c:axId val="198571824"/>
      </c:lineChart>
      <c:catAx>
        <c:axId val="1985699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rgbClr val="FFA726"/>
                </a:solidFill>
                <a:latin typeface="Open Sans" panose="020B0606030504020204" pitchFamily="34" charset="0"/>
                <a:ea typeface="Open Sans" panose="020B0606030504020204" pitchFamily="34" charset="0"/>
                <a:cs typeface="Open Sans" panose="020B0606030504020204" pitchFamily="34" charset="0"/>
              </a:defRPr>
            </a:pPr>
            <a:endParaRPr lang="nl-NL"/>
          </a:p>
        </c:txPr>
        <c:crossAx val="198571824"/>
        <c:crosses val="autoZero"/>
        <c:auto val="1"/>
        <c:lblAlgn val="ctr"/>
        <c:lblOffset val="100"/>
        <c:noMultiLvlLbl val="0"/>
      </c:catAx>
      <c:valAx>
        <c:axId val="198571824"/>
        <c:scaling>
          <c:orientation val="minMax"/>
        </c:scaling>
        <c:delete val="1"/>
        <c:axPos val="l"/>
        <c:numFmt formatCode="0" sourceLinked="1"/>
        <c:majorTickMark val="none"/>
        <c:minorTickMark val="none"/>
        <c:tickLblPos val="nextTo"/>
        <c:crossAx val="19856990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sz="1400">
          <a:latin typeface="Open Sans" panose="020B0606030504020204" pitchFamily="34" charset="0"/>
          <a:ea typeface="Open Sans" panose="020B0606030504020204" pitchFamily="34" charset="0"/>
          <a:cs typeface="Open Sans" panose="020B0606030504020204" pitchFamily="34" charset="0"/>
        </a:defRPr>
      </a:pPr>
      <a:endParaRPr lang="nl-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7">
  <a:schemeClr val="accent4"/>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8">
  <a:schemeClr val="accent5"/>
</cs:colorStyle>
</file>

<file path=ppt/charts/colors4.xml><?xml version="1.0" encoding="utf-8"?>
<cs:colorStyle xmlns:cs="http://schemas.microsoft.com/office/drawing/2012/chartStyle" xmlns:a="http://schemas.openxmlformats.org/drawingml/2006/main" meth="withinLinear" id="17">
  <a:schemeClr val="accent4"/>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E4EBAB_F9E6FE09.xml><?xml version="1.0" encoding="utf-8"?>
<p188:cmLst xmlns:a="http://schemas.openxmlformats.org/drawingml/2006/main" xmlns:r="http://schemas.openxmlformats.org/officeDocument/2006/relationships" xmlns:p188="http://schemas.microsoft.com/office/powerpoint/2018/8/main">
  <p188:cm id="{1E7A689B-4548-5845-9364-0980DD738C78}" authorId="{98700C67-1BB0-CEE6-E468-89DE67BCA553}" created="2026-04-15T09:02:05.544">
    <pc:sldMkLst xmlns:pc="http://schemas.microsoft.com/office/powerpoint/2013/main/command">
      <pc:docMk/>
      <pc:sldMk cId="4192665097" sldId="2145708971"/>
    </pc:sldMkLst>
    <p188:txBody>
      <a:bodyPr/>
      <a:lstStyle/>
      <a:p>
        <a:r>
          <a:rPr lang="nl-NL"/>
          <a:t>We like to use an intro slide for proposals, or direct outreach. We wont include this slide during the travels. </a:t>
        </a:r>
      </a:p>
    </p188:txBody>
  </p188:cm>
</p188:cmLst>
</file>

<file path=ppt/comments/modernComment_7FE4EBBE_131E264D.xml><?xml version="1.0" encoding="utf-8"?>
<p188:cmLst xmlns:a="http://schemas.openxmlformats.org/drawingml/2006/main" xmlns:r="http://schemas.openxmlformats.org/officeDocument/2006/relationships" xmlns:p188="http://schemas.microsoft.com/office/powerpoint/2018/8/main">
  <p188:cm id="{FA4CDAED-BE42-6E4A-9B9B-992B31DA9B61}" authorId="{98700C67-1BB0-CEE6-E468-89DE67BCA553}" created="2026-04-15T09:24:59.569">
    <pc:sldMkLst xmlns:pc="http://schemas.microsoft.com/office/powerpoint/2013/main/command">
      <pc:docMk/>
      <pc:sldMk cId="320742989" sldId="2145708990"/>
    </pc:sldMkLst>
    <p188:txBody>
      <a:bodyPr/>
      <a:lstStyle/>
      <a:p>
        <a:r>
          <a:rPr lang="nl-NL"/>
          <a:t>JS/AK: this is a more expanded slide compared to slide 4. We can keep both and depending on the audience, decide which slide to use.</a:t>
        </a:r>
      </a:p>
    </p188:txBody>
  </p188:cm>
</p188:cmLst>
</file>

<file path=ppt/comments/modernComment_7FFFF63A_D12F4B9F.xml><?xml version="1.0" encoding="utf-8"?>
<p188:cmLst xmlns:a="http://schemas.openxmlformats.org/drawingml/2006/main" xmlns:r="http://schemas.openxmlformats.org/officeDocument/2006/relationships" xmlns:p188="http://schemas.microsoft.com/office/powerpoint/2018/8/main">
  <p188:cm id="{82101F3A-C096-4E44-9209-187332D609D7}" authorId="{98700C67-1BB0-CEE6-E468-89DE67BCA553}" created="2026-04-15T11:09:18.089">
    <pc:sldMkLst xmlns:pc="http://schemas.microsoft.com/office/powerpoint/2013/main/command">
      <pc:docMk/>
      <pc:sldMk cId="3509537695" sldId="2147481146"/>
    </pc:sldMkLst>
    <p188:txBody>
      <a:bodyPr/>
      <a:lstStyle/>
      <a:p>
        <a:r>
          <a:rPr lang="nl-NL"/>
          <a:t>Preferably add quantitative numbers, derived from value chain analysis</a:t>
        </a:r>
      </a:p>
    </p188:txBody>
  </p188:cm>
</p188:cmLst>
</file>

<file path=ppt/comments/modernComment_7FFFF63B_4F8E0A0F.xml><?xml version="1.0" encoding="utf-8"?>
<p188:cmLst xmlns:a="http://schemas.openxmlformats.org/drawingml/2006/main" xmlns:r="http://schemas.openxmlformats.org/officeDocument/2006/relationships" xmlns:p188="http://schemas.microsoft.com/office/powerpoint/2018/8/main">
  <p188:cm id="{97125C98-0A13-4141-B5A7-09477826A744}" authorId="{98700C67-1BB0-CEE6-E468-89DE67BCA553}" created="2026-04-15T10:20:00.486">
    <pc:sldMkLst xmlns:pc="http://schemas.microsoft.com/office/powerpoint/2013/main/command">
      <pc:docMk/>
      <pc:sldMk cId="957903057" sldId="2147481144"/>
    </pc:sldMkLst>
    <p188:txBody>
      <a:bodyPr/>
      <a:lstStyle/>
      <a:p>
        <a:r>
          <a:rPr lang="nl-NL"/>
          <a:t>Data - preferably quantitative - to be derived from Pacific Institute and/or the value chain analysis assignment</a:t>
        </a:r>
      </a:p>
    </p188:txBody>
  </p188:cm>
</p188:cmLst>
</file>

<file path=ppt/comments/modernComment_7FFFF63C_FAF58924.xml><?xml version="1.0" encoding="utf-8"?>
<p188:cmLst xmlns:a="http://schemas.openxmlformats.org/drawingml/2006/main" xmlns:r="http://schemas.openxmlformats.org/officeDocument/2006/relationships" xmlns:p188="http://schemas.microsoft.com/office/powerpoint/2018/8/main">
  <p188:cm id="{2C0625EC-FEBF-5048-9BA3-6B4AE8DD13DC}" authorId="{98700C67-1BB0-CEE6-E468-89DE67BCA553}" created="2026-04-15T11:35:30.942">
    <pc:sldMkLst xmlns:pc="http://schemas.microsoft.com/office/powerpoint/2013/main/command">
      <pc:docMk/>
      <pc:sldMk cId="4210395428" sldId="2147481148"/>
    </pc:sldMkLst>
    <p188:replyLst>
      <p188:reply id="{6A87A8BC-9615-EC49-9480-5B41B94DE234}" authorId="{98700C67-1BB0-CEE6-E468-89DE67BCA553}" created="2026-04-15T11:36:13.565">
        <p188:txBody>
          <a:bodyPr/>
          <a:lstStyle/>
          <a:p>
            <a:r>
              <a:rPr lang="nl-NL"/>
              <a:t>Ik heb de slide omgezet naar de nieuwe stijl. Als jullie nog een specifieke aanpassing willen hoor ik het graag. </a:t>
            </a:r>
          </a:p>
        </p188:txBody>
      </p188:reply>
    </p188:replyLst>
    <p188:txBody>
      <a:bodyPr/>
      <a:lstStyle/>
      <a:p>
        <a:r>
          <a:rPr lang="nl-NL"/>
          <a:t>JS/AK: it would be good to have a slide that gives confidence about our track record. We previously used this slide. Let’s think how to best present Aqua for All (new Stichting) and WRC. 
Newkinds: please make a suggestion how to best present Aqua for All (new Stichting) and WRC.</a:t>
        </a:r>
      </a:p>
    </p188:txBody>
  </p188:cm>
</p188:cmLst>
</file>

<file path=ppt/comments/modernComment_7FFFF64A_F6DC2BB1.xml><?xml version="1.0" encoding="utf-8"?>
<p188:cmLst xmlns:a="http://schemas.openxmlformats.org/drawingml/2006/main" xmlns:r="http://schemas.openxmlformats.org/officeDocument/2006/relationships" xmlns:p188="http://schemas.microsoft.com/office/powerpoint/2018/8/main">
  <p188:cm id="{4A82E079-18A7-AE41-B097-E71203A162CF}" authorId="{98700C67-1BB0-CEE6-E468-89DE67BCA553}" created="2026-04-15T13:45:36.120">
    <pc:sldMkLst xmlns:pc="http://schemas.microsoft.com/office/powerpoint/2013/main/command">
      <pc:docMk/>
      <pc:sldMk cId="1241852514" sldId="2147481161"/>
    </pc:sldMkLst>
    <p188:replyLst>
      <p188:reply id="{D95F92DF-42F2-C849-970A-80D792D8BFA6}" authorId="{98700C67-1BB0-CEE6-E468-89DE67BCA553}" created="2026-04-15T13:45:58.841">
        <p188:txBody>
          <a:bodyPr/>
          <a:lstStyle/>
          <a:p>
            <a:r>
              <a:rPr lang="nl-NL"/>
              <a:t>Verschillende plekken waar je investeert (in fund life) </a:t>
            </a:r>
          </a:p>
        </p188:txBody>
      </p188:reply>
      <p188:reply id="{45D29152-464F-EA4B-9006-52158627220C}" authorId="{98700C67-1BB0-CEE6-E468-89DE67BCA553}" created="2026-04-15T13:46:09.175">
        <p188:txBody>
          <a:bodyPr/>
          <a:lstStyle/>
          <a:p>
            <a:r>
              <a:rPr lang="nl-NL"/>
              <a:t>J curve als voorbeeld
</a:t>
            </a:r>
          </a:p>
        </p188:txBody>
      </p188:reply>
    </p188:replyLst>
    <p188:txBody>
      <a:bodyPr/>
      <a:lstStyle/>
      <a:p>
        <a:r>
          <a:rPr lang="nl-NL"/>
          <a:t>Ondersteuning van verhaal</a:t>
        </a:r>
      </a:p>
    </p188:txBody>
  </p188:cm>
</p188:cmLst>
</file>

<file path=ppt/comments/modernComment_7FFFF64C_F4E1C4F9.xml><?xml version="1.0" encoding="utf-8"?>
<p188:cmLst xmlns:a="http://schemas.openxmlformats.org/drawingml/2006/main" xmlns:r="http://schemas.openxmlformats.org/officeDocument/2006/relationships" xmlns:p188="http://schemas.microsoft.com/office/powerpoint/2018/8/main">
  <p188:cm id="{A94CF830-800D-5348-907E-5C667A39FF31}" authorId="{98700C67-1BB0-CEE6-E468-89DE67BCA553}" created="2026-04-15T14:00:32.247">
    <pc:sldMkLst xmlns:pc="http://schemas.microsoft.com/office/powerpoint/2013/main/command">
      <pc:docMk/>
      <pc:sldMk cId="4108436729" sldId="2147481164"/>
    </pc:sldMkLst>
    <p188:txBody>
      <a:bodyPr/>
      <a:lstStyle/>
      <a:p>
        <a:r>
          <a:rPr lang="nl-NL"/>
          <a:t>To be updated based on scoping studies funds / fund managers and value chain investment opportunities</a:t>
        </a:r>
      </a:p>
    </p188:txBody>
  </p188:cm>
</p188:cmLst>
</file>

<file path=ppt/comments/modernComment_7FFFF64E_A5BC318E.xml><?xml version="1.0" encoding="utf-8"?>
<p188:cmLst xmlns:a="http://schemas.openxmlformats.org/drawingml/2006/main" xmlns:r="http://schemas.openxmlformats.org/officeDocument/2006/relationships" xmlns:p188="http://schemas.microsoft.com/office/powerpoint/2018/8/main">
  <p188:cm id="{F91C7797-9434-B540-A2A0-FAB965F29499}" authorId="{98700C67-1BB0-CEE6-E468-89DE67BCA553}" created="2026-04-15T14:05:29.969">
    <pc:sldMkLst xmlns:pc="http://schemas.microsoft.com/office/powerpoint/2013/main/command">
      <pc:docMk/>
      <pc:sldMk cId="2780574094" sldId="2147481166"/>
    </pc:sldMkLst>
    <p188:replyLst>
      <p188:reply id="{C386933E-9377-0B40-90F5-AD2FAA34AF75}" authorId="{98700C67-1BB0-CEE6-E468-89DE67BCA553}" created="2026-04-15T14:05:38.326">
        <p188:txBody>
          <a:bodyPr/>
          <a:lstStyle/>
          <a:p>
            <a:r>
              <a:rPr lang="nl-NL"/>
              <a:t>Mock portefeuille komt uit analyse bfinance ! </a:t>
            </a:r>
          </a:p>
        </p188:txBody>
      </p188:reply>
    </p188:replyLst>
    <p188:txBody>
      <a:bodyPr/>
      <a:lstStyle/>
      <a:p>
        <a:r>
          <a:rPr lang="nl-NL"/>
          <a:t>To be updated based on scoping studies funds / fund managers and value chain investment opportunities
</a:t>
        </a:r>
      </a:p>
    </p188:txBody>
  </p188:cm>
</p188:cmLst>
</file>

<file path=ppt/comments/modernComment_7FFFF65A_F1D620F.xml><?xml version="1.0" encoding="utf-8"?>
<p188:cmLst xmlns:a="http://schemas.openxmlformats.org/drawingml/2006/main" xmlns:r="http://schemas.openxmlformats.org/officeDocument/2006/relationships" xmlns:p188="http://schemas.microsoft.com/office/powerpoint/2018/8/main">
  <p188:cm id="{9474216D-3FC9-634A-8E20-FC722E4042DB}" authorId="{98700C67-1BB0-CEE6-E468-89DE67BCA553}" created="2026-04-15T10:20:00.486">
    <pc:sldMkLst xmlns:pc="http://schemas.microsoft.com/office/powerpoint/2013/main/command">
      <pc:docMk/>
      <pc:sldMk cId="957903057" sldId="2147481144"/>
    </pc:sldMkLst>
    <p188:txBody>
      <a:bodyPr/>
      <a:lstStyle/>
      <a:p>
        <a:r>
          <a:rPr lang="nl-NL"/>
          <a:t>Data - preferably quantitative - to be derived from Pacific Institute and/or the value chain analysis assignment</a:t>
        </a:r>
      </a:p>
    </p188:txBody>
  </p188:cm>
</p188:cmLst>
</file>

<file path=ppt/comments/modernComment_7FFFF65B_5BB2EFC7.xml><?xml version="1.0" encoding="utf-8"?>
<p188:cmLst xmlns:a="http://schemas.openxmlformats.org/drawingml/2006/main" xmlns:r="http://schemas.openxmlformats.org/officeDocument/2006/relationships" xmlns:p188="http://schemas.microsoft.com/office/powerpoint/2018/8/main">
  <p188:cm id="{80D0A11A-9F42-E541-AA6F-1B818E8AF96A}" authorId="{98700C67-1BB0-CEE6-E468-89DE67BCA553}" created="2026-04-15T09:04:24.725">
    <pc:sldMkLst xmlns:pc="http://schemas.microsoft.com/office/powerpoint/2013/main/command">
      <pc:docMk/>
      <pc:sldMk cId="1567516334" sldId="2147481136"/>
    </pc:sldMkLst>
    <p188:txBody>
      <a:bodyPr/>
      <a:lstStyle/>
      <a:p>
        <a:r>
          <a:rPr lang="nl-NL"/>
          <a:t>We may not need this slide for the travel, but we will use an executive summary for the ‘investment and impact strategy’ 
</a:t>
        </a:r>
      </a:p>
    </p188:txBody>
  </p188:cm>
</p188:cmLst>
</file>

<file path=ppt/comments/modernComment_7FFFF65D_B12C5BBF.xml><?xml version="1.0" encoding="utf-8"?>
<p188:cmLst xmlns:a="http://schemas.openxmlformats.org/drawingml/2006/main" xmlns:r="http://schemas.openxmlformats.org/officeDocument/2006/relationships" xmlns:p188="http://schemas.microsoft.com/office/powerpoint/2018/8/main">
  <p188:cm id="{FB64426E-B3CE-F244-BBD9-4B221F657988}" authorId="{98700C67-1BB0-CEE6-E468-89DE67BCA553}" created="2026-04-16T06:57:10.651">
    <pc:sldMkLst xmlns:pc="http://schemas.microsoft.com/office/powerpoint/2013/main/command">
      <pc:docMk/>
      <pc:sldMk cId="2972474303" sldId="2147481181"/>
    </pc:sldMkLst>
    <p188:txBody>
      <a:bodyPr/>
      <a:lstStyle/>
      <a:p>
        <a:r>
          <a:rPr lang="nl-NL"/>
          <a:t>JS/AK: To discuss</a:t>
        </a:r>
      </a:p>
    </p188:txBody>
  </p188:cm>
</p188:cmLst>
</file>

<file path=ppt/comments/modernComment_7FFFF65E_2E014C17.xml><?xml version="1.0" encoding="utf-8"?>
<p188:cmLst xmlns:a="http://schemas.openxmlformats.org/drawingml/2006/main" xmlns:r="http://schemas.openxmlformats.org/officeDocument/2006/relationships" xmlns:p188="http://schemas.microsoft.com/office/powerpoint/2018/8/main">
  <p188:cm id="{25BE267D-49A3-0E43-8F45-E4152ACF539C}" authorId="{98700C67-1BB0-CEE6-E468-89DE67BCA553}" created="2026-04-16T07:16:17.923">
    <pc:sldMkLst xmlns:pc="http://schemas.microsoft.com/office/powerpoint/2013/main/command">
      <pc:docMk/>
      <pc:sldMk cId="771836951" sldId="2147481182"/>
    </pc:sldMkLst>
    <p188:txBody>
      <a:bodyPr/>
      <a:lstStyle/>
      <a:p>
        <a:r>
          <a:rPr lang="nl-NL"/>
          <a:t>This slide may move or be deleted. </a:t>
        </a:r>
      </a:p>
    </p188:txBody>
  </p188:cm>
</p188:cmLst>
</file>

<file path=ppt/comments/modernComment_7FFFF65F_D5494608.xml><?xml version="1.0" encoding="utf-8"?>
<p188:cmLst xmlns:a="http://schemas.openxmlformats.org/drawingml/2006/main" xmlns:r="http://schemas.openxmlformats.org/officeDocument/2006/relationships" xmlns:p188="http://schemas.microsoft.com/office/powerpoint/2018/8/main">
  <p188:cm id="{4C9AB5C7-A0E3-A54D-BC98-5E229B0DC45E}" authorId="{98700C67-1BB0-CEE6-E468-89DE67BCA553}" created="2026-04-16T07:27:26.784">
    <pc:sldMkLst xmlns:pc="http://schemas.microsoft.com/office/powerpoint/2013/main/command">
      <pc:docMk/>
      <pc:sldMk cId="3578349064" sldId="2147481183"/>
    </pc:sldMkLst>
    <p188:txBody>
      <a:bodyPr/>
      <a:lstStyle/>
      <a:p>
        <a:r>
          <a:rPr lang="nl-NL"/>
          <a:t>Add DFAT logo</a:t>
        </a:r>
      </a:p>
    </p188:txBody>
  </p188:cm>
</p188:cmLst>
</file>

<file path=ppt/comments/modernComment_7FFFF630_5D6E66AE.xml><?xml version="1.0" encoding="utf-8"?>
<p188:cmLst xmlns:a="http://schemas.openxmlformats.org/drawingml/2006/main" xmlns:r="http://schemas.openxmlformats.org/officeDocument/2006/relationships" xmlns:p188="http://schemas.microsoft.com/office/powerpoint/2018/8/main">
  <p188:cm id="{6F7652B3-F36C-9642-8642-9A85B97596E0}" authorId="{98700C67-1BB0-CEE6-E468-89DE67BCA553}" created="2026-04-15T09:04:24.725">
    <pc:sldMkLst xmlns:pc="http://schemas.microsoft.com/office/powerpoint/2013/main/command">
      <pc:docMk/>
      <pc:sldMk cId="1567516334" sldId="2147481136"/>
    </pc:sldMkLst>
    <p188:txBody>
      <a:bodyPr/>
      <a:lstStyle/>
      <a:p>
        <a:r>
          <a:rPr lang="nl-NL"/>
          <a:t>We may not need this slide for the travel, but we will use an executive summary for the ‘investment and impact strategy’ 
</a:t>
        </a:r>
      </a:p>
    </p188:txBody>
  </p188:cm>
</p188:cmLst>
</file>

<file path=ppt/comments/modernComment_7FFFF631_DB052139.xml><?xml version="1.0" encoding="utf-8"?>
<p188:cmLst xmlns:a="http://schemas.openxmlformats.org/drawingml/2006/main" xmlns:r="http://schemas.openxmlformats.org/officeDocument/2006/relationships" xmlns:p188="http://schemas.microsoft.com/office/powerpoint/2018/8/main">
  <p188:cm id="{E8DBF172-BD20-F845-AE22-FD794B7EABE1}" authorId="{98700C67-1BB0-CEE6-E468-89DE67BCA553}" created="2026-04-15T09:17:09.650">
    <pc:sldMkLst xmlns:pc="http://schemas.microsoft.com/office/powerpoint/2013/main/command">
      <pc:docMk/>
      <pc:sldMk cId="3674546489" sldId="2147481137"/>
    </pc:sldMkLst>
    <p188:txBody>
      <a:bodyPr/>
      <a:lstStyle/>
      <a:p>
        <a:r>
          <a:rPr lang="nl-NL"/>
          <a:t>- JS/AK: type of picture to include
- JS/AK: are these the contents you want to include.
- JS/AK: decide to keep/remove drop in the corner.
- Newkinds: Add header - contents (blokjes). It may be too early to add text (as content is still moving around)</a:t>
        </a:r>
      </a:p>
    </p188:txBody>
  </p188:cm>
</p188:cmLst>
</file>

<file path=ppt/comments/modernComment_7FFFF633_D36CDF0F.xml><?xml version="1.0" encoding="utf-8"?>
<p188:cmLst xmlns:a="http://schemas.openxmlformats.org/drawingml/2006/main" xmlns:r="http://schemas.openxmlformats.org/officeDocument/2006/relationships" xmlns:p188="http://schemas.microsoft.com/office/powerpoint/2018/8/main">
  <p188:cm id="{FEC0E9A0-9852-AB4B-9237-647E396180E6}" authorId="{98700C67-1BB0-CEE6-E468-89DE67BCA553}" created="2026-04-15T09:24:59.569">
    <pc:sldMkLst xmlns:pc="http://schemas.microsoft.com/office/powerpoint/2013/main/command">
      <pc:docMk/>
      <pc:sldMk cId="320742989" sldId="2145708990"/>
    </pc:sldMkLst>
    <p188:txBody>
      <a:bodyPr/>
      <a:lstStyle/>
      <a:p>
        <a:r>
          <a:rPr lang="nl-NL"/>
          <a:t>JS/AK: this is a more expanded slide compared to slide 4. We can keep both and depending on the audience, decide which slide to use.</a:t>
        </a:r>
      </a:p>
    </p188:txBody>
  </p188:cm>
</p188:cmLst>
</file>

<file path=ppt/comments/modernComment_7FFFF634_3220D005.xml><?xml version="1.0" encoding="utf-8"?>
<p188:cmLst xmlns:a="http://schemas.openxmlformats.org/drawingml/2006/main" xmlns:r="http://schemas.openxmlformats.org/officeDocument/2006/relationships" xmlns:p188="http://schemas.microsoft.com/office/powerpoint/2018/8/main">
  <p188:cm id="{ED006580-D800-6040-9EB5-E8194EE066E1}" authorId="{98700C67-1BB0-CEE6-E468-89DE67BCA553}" created="2026-04-15T09:24:59.569">
    <pc:sldMkLst xmlns:pc="http://schemas.microsoft.com/office/powerpoint/2013/main/command">
      <pc:docMk/>
      <pc:sldMk cId="320742989" sldId="2145708990"/>
    </pc:sldMkLst>
    <p188:txBody>
      <a:bodyPr/>
      <a:lstStyle/>
      <a:p>
        <a:r>
          <a:rPr lang="nl-NL"/>
          <a:t>JS/AK: this is a more expanded slide compared to slide 4. We can keep both and depending on the audience, decide which slide to use.</a:t>
        </a:r>
      </a:p>
    </p188:txBody>
  </p188:cm>
</p188:cmLst>
</file>

<file path=ppt/comments/modernComment_7FFFF638_391870D1.xml><?xml version="1.0" encoding="utf-8"?>
<p188:cmLst xmlns:a="http://schemas.openxmlformats.org/drawingml/2006/main" xmlns:r="http://schemas.openxmlformats.org/officeDocument/2006/relationships" xmlns:p188="http://schemas.microsoft.com/office/powerpoint/2018/8/main">
  <p188:cm id="{E24468A4-7240-9F4E-8C42-A6A43AB46501}" authorId="{98700C67-1BB0-CEE6-E468-89DE67BCA553}" created="2026-04-15T10:20:00.486">
    <pc:sldMkLst xmlns:pc="http://schemas.microsoft.com/office/powerpoint/2013/main/command">
      <pc:docMk/>
      <pc:sldMk cId="957903057" sldId="2147481144"/>
    </pc:sldMkLst>
    <p188:txBody>
      <a:bodyPr/>
      <a:lstStyle/>
      <a:p>
        <a:r>
          <a:rPr lang="nl-NL"/>
          <a:t>Data - preferably quantitative - to be derived from Pacific Institute and/or the value chain analysis assignment</a:t>
        </a:r>
      </a:p>
    </p188:txBody>
  </p188:cm>
</p188:cmLst>
</file>

<file path=ppt/comments/modernComment_7FFFF639_CF77B45A.xml><?xml version="1.0" encoding="utf-8"?>
<p188:cmLst xmlns:a="http://schemas.openxmlformats.org/drawingml/2006/main" xmlns:r="http://schemas.openxmlformats.org/officeDocument/2006/relationships" xmlns:p188="http://schemas.microsoft.com/office/powerpoint/2018/8/main">
  <p188:cm id="{5BE55831-AFE5-BA49-B42D-487B41027290}" authorId="{98700C67-1BB0-CEE6-E468-89DE67BCA553}" created="2026-04-15T10:20:00.486">
    <pc:sldMkLst xmlns:pc="http://schemas.microsoft.com/office/powerpoint/2013/main/command">
      <pc:docMk/>
      <pc:sldMk cId="957903057" sldId="2147481144"/>
    </pc:sldMkLst>
    <p188:txBody>
      <a:bodyPr/>
      <a:lstStyle/>
      <a:p>
        <a:r>
          <a:rPr lang="nl-NL"/>
          <a:t>Data - preferably quantitative - to be derived from Pacific Institute and/or the value chain analysis assignment</a:t>
        </a:r>
      </a:p>
    </p188:txBody>
  </p188:cm>
</p188:cmLst>
</file>

<file path=ppt/comments/modernComment_7FFFF647_55A69B63.xml><?xml version="1.0" encoding="utf-8"?>
<p188:cmLst xmlns:a="http://schemas.openxmlformats.org/drawingml/2006/main" xmlns:r="http://schemas.openxmlformats.org/officeDocument/2006/relationships" xmlns:p188="http://schemas.microsoft.com/office/powerpoint/2018/8/main">
  <p188:cm id="{6F213CAF-5146-9042-AA77-F7787C4DFF04}" authorId="{98700C67-1BB0-CEE6-E468-89DE67BCA553}" created="2026-04-15T13:22:41.859">
    <pc:sldMkLst xmlns:pc="http://schemas.microsoft.com/office/powerpoint/2013/main/command">
      <pc:docMk/>
      <pc:sldMk cId="1436982115" sldId="2147481159"/>
    </pc:sldMkLst>
    <p188:txBody>
      <a:bodyPr/>
      <a:lstStyle/>
      <a:p>
        <a:r>
          <a:rPr lang="nl-NL"/>
          <a:t>JS/AK: Suggest to merge with slide 22. Think what we want to include. Also use contents from slides 23 and 24?
</a:t>
        </a:r>
      </a:p>
    </p188:txBody>
  </p188:cm>
</p188:cmLst>
</file>

<file path=ppt/comments/modernComment_7FFFF648_432D9690.xml><?xml version="1.0" encoding="utf-8"?>
<p188:cmLst xmlns:a="http://schemas.openxmlformats.org/drawingml/2006/main" xmlns:r="http://schemas.openxmlformats.org/officeDocument/2006/relationships" xmlns:p188="http://schemas.microsoft.com/office/powerpoint/2018/8/main">
  <p188:cm id="{1E43DAEE-2681-9742-8764-BBC6B124E3F1}" authorId="{98700C67-1BB0-CEE6-E468-89DE67BCA553}" created="2026-04-15T13:42:58.131">
    <pc:sldMkLst xmlns:pc="http://schemas.microsoft.com/office/powerpoint/2013/main/command">
      <pc:docMk/>
      <pc:sldMk cId="1127061136" sldId="2147481160"/>
    </pc:sldMkLst>
    <p188:txBody>
      <a:bodyPr/>
      <a:lstStyle/>
      <a:p>
        <a:r>
          <a:rPr lang="nl-NL"/>
          <a:t>To be updated based on scoping studies funds / fund managers and value chain investment opportunities
</a:t>
        </a:r>
      </a:p>
    </p188:txBody>
  </p188:cm>
</p188:cmLst>
</file>

<file path=ppt/comments/modernComment_7FFFF649_4A052A62.xml><?xml version="1.0" encoding="utf-8"?>
<p188:cmLst xmlns:a="http://schemas.openxmlformats.org/drawingml/2006/main" xmlns:r="http://schemas.openxmlformats.org/officeDocument/2006/relationships" xmlns:p188="http://schemas.microsoft.com/office/powerpoint/2018/8/main">
  <p188:cm id="{AA3F53C8-86C1-7F4C-8BD8-ECEC47FB7C12}" authorId="{98700C67-1BB0-CEE6-E468-89DE67BCA553}" created="2026-04-15T13:45:36.120">
    <pc:sldMkLst xmlns:pc="http://schemas.microsoft.com/office/powerpoint/2013/main/command">
      <pc:docMk/>
      <pc:sldMk cId="1241852514" sldId="2147481161"/>
    </pc:sldMkLst>
    <p188:txBody>
      <a:bodyPr/>
      <a:lstStyle/>
      <a:p>
        <a:r>
          <a:rPr lang="nl-NL"/>
          <a:t>Ondersteuning van verhaal</a:t>
        </a:r>
      </a:p>
    </p188:txBody>
  </p188:cm>
</p188:cmLst>
</file>

<file path=ppt/comments/modernComment_7FFFF657_4C3FE6D.xml><?xml version="1.0" encoding="utf-8"?>
<p188:cmLst xmlns:a="http://schemas.openxmlformats.org/drawingml/2006/main" xmlns:r="http://schemas.openxmlformats.org/officeDocument/2006/relationships" xmlns:p188="http://schemas.microsoft.com/office/powerpoint/2018/8/main">
  <p188:cm id="{2B9F6E77-0833-FC49-BF29-1AA89EB8A23D}" authorId="{98700C67-1BB0-CEE6-E468-89DE67BCA553}" created="2026-04-15T14:31:48.137">
    <pc:sldMkLst xmlns:pc="http://schemas.microsoft.com/office/powerpoint/2013/main/command">
      <pc:docMk/>
      <pc:sldMk cId="79953517" sldId="2147481175"/>
    </pc:sldMkLst>
    <p188:replyLst>
      <p188:reply id="{FED3258E-4350-AD4B-835C-C137008E2A6A}" authorId="{98700C67-1BB0-CEE6-E468-89DE67BCA553}" created="2026-04-15T14:32:05.647">
        <p188:txBody>
          <a:bodyPr/>
          <a:lstStyle/>
          <a:p>
            <a:r>
              <a:rPr lang="nl-NL"/>
              <a:t>Ik heb een opzet gemaakt maar dit werkt beter als we input hebben
</a:t>
            </a:r>
          </a:p>
        </p188:txBody>
      </p188:reply>
    </p188:replyLst>
    <p188:txBody>
      <a:bodyPr/>
      <a:lstStyle/>
      <a:p>
        <a:r>
          <a:rPr lang="nl-NL"/>
          <a:t>JS/AK: we may need to start thinking about the organogram. Perhaps not yet needed for travel. 
Newkinds: please suggest design for organogram, so we can update it when needed. </a:t>
        </a:r>
      </a:p>
    </p188:txBody>
  </p188:cm>
</p188:cmLst>
</file>

<file path=ppt/comments/modernComment_7FFFF666_6B20DFE6.xml><?xml version="1.0" encoding="utf-8"?>
<p188:cmLst xmlns:a="http://schemas.openxmlformats.org/drawingml/2006/main" xmlns:r="http://schemas.openxmlformats.org/officeDocument/2006/relationships" xmlns:p188="http://schemas.microsoft.com/office/powerpoint/2018/8/main">
  <p188:cm id="{D695A01E-8B97-694E-8AB2-4EB75B79584D}" authorId="{98700C67-1BB0-CEE6-E468-89DE67BCA553}" created="2026-04-16T08:09:39.848">
    <pc:sldMkLst xmlns:pc="http://schemas.microsoft.com/office/powerpoint/2013/main/command">
      <pc:docMk/>
      <pc:sldMk cId="1797316582" sldId="2147481190"/>
    </pc:sldMkLst>
    <p188:txBody>
      <a:bodyPr/>
      <a:lstStyle/>
      <a:p>
        <a:r>
          <a:rPr lang="nl-NL"/>
          <a:t>Content to be included based on financial model.</a:t>
        </a:r>
      </a:p>
    </p188:txBody>
  </p188:cm>
</p188:cmLst>
</file>

<file path=ppt/comments/modernComment_12B_2C70539A.xml><?xml version="1.0" encoding="utf-8"?>
<p188:cmLst xmlns:a="http://schemas.openxmlformats.org/drawingml/2006/main" xmlns:r="http://schemas.openxmlformats.org/officeDocument/2006/relationships" xmlns:p188="http://schemas.microsoft.com/office/powerpoint/2018/8/main">
  <p188:cm id="{11540AD4-52AF-4F58-8E9F-8DECD39A00AF}" authorId="{DD4EF8D5-657D-3CBD-3046-00DB3EBE6229}" created="2026-04-14T04:43:20.375">
    <pc:sldMkLst xmlns:pc="http://schemas.microsoft.com/office/powerpoint/2013/main/command">
      <pc:docMk/>
      <pc:sldMk cId="745558938" sldId="299"/>
    </pc:sldMkLst>
    <p188:txBody>
      <a:bodyPr/>
      <a:lstStyle/>
      <a:p>
        <a:r>
          <a:rPr lang="en-KE"/>
          <a:t>- JS/AK: Decide on logos to include
- JS/AK: Note the removal of the subtitle ‘for CEO Water Mandate, Water Resilience Coalition’</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BA2E24-958B-024C-A3A2-EE7DBD4E45EF}" type="doc">
      <dgm:prSet loTypeId="urn:microsoft.com/office/officeart/2005/8/layout/hierarchy6" loCatId="" qsTypeId="urn:microsoft.com/office/officeart/2005/8/quickstyle/simple1" qsCatId="simple" csTypeId="urn:microsoft.com/office/officeart/2005/8/colors/accent1_2" csCatId="accent1" phldr="1"/>
      <dgm:spPr/>
      <dgm:t>
        <a:bodyPr/>
        <a:lstStyle/>
        <a:p>
          <a:endParaRPr lang="nl-NL"/>
        </a:p>
      </dgm:t>
    </dgm:pt>
    <dgm:pt modelId="{1E28D225-3FCB-1E45-AE89-CB701FC88877}">
      <dgm:prSet phldrT="[Tekst]"/>
      <dgm:spPr>
        <a:solidFill>
          <a:srgbClr val="FFFFFF"/>
        </a:solidFill>
        <a:ln>
          <a:noFill/>
        </a:ln>
      </dgm:spPr>
      <dgm:t>
        <a:bodyPr/>
        <a:lstStyle/>
        <a:p>
          <a:r>
            <a:rPr lang="nl-NL" b="1" dirty="0">
              <a:solidFill>
                <a:srgbClr val="173E55"/>
              </a:solidFill>
            </a:rPr>
            <a:t>Persoon</a:t>
          </a:r>
          <a:br>
            <a:rPr lang="nl-NL" dirty="0">
              <a:solidFill>
                <a:srgbClr val="173E55"/>
              </a:solidFill>
            </a:rPr>
          </a:br>
          <a:r>
            <a:rPr lang="nl-NL" dirty="0" err="1">
              <a:solidFill>
                <a:srgbClr val="173E55"/>
              </a:solidFill>
            </a:rPr>
            <a:t>Funcie</a:t>
          </a:r>
          <a:endParaRPr lang="nl-NL" dirty="0">
            <a:solidFill>
              <a:srgbClr val="173E55"/>
            </a:solidFill>
          </a:endParaRPr>
        </a:p>
      </dgm:t>
    </dgm:pt>
    <dgm:pt modelId="{6A691676-02AD-2E4F-B697-FBBD90F40B28}" type="parTrans" cxnId="{CB074B17-6B49-AF4D-8235-E7A7CBEE819E}">
      <dgm:prSet/>
      <dgm:spPr/>
      <dgm:t>
        <a:bodyPr/>
        <a:lstStyle/>
        <a:p>
          <a:endParaRPr lang="nl-NL"/>
        </a:p>
      </dgm:t>
    </dgm:pt>
    <dgm:pt modelId="{D6AE480E-E264-A044-89B5-F3AE454DFC7D}" type="sibTrans" cxnId="{CB074B17-6B49-AF4D-8235-E7A7CBEE819E}">
      <dgm:prSet/>
      <dgm:spPr/>
      <dgm:t>
        <a:bodyPr/>
        <a:lstStyle/>
        <a:p>
          <a:endParaRPr lang="nl-NL"/>
        </a:p>
      </dgm:t>
    </dgm:pt>
    <dgm:pt modelId="{75584B9C-E0F0-694E-8759-8F8DFE8DCBD6}">
      <dgm:prSet phldrT="[Tekst]" phldr="1"/>
      <dgm:spPr>
        <a:solidFill>
          <a:srgbClr val="FFFFFF"/>
        </a:solidFill>
        <a:ln>
          <a:noFill/>
        </a:ln>
      </dgm:spPr>
      <dgm:t>
        <a:bodyPr/>
        <a:lstStyle/>
        <a:p>
          <a:endParaRPr lang="nl-NL">
            <a:solidFill>
              <a:srgbClr val="173E55"/>
            </a:solidFill>
          </a:endParaRPr>
        </a:p>
      </dgm:t>
    </dgm:pt>
    <dgm:pt modelId="{9FC0C0B2-AE29-EB4D-B47E-10B67BEE20D8}" type="parTrans" cxnId="{BCEDEC9E-D6C7-5346-A233-53E16B1B1994}">
      <dgm:prSet/>
      <dgm:spPr>
        <a:ln>
          <a:solidFill>
            <a:srgbClr val="FFA726"/>
          </a:solidFill>
        </a:ln>
      </dgm:spPr>
      <dgm:t>
        <a:bodyPr/>
        <a:lstStyle/>
        <a:p>
          <a:endParaRPr lang="nl-NL"/>
        </a:p>
      </dgm:t>
    </dgm:pt>
    <dgm:pt modelId="{2C22EA48-4BEE-464F-BC6B-41CD575F8663}" type="sibTrans" cxnId="{BCEDEC9E-D6C7-5346-A233-53E16B1B1994}">
      <dgm:prSet/>
      <dgm:spPr/>
      <dgm:t>
        <a:bodyPr/>
        <a:lstStyle/>
        <a:p>
          <a:endParaRPr lang="nl-NL"/>
        </a:p>
      </dgm:t>
    </dgm:pt>
    <dgm:pt modelId="{19EBDAA8-3BFF-B94F-B485-653E32B0FF14}">
      <dgm:prSet phldrT="[Tekst]" phldr="1"/>
      <dgm:spPr>
        <a:solidFill>
          <a:srgbClr val="FFFFFF"/>
        </a:solidFill>
        <a:ln>
          <a:noFill/>
        </a:ln>
      </dgm:spPr>
      <dgm:t>
        <a:bodyPr/>
        <a:lstStyle/>
        <a:p>
          <a:endParaRPr lang="nl-NL" dirty="0">
            <a:solidFill>
              <a:srgbClr val="173E55"/>
            </a:solidFill>
          </a:endParaRPr>
        </a:p>
      </dgm:t>
    </dgm:pt>
    <dgm:pt modelId="{DD55012B-C146-5E4F-B645-D812E75892C7}" type="parTrans" cxnId="{BA29339E-DEE6-CE4F-93A2-B2310DCC2E1A}">
      <dgm:prSet/>
      <dgm:spPr>
        <a:ln>
          <a:solidFill>
            <a:srgbClr val="FFA726"/>
          </a:solidFill>
        </a:ln>
      </dgm:spPr>
      <dgm:t>
        <a:bodyPr/>
        <a:lstStyle/>
        <a:p>
          <a:endParaRPr lang="nl-NL"/>
        </a:p>
      </dgm:t>
    </dgm:pt>
    <dgm:pt modelId="{55B1EF7B-5DDF-1048-8874-1EDCB3195989}" type="sibTrans" cxnId="{BA29339E-DEE6-CE4F-93A2-B2310DCC2E1A}">
      <dgm:prSet/>
      <dgm:spPr/>
      <dgm:t>
        <a:bodyPr/>
        <a:lstStyle/>
        <a:p>
          <a:endParaRPr lang="nl-NL"/>
        </a:p>
      </dgm:t>
    </dgm:pt>
    <dgm:pt modelId="{F6EAE84E-D59F-DC44-AAFE-BB3AFB749134}">
      <dgm:prSet phldrT="[Tekst]" phldr="1"/>
      <dgm:spPr>
        <a:solidFill>
          <a:srgbClr val="FFFFFF"/>
        </a:solidFill>
        <a:ln>
          <a:noFill/>
        </a:ln>
      </dgm:spPr>
      <dgm:t>
        <a:bodyPr/>
        <a:lstStyle/>
        <a:p>
          <a:endParaRPr lang="nl-NL">
            <a:solidFill>
              <a:srgbClr val="173E55"/>
            </a:solidFill>
          </a:endParaRPr>
        </a:p>
      </dgm:t>
    </dgm:pt>
    <dgm:pt modelId="{48EB63BE-F316-194E-8C2D-19698116ED23}" type="parTrans" cxnId="{4453C13A-64EB-2448-9BE8-8AE66016FB0A}">
      <dgm:prSet/>
      <dgm:spPr>
        <a:ln>
          <a:solidFill>
            <a:srgbClr val="FFA726"/>
          </a:solidFill>
        </a:ln>
      </dgm:spPr>
      <dgm:t>
        <a:bodyPr/>
        <a:lstStyle/>
        <a:p>
          <a:endParaRPr lang="nl-NL"/>
        </a:p>
      </dgm:t>
    </dgm:pt>
    <dgm:pt modelId="{240D0705-B987-0A44-A0B8-36E21B936A22}" type="sibTrans" cxnId="{4453C13A-64EB-2448-9BE8-8AE66016FB0A}">
      <dgm:prSet/>
      <dgm:spPr/>
      <dgm:t>
        <a:bodyPr/>
        <a:lstStyle/>
        <a:p>
          <a:endParaRPr lang="nl-NL"/>
        </a:p>
      </dgm:t>
    </dgm:pt>
    <dgm:pt modelId="{F763ACB6-6D54-AF46-BD8F-EF1F55C6E662}">
      <dgm:prSet phldrT="[Tekst]" phldr="1"/>
      <dgm:spPr>
        <a:solidFill>
          <a:srgbClr val="FFFFFF"/>
        </a:solidFill>
        <a:ln>
          <a:noFill/>
        </a:ln>
      </dgm:spPr>
      <dgm:t>
        <a:bodyPr/>
        <a:lstStyle/>
        <a:p>
          <a:endParaRPr lang="nl-NL">
            <a:solidFill>
              <a:srgbClr val="173E55"/>
            </a:solidFill>
          </a:endParaRPr>
        </a:p>
      </dgm:t>
    </dgm:pt>
    <dgm:pt modelId="{ECE3938D-449E-904E-A3AC-51918ABB3E7F}" type="parTrans" cxnId="{91A3F7EA-C6F2-AE48-AB96-94BE96EE938D}">
      <dgm:prSet/>
      <dgm:spPr>
        <a:ln>
          <a:solidFill>
            <a:srgbClr val="FFA726"/>
          </a:solidFill>
        </a:ln>
      </dgm:spPr>
      <dgm:t>
        <a:bodyPr/>
        <a:lstStyle/>
        <a:p>
          <a:endParaRPr lang="nl-NL"/>
        </a:p>
      </dgm:t>
    </dgm:pt>
    <dgm:pt modelId="{F3321900-08BB-CF40-B824-A62E426D3C58}" type="sibTrans" cxnId="{91A3F7EA-C6F2-AE48-AB96-94BE96EE938D}">
      <dgm:prSet/>
      <dgm:spPr/>
      <dgm:t>
        <a:bodyPr/>
        <a:lstStyle/>
        <a:p>
          <a:endParaRPr lang="nl-NL"/>
        </a:p>
      </dgm:t>
    </dgm:pt>
    <dgm:pt modelId="{CECF6004-BB11-8943-AD1D-D80A16DCDD49}">
      <dgm:prSet phldrT="[Tekst]" phldr="1"/>
      <dgm:spPr>
        <a:solidFill>
          <a:srgbClr val="FFFFFF"/>
        </a:solidFill>
        <a:ln>
          <a:noFill/>
        </a:ln>
      </dgm:spPr>
      <dgm:t>
        <a:bodyPr/>
        <a:lstStyle/>
        <a:p>
          <a:endParaRPr lang="nl-NL">
            <a:solidFill>
              <a:srgbClr val="173E55"/>
            </a:solidFill>
          </a:endParaRPr>
        </a:p>
      </dgm:t>
    </dgm:pt>
    <dgm:pt modelId="{8D108EF1-E4DB-1A4B-988E-2F3D3FC69D97}" type="parTrans" cxnId="{5FB39199-D841-3644-B1B5-3AB6CA915F7A}">
      <dgm:prSet/>
      <dgm:spPr>
        <a:ln>
          <a:solidFill>
            <a:srgbClr val="FFA726"/>
          </a:solidFill>
        </a:ln>
      </dgm:spPr>
      <dgm:t>
        <a:bodyPr/>
        <a:lstStyle/>
        <a:p>
          <a:endParaRPr lang="nl-NL"/>
        </a:p>
      </dgm:t>
    </dgm:pt>
    <dgm:pt modelId="{C423D734-AD91-DA46-B129-B98AB3511B71}" type="sibTrans" cxnId="{5FB39199-D841-3644-B1B5-3AB6CA915F7A}">
      <dgm:prSet/>
      <dgm:spPr/>
      <dgm:t>
        <a:bodyPr/>
        <a:lstStyle/>
        <a:p>
          <a:endParaRPr lang="nl-NL"/>
        </a:p>
      </dgm:t>
    </dgm:pt>
    <dgm:pt modelId="{B3072B09-DE11-8944-AD0E-96511E0A7E7D}">
      <dgm:prSet phldrT="[Tekst]"/>
      <dgm:spPr>
        <a:solidFill>
          <a:srgbClr val="173E55"/>
        </a:solidFill>
      </dgm:spPr>
      <dgm:t>
        <a:bodyPr/>
        <a:lstStyle/>
        <a:p>
          <a:r>
            <a:rPr lang="nl-NL" dirty="0">
              <a:solidFill>
                <a:srgbClr val="F3F1ED"/>
              </a:solidFill>
            </a:rPr>
            <a:t>Afdeling</a:t>
          </a:r>
        </a:p>
      </dgm:t>
    </dgm:pt>
    <dgm:pt modelId="{998757F5-905F-9340-804A-28B0590CAA5F}" type="parTrans" cxnId="{066E862B-9B9C-BC4E-8928-24A38ECB8E3F}">
      <dgm:prSet/>
      <dgm:spPr/>
      <dgm:t>
        <a:bodyPr/>
        <a:lstStyle/>
        <a:p>
          <a:endParaRPr lang="nl-NL"/>
        </a:p>
      </dgm:t>
    </dgm:pt>
    <dgm:pt modelId="{CA5C85AE-A627-ED44-9040-FF298D5AAD32}" type="sibTrans" cxnId="{066E862B-9B9C-BC4E-8928-24A38ECB8E3F}">
      <dgm:prSet/>
      <dgm:spPr/>
      <dgm:t>
        <a:bodyPr/>
        <a:lstStyle/>
        <a:p>
          <a:endParaRPr lang="nl-NL"/>
        </a:p>
      </dgm:t>
    </dgm:pt>
    <dgm:pt modelId="{83F99090-0455-7D49-A864-F60F676D3B49}">
      <dgm:prSet phldrT="[Tekst]"/>
      <dgm:spPr>
        <a:solidFill>
          <a:srgbClr val="173E55"/>
        </a:solidFill>
      </dgm:spPr>
      <dgm:t>
        <a:bodyPr/>
        <a:lstStyle/>
        <a:p>
          <a:r>
            <a:rPr lang="nl-NL" dirty="0">
              <a:solidFill>
                <a:srgbClr val="F3F1ED"/>
              </a:solidFill>
            </a:rPr>
            <a:t>Afdeling</a:t>
          </a:r>
        </a:p>
      </dgm:t>
    </dgm:pt>
    <dgm:pt modelId="{C491B30C-79E2-7F41-90D9-1CE1D06A59D2}" type="parTrans" cxnId="{559EE31E-304F-FD41-A8AB-A600D59144BB}">
      <dgm:prSet/>
      <dgm:spPr/>
      <dgm:t>
        <a:bodyPr/>
        <a:lstStyle/>
        <a:p>
          <a:endParaRPr lang="nl-NL"/>
        </a:p>
      </dgm:t>
    </dgm:pt>
    <dgm:pt modelId="{3B5A2D96-8360-424E-B8B7-4EB38FDA02AF}" type="sibTrans" cxnId="{559EE31E-304F-FD41-A8AB-A600D59144BB}">
      <dgm:prSet/>
      <dgm:spPr/>
      <dgm:t>
        <a:bodyPr/>
        <a:lstStyle/>
        <a:p>
          <a:endParaRPr lang="nl-NL"/>
        </a:p>
      </dgm:t>
    </dgm:pt>
    <dgm:pt modelId="{D8B80D89-21F0-0F45-9E5D-D36264E0AF1A}">
      <dgm:prSet phldrT="[Tekst]"/>
      <dgm:spPr>
        <a:solidFill>
          <a:srgbClr val="173E55"/>
        </a:solidFill>
      </dgm:spPr>
      <dgm:t>
        <a:bodyPr/>
        <a:lstStyle/>
        <a:p>
          <a:r>
            <a:rPr lang="nl-NL" dirty="0">
              <a:solidFill>
                <a:srgbClr val="F3F1ED"/>
              </a:solidFill>
            </a:rPr>
            <a:t>Afdeling</a:t>
          </a:r>
        </a:p>
      </dgm:t>
    </dgm:pt>
    <dgm:pt modelId="{F5EEE42D-F139-314A-B509-55306BEF02AF}" type="parTrans" cxnId="{EC749770-60F3-3644-B254-2526C06E30B1}">
      <dgm:prSet/>
      <dgm:spPr/>
      <dgm:t>
        <a:bodyPr/>
        <a:lstStyle/>
        <a:p>
          <a:endParaRPr lang="nl-NL"/>
        </a:p>
      </dgm:t>
    </dgm:pt>
    <dgm:pt modelId="{2F4CB18A-10EC-FA4E-804A-23B038B2A0A6}" type="sibTrans" cxnId="{EC749770-60F3-3644-B254-2526C06E30B1}">
      <dgm:prSet/>
      <dgm:spPr/>
      <dgm:t>
        <a:bodyPr/>
        <a:lstStyle/>
        <a:p>
          <a:endParaRPr lang="nl-NL"/>
        </a:p>
      </dgm:t>
    </dgm:pt>
    <dgm:pt modelId="{90B0DC9D-D4F5-2C43-9649-9D8DE4FCB9DA}" type="pres">
      <dgm:prSet presAssocID="{67BA2E24-958B-024C-A3A2-EE7DBD4E45EF}" presName="mainComposite" presStyleCnt="0">
        <dgm:presLayoutVars>
          <dgm:chPref val="1"/>
          <dgm:dir/>
          <dgm:animOne val="branch"/>
          <dgm:animLvl val="lvl"/>
          <dgm:resizeHandles val="exact"/>
        </dgm:presLayoutVars>
      </dgm:prSet>
      <dgm:spPr/>
    </dgm:pt>
    <dgm:pt modelId="{A25E0530-793E-B047-8EFA-3E4A6C31990B}" type="pres">
      <dgm:prSet presAssocID="{67BA2E24-958B-024C-A3A2-EE7DBD4E45EF}" presName="hierFlow" presStyleCnt="0"/>
      <dgm:spPr/>
    </dgm:pt>
    <dgm:pt modelId="{2665D0E1-1F9B-DE46-8CDA-A4290D1782F1}" type="pres">
      <dgm:prSet presAssocID="{67BA2E24-958B-024C-A3A2-EE7DBD4E45EF}" presName="firstBuf" presStyleCnt="0"/>
      <dgm:spPr/>
    </dgm:pt>
    <dgm:pt modelId="{F0D06EA2-7AE0-4148-9B36-4A2E5310E2BA}" type="pres">
      <dgm:prSet presAssocID="{67BA2E24-958B-024C-A3A2-EE7DBD4E45EF}" presName="hierChild1" presStyleCnt="0">
        <dgm:presLayoutVars>
          <dgm:chPref val="1"/>
          <dgm:animOne val="branch"/>
          <dgm:animLvl val="lvl"/>
        </dgm:presLayoutVars>
      </dgm:prSet>
      <dgm:spPr/>
    </dgm:pt>
    <dgm:pt modelId="{4348F0A2-1333-E546-B240-620D477BC934}" type="pres">
      <dgm:prSet presAssocID="{1E28D225-3FCB-1E45-AE89-CB701FC88877}" presName="Name14" presStyleCnt="0"/>
      <dgm:spPr/>
    </dgm:pt>
    <dgm:pt modelId="{053C40E0-9B86-434A-B2AC-A81E68E59AB6}" type="pres">
      <dgm:prSet presAssocID="{1E28D225-3FCB-1E45-AE89-CB701FC88877}" presName="level1Shape" presStyleLbl="node0" presStyleIdx="0" presStyleCnt="1" custScaleY="33373">
        <dgm:presLayoutVars>
          <dgm:chPref val="3"/>
        </dgm:presLayoutVars>
      </dgm:prSet>
      <dgm:spPr/>
    </dgm:pt>
    <dgm:pt modelId="{9E1D3F33-EACF-4042-A537-42BB995BC5D5}" type="pres">
      <dgm:prSet presAssocID="{1E28D225-3FCB-1E45-AE89-CB701FC88877}" presName="hierChild2" presStyleCnt="0"/>
      <dgm:spPr/>
    </dgm:pt>
    <dgm:pt modelId="{66689006-6849-CF4A-82FD-896A6CBBE0D9}" type="pres">
      <dgm:prSet presAssocID="{9FC0C0B2-AE29-EB4D-B47E-10B67BEE20D8}" presName="Name19" presStyleLbl="parChTrans1D2" presStyleIdx="0" presStyleCnt="2"/>
      <dgm:spPr/>
    </dgm:pt>
    <dgm:pt modelId="{D811031B-F9D6-C94D-990B-DB9A1503B4D9}" type="pres">
      <dgm:prSet presAssocID="{75584B9C-E0F0-694E-8759-8F8DFE8DCBD6}" presName="Name21" presStyleCnt="0"/>
      <dgm:spPr/>
    </dgm:pt>
    <dgm:pt modelId="{FF710781-8397-4944-B6BA-54525FAD2A13}" type="pres">
      <dgm:prSet presAssocID="{75584B9C-E0F0-694E-8759-8F8DFE8DCBD6}" presName="level2Shape" presStyleLbl="node2" presStyleIdx="0" presStyleCnt="2" custScaleY="38089"/>
      <dgm:spPr/>
    </dgm:pt>
    <dgm:pt modelId="{63340EF4-AA2A-D740-AF69-0CFEDDA45BE0}" type="pres">
      <dgm:prSet presAssocID="{75584B9C-E0F0-694E-8759-8F8DFE8DCBD6}" presName="hierChild3" presStyleCnt="0"/>
      <dgm:spPr/>
    </dgm:pt>
    <dgm:pt modelId="{9B56BDA9-020C-6F4D-8D93-EA43ADC7F12B}" type="pres">
      <dgm:prSet presAssocID="{DD55012B-C146-5E4F-B645-D812E75892C7}" presName="Name19" presStyleLbl="parChTrans1D3" presStyleIdx="0" presStyleCnt="3"/>
      <dgm:spPr/>
    </dgm:pt>
    <dgm:pt modelId="{732476F3-7393-AE43-9F53-CDFA4B6921F7}" type="pres">
      <dgm:prSet presAssocID="{19EBDAA8-3BFF-B94F-B485-653E32B0FF14}" presName="Name21" presStyleCnt="0"/>
      <dgm:spPr/>
    </dgm:pt>
    <dgm:pt modelId="{19A12EFA-D717-7E41-95A9-FA07D5895463}" type="pres">
      <dgm:prSet presAssocID="{19EBDAA8-3BFF-B94F-B485-653E32B0FF14}" presName="level2Shape" presStyleLbl="node3" presStyleIdx="0" presStyleCnt="3" custScaleY="33581"/>
      <dgm:spPr/>
    </dgm:pt>
    <dgm:pt modelId="{3B97CE99-4627-E248-90A9-EED4FAF16DF2}" type="pres">
      <dgm:prSet presAssocID="{19EBDAA8-3BFF-B94F-B485-653E32B0FF14}" presName="hierChild3" presStyleCnt="0"/>
      <dgm:spPr/>
    </dgm:pt>
    <dgm:pt modelId="{D8604BDC-B607-5640-8AB2-56CDFB62ECEE}" type="pres">
      <dgm:prSet presAssocID="{48EB63BE-F316-194E-8C2D-19698116ED23}" presName="Name19" presStyleLbl="parChTrans1D3" presStyleIdx="1" presStyleCnt="3"/>
      <dgm:spPr/>
    </dgm:pt>
    <dgm:pt modelId="{76FD5630-53D6-6949-A8CE-04588D531B90}" type="pres">
      <dgm:prSet presAssocID="{F6EAE84E-D59F-DC44-AAFE-BB3AFB749134}" presName="Name21" presStyleCnt="0"/>
      <dgm:spPr/>
    </dgm:pt>
    <dgm:pt modelId="{C8795347-8120-9B4A-90C4-927F961CA91E}" type="pres">
      <dgm:prSet presAssocID="{F6EAE84E-D59F-DC44-AAFE-BB3AFB749134}" presName="level2Shape" presStyleLbl="node3" presStyleIdx="1" presStyleCnt="3" custScaleY="33581"/>
      <dgm:spPr/>
    </dgm:pt>
    <dgm:pt modelId="{E2BAB93F-1952-A843-94BE-A5AD808FE1FC}" type="pres">
      <dgm:prSet presAssocID="{F6EAE84E-D59F-DC44-AAFE-BB3AFB749134}" presName="hierChild3" presStyleCnt="0"/>
      <dgm:spPr/>
    </dgm:pt>
    <dgm:pt modelId="{E87D5981-A5C7-F747-AE5E-C4704370BE4A}" type="pres">
      <dgm:prSet presAssocID="{ECE3938D-449E-904E-A3AC-51918ABB3E7F}" presName="Name19" presStyleLbl="parChTrans1D2" presStyleIdx="1" presStyleCnt="2"/>
      <dgm:spPr/>
    </dgm:pt>
    <dgm:pt modelId="{85E37D0F-1982-A647-A101-6C0C87559754}" type="pres">
      <dgm:prSet presAssocID="{F763ACB6-6D54-AF46-BD8F-EF1F55C6E662}" presName="Name21" presStyleCnt="0"/>
      <dgm:spPr/>
    </dgm:pt>
    <dgm:pt modelId="{D9C45686-0F49-744A-8BB0-57D6460447D7}" type="pres">
      <dgm:prSet presAssocID="{F763ACB6-6D54-AF46-BD8F-EF1F55C6E662}" presName="level2Shape" presStyleLbl="node2" presStyleIdx="1" presStyleCnt="2" custScaleY="38089"/>
      <dgm:spPr/>
    </dgm:pt>
    <dgm:pt modelId="{0ECB3D08-2D17-2B48-BC38-48A573B3FB88}" type="pres">
      <dgm:prSet presAssocID="{F763ACB6-6D54-AF46-BD8F-EF1F55C6E662}" presName="hierChild3" presStyleCnt="0"/>
      <dgm:spPr/>
    </dgm:pt>
    <dgm:pt modelId="{81B216F1-9158-2C46-896C-7B671A0050A3}" type="pres">
      <dgm:prSet presAssocID="{8D108EF1-E4DB-1A4B-988E-2F3D3FC69D97}" presName="Name19" presStyleLbl="parChTrans1D3" presStyleIdx="2" presStyleCnt="3"/>
      <dgm:spPr/>
    </dgm:pt>
    <dgm:pt modelId="{A9D18254-A32A-D642-B0A4-1BC846A838D3}" type="pres">
      <dgm:prSet presAssocID="{CECF6004-BB11-8943-AD1D-D80A16DCDD49}" presName="Name21" presStyleCnt="0"/>
      <dgm:spPr/>
    </dgm:pt>
    <dgm:pt modelId="{3E7199F1-CE0A-6146-A523-EB52A8E7E235}" type="pres">
      <dgm:prSet presAssocID="{CECF6004-BB11-8943-AD1D-D80A16DCDD49}" presName="level2Shape" presStyleLbl="node3" presStyleIdx="2" presStyleCnt="3" custScaleY="33581"/>
      <dgm:spPr/>
    </dgm:pt>
    <dgm:pt modelId="{599444E1-BD08-D64F-8A64-6B076472C64D}" type="pres">
      <dgm:prSet presAssocID="{CECF6004-BB11-8943-AD1D-D80A16DCDD49}" presName="hierChild3" presStyleCnt="0"/>
      <dgm:spPr/>
    </dgm:pt>
    <dgm:pt modelId="{0D56DBEC-91EE-4D42-97C9-999A12D6EF1F}" type="pres">
      <dgm:prSet presAssocID="{67BA2E24-958B-024C-A3A2-EE7DBD4E45EF}" presName="bgShapesFlow" presStyleCnt="0"/>
      <dgm:spPr/>
    </dgm:pt>
    <dgm:pt modelId="{676BEA58-8A86-3D4D-A890-FD11CB20E8E0}" type="pres">
      <dgm:prSet presAssocID="{B3072B09-DE11-8944-AD0E-96511E0A7E7D}" presName="rectComp" presStyleCnt="0"/>
      <dgm:spPr/>
    </dgm:pt>
    <dgm:pt modelId="{0E381D95-87A6-274E-9FDF-BE5945C702AE}" type="pres">
      <dgm:prSet presAssocID="{B3072B09-DE11-8944-AD0E-96511E0A7E7D}" presName="bgRect" presStyleLbl="bgShp" presStyleIdx="0" presStyleCnt="3" custScaleY="47945" custLinFactNeighborY="-2536"/>
      <dgm:spPr/>
    </dgm:pt>
    <dgm:pt modelId="{23C6C7B0-1566-764C-8953-150B278FEBE7}" type="pres">
      <dgm:prSet presAssocID="{B3072B09-DE11-8944-AD0E-96511E0A7E7D}" presName="bgRectTx" presStyleLbl="bgShp" presStyleIdx="0" presStyleCnt="3">
        <dgm:presLayoutVars>
          <dgm:bulletEnabled val="1"/>
        </dgm:presLayoutVars>
      </dgm:prSet>
      <dgm:spPr/>
    </dgm:pt>
    <dgm:pt modelId="{9AAEE34F-134B-5949-954A-AF55547009B8}" type="pres">
      <dgm:prSet presAssocID="{B3072B09-DE11-8944-AD0E-96511E0A7E7D}" presName="spComp" presStyleCnt="0"/>
      <dgm:spPr/>
    </dgm:pt>
    <dgm:pt modelId="{82DE02F5-F99D-DB45-B812-7D59CED2FCFD}" type="pres">
      <dgm:prSet presAssocID="{B3072B09-DE11-8944-AD0E-96511E0A7E7D}" presName="vSp" presStyleCnt="0"/>
      <dgm:spPr/>
    </dgm:pt>
    <dgm:pt modelId="{8B8FCA98-FEEC-EE4B-B47E-9B42B316928A}" type="pres">
      <dgm:prSet presAssocID="{83F99090-0455-7D49-A864-F60F676D3B49}" presName="rectComp" presStyleCnt="0"/>
      <dgm:spPr/>
    </dgm:pt>
    <dgm:pt modelId="{1EE581E4-5063-2141-975D-DDDBE55BD5B5}" type="pres">
      <dgm:prSet presAssocID="{83F99090-0455-7D49-A864-F60F676D3B49}" presName="bgRect" presStyleLbl="bgShp" presStyleIdx="1" presStyleCnt="3" custScaleY="48094" custLinFactNeighborY="-3170"/>
      <dgm:spPr/>
    </dgm:pt>
    <dgm:pt modelId="{13600505-270A-A149-A360-B204C8B0149B}" type="pres">
      <dgm:prSet presAssocID="{83F99090-0455-7D49-A864-F60F676D3B49}" presName="bgRectTx" presStyleLbl="bgShp" presStyleIdx="1" presStyleCnt="3">
        <dgm:presLayoutVars>
          <dgm:bulletEnabled val="1"/>
        </dgm:presLayoutVars>
      </dgm:prSet>
      <dgm:spPr/>
    </dgm:pt>
    <dgm:pt modelId="{8DAB6CC4-F55D-3144-8078-D0CFE22119BB}" type="pres">
      <dgm:prSet presAssocID="{83F99090-0455-7D49-A864-F60F676D3B49}" presName="spComp" presStyleCnt="0"/>
      <dgm:spPr/>
    </dgm:pt>
    <dgm:pt modelId="{427E5B19-3683-484C-A702-BF7501691D7C}" type="pres">
      <dgm:prSet presAssocID="{83F99090-0455-7D49-A864-F60F676D3B49}" presName="vSp" presStyleCnt="0"/>
      <dgm:spPr/>
    </dgm:pt>
    <dgm:pt modelId="{3ABD6929-38E6-6947-9E07-1141C163C9A9}" type="pres">
      <dgm:prSet presAssocID="{D8B80D89-21F0-0F45-9E5D-D36264E0AF1A}" presName="rectComp" presStyleCnt="0"/>
      <dgm:spPr/>
    </dgm:pt>
    <dgm:pt modelId="{5366D374-FFEF-9D4E-93D3-0ED486F0CEF1}" type="pres">
      <dgm:prSet presAssocID="{D8B80D89-21F0-0F45-9E5D-D36264E0AF1A}" presName="bgRect" presStyleLbl="bgShp" presStyleIdx="2" presStyleCnt="3" custScaleY="44157" custLinFactNeighborY="-1902"/>
      <dgm:spPr/>
    </dgm:pt>
    <dgm:pt modelId="{970004B6-C249-2A4C-A1E1-E7DD4A6B399D}" type="pres">
      <dgm:prSet presAssocID="{D8B80D89-21F0-0F45-9E5D-D36264E0AF1A}" presName="bgRectTx" presStyleLbl="bgShp" presStyleIdx="2" presStyleCnt="3">
        <dgm:presLayoutVars>
          <dgm:bulletEnabled val="1"/>
        </dgm:presLayoutVars>
      </dgm:prSet>
      <dgm:spPr/>
    </dgm:pt>
  </dgm:ptLst>
  <dgm:cxnLst>
    <dgm:cxn modelId="{5D7E7E04-3A59-7F43-938E-62FF9269D74C}" type="presOf" srcId="{48EB63BE-F316-194E-8C2D-19698116ED23}" destId="{D8604BDC-B607-5640-8AB2-56CDFB62ECEE}" srcOrd="0" destOrd="0" presId="urn:microsoft.com/office/officeart/2005/8/layout/hierarchy6"/>
    <dgm:cxn modelId="{267F750F-AF8E-B649-99AB-FD191104A8C4}" type="presOf" srcId="{B3072B09-DE11-8944-AD0E-96511E0A7E7D}" destId="{0E381D95-87A6-274E-9FDF-BE5945C702AE}" srcOrd="0" destOrd="0" presId="urn:microsoft.com/office/officeart/2005/8/layout/hierarchy6"/>
    <dgm:cxn modelId="{5A9ADC11-7489-3042-BE9D-B360DA8D9A97}" type="presOf" srcId="{75584B9C-E0F0-694E-8759-8F8DFE8DCBD6}" destId="{FF710781-8397-4944-B6BA-54525FAD2A13}" srcOrd="0" destOrd="0" presId="urn:microsoft.com/office/officeart/2005/8/layout/hierarchy6"/>
    <dgm:cxn modelId="{CB074B17-6B49-AF4D-8235-E7A7CBEE819E}" srcId="{67BA2E24-958B-024C-A3A2-EE7DBD4E45EF}" destId="{1E28D225-3FCB-1E45-AE89-CB701FC88877}" srcOrd="0" destOrd="0" parTransId="{6A691676-02AD-2E4F-B697-FBBD90F40B28}" sibTransId="{D6AE480E-E264-A044-89B5-F3AE454DFC7D}"/>
    <dgm:cxn modelId="{559EE31E-304F-FD41-A8AB-A600D59144BB}" srcId="{67BA2E24-958B-024C-A3A2-EE7DBD4E45EF}" destId="{83F99090-0455-7D49-A864-F60F676D3B49}" srcOrd="2" destOrd="0" parTransId="{C491B30C-79E2-7F41-90D9-1CE1D06A59D2}" sibTransId="{3B5A2D96-8360-424E-B8B7-4EB38FDA02AF}"/>
    <dgm:cxn modelId="{066E862B-9B9C-BC4E-8928-24A38ECB8E3F}" srcId="{67BA2E24-958B-024C-A3A2-EE7DBD4E45EF}" destId="{B3072B09-DE11-8944-AD0E-96511E0A7E7D}" srcOrd="1" destOrd="0" parTransId="{998757F5-905F-9340-804A-28B0590CAA5F}" sibTransId="{CA5C85AE-A627-ED44-9040-FF298D5AAD32}"/>
    <dgm:cxn modelId="{BEE0012E-24F2-6F44-BD98-D64497E2AC39}" type="presOf" srcId="{F763ACB6-6D54-AF46-BD8F-EF1F55C6E662}" destId="{D9C45686-0F49-744A-8BB0-57D6460447D7}" srcOrd="0" destOrd="0" presId="urn:microsoft.com/office/officeart/2005/8/layout/hierarchy6"/>
    <dgm:cxn modelId="{25D31E34-C370-6B42-B1DE-C8875FA52D80}" type="presOf" srcId="{ECE3938D-449E-904E-A3AC-51918ABB3E7F}" destId="{E87D5981-A5C7-F747-AE5E-C4704370BE4A}" srcOrd="0" destOrd="0" presId="urn:microsoft.com/office/officeart/2005/8/layout/hierarchy6"/>
    <dgm:cxn modelId="{89D8CC34-6EFD-8341-A89D-5657AEDF6231}" type="presOf" srcId="{F6EAE84E-D59F-DC44-AAFE-BB3AFB749134}" destId="{C8795347-8120-9B4A-90C4-927F961CA91E}" srcOrd="0" destOrd="0" presId="urn:microsoft.com/office/officeart/2005/8/layout/hierarchy6"/>
    <dgm:cxn modelId="{4453C13A-64EB-2448-9BE8-8AE66016FB0A}" srcId="{75584B9C-E0F0-694E-8759-8F8DFE8DCBD6}" destId="{F6EAE84E-D59F-DC44-AAFE-BB3AFB749134}" srcOrd="1" destOrd="0" parTransId="{48EB63BE-F316-194E-8C2D-19698116ED23}" sibTransId="{240D0705-B987-0A44-A0B8-36E21B936A22}"/>
    <dgm:cxn modelId="{DD0DE145-87AE-C24A-8858-3EAE0E8231F5}" type="presOf" srcId="{D8B80D89-21F0-0F45-9E5D-D36264E0AF1A}" destId="{5366D374-FFEF-9D4E-93D3-0ED486F0CEF1}" srcOrd="0" destOrd="0" presId="urn:microsoft.com/office/officeart/2005/8/layout/hierarchy6"/>
    <dgm:cxn modelId="{737EBE46-92F9-344C-A801-A2BF7D761DEE}" type="presOf" srcId="{9FC0C0B2-AE29-EB4D-B47E-10B67BEE20D8}" destId="{66689006-6849-CF4A-82FD-896A6CBBE0D9}" srcOrd="0" destOrd="0" presId="urn:microsoft.com/office/officeart/2005/8/layout/hierarchy6"/>
    <dgm:cxn modelId="{A448C561-0810-1649-8D44-B07A7DC67959}" type="presOf" srcId="{D8B80D89-21F0-0F45-9E5D-D36264E0AF1A}" destId="{970004B6-C249-2A4C-A1E1-E7DD4A6B399D}" srcOrd="1" destOrd="0" presId="urn:microsoft.com/office/officeart/2005/8/layout/hierarchy6"/>
    <dgm:cxn modelId="{5BFD1D69-D3C7-404A-BA26-9F153FE7ED63}" type="presOf" srcId="{83F99090-0455-7D49-A864-F60F676D3B49}" destId="{13600505-270A-A149-A360-B204C8B0149B}" srcOrd="1" destOrd="0" presId="urn:microsoft.com/office/officeart/2005/8/layout/hierarchy6"/>
    <dgm:cxn modelId="{7ED7476F-9496-9241-BE17-71415943832D}" type="presOf" srcId="{1E28D225-3FCB-1E45-AE89-CB701FC88877}" destId="{053C40E0-9B86-434A-B2AC-A81E68E59AB6}" srcOrd="0" destOrd="0" presId="urn:microsoft.com/office/officeart/2005/8/layout/hierarchy6"/>
    <dgm:cxn modelId="{EC749770-60F3-3644-B254-2526C06E30B1}" srcId="{67BA2E24-958B-024C-A3A2-EE7DBD4E45EF}" destId="{D8B80D89-21F0-0F45-9E5D-D36264E0AF1A}" srcOrd="3" destOrd="0" parTransId="{F5EEE42D-F139-314A-B509-55306BEF02AF}" sibTransId="{2F4CB18A-10EC-FA4E-804A-23B038B2A0A6}"/>
    <dgm:cxn modelId="{67E27886-65A6-4C4F-889A-C4D1C55B8AC5}" type="presOf" srcId="{B3072B09-DE11-8944-AD0E-96511E0A7E7D}" destId="{23C6C7B0-1566-764C-8953-150B278FEBE7}" srcOrd="1" destOrd="0" presId="urn:microsoft.com/office/officeart/2005/8/layout/hierarchy6"/>
    <dgm:cxn modelId="{FB10038E-5717-844E-9844-9E72F703DC2D}" type="presOf" srcId="{83F99090-0455-7D49-A864-F60F676D3B49}" destId="{1EE581E4-5063-2141-975D-DDDBE55BD5B5}" srcOrd="0" destOrd="0" presId="urn:microsoft.com/office/officeart/2005/8/layout/hierarchy6"/>
    <dgm:cxn modelId="{5FB39199-D841-3644-B1B5-3AB6CA915F7A}" srcId="{F763ACB6-6D54-AF46-BD8F-EF1F55C6E662}" destId="{CECF6004-BB11-8943-AD1D-D80A16DCDD49}" srcOrd="0" destOrd="0" parTransId="{8D108EF1-E4DB-1A4B-988E-2F3D3FC69D97}" sibTransId="{C423D734-AD91-DA46-B129-B98AB3511B71}"/>
    <dgm:cxn modelId="{C264CE9D-51E4-154F-82C8-BAD87CA49327}" type="presOf" srcId="{DD55012B-C146-5E4F-B645-D812E75892C7}" destId="{9B56BDA9-020C-6F4D-8D93-EA43ADC7F12B}" srcOrd="0" destOrd="0" presId="urn:microsoft.com/office/officeart/2005/8/layout/hierarchy6"/>
    <dgm:cxn modelId="{BA29339E-DEE6-CE4F-93A2-B2310DCC2E1A}" srcId="{75584B9C-E0F0-694E-8759-8F8DFE8DCBD6}" destId="{19EBDAA8-3BFF-B94F-B485-653E32B0FF14}" srcOrd="0" destOrd="0" parTransId="{DD55012B-C146-5E4F-B645-D812E75892C7}" sibTransId="{55B1EF7B-5DDF-1048-8874-1EDCB3195989}"/>
    <dgm:cxn modelId="{BCEDEC9E-D6C7-5346-A233-53E16B1B1994}" srcId="{1E28D225-3FCB-1E45-AE89-CB701FC88877}" destId="{75584B9C-E0F0-694E-8759-8F8DFE8DCBD6}" srcOrd="0" destOrd="0" parTransId="{9FC0C0B2-AE29-EB4D-B47E-10B67BEE20D8}" sibTransId="{2C22EA48-4BEE-464F-BC6B-41CD575F8663}"/>
    <dgm:cxn modelId="{481227A3-7035-8D4C-A58A-8CEB6F4F8678}" type="presOf" srcId="{19EBDAA8-3BFF-B94F-B485-653E32B0FF14}" destId="{19A12EFA-D717-7E41-95A9-FA07D5895463}" srcOrd="0" destOrd="0" presId="urn:microsoft.com/office/officeart/2005/8/layout/hierarchy6"/>
    <dgm:cxn modelId="{ADB84EBA-63BE-6949-91C4-3BDD25B9B6B3}" type="presOf" srcId="{CECF6004-BB11-8943-AD1D-D80A16DCDD49}" destId="{3E7199F1-CE0A-6146-A523-EB52A8E7E235}" srcOrd="0" destOrd="0" presId="urn:microsoft.com/office/officeart/2005/8/layout/hierarchy6"/>
    <dgm:cxn modelId="{3EEF0ABC-05C9-D14D-AC6E-80123A675BE7}" type="presOf" srcId="{8D108EF1-E4DB-1A4B-988E-2F3D3FC69D97}" destId="{81B216F1-9158-2C46-896C-7B671A0050A3}" srcOrd="0" destOrd="0" presId="urn:microsoft.com/office/officeart/2005/8/layout/hierarchy6"/>
    <dgm:cxn modelId="{91A3F7EA-C6F2-AE48-AB96-94BE96EE938D}" srcId="{1E28D225-3FCB-1E45-AE89-CB701FC88877}" destId="{F763ACB6-6D54-AF46-BD8F-EF1F55C6E662}" srcOrd="1" destOrd="0" parTransId="{ECE3938D-449E-904E-A3AC-51918ABB3E7F}" sibTransId="{F3321900-08BB-CF40-B824-A62E426D3C58}"/>
    <dgm:cxn modelId="{B3DFF3F4-03EB-9D41-9F76-EA67B5E144BD}" type="presOf" srcId="{67BA2E24-958B-024C-A3A2-EE7DBD4E45EF}" destId="{90B0DC9D-D4F5-2C43-9649-9D8DE4FCB9DA}" srcOrd="0" destOrd="0" presId="urn:microsoft.com/office/officeart/2005/8/layout/hierarchy6"/>
    <dgm:cxn modelId="{51F2EF4E-6B0F-CC45-9969-EE3AE2978C6D}" type="presParOf" srcId="{90B0DC9D-D4F5-2C43-9649-9D8DE4FCB9DA}" destId="{A25E0530-793E-B047-8EFA-3E4A6C31990B}" srcOrd="0" destOrd="0" presId="urn:microsoft.com/office/officeart/2005/8/layout/hierarchy6"/>
    <dgm:cxn modelId="{5DE41D2A-23FE-724F-9CE6-D97C39EFA410}" type="presParOf" srcId="{A25E0530-793E-B047-8EFA-3E4A6C31990B}" destId="{2665D0E1-1F9B-DE46-8CDA-A4290D1782F1}" srcOrd="0" destOrd="0" presId="urn:microsoft.com/office/officeart/2005/8/layout/hierarchy6"/>
    <dgm:cxn modelId="{08064E44-F337-4145-A86A-524B685F5C63}" type="presParOf" srcId="{A25E0530-793E-B047-8EFA-3E4A6C31990B}" destId="{F0D06EA2-7AE0-4148-9B36-4A2E5310E2BA}" srcOrd="1" destOrd="0" presId="urn:microsoft.com/office/officeart/2005/8/layout/hierarchy6"/>
    <dgm:cxn modelId="{8B4A4A60-8D76-8B4B-84F7-658F7E5753F7}" type="presParOf" srcId="{F0D06EA2-7AE0-4148-9B36-4A2E5310E2BA}" destId="{4348F0A2-1333-E546-B240-620D477BC934}" srcOrd="0" destOrd="0" presId="urn:microsoft.com/office/officeart/2005/8/layout/hierarchy6"/>
    <dgm:cxn modelId="{BD8E13F1-A2AC-8646-8CAD-9AD31ECCBA68}" type="presParOf" srcId="{4348F0A2-1333-E546-B240-620D477BC934}" destId="{053C40E0-9B86-434A-B2AC-A81E68E59AB6}" srcOrd="0" destOrd="0" presId="urn:microsoft.com/office/officeart/2005/8/layout/hierarchy6"/>
    <dgm:cxn modelId="{E426479C-1DD0-254C-A2A6-7A19A55F48D6}" type="presParOf" srcId="{4348F0A2-1333-E546-B240-620D477BC934}" destId="{9E1D3F33-EACF-4042-A537-42BB995BC5D5}" srcOrd="1" destOrd="0" presId="urn:microsoft.com/office/officeart/2005/8/layout/hierarchy6"/>
    <dgm:cxn modelId="{58D212E3-F5FC-7240-8491-05418CE3A907}" type="presParOf" srcId="{9E1D3F33-EACF-4042-A537-42BB995BC5D5}" destId="{66689006-6849-CF4A-82FD-896A6CBBE0D9}" srcOrd="0" destOrd="0" presId="urn:microsoft.com/office/officeart/2005/8/layout/hierarchy6"/>
    <dgm:cxn modelId="{8139C945-CE67-3C4B-AEB4-4FEBF467CD3C}" type="presParOf" srcId="{9E1D3F33-EACF-4042-A537-42BB995BC5D5}" destId="{D811031B-F9D6-C94D-990B-DB9A1503B4D9}" srcOrd="1" destOrd="0" presId="urn:microsoft.com/office/officeart/2005/8/layout/hierarchy6"/>
    <dgm:cxn modelId="{EE705930-6E16-5B41-B3C9-E6050411FD1C}" type="presParOf" srcId="{D811031B-F9D6-C94D-990B-DB9A1503B4D9}" destId="{FF710781-8397-4944-B6BA-54525FAD2A13}" srcOrd="0" destOrd="0" presId="urn:microsoft.com/office/officeart/2005/8/layout/hierarchy6"/>
    <dgm:cxn modelId="{DCDA02BB-1A83-AB41-9975-9F5217B88B5B}" type="presParOf" srcId="{D811031B-F9D6-C94D-990B-DB9A1503B4D9}" destId="{63340EF4-AA2A-D740-AF69-0CFEDDA45BE0}" srcOrd="1" destOrd="0" presId="urn:microsoft.com/office/officeart/2005/8/layout/hierarchy6"/>
    <dgm:cxn modelId="{408FB8C1-5F1B-2D44-B868-60F6DCFEF1BF}" type="presParOf" srcId="{63340EF4-AA2A-D740-AF69-0CFEDDA45BE0}" destId="{9B56BDA9-020C-6F4D-8D93-EA43ADC7F12B}" srcOrd="0" destOrd="0" presId="urn:microsoft.com/office/officeart/2005/8/layout/hierarchy6"/>
    <dgm:cxn modelId="{9B88130B-7D53-6042-B9EF-BA5D00341DDE}" type="presParOf" srcId="{63340EF4-AA2A-D740-AF69-0CFEDDA45BE0}" destId="{732476F3-7393-AE43-9F53-CDFA4B6921F7}" srcOrd="1" destOrd="0" presId="urn:microsoft.com/office/officeart/2005/8/layout/hierarchy6"/>
    <dgm:cxn modelId="{858F5AE2-C5C0-DB46-B8FE-BF94F6D29F55}" type="presParOf" srcId="{732476F3-7393-AE43-9F53-CDFA4B6921F7}" destId="{19A12EFA-D717-7E41-95A9-FA07D5895463}" srcOrd="0" destOrd="0" presId="urn:microsoft.com/office/officeart/2005/8/layout/hierarchy6"/>
    <dgm:cxn modelId="{039326EE-D703-2642-82E5-F03F1DFA01B8}" type="presParOf" srcId="{732476F3-7393-AE43-9F53-CDFA4B6921F7}" destId="{3B97CE99-4627-E248-90A9-EED4FAF16DF2}" srcOrd="1" destOrd="0" presId="urn:microsoft.com/office/officeart/2005/8/layout/hierarchy6"/>
    <dgm:cxn modelId="{A69C819F-081A-A347-A1E3-E2FD86CB0C08}" type="presParOf" srcId="{63340EF4-AA2A-D740-AF69-0CFEDDA45BE0}" destId="{D8604BDC-B607-5640-8AB2-56CDFB62ECEE}" srcOrd="2" destOrd="0" presId="urn:microsoft.com/office/officeart/2005/8/layout/hierarchy6"/>
    <dgm:cxn modelId="{50498017-8FFC-744C-85E7-D67B17071FE2}" type="presParOf" srcId="{63340EF4-AA2A-D740-AF69-0CFEDDA45BE0}" destId="{76FD5630-53D6-6949-A8CE-04588D531B90}" srcOrd="3" destOrd="0" presId="urn:microsoft.com/office/officeart/2005/8/layout/hierarchy6"/>
    <dgm:cxn modelId="{F634213A-E014-E34A-8F7B-CDCBC7EF6283}" type="presParOf" srcId="{76FD5630-53D6-6949-A8CE-04588D531B90}" destId="{C8795347-8120-9B4A-90C4-927F961CA91E}" srcOrd="0" destOrd="0" presId="urn:microsoft.com/office/officeart/2005/8/layout/hierarchy6"/>
    <dgm:cxn modelId="{0AD8BE18-C60D-0544-B24B-B283E034997A}" type="presParOf" srcId="{76FD5630-53D6-6949-A8CE-04588D531B90}" destId="{E2BAB93F-1952-A843-94BE-A5AD808FE1FC}" srcOrd="1" destOrd="0" presId="urn:microsoft.com/office/officeart/2005/8/layout/hierarchy6"/>
    <dgm:cxn modelId="{7C2F20C2-2D2C-5E43-863E-BB18EBF05AC7}" type="presParOf" srcId="{9E1D3F33-EACF-4042-A537-42BB995BC5D5}" destId="{E87D5981-A5C7-F747-AE5E-C4704370BE4A}" srcOrd="2" destOrd="0" presId="urn:microsoft.com/office/officeart/2005/8/layout/hierarchy6"/>
    <dgm:cxn modelId="{678EFC36-7E08-8C4B-96A0-4DCC734FAF9A}" type="presParOf" srcId="{9E1D3F33-EACF-4042-A537-42BB995BC5D5}" destId="{85E37D0F-1982-A647-A101-6C0C87559754}" srcOrd="3" destOrd="0" presId="urn:microsoft.com/office/officeart/2005/8/layout/hierarchy6"/>
    <dgm:cxn modelId="{CC7D1282-5A37-1044-A138-893186F16B35}" type="presParOf" srcId="{85E37D0F-1982-A647-A101-6C0C87559754}" destId="{D9C45686-0F49-744A-8BB0-57D6460447D7}" srcOrd="0" destOrd="0" presId="urn:microsoft.com/office/officeart/2005/8/layout/hierarchy6"/>
    <dgm:cxn modelId="{7E6FD1AD-377C-4840-9F56-CE32FF64329B}" type="presParOf" srcId="{85E37D0F-1982-A647-A101-6C0C87559754}" destId="{0ECB3D08-2D17-2B48-BC38-48A573B3FB88}" srcOrd="1" destOrd="0" presId="urn:microsoft.com/office/officeart/2005/8/layout/hierarchy6"/>
    <dgm:cxn modelId="{49D5E72A-7922-764A-8AAC-95CAD3F4AF45}" type="presParOf" srcId="{0ECB3D08-2D17-2B48-BC38-48A573B3FB88}" destId="{81B216F1-9158-2C46-896C-7B671A0050A3}" srcOrd="0" destOrd="0" presId="urn:microsoft.com/office/officeart/2005/8/layout/hierarchy6"/>
    <dgm:cxn modelId="{0A39D775-C346-C748-AED7-7C8DE2BF97B7}" type="presParOf" srcId="{0ECB3D08-2D17-2B48-BC38-48A573B3FB88}" destId="{A9D18254-A32A-D642-B0A4-1BC846A838D3}" srcOrd="1" destOrd="0" presId="urn:microsoft.com/office/officeart/2005/8/layout/hierarchy6"/>
    <dgm:cxn modelId="{6F40D74C-3405-8B4A-8029-21C1B8D947E4}" type="presParOf" srcId="{A9D18254-A32A-D642-B0A4-1BC846A838D3}" destId="{3E7199F1-CE0A-6146-A523-EB52A8E7E235}" srcOrd="0" destOrd="0" presId="urn:microsoft.com/office/officeart/2005/8/layout/hierarchy6"/>
    <dgm:cxn modelId="{BB934789-9E21-844D-A5C1-C238066EC3B4}" type="presParOf" srcId="{A9D18254-A32A-D642-B0A4-1BC846A838D3}" destId="{599444E1-BD08-D64F-8A64-6B076472C64D}" srcOrd="1" destOrd="0" presId="urn:microsoft.com/office/officeart/2005/8/layout/hierarchy6"/>
    <dgm:cxn modelId="{5E39433E-A152-4F45-BF8D-477DEE899B18}" type="presParOf" srcId="{90B0DC9D-D4F5-2C43-9649-9D8DE4FCB9DA}" destId="{0D56DBEC-91EE-4D42-97C9-999A12D6EF1F}" srcOrd="1" destOrd="0" presId="urn:microsoft.com/office/officeart/2005/8/layout/hierarchy6"/>
    <dgm:cxn modelId="{D3C84386-80CD-7447-A91C-601C7BF80E7C}" type="presParOf" srcId="{0D56DBEC-91EE-4D42-97C9-999A12D6EF1F}" destId="{676BEA58-8A86-3D4D-A890-FD11CB20E8E0}" srcOrd="0" destOrd="0" presId="urn:microsoft.com/office/officeart/2005/8/layout/hierarchy6"/>
    <dgm:cxn modelId="{39A6F229-3382-D249-A878-BB0BCE25B6FE}" type="presParOf" srcId="{676BEA58-8A86-3D4D-A890-FD11CB20E8E0}" destId="{0E381D95-87A6-274E-9FDF-BE5945C702AE}" srcOrd="0" destOrd="0" presId="urn:microsoft.com/office/officeart/2005/8/layout/hierarchy6"/>
    <dgm:cxn modelId="{A7FC3DE1-BF44-6341-BAC9-779A3A92485C}" type="presParOf" srcId="{676BEA58-8A86-3D4D-A890-FD11CB20E8E0}" destId="{23C6C7B0-1566-764C-8953-150B278FEBE7}" srcOrd="1" destOrd="0" presId="urn:microsoft.com/office/officeart/2005/8/layout/hierarchy6"/>
    <dgm:cxn modelId="{C2422069-B57A-EA4F-93E4-B5866ACED6DA}" type="presParOf" srcId="{0D56DBEC-91EE-4D42-97C9-999A12D6EF1F}" destId="{9AAEE34F-134B-5949-954A-AF55547009B8}" srcOrd="1" destOrd="0" presId="urn:microsoft.com/office/officeart/2005/8/layout/hierarchy6"/>
    <dgm:cxn modelId="{EA8A9E34-9D75-4640-9744-930C37A1FA45}" type="presParOf" srcId="{9AAEE34F-134B-5949-954A-AF55547009B8}" destId="{82DE02F5-F99D-DB45-B812-7D59CED2FCFD}" srcOrd="0" destOrd="0" presId="urn:microsoft.com/office/officeart/2005/8/layout/hierarchy6"/>
    <dgm:cxn modelId="{C622D525-B872-7742-A29F-568B066B877C}" type="presParOf" srcId="{0D56DBEC-91EE-4D42-97C9-999A12D6EF1F}" destId="{8B8FCA98-FEEC-EE4B-B47E-9B42B316928A}" srcOrd="2" destOrd="0" presId="urn:microsoft.com/office/officeart/2005/8/layout/hierarchy6"/>
    <dgm:cxn modelId="{BEA246A0-40B1-C644-B151-CB48C0285B11}" type="presParOf" srcId="{8B8FCA98-FEEC-EE4B-B47E-9B42B316928A}" destId="{1EE581E4-5063-2141-975D-DDDBE55BD5B5}" srcOrd="0" destOrd="0" presId="urn:microsoft.com/office/officeart/2005/8/layout/hierarchy6"/>
    <dgm:cxn modelId="{61BF9F8E-0096-AA44-9B3B-542BDB00FD4D}" type="presParOf" srcId="{8B8FCA98-FEEC-EE4B-B47E-9B42B316928A}" destId="{13600505-270A-A149-A360-B204C8B0149B}" srcOrd="1" destOrd="0" presId="urn:microsoft.com/office/officeart/2005/8/layout/hierarchy6"/>
    <dgm:cxn modelId="{55EB6D45-1285-C34E-A9C3-77BCD9847181}" type="presParOf" srcId="{0D56DBEC-91EE-4D42-97C9-999A12D6EF1F}" destId="{8DAB6CC4-F55D-3144-8078-D0CFE22119BB}" srcOrd="3" destOrd="0" presId="urn:microsoft.com/office/officeart/2005/8/layout/hierarchy6"/>
    <dgm:cxn modelId="{4731C7D2-DEFD-B241-B193-B5D61193BD6D}" type="presParOf" srcId="{8DAB6CC4-F55D-3144-8078-D0CFE22119BB}" destId="{427E5B19-3683-484C-A702-BF7501691D7C}" srcOrd="0" destOrd="0" presId="urn:microsoft.com/office/officeart/2005/8/layout/hierarchy6"/>
    <dgm:cxn modelId="{CE543AE4-BC9B-7940-955C-86E8257AC6EA}" type="presParOf" srcId="{0D56DBEC-91EE-4D42-97C9-999A12D6EF1F}" destId="{3ABD6929-38E6-6947-9E07-1141C163C9A9}" srcOrd="4" destOrd="0" presId="urn:microsoft.com/office/officeart/2005/8/layout/hierarchy6"/>
    <dgm:cxn modelId="{51CE84DE-8F76-E049-A9CD-42E66D10CA91}" type="presParOf" srcId="{3ABD6929-38E6-6947-9E07-1141C163C9A9}" destId="{5366D374-FFEF-9D4E-93D3-0ED486F0CEF1}" srcOrd="0" destOrd="0" presId="urn:microsoft.com/office/officeart/2005/8/layout/hierarchy6"/>
    <dgm:cxn modelId="{5E3EA377-9587-1844-8E41-BF0B7442D869}" type="presParOf" srcId="{3ABD6929-38E6-6947-9E07-1141C163C9A9}" destId="{970004B6-C249-2A4C-A1E1-E7DD4A6B399D}"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66D374-FFEF-9D4E-93D3-0ED486F0CEF1}">
      <dsp:nvSpPr>
        <dsp:cNvPr id="0" name=""/>
        <dsp:cNvSpPr/>
      </dsp:nvSpPr>
      <dsp:spPr>
        <a:xfrm>
          <a:off x="0" y="2895817"/>
          <a:ext cx="11107061" cy="740471"/>
        </a:xfrm>
        <a:prstGeom prst="roundRect">
          <a:avLst>
            <a:gd name="adj" fmla="val 10000"/>
          </a:avLst>
        </a:prstGeom>
        <a:solidFill>
          <a:srgbClr val="173E55"/>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dirty="0">
              <a:solidFill>
                <a:srgbClr val="F3F1ED"/>
              </a:solidFill>
            </a:rPr>
            <a:t>Afdeling</a:t>
          </a:r>
        </a:p>
      </dsp:txBody>
      <dsp:txXfrm>
        <a:off x="0" y="2895817"/>
        <a:ext cx="3332118" cy="740471"/>
      </dsp:txXfrm>
    </dsp:sp>
    <dsp:sp modelId="{1EE581E4-5063-2141-975D-DDDBE55BD5B5}">
      <dsp:nvSpPr>
        <dsp:cNvPr id="0" name=""/>
        <dsp:cNvSpPr/>
      </dsp:nvSpPr>
      <dsp:spPr>
        <a:xfrm>
          <a:off x="0" y="1788579"/>
          <a:ext cx="11107061" cy="806491"/>
        </a:xfrm>
        <a:prstGeom prst="roundRect">
          <a:avLst>
            <a:gd name="adj" fmla="val 10000"/>
          </a:avLst>
        </a:prstGeom>
        <a:solidFill>
          <a:srgbClr val="173E55"/>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dirty="0">
              <a:solidFill>
                <a:srgbClr val="F3F1ED"/>
              </a:solidFill>
            </a:rPr>
            <a:t>Afdeling</a:t>
          </a:r>
        </a:p>
      </dsp:txBody>
      <dsp:txXfrm>
        <a:off x="0" y="1788579"/>
        <a:ext cx="3332118" cy="806491"/>
      </dsp:txXfrm>
    </dsp:sp>
    <dsp:sp modelId="{0E381D95-87A6-274E-9FDF-BE5945C702AE}">
      <dsp:nvSpPr>
        <dsp:cNvPr id="0" name=""/>
        <dsp:cNvSpPr/>
      </dsp:nvSpPr>
      <dsp:spPr>
        <a:xfrm>
          <a:off x="0" y="715733"/>
          <a:ext cx="11107061" cy="803992"/>
        </a:xfrm>
        <a:prstGeom prst="roundRect">
          <a:avLst>
            <a:gd name="adj" fmla="val 10000"/>
          </a:avLst>
        </a:prstGeom>
        <a:solidFill>
          <a:srgbClr val="173E55"/>
        </a:solidFill>
        <a:ln>
          <a:noFill/>
        </a:ln>
        <a:effectLst/>
      </dsp:spPr>
      <dsp:style>
        <a:lnRef idx="0">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nl-NL" sz="2400" kern="1200" dirty="0">
              <a:solidFill>
                <a:srgbClr val="F3F1ED"/>
              </a:solidFill>
            </a:rPr>
            <a:t>Afdeling</a:t>
          </a:r>
        </a:p>
      </dsp:txBody>
      <dsp:txXfrm>
        <a:off x="0" y="715733"/>
        <a:ext cx="3332118" cy="803992"/>
      </dsp:txXfrm>
    </dsp:sp>
    <dsp:sp modelId="{053C40E0-9B86-434A-B2AC-A81E68E59AB6}">
      <dsp:nvSpPr>
        <dsp:cNvPr id="0" name=""/>
        <dsp:cNvSpPr/>
      </dsp:nvSpPr>
      <dsp:spPr>
        <a:xfrm>
          <a:off x="6741695" y="898002"/>
          <a:ext cx="2096132" cy="466361"/>
        </a:xfrm>
        <a:prstGeom prst="roundRect">
          <a:avLst>
            <a:gd name="adj" fmla="val 10000"/>
          </a:avLst>
        </a:prstGeom>
        <a:solidFill>
          <a:srgbClr val="FFFF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nl-NL" sz="1100" b="1" kern="1200" dirty="0">
              <a:solidFill>
                <a:srgbClr val="173E55"/>
              </a:solidFill>
            </a:rPr>
            <a:t>Persoon</a:t>
          </a:r>
          <a:br>
            <a:rPr lang="nl-NL" sz="1100" kern="1200" dirty="0">
              <a:solidFill>
                <a:srgbClr val="173E55"/>
              </a:solidFill>
            </a:rPr>
          </a:br>
          <a:r>
            <a:rPr lang="nl-NL" sz="1100" kern="1200" dirty="0" err="1">
              <a:solidFill>
                <a:srgbClr val="173E55"/>
              </a:solidFill>
            </a:rPr>
            <a:t>Funcie</a:t>
          </a:r>
          <a:endParaRPr lang="nl-NL" sz="1100" kern="1200" dirty="0">
            <a:solidFill>
              <a:srgbClr val="173E55"/>
            </a:solidFill>
          </a:endParaRPr>
        </a:p>
      </dsp:txBody>
      <dsp:txXfrm>
        <a:off x="6755354" y="911661"/>
        <a:ext cx="2068814" cy="439043"/>
      </dsp:txXfrm>
    </dsp:sp>
    <dsp:sp modelId="{66689006-6849-CF4A-82FD-896A6CBBE0D9}">
      <dsp:nvSpPr>
        <dsp:cNvPr id="0" name=""/>
        <dsp:cNvSpPr/>
      </dsp:nvSpPr>
      <dsp:spPr>
        <a:xfrm>
          <a:off x="5746033" y="1364363"/>
          <a:ext cx="2043729" cy="558968"/>
        </a:xfrm>
        <a:custGeom>
          <a:avLst/>
          <a:gdLst/>
          <a:ahLst/>
          <a:cxnLst/>
          <a:rect l="0" t="0" r="0" b="0"/>
          <a:pathLst>
            <a:path>
              <a:moveTo>
                <a:pt x="2043729" y="0"/>
              </a:moveTo>
              <a:lnTo>
                <a:pt x="2043729" y="279484"/>
              </a:lnTo>
              <a:lnTo>
                <a:pt x="0" y="279484"/>
              </a:lnTo>
              <a:lnTo>
                <a:pt x="0" y="558968"/>
              </a:lnTo>
            </a:path>
          </a:pathLst>
        </a:custGeom>
        <a:noFill/>
        <a:ln w="19050" cap="flat" cmpd="sng" algn="ctr">
          <a:solidFill>
            <a:srgbClr val="FFA726"/>
          </a:solidFill>
          <a:prstDash val="solid"/>
          <a:miter lim="800000"/>
        </a:ln>
        <a:effectLst/>
      </dsp:spPr>
      <dsp:style>
        <a:lnRef idx="2">
          <a:scrgbClr r="0" g="0" b="0"/>
        </a:lnRef>
        <a:fillRef idx="0">
          <a:scrgbClr r="0" g="0" b="0"/>
        </a:fillRef>
        <a:effectRef idx="0">
          <a:scrgbClr r="0" g="0" b="0"/>
        </a:effectRef>
        <a:fontRef idx="minor"/>
      </dsp:style>
    </dsp:sp>
    <dsp:sp modelId="{FF710781-8397-4944-B6BA-54525FAD2A13}">
      <dsp:nvSpPr>
        <dsp:cNvPr id="0" name=""/>
        <dsp:cNvSpPr/>
      </dsp:nvSpPr>
      <dsp:spPr>
        <a:xfrm>
          <a:off x="4697966" y="1923332"/>
          <a:ext cx="2096132" cy="532263"/>
        </a:xfrm>
        <a:prstGeom prst="roundRect">
          <a:avLst>
            <a:gd name="adj" fmla="val 10000"/>
          </a:avLst>
        </a:prstGeom>
        <a:solidFill>
          <a:srgbClr val="FFFF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nl-NL" sz="1100" kern="1200">
            <a:solidFill>
              <a:srgbClr val="173E55"/>
            </a:solidFill>
          </a:endParaRPr>
        </a:p>
      </dsp:txBody>
      <dsp:txXfrm>
        <a:off x="4713555" y="1938921"/>
        <a:ext cx="2064954" cy="501085"/>
      </dsp:txXfrm>
    </dsp:sp>
    <dsp:sp modelId="{9B56BDA9-020C-6F4D-8D93-EA43ADC7F12B}">
      <dsp:nvSpPr>
        <dsp:cNvPr id="0" name=""/>
        <dsp:cNvSpPr/>
      </dsp:nvSpPr>
      <dsp:spPr>
        <a:xfrm>
          <a:off x="4383546" y="2455596"/>
          <a:ext cx="1362486" cy="558968"/>
        </a:xfrm>
        <a:custGeom>
          <a:avLst/>
          <a:gdLst/>
          <a:ahLst/>
          <a:cxnLst/>
          <a:rect l="0" t="0" r="0" b="0"/>
          <a:pathLst>
            <a:path>
              <a:moveTo>
                <a:pt x="1362486" y="0"/>
              </a:moveTo>
              <a:lnTo>
                <a:pt x="1362486" y="279484"/>
              </a:lnTo>
              <a:lnTo>
                <a:pt x="0" y="279484"/>
              </a:lnTo>
              <a:lnTo>
                <a:pt x="0" y="558968"/>
              </a:lnTo>
            </a:path>
          </a:pathLst>
        </a:custGeom>
        <a:noFill/>
        <a:ln w="19050" cap="flat" cmpd="sng" algn="ctr">
          <a:solidFill>
            <a:srgbClr val="FFA726"/>
          </a:solidFill>
          <a:prstDash val="solid"/>
          <a:miter lim="800000"/>
        </a:ln>
        <a:effectLst/>
      </dsp:spPr>
      <dsp:style>
        <a:lnRef idx="2">
          <a:scrgbClr r="0" g="0" b="0"/>
        </a:lnRef>
        <a:fillRef idx="0">
          <a:scrgbClr r="0" g="0" b="0"/>
        </a:fillRef>
        <a:effectRef idx="0">
          <a:scrgbClr r="0" g="0" b="0"/>
        </a:effectRef>
        <a:fontRef idx="minor"/>
      </dsp:style>
    </dsp:sp>
    <dsp:sp modelId="{19A12EFA-D717-7E41-95A9-FA07D5895463}">
      <dsp:nvSpPr>
        <dsp:cNvPr id="0" name=""/>
        <dsp:cNvSpPr/>
      </dsp:nvSpPr>
      <dsp:spPr>
        <a:xfrm>
          <a:off x="3335480" y="3014565"/>
          <a:ext cx="2096132" cy="469268"/>
        </a:xfrm>
        <a:prstGeom prst="roundRect">
          <a:avLst>
            <a:gd name="adj" fmla="val 10000"/>
          </a:avLst>
        </a:prstGeom>
        <a:solidFill>
          <a:srgbClr val="FFFF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nl-NL" sz="1100" kern="1200" dirty="0">
            <a:solidFill>
              <a:srgbClr val="173E55"/>
            </a:solidFill>
          </a:endParaRPr>
        </a:p>
      </dsp:txBody>
      <dsp:txXfrm>
        <a:off x="3349224" y="3028309"/>
        <a:ext cx="2068644" cy="441780"/>
      </dsp:txXfrm>
    </dsp:sp>
    <dsp:sp modelId="{D8604BDC-B607-5640-8AB2-56CDFB62ECEE}">
      <dsp:nvSpPr>
        <dsp:cNvPr id="0" name=""/>
        <dsp:cNvSpPr/>
      </dsp:nvSpPr>
      <dsp:spPr>
        <a:xfrm>
          <a:off x="5746033" y="2455596"/>
          <a:ext cx="1362486" cy="558968"/>
        </a:xfrm>
        <a:custGeom>
          <a:avLst/>
          <a:gdLst/>
          <a:ahLst/>
          <a:cxnLst/>
          <a:rect l="0" t="0" r="0" b="0"/>
          <a:pathLst>
            <a:path>
              <a:moveTo>
                <a:pt x="0" y="0"/>
              </a:moveTo>
              <a:lnTo>
                <a:pt x="0" y="279484"/>
              </a:lnTo>
              <a:lnTo>
                <a:pt x="1362486" y="279484"/>
              </a:lnTo>
              <a:lnTo>
                <a:pt x="1362486" y="558968"/>
              </a:lnTo>
            </a:path>
          </a:pathLst>
        </a:custGeom>
        <a:noFill/>
        <a:ln w="19050" cap="flat" cmpd="sng" algn="ctr">
          <a:solidFill>
            <a:srgbClr val="FFA726"/>
          </a:solidFill>
          <a:prstDash val="solid"/>
          <a:miter lim="800000"/>
        </a:ln>
        <a:effectLst/>
      </dsp:spPr>
      <dsp:style>
        <a:lnRef idx="2">
          <a:scrgbClr r="0" g="0" b="0"/>
        </a:lnRef>
        <a:fillRef idx="0">
          <a:scrgbClr r="0" g="0" b="0"/>
        </a:fillRef>
        <a:effectRef idx="0">
          <a:scrgbClr r="0" g="0" b="0"/>
        </a:effectRef>
        <a:fontRef idx="minor"/>
      </dsp:style>
    </dsp:sp>
    <dsp:sp modelId="{C8795347-8120-9B4A-90C4-927F961CA91E}">
      <dsp:nvSpPr>
        <dsp:cNvPr id="0" name=""/>
        <dsp:cNvSpPr/>
      </dsp:nvSpPr>
      <dsp:spPr>
        <a:xfrm>
          <a:off x="6060452" y="3014565"/>
          <a:ext cx="2096132" cy="469268"/>
        </a:xfrm>
        <a:prstGeom prst="roundRect">
          <a:avLst>
            <a:gd name="adj" fmla="val 10000"/>
          </a:avLst>
        </a:prstGeom>
        <a:solidFill>
          <a:srgbClr val="FFFF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nl-NL" sz="1100" kern="1200">
            <a:solidFill>
              <a:srgbClr val="173E55"/>
            </a:solidFill>
          </a:endParaRPr>
        </a:p>
      </dsp:txBody>
      <dsp:txXfrm>
        <a:off x="6074196" y="3028309"/>
        <a:ext cx="2068644" cy="441780"/>
      </dsp:txXfrm>
    </dsp:sp>
    <dsp:sp modelId="{E87D5981-A5C7-F747-AE5E-C4704370BE4A}">
      <dsp:nvSpPr>
        <dsp:cNvPr id="0" name=""/>
        <dsp:cNvSpPr/>
      </dsp:nvSpPr>
      <dsp:spPr>
        <a:xfrm>
          <a:off x="7789762" y="1364363"/>
          <a:ext cx="2043729" cy="558968"/>
        </a:xfrm>
        <a:custGeom>
          <a:avLst/>
          <a:gdLst/>
          <a:ahLst/>
          <a:cxnLst/>
          <a:rect l="0" t="0" r="0" b="0"/>
          <a:pathLst>
            <a:path>
              <a:moveTo>
                <a:pt x="0" y="0"/>
              </a:moveTo>
              <a:lnTo>
                <a:pt x="0" y="279484"/>
              </a:lnTo>
              <a:lnTo>
                <a:pt x="2043729" y="279484"/>
              </a:lnTo>
              <a:lnTo>
                <a:pt x="2043729" y="558968"/>
              </a:lnTo>
            </a:path>
          </a:pathLst>
        </a:custGeom>
        <a:noFill/>
        <a:ln w="19050" cap="flat" cmpd="sng" algn="ctr">
          <a:solidFill>
            <a:srgbClr val="FFA726"/>
          </a:solidFill>
          <a:prstDash val="solid"/>
          <a:miter lim="800000"/>
        </a:ln>
        <a:effectLst/>
      </dsp:spPr>
      <dsp:style>
        <a:lnRef idx="2">
          <a:scrgbClr r="0" g="0" b="0"/>
        </a:lnRef>
        <a:fillRef idx="0">
          <a:scrgbClr r="0" g="0" b="0"/>
        </a:fillRef>
        <a:effectRef idx="0">
          <a:scrgbClr r="0" g="0" b="0"/>
        </a:effectRef>
        <a:fontRef idx="minor"/>
      </dsp:style>
    </dsp:sp>
    <dsp:sp modelId="{D9C45686-0F49-744A-8BB0-57D6460447D7}">
      <dsp:nvSpPr>
        <dsp:cNvPr id="0" name=""/>
        <dsp:cNvSpPr/>
      </dsp:nvSpPr>
      <dsp:spPr>
        <a:xfrm>
          <a:off x="8785424" y="1923332"/>
          <a:ext cx="2096132" cy="532263"/>
        </a:xfrm>
        <a:prstGeom prst="roundRect">
          <a:avLst>
            <a:gd name="adj" fmla="val 10000"/>
          </a:avLst>
        </a:prstGeom>
        <a:solidFill>
          <a:srgbClr val="FFFF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nl-NL" sz="1100" kern="1200">
            <a:solidFill>
              <a:srgbClr val="173E55"/>
            </a:solidFill>
          </a:endParaRPr>
        </a:p>
      </dsp:txBody>
      <dsp:txXfrm>
        <a:off x="8801013" y="1938921"/>
        <a:ext cx="2064954" cy="501085"/>
      </dsp:txXfrm>
    </dsp:sp>
    <dsp:sp modelId="{81B216F1-9158-2C46-896C-7B671A0050A3}">
      <dsp:nvSpPr>
        <dsp:cNvPr id="0" name=""/>
        <dsp:cNvSpPr/>
      </dsp:nvSpPr>
      <dsp:spPr>
        <a:xfrm>
          <a:off x="9787771" y="2455596"/>
          <a:ext cx="91440" cy="558968"/>
        </a:xfrm>
        <a:custGeom>
          <a:avLst/>
          <a:gdLst/>
          <a:ahLst/>
          <a:cxnLst/>
          <a:rect l="0" t="0" r="0" b="0"/>
          <a:pathLst>
            <a:path>
              <a:moveTo>
                <a:pt x="45720" y="0"/>
              </a:moveTo>
              <a:lnTo>
                <a:pt x="45720" y="558968"/>
              </a:lnTo>
            </a:path>
          </a:pathLst>
        </a:custGeom>
        <a:noFill/>
        <a:ln w="19050" cap="flat" cmpd="sng" algn="ctr">
          <a:solidFill>
            <a:srgbClr val="FFA726"/>
          </a:solidFill>
          <a:prstDash val="solid"/>
          <a:miter lim="800000"/>
        </a:ln>
        <a:effectLst/>
      </dsp:spPr>
      <dsp:style>
        <a:lnRef idx="2">
          <a:scrgbClr r="0" g="0" b="0"/>
        </a:lnRef>
        <a:fillRef idx="0">
          <a:scrgbClr r="0" g="0" b="0"/>
        </a:fillRef>
        <a:effectRef idx="0">
          <a:scrgbClr r="0" g="0" b="0"/>
        </a:effectRef>
        <a:fontRef idx="minor"/>
      </dsp:style>
    </dsp:sp>
    <dsp:sp modelId="{3E7199F1-CE0A-6146-A523-EB52A8E7E235}">
      <dsp:nvSpPr>
        <dsp:cNvPr id="0" name=""/>
        <dsp:cNvSpPr/>
      </dsp:nvSpPr>
      <dsp:spPr>
        <a:xfrm>
          <a:off x="8785424" y="3014565"/>
          <a:ext cx="2096132" cy="469268"/>
        </a:xfrm>
        <a:prstGeom prst="roundRect">
          <a:avLst>
            <a:gd name="adj" fmla="val 10000"/>
          </a:avLst>
        </a:prstGeom>
        <a:solidFill>
          <a:srgbClr val="FFFFFF"/>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endParaRPr lang="nl-NL" sz="1100" kern="1200">
            <a:solidFill>
              <a:srgbClr val="173E55"/>
            </a:solidFill>
          </a:endParaRPr>
        </a:p>
      </dsp:txBody>
      <dsp:txXfrm>
        <a:off x="8799168" y="3028309"/>
        <a:ext cx="2068644" cy="44178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K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BA022A-4B90-4487-AEE0-FC493A8493E8}" type="datetimeFigureOut">
              <a:rPr lang="en-KE" smtClean="0"/>
              <a:t>4/15/26</a:t>
            </a:fld>
            <a:endParaRPr lang="en-K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K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K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K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5DF6EA-5D71-4D3D-B0D5-FB27DF78E0C3}" type="slidenum">
              <a:rPr lang="en-KE" smtClean="0"/>
              <a:t>‹nr.›</a:t>
            </a:fld>
            <a:endParaRPr lang="en-KE"/>
          </a:p>
        </p:txBody>
      </p:sp>
    </p:spTree>
    <p:extLst>
      <p:ext uri="{BB962C8B-B14F-4D97-AF65-F5344CB8AC3E}">
        <p14:creationId xmlns:p14="http://schemas.microsoft.com/office/powerpoint/2010/main" val="3427852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4755092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848513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810345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062553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770121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344289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001750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743933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579429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2202766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12890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8318846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2167356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881667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9722129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212214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7454879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0226807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158184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5100242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32977379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42319100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437349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866127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522387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388324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735768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5777188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8494990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9293429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2038880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2052943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2288895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4077311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9427050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80797412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8230139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196528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55793000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76168322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7973793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4011862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260497395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50876314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937679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4774325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07174497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667952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4095801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36821999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9470470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33517441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Tree>
    <p:extLst>
      <p:ext uri="{BB962C8B-B14F-4D97-AF65-F5344CB8AC3E}">
        <p14:creationId xmlns:p14="http://schemas.microsoft.com/office/powerpoint/2010/main" val="1163294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53EE-58AB-310E-2E9C-32AC3D087C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17FE4E5-E74E-A71C-E0BB-C317FF3D1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3917899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7361-4DAA-D020-7088-20010D8841E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0CEAEA-BA23-91FE-B67F-76A8E03353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3FE52D73-8789-C4BC-79A1-4BD3E279F8C8}"/>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10" name="Picture 9" descr="A blue and black logo&#10;&#10;AI-generated content may be incorrect.">
            <a:extLst>
              <a:ext uri="{FF2B5EF4-FFF2-40B4-BE49-F238E27FC236}">
                <a16:creationId xmlns:a16="http://schemas.microsoft.com/office/drawing/2014/main" id="{9EBD1E48-AA32-0531-2AEE-ECA839E7A82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15213410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4AFC-AF1F-2108-4F97-F0FB6EE6C3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D969EC7-2175-EDB6-5397-888A6304AB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82C2B12F-3027-2803-09BE-8B680359DACD}"/>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3869182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2520-BE97-B462-757B-32290696343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F927F5D-1B5B-B0EC-F24E-5B2B5D24B2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215667-15B2-0AE7-1E7F-1DC70BD41B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7641746A-3750-CAAE-730F-16B11B5DA183}"/>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8" name="Picture 7" descr="A blue and black logo&#10;&#10;AI-generated content may be incorrect.">
            <a:extLst>
              <a:ext uri="{FF2B5EF4-FFF2-40B4-BE49-F238E27FC236}">
                <a16:creationId xmlns:a16="http://schemas.microsoft.com/office/drawing/2014/main" id="{5EC49EC5-0D2C-0F96-40FD-D3ECEA19B9C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37879618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7C4F2-9784-4A43-2A51-AE49934A27C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0E752A1-3D08-EB04-50E5-C811D9829B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6E8D4F-1F34-E736-0937-B9AAC1D225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9312CE9-7D12-DCCE-968D-667417BDA2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1743B-6E94-9F12-B240-8340A309CD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2B0D086C-8429-C638-C2D7-9C92F505F2C6}"/>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10" name="Picture 9" descr="A blue and black logo&#10;&#10;AI-generated content may be incorrect.">
            <a:extLst>
              <a:ext uri="{FF2B5EF4-FFF2-40B4-BE49-F238E27FC236}">
                <a16:creationId xmlns:a16="http://schemas.microsoft.com/office/drawing/2014/main" id="{33B0843A-6C84-470E-B478-CD9A887FB2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1656040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3AC9-4B30-F901-EF87-44E0D69B6115}"/>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BF0BE79-E023-5710-120A-AFFEFA002AF4}"/>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6" name="Picture 5" descr="A blue and black logo&#10;&#10;AI-generated content may be incorrect.">
            <a:extLst>
              <a:ext uri="{FF2B5EF4-FFF2-40B4-BE49-F238E27FC236}">
                <a16:creationId xmlns:a16="http://schemas.microsoft.com/office/drawing/2014/main" id="{1E05BB46-7454-17A4-8B28-453A532D0C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2564489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33BA6E-D7D6-2B32-F554-3B81A3F202D5}"/>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5" name="Picture 4" descr="A blue and black logo&#10;&#10;AI-generated content may be incorrect.">
            <a:extLst>
              <a:ext uri="{FF2B5EF4-FFF2-40B4-BE49-F238E27FC236}">
                <a16:creationId xmlns:a16="http://schemas.microsoft.com/office/drawing/2014/main" id="{F59218DB-EB11-6236-DD30-B3A10010141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23981682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D3F2-D208-D025-2783-FEF54A801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455FBF6-D7DA-A551-5CE6-334218C1AD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CE2502F-888B-5CDC-2B8D-A8CC0D6A1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6FF793-37DB-B8A8-3064-F21E1E1AF797}"/>
              </a:ext>
            </a:extLst>
          </p:cNvPr>
          <p:cNvSpPr>
            <a:spLocks noGrp="1"/>
          </p:cNvSpPr>
          <p:nvPr>
            <p:ph type="dt" sz="half" idx="10"/>
          </p:nvPr>
        </p:nvSpPr>
        <p:spPr>
          <a:xfrm>
            <a:off x="156000" y="6356350"/>
            <a:ext cx="2743200" cy="365125"/>
          </a:xfrm>
          <a:prstGeom prst="rect">
            <a:avLst/>
          </a:prstGeom>
        </p:spPr>
        <p:txBody>
          <a:bodyPr/>
          <a:lstStyle/>
          <a:p>
            <a:endParaRPr lang="en-GB"/>
          </a:p>
        </p:txBody>
      </p:sp>
      <p:sp>
        <p:nvSpPr>
          <p:cNvPr id="6" name="Footer Placeholder 5">
            <a:extLst>
              <a:ext uri="{FF2B5EF4-FFF2-40B4-BE49-F238E27FC236}">
                <a16:creationId xmlns:a16="http://schemas.microsoft.com/office/drawing/2014/main" id="{93B90824-0970-8D29-AEB5-2BDFF3543A5E}"/>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82DCF24-DCE1-A73D-964B-9677608FFDDD}"/>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3459799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4344D-4491-F787-2AD3-B23FD23C67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AA4390A-673F-5816-C083-ABD2175E9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981E8F6-645D-F008-ECEB-379F5C7DF6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FEF03C2-B911-DD20-318E-4A2C07CE2508}"/>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1818772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6C056-19F0-E080-2672-D59F8744FD3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5CCA413-A8B7-8BFE-3FF2-0C0C227AE7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2B9454-1DF2-905F-F7AF-1860A032DC11}"/>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3059374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3A2705-76DC-0551-F623-2CFBFBB9EE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2C895B-5EC9-F851-D1D9-F51234654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F75D5325-0470-F489-4697-D9443FA955E6}"/>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1360721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3-Stats-Boxes">
    <p:bg>
      <p:bgPr>
        <a:solidFill>
          <a:srgbClr val="002B44"/>
        </a:solidFill>
        <a:effectLst/>
      </p:bgPr>
    </p:bg>
    <p:spTree>
      <p:nvGrpSpPr>
        <p:cNvPr id="1" name=""/>
        <p:cNvGrpSpPr/>
        <p:nvPr/>
      </p:nvGrpSpPr>
      <p:grpSpPr>
        <a:xfrm>
          <a:off x="0" y="0"/>
          <a:ext cx="0" cy="0"/>
          <a:chOff x="0" y="0"/>
          <a:chExt cx="0" cy="0"/>
        </a:xfrm>
      </p:grpSpPr>
      <p:sp>
        <p:nvSpPr>
          <p:cNvPr id="37" name="Slide Number Placeholder 20">
            <a:extLst>
              <a:ext uri="{FF2B5EF4-FFF2-40B4-BE49-F238E27FC236}">
                <a16:creationId xmlns:a16="http://schemas.microsoft.com/office/drawing/2014/main" id="{B13DC2F5-56F2-FA14-95DD-7FFE0860E696}"/>
              </a:ext>
            </a:extLst>
          </p:cNvPr>
          <p:cNvSpPr>
            <a:spLocks noGrp="1"/>
          </p:cNvSpPr>
          <p:nvPr>
            <p:ph type="sldNum" sz="quarter" idx="14"/>
          </p:nvPr>
        </p:nvSpPr>
        <p:spPr>
          <a:xfrm>
            <a:off x="17138650" y="858311"/>
            <a:ext cx="1462089" cy="601662"/>
          </a:xfrm>
          <a:prstGeom prst="rect">
            <a:avLst/>
          </a:prstGeom>
        </p:spPr>
        <p:txBody>
          <a:bodyPr vert="horz" lIns="91440" tIns="45720" rIns="91440" bIns="45720" rtlCol="0" anchor="ctr"/>
          <a:lstStyle>
            <a:defPPr>
              <a:defRPr kern="0"/>
            </a:defPPr>
            <a:lvl1pPr algn="r">
              <a:defRPr sz="1650" b="0" i="0">
                <a:solidFill>
                  <a:srgbClr val="1A353E"/>
                </a:solidFill>
                <a:latin typeface="Roboto" panose="02000000000000000000" pitchFamily="2" charset="0"/>
                <a:cs typeface="Roboto" panose="02000000000000000000" pitchFamily="2" charset="0"/>
              </a:defRPr>
            </a:lvl1pPr>
          </a:lstStyle>
          <a:p>
            <a:fld id="{BFEC2F5E-8C23-4159-AC3B-5EC51D059DDC}" type="slidenum">
              <a:rPr lang="en-US" smtClean="0"/>
              <a:pPr/>
              <a:t>‹nr.›</a:t>
            </a:fld>
            <a:endParaRPr lang="en-US" dirty="0"/>
          </a:p>
        </p:txBody>
      </p:sp>
      <p:pic>
        <p:nvPicPr>
          <p:cNvPr id="2" name="Picture 46" descr="A blue water droplet and text&#10;&#10;AI-generated content may be incorrect.">
            <a:extLst>
              <a:ext uri="{FF2B5EF4-FFF2-40B4-BE49-F238E27FC236}">
                <a16:creationId xmlns:a16="http://schemas.microsoft.com/office/drawing/2014/main" id="{35D411D3-3029-9CAC-F1A7-7B5E85F7FF6C}"/>
              </a:ext>
            </a:extLst>
          </p:cNvPr>
          <p:cNvPicPr>
            <a:picLocks noChangeAspect="1"/>
          </p:cNvPicPr>
          <p:nvPr userDrawn="1"/>
        </p:nvPicPr>
        <p:blipFill rotWithShape="1">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l="31425" r="30403" b="38764"/>
          <a:stretch/>
        </p:blipFill>
        <p:spPr>
          <a:xfrm>
            <a:off x="169688" y="205357"/>
            <a:ext cx="412347" cy="435838"/>
          </a:xfrm>
          <a:prstGeom prst="rect">
            <a:avLst/>
          </a:prstGeom>
        </p:spPr>
      </p:pic>
      <p:cxnSp>
        <p:nvCxnSpPr>
          <p:cNvPr id="3" name="Rechte verbindingslijn 2">
            <a:extLst>
              <a:ext uri="{FF2B5EF4-FFF2-40B4-BE49-F238E27FC236}">
                <a16:creationId xmlns:a16="http://schemas.microsoft.com/office/drawing/2014/main" id="{029BE414-C26B-A810-BDFE-A4EBCEE29568}"/>
              </a:ext>
            </a:extLst>
          </p:cNvPr>
          <p:cNvCxnSpPr>
            <a:cxnSpLocks/>
          </p:cNvCxnSpPr>
          <p:nvPr userDrawn="1"/>
        </p:nvCxnSpPr>
        <p:spPr>
          <a:xfrm>
            <a:off x="719138" y="719138"/>
            <a:ext cx="1107861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0188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53EE-58AB-310E-2E9C-32AC3D087C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17FE4E5-E74E-A71C-E0BB-C317FF3D10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6256707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87361-4DAA-D020-7088-20010D8841E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70CEAEA-BA23-91FE-B67F-76A8E03353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3FE52D73-8789-C4BC-79A1-4BD3E279F8C8}"/>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10" name="Picture 9" descr="A blue and black logo&#10;&#10;AI-generated content may be incorrect.">
            <a:extLst>
              <a:ext uri="{FF2B5EF4-FFF2-40B4-BE49-F238E27FC236}">
                <a16:creationId xmlns:a16="http://schemas.microsoft.com/office/drawing/2014/main" id="{9EBD1E48-AA32-0531-2AEE-ECA839E7A8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28459669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4AFC-AF1F-2108-4F97-F0FB6EE6C3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D969EC7-2175-EDB6-5397-888A6304AB1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82C2B12F-3027-2803-09BE-8B680359DACD}"/>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17749100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D2520-BE97-B462-757B-32290696343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F927F5D-1B5B-B0EC-F24E-5B2B5D24B2F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B9215667-15B2-0AE7-1E7F-1DC70BD41B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Slide Number Placeholder 6">
            <a:extLst>
              <a:ext uri="{FF2B5EF4-FFF2-40B4-BE49-F238E27FC236}">
                <a16:creationId xmlns:a16="http://schemas.microsoft.com/office/drawing/2014/main" id="{7641746A-3750-CAAE-730F-16B11B5DA183}"/>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8" name="Picture 7" descr="A blue and black logo&#10;&#10;AI-generated content may be incorrect.">
            <a:extLst>
              <a:ext uri="{FF2B5EF4-FFF2-40B4-BE49-F238E27FC236}">
                <a16:creationId xmlns:a16="http://schemas.microsoft.com/office/drawing/2014/main" id="{5EC49EC5-0D2C-0F96-40FD-D3ECEA19B9C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19123846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7C4F2-9784-4A43-2A51-AE49934A27C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0E752A1-3D08-EB04-50E5-C811D9829B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6E8D4F-1F34-E736-0937-B9AAC1D225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9312CE9-7D12-DCCE-968D-667417BDA2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01743B-6E94-9F12-B240-8340A309CD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Slide Number Placeholder 8">
            <a:extLst>
              <a:ext uri="{FF2B5EF4-FFF2-40B4-BE49-F238E27FC236}">
                <a16:creationId xmlns:a16="http://schemas.microsoft.com/office/drawing/2014/main" id="{2B0D086C-8429-C638-C2D7-9C92F505F2C6}"/>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10" name="Picture 9" descr="A blue and black logo&#10;&#10;AI-generated content may be incorrect.">
            <a:extLst>
              <a:ext uri="{FF2B5EF4-FFF2-40B4-BE49-F238E27FC236}">
                <a16:creationId xmlns:a16="http://schemas.microsoft.com/office/drawing/2014/main" id="{33B0843A-6C84-470E-B478-CD9A887FB2D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7781132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53AC9-4B30-F901-EF87-44E0D69B6115}"/>
              </a:ext>
            </a:extLst>
          </p:cNvPr>
          <p:cNvSpPr>
            <a:spLocks noGrp="1"/>
          </p:cNvSpPr>
          <p:nvPr>
            <p:ph type="title"/>
          </p:nvPr>
        </p:nvSpPr>
        <p:spPr/>
        <p:txBody>
          <a:bodyPr/>
          <a:lstStyle/>
          <a:p>
            <a:r>
              <a:rPr lang="en-US"/>
              <a:t>Click to edit Master title style</a:t>
            </a:r>
            <a:endParaRPr lang="en-GB"/>
          </a:p>
        </p:txBody>
      </p:sp>
      <p:sp>
        <p:nvSpPr>
          <p:cNvPr id="5" name="Slide Number Placeholder 4">
            <a:extLst>
              <a:ext uri="{FF2B5EF4-FFF2-40B4-BE49-F238E27FC236}">
                <a16:creationId xmlns:a16="http://schemas.microsoft.com/office/drawing/2014/main" id="{DBF0BE79-E023-5710-120A-AFFEFA002AF4}"/>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6" name="Picture 5" descr="A blue and black logo&#10;&#10;AI-generated content may be incorrect.">
            <a:extLst>
              <a:ext uri="{FF2B5EF4-FFF2-40B4-BE49-F238E27FC236}">
                <a16:creationId xmlns:a16="http://schemas.microsoft.com/office/drawing/2014/main" id="{1E05BB46-7454-17A4-8B28-453A532D0C4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30059286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33BA6E-D7D6-2B32-F554-3B81A3F202D5}"/>
              </a:ext>
            </a:extLst>
          </p:cNvPr>
          <p:cNvSpPr>
            <a:spLocks noGrp="1"/>
          </p:cNvSpPr>
          <p:nvPr>
            <p:ph type="sldNum" sz="quarter" idx="12"/>
          </p:nvPr>
        </p:nvSpPr>
        <p:spPr/>
        <p:txBody>
          <a:bodyPr/>
          <a:lstStyle/>
          <a:p>
            <a:fld id="{2FC99399-018D-4F3D-8A9A-F28AB1F92057}" type="slidenum">
              <a:rPr lang="en-GB" smtClean="0"/>
              <a:t>‹nr.›</a:t>
            </a:fld>
            <a:endParaRPr lang="en-GB"/>
          </a:p>
        </p:txBody>
      </p:sp>
      <p:pic>
        <p:nvPicPr>
          <p:cNvPr id="5" name="Picture 4" descr="A blue and black logo&#10;&#10;AI-generated content may be incorrect.">
            <a:extLst>
              <a:ext uri="{FF2B5EF4-FFF2-40B4-BE49-F238E27FC236}">
                <a16:creationId xmlns:a16="http://schemas.microsoft.com/office/drawing/2014/main" id="{F59218DB-EB11-6236-DD30-B3A10010141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6000" y="6540437"/>
            <a:ext cx="197483" cy="270000"/>
          </a:xfrm>
          <a:prstGeom prst="rect">
            <a:avLst/>
          </a:prstGeom>
        </p:spPr>
      </p:pic>
    </p:spTree>
    <p:extLst>
      <p:ext uri="{BB962C8B-B14F-4D97-AF65-F5344CB8AC3E}">
        <p14:creationId xmlns:p14="http://schemas.microsoft.com/office/powerpoint/2010/main" val="38371001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DD3F2-D208-D025-2783-FEF54A8011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455FBF6-D7DA-A551-5CE6-334218C1AD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CE2502F-888B-5CDC-2B8D-A8CC0D6A13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6FF793-37DB-B8A8-3064-F21E1E1AF797}"/>
              </a:ext>
            </a:extLst>
          </p:cNvPr>
          <p:cNvSpPr>
            <a:spLocks noGrp="1"/>
          </p:cNvSpPr>
          <p:nvPr>
            <p:ph type="dt" sz="half" idx="10"/>
          </p:nvPr>
        </p:nvSpPr>
        <p:spPr>
          <a:xfrm>
            <a:off x="156000" y="6356350"/>
            <a:ext cx="2743200" cy="365125"/>
          </a:xfrm>
          <a:prstGeom prst="rect">
            <a:avLst/>
          </a:prstGeom>
        </p:spPr>
        <p:txBody>
          <a:bodyPr/>
          <a:lstStyle/>
          <a:p>
            <a:endParaRPr lang="en-GB"/>
          </a:p>
        </p:txBody>
      </p:sp>
      <p:sp>
        <p:nvSpPr>
          <p:cNvPr id="6" name="Footer Placeholder 5">
            <a:extLst>
              <a:ext uri="{FF2B5EF4-FFF2-40B4-BE49-F238E27FC236}">
                <a16:creationId xmlns:a16="http://schemas.microsoft.com/office/drawing/2014/main" id="{93B90824-0970-8D29-AEB5-2BDFF3543A5E}"/>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F82DCF24-DCE1-A73D-964B-9677608FFDDD}"/>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6733681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4344D-4491-F787-2AD3-B23FD23C677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FAA4390A-673F-5816-C083-ABD2175E9F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981E8F6-645D-F008-ECEB-379F5C7DF6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Slide Number Placeholder 6">
            <a:extLst>
              <a:ext uri="{FF2B5EF4-FFF2-40B4-BE49-F238E27FC236}">
                <a16:creationId xmlns:a16="http://schemas.microsoft.com/office/drawing/2014/main" id="{AFEF03C2-B911-DD20-318E-4A2C07CE2508}"/>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24222498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6C056-19F0-E080-2672-D59F8744FD3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5CCA413-A8B7-8BFE-3FF2-0C0C227AE7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932B9454-1DF2-905F-F7AF-1860A032DC11}"/>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186564346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E3A2705-76DC-0551-F623-2CFBFBB9EEA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F2C895B-5EC9-F851-D1D9-F5123465443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F75D5325-0470-F489-4697-D9443FA955E6}"/>
              </a:ext>
            </a:extLst>
          </p:cNvPr>
          <p:cNvSpPr>
            <a:spLocks noGrp="1"/>
          </p:cNvSpPr>
          <p:nvPr>
            <p:ph type="sldNum" sz="quarter" idx="12"/>
          </p:nvPr>
        </p:nvSpPr>
        <p:spPr/>
        <p:txBody>
          <a:bodyPr/>
          <a:lstStyle/>
          <a:p>
            <a:fld id="{2FC99399-018D-4F3D-8A9A-F28AB1F92057}" type="slidenum">
              <a:rPr lang="en-GB" smtClean="0"/>
              <a:t>‹nr.›</a:t>
            </a:fld>
            <a:endParaRPr lang="en-GB"/>
          </a:p>
        </p:txBody>
      </p:sp>
    </p:spTree>
    <p:extLst>
      <p:ext uri="{BB962C8B-B14F-4D97-AF65-F5344CB8AC3E}">
        <p14:creationId xmlns:p14="http://schemas.microsoft.com/office/powerpoint/2010/main" val="406211612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8_3-Stats-Boxes">
    <p:bg>
      <p:bgPr>
        <a:solidFill>
          <a:srgbClr val="002B44"/>
        </a:solidFill>
        <a:effectLst/>
      </p:bgPr>
    </p:bg>
    <p:spTree>
      <p:nvGrpSpPr>
        <p:cNvPr id="1" name=""/>
        <p:cNvGrpSpPr/>
        <p:nvPr/>
      </p:nvGrpSpPr>
      <p:grpSpPr>
        <a:xfrm>
          <a:off x="0" y="0"/>
          <a:ext cx="0" cy="0"/>
          <a:chOff x="0" y="0"/>
          <a:chExt cx="0" cy="0"/>
        </a:xfrm>
      </p:grpSpPr>
      <p:sp>
        <p:nvSpPr>
          <p:cNvPr id="37" name="Slide Number Placeholder 20">
            <a:extLst>
              <a:ext uri="{FF2B5EF4-FFF2-40B4-BE49-F238E27FC236}">
                <a16:creationId xmlns:a16="http://schemas.microsoft.com/office/drawing/2014/main" id="{B13DC2F5-56F2-FA14-95DD-7FFE0860E696}"/>
              </a:ext>
            </a:extLst>
          </p:cNvPr>
          <p:cNvSpPr>
            <a:spLocks noGrp="1"/>
          </p:cNvSpPr>
          <p:nvPr>
            <p:ph type="sldNum" sz="quarter" idx="14"/>
          </p:nvPr>
        </p:nvSpPr>
        <p:spPr>
          <a:xfrm>
            <a:off x="17138650" y="858311"/>
            <a:ext cx="1462089" cy="601662"/>
          </a:xfrm>
          <a:prstGeom prst="rect">
            <a:avLst/>
          </a:prstGeom>
        </p:spPr>
        <p:txBody>
          <a:bodyPr vert="horz" lIns="91440" tIns="45720" rIns="91440" bIns="45720" rtlCol="0" anchor="ctr"/>
          <a:lstStyle>
            <a:defPPr>
              <a:defRPr kern="0"/>
            </a:defPPr>
            <a:lvl1pPr algn="r">
              <a:defRPr sz="1650" b="0" i="0">
                <a:solidFill>
                  <a:srgbClr val="1A353E"/>
                </a:solidFill>
                <a:latin typeface="Roboto" panose="02000000000000000000" pitchFamily="2" charset="0"/>
                <a:cs typeface="Roboto" panose="02000000000000000000" pitchFamily="2" charset="0"/>
              </a:defRPr>
            </a:lvl1pPr>
          </a:lstStyle>
          <a:p>
            <a:fld id="{BFEC2F5E-8C23-4159-AC3B-5EC51D059DDC}" type="slidenum">
              <a:rPr lang="en-US" smtClean="0"/>
              <a:pPr/>
              <a:t>‹nr.›</a:t>
            </a:fld>
            <a:endParaRPr lang="en-US" dirty="0"/>
          </a:p>
        </p:txBody>
      </p:sp>
      <p:pic>
        <p:nvPicPr>
          <p:cNvPr id="2" name="Picture 46" descr="A blue water droplet and text&#10;&#10;AI-generated content may be incorrect.">
            <a:extLst>
              <a:ext uri="{FF2B5EF4-FFF2-40B4-BE49-F238E27FC236}">
                <a16:creationId xmlns:a16="http://schemas.microsoft.com/office/drawing/2014/main" id="{35D411D3-3029-9CAC-F1A7-7B5E85F7FF6C}"/>
              </a:ext>
            </a:extLst>
          </p:cNvPr>
          <p:cNvPicPr>
            <a:picLocks noChangeAspect="1"/>
          </p:cNvPicPr>
          <p:nvPr userDrawn="1"/>
        </p:nvPicPr>
        <p:blipFill rotWithShape="1">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l="31425" r="30403" b="38764"/>
          <a:stretch/>
        </p:blipFill>
        <p:spPr>
          <a:xfrm>
            <a:off x="169688" y="205357"/>
            <a:ext cx="412347" cy="435838"/>
          </a:xfrm>
          <a:prstGeom prst="rect">
            <a:avLst/>
          </a:prstGeom>
        </p:spPr>
      </p:pic>
      <p:cxnSp>
        <p:nvCxnSpPr>
          <p:cNvPr id="3" name="Rechte verbindingslijn 2">
            <a:extLst>
              <a:ext uri="{FF2B5EF4-FFF2-40B4-BE49-F238E27FC236}">
                <a16:creationId xmlns:a16="http://schemas.microsoft.com/office/drawing/2014/main" id="{029BE414-C26B-A810-BDFE-A4EBCEE29568}"/>
              </a:ext>
            </a:extLst>
          </p:cNvPr>
          <p:cNvCxnSpPr>
            <a:cxnSpLocks/>
          </p:cNvCxnSpPr>
          <p:nvPr userDrawn="1"/>
        </p:nvCxnSpPr>
        <p:spPr>
          <a:xfrm>
            <a:off x="719138" y="719138"/>
            <a:ext cx="1110571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9464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2D0657-1C7D-928A-8FA6-C6BBCA9674F4}"/>
              </a:ext>
            </a:extLst>
          </p:cNvPr>
          <p:cNvSpPr>
            <a:spLocks noGrp="1"/>
          </p:cNvSpPr>
          <p:nvPr>
            <p:ph type="title"/>
          </p:nvPr>
        </p:nvSpPr>
        <p:spPr>
          <a:xfrm>
            <a:off x="156000" y="180000"/>
            <a:ext cx="11880000" cy="1033548"/>
          </a:xfrm>
          <a:prstGeom prst="rect">
            <a:avLst/>
          </a:prstGeom>
        </p:spPr>
        <p:txBody>
          <a:bodyPr vert="horz" lIns="18000" tIns="18000" rIns="18000" bIns="18000" rtlCol="0" anchor="t" anchorCtr="0">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ADB0B6D-ADE5-43A6-E059-5C5EC5D2EF57}"/>
              </a:ext>
            </a:extLst>
          </p:cNvPr>
          <p:cNvSpPr>
            <a:spLocks noGrp="1"/>
          </p:cNvSpPr>
          <p:nvPr>
            <p:ph type="body" idx="1"/>
          </p:nvPr>
        </p:nvSpPr>
        <p:spPr>
          <a:xfrm>
            <a:off x="156000" y="1244599"/>
            <a:ext cx="11880000" cy="5220000"/>
          </a:xfrm>
          <a:prstGeom prst="rect">
            <a:avLst/>
          </a:prstGeom>
        </p:spPr>
        <p:txBody>
          <a:bodyPr vert="horz" lIns="18000" tIns="18000" rIns="18000" bIns="18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304DA43C-CC31-77D5-9639-839B4D5C5152}"/>
              </a:ext>
            </a:extLst>
          </p:cNvPr>
          <p:cNvSpPr>
            <a:spLocks noGrp="1"/>
          </p:cNvSpPr>
          <p:nvPr>
            <p:ph type="sldNum" sz="quarter" idx="4"/>
          </p:nvPr>
        </p:nvSpPr>
        <p:spPr>
          <a:xfrm>
            <a:off x="11649075" y="6492875"/>
            <a:ext cx="542925" cy="365125"/>
          </a:xfrm>
          <a:prstGeom prst="rect">
            <a:avLst/>
          </a:prstGeom>
        </p:spPr>
        <p:txBody>
          <a:bodyPr vert="horz" wrap="none" lIns="0" tIns="0" rIns="72000" bIns="0" rtlCol="0" anchor="ctr"/>
          <a:lstStyle>
            <a:lvl1pPr algn="r">
              <a:defRPr sz="1200">
                <a:solidFill>
                  <a:schemeClr val="accent5">
                    <a:lumMod val="40000"/>
                    <a:lumOff val="60000"/>
                  </a:schemeClr>
                </a:solidFill>
              </a:defRPr>
            </a:lvl1pPr>
          </a:lstStyle>
          <a:p>
            <a:fld id="{2FC99399-018D-4F3D-8A9A-F28AB1F92057}" type="slidenum">
              <a:rPr lang="en-GB" smtClean="0"/>
              <a:pPr/>
              <a:t>‹nr.›</a:t>
            </a:fld>
            <a:endParaRPr lang="en-GB"/>
          </a:p>
        </p:txBody>
      </p:sp>
    </p:spTree>
    <p:extLst>
      <p:ext uri="{BB962C8B-B14F-4D97-AF65-F5344CB8AC3E}">
        <p14:creationId xmlns:p14="http://schemas.microsoft.com/office/powerpoint/2010/main" val="149666513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4" r:id="rId12"/>
  </p:sldLayoutIdLst>
  <p:hf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2D0657-1C7D-928A-8FA6-C6BBCA9674F4}"/>
              </a:ext>
            </a:extLst>
          </p:cNvPr>
          <p:cNvSpPr>
            <a:spLocks noGrp="1"/>
          </p:cNvSpPr>
          <p:nvPr>
            <p:ph type="title"/>
          </p:nvPr>
        </p:nvSpPr>
        <p:spPr>
          <a:xfrm>
            <a:off x="156000" y="180000"/>
            <a:ext cx="11880000" cy="1033548"/>
          </a:xfrm>
          <a:prstGeom prst="rect">
            <a:avLst/>
          </a:prstGeom>
        </p:spPr>
        <p:txBody>
          <a:bodyPr vert="horz" lIns="18000" tIns="18000" rIns="18000" bIns="18000" rtlCol="0" anchor="t" anchorCtr="0">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ADB0B6D-ADE5-43A6-E059-5C5EC5D2EF57}"/>
              </a:ext>
            </a:extLst>
          </p:cNvPr>
          <p:cNvSpPr>
            <a:spLocks noGrp="1"/>
          </p:cNvSpPr>
          <p:nvPr>
            <p:ph type="body" idx="1"/>
          </p:nvPr>
        </p:nvSpPr>
        <p:spPr>
          <a:xfrm>
            <a:off x="156000" y="1244599"/>
            <a:ext cx="11880000" cy="5220000"/>
          </a:xfrm>
          <a:prstGeom prst="rect">
            <a:avLst/>
          </a:prstGeom>
        </p:spPr>
        <p:txBody>
          <a:bodyPr vert="horz" lIns="18000" tIns="18000" rIns="18000" bIns="1800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lide Number Placeholder 5">
            <a:extLst>
              <a:ext uri="{FF2B5EF4-FFF2-40B4-BE49-F238E27FC236}">
                <a16:creationId xmlns:a16="http://schemas.microsoft.com/office/drawing/2014/main" id="{304DA43C-CC31-77D5-9639-839B4D5C5152}"/>
              </a:ext>
            </a:extLst>
          </p:cNvPr>
          <p:cNvSpPr>
            <a:spLocks noGrp="1"/>
          </p:cNvSpPr>
          <p:nvPr>
            <p:ph type="sldNum" sz="quarter" idx="4"/>
          </p:nvPr>
        </p:nvSpPr>
        <p:spPr>
          <a:xfrm>
            <a:off x="11649075" y="6492875"/>
            <a:ext cx="542925" cy="365125"/>
          </a:xfrm>
          <a:prstGeom prst="rect">
            <a:avLst/>
          </a:prstGeom>
        </p:spPr>
        <p:txBody>
          <a:bodyPr vert="horz" wrap="none" lIns="0" tIns="0" rIns="72000" bIns="0" rtlCol="0" anchor="ctr"/>
          <a:lstStyle>
            <a:lvl1pPr algn="r">
              <a:defRPr sz="1200">
                <a:solidFill>
                  <a:schemeClr val="accent5">
                    <a:lumMod val="40000"/>
                    <a:lumOff val="60000"/>
                  </a:schemeClr>
                </a:solidFill>
              </a:defRPr>
            </a:lvl1pPr>
          </a:lstStyle>
          <a:p>
            <a:fld id="{2FC99399-018D-4F3D-8A9A-F28AB1F92057}" type="slidenum">
              <a:rPr lang="en-GB" smtClean="0"/>
              <a:pPr/>
              <a:t>‹nr.›</a:t>
            </a:fld>
            <a:endParaRPr lang="en-GB"/>
          </a:p>
        </p:txBody>
      </p:sp>
    </p:spTree>
    <p:extLst>
      <p:ext uri="{BB962C8B-B14F-4D97-AF65-F5344CB8AC3E}">
        <p14:creationId xmlns:p14="http://schemas.microsoft.com/office/powerpoint/2010/main" val="523503350"/>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5" r:id="rId12"/>
  </p:sldLayoutIdLst>
  <p:hf hdr="0" ftr="0" dt="0"/>
  <p:txStyles>
    <p:title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microsoft.com/office/2018/10/relationships/comments" Target="../comments/modernComment_12B_2C70539A.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6.png"/><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microsoft.com/office/2018/10/relationships/comments" Target="../comments/modernComment_7FE4EBAB_F9E6FE09.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microsoft.com/office/2018/10/relationships/comments" Target="../comments/modernComment_7FFFF630_5D6E66AE.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microsoft.com/office/2018/10/relationships/comments" Target="../comments/modernComment_7FFFF65B_5BB2EFC7.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microsoft.com/office/2018/10/relationships/comments" Target="../comments/modernComment_7FFFF631_DB052139.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microsoft.com/office/2018/10/relationships/comments" Target="../comments/modernComment_7FE4EBBE_131E264D.xml"/><Relationship Id="rId2" Type="http://schemas.openxmlformats.org/officeDocument/2006/relationships/notesSlide" Target="../notesSlides/notesSlide1.xml"/><Relationship Id="rId1" Type="http://schemas.openxmlformats.org/officeDocument/2006/relationships/slideLayout" Target="../slideLayouts/slideLayout24.xml"/><Relationship Id="rId5" Type="http://schemas.openxmlformats.org/officeDocument/2006/relationships/image" Target="../media/image10.sv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F633_D36CDF0F.xml"/><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microsoft.com/office/2018/10/relationships/comments" Target="../comments/modernComment_7FFFF634_3220D005.xml"/><Relationship Id="rId2" Type="http://schemas.openxmlformats.org/officeDocument/2006/relationships/notesSlide" Target="../notesSlides/notesSlide3.xml"/><Relationship Id="rId1" Type="http://schemas.openxmlformats.org/officeDocument/2006/relationships/slideLayout" Target="../slideLayouts/slideLayout24.xml"/><Relationship Id="rId4" Type="http://schemas.openxmlformats.org/officeDocument/2006/relationships/image" Target="../media/image11.jpeg"/></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microsoft.com/office/2018/10/relationships/comments" Target="../comments/modernComment_7FFFF638_391870D1.xml"/><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7FFFF65A_F1D620F.xml"/><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F639_CF77B45A.xml"/><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7FFFF63A_D12F4B9F.xml"/><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microsoft.com/office/2018/10/relationships/comments" Target="../comments/modernComment_7FFFF63B_4F8E0A0F.xml"/><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png"/><Relationship Id="rId18" Type="http://schemas.openxmlformats.org/officeDocument/2006/relationships/image" Target="../media/image27.svg"/><Relationship Id="rId3" Type="http://schemas.microsoft.com/office/2018/10/relationships/comments" Target="../comments/modernComment_7FFFF63C_FAF58924.xml"/><Relationship Id="rId7" Type="http://schemas.openxmlformats.org/officeDocument/2006/relationships/image" Target="../media/image16.jpeg"/><Relationship Id="rId12" Type="http://schemas.openxmlformats.org/officeDocument/2006/relationships/image" Target="../media/image21.png"/><Relationship Id="rId17" Type="http://schemas.openxmlformats.org/officeDocument/2006/relationships/image" Target="../media/image26.png"/><Relationship Id="rId2" Type="http://schemas.openxmlformats.org/officeDocument/2006/relationships/notesSlide" Target="../notesSlides/notesSlide12.xml"/><Relationship Id="rId16" Type="http://schemas.openxmlformats.org/officeDocument/2006/relationships/image" Target="../media/image25.jpeg"/><Relationship Id="rId1" Type="http://schemas.openxmlformats.org/officeDocument/2006/relationships/slideLayout" Target="../slideLayouts/slideLayout24.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14.sv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hyperlink" Target="https://ceowatermandate.org/resilience/" TargetMode="External"/><Relationship Id="rId2" Type="http://schemas.openxmlformats.org/officeDocument/2006/relationships/notesSlide" Target="../notesSlides/notesSlide13.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24.xml"/><Relationship Id="rId6" Type="http://schemas.openxmlformats.org/officeDocument/2006/relationships/image" Target="../media/image31.jpeg"/><Relationship Id="rId11" Type="http://schemas.openxmlformats.org/officeDocument/2006/relationships/image" Target="../media/image36.jpeg"/><Relationship Id="rId5" Type="http://schemas.openxmlformats.org/officeDocument/2006/relationships/image" Target="../media/image30.jpeg"/><Relationship Id="rId10" Type="http://schemas.openxmlformats.org/officeDocument/2006/relationships/image" Target="../media/image35.jpeg"/><Relationship Id="rId4" Type="http://schemas.openxmlformats.org/officeDocument/2006/relationships/image" Target="../media/image29.png"/><Relationship Id="rId9" Type="http://schemas.openxmlformats.org/officeDocument/2006/relationships/image" Target="../media/image34.jpeg"/></Relationships>
</file>

<file path=ppt/slides/_rels/slide22.xml.rels><?xml version="1.0" encoding="UTF-8" standalone="yes"?>
<Relationships xmlns="http://schemas.openxmlformats.org/package/2006/relationships"><Relationship Id="rId8" Type="http://schemas.openxmlformats.org/officeDocument/2006/relationships/image" Target="../media/image33.jpe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image" Target="../media/image31.jpeg"/><Relationship Id="rId11" Type="http://schemas.openxmlformats.org/officeDocument/2006/relationships/image" Target="../media/image36.jpeg"/><Relationship Id="rId5" Type="http://schemas.openxmlformats.org/officeDocument/2006/relationships/image" Target="../media/image30.jpeg"/><Relationship Id="rId10" Type="http://schemas.openxmlformats.org/officeDocument/2006/relationships/image" Target="../media/image35.jpeg"/><Relationship Id="rId4" Type="http://schemas.openxmlformats.org/officeDocument/2006/relationships/image" Target="../media/image29.png"/><Relationship Id="rId9" Type="http://schemas.openxmlformats.org/officeDocument/2006/relationships/image" Target="../media/image34.jpeg"/></Relationships>
</file>

<file path=ppt/slides/_rels/slide23.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image" Target="../media/image38.png"/><Relationship Id="rId7" Type="http://schemas.openxmlformats.org/officeDocument/2006/relationships/image" Target="../media/image41.emf"/><Relationship Id="rId2" Type="http://schemas.openxmlformats.org/officeDocument/2006/relationships/notesSlide" Target="../notesSlides/notesSlide16.xml"/><Relationship Id="rId1" Type="http://schemas.openxmlformats.org/officeDocument/2006/relationships/slideLayout" Target="../slideLayouts/slideLayout24.xml"/><Relationship Id="rId6" Type="http://schemas.openxmlformats.org/officeDocument/2006/relationships/image" Target="../media/image40.emf"/><Relationship Id="rId11" Type="http://schemas.openxmlformats.org/officeDocument/2006/relationships/image" Target="../media/image45.emf"/><Relationship Id="rId5" Type="http://schemas.openxmlformats.org/officeDocument/2006/relationships/image" Target="../media/image39.emf"/><Relationship Id="rId10" Type="http://schemas.openxmlformats.org/officeDocument/2006/relationships/image" Target="../media/image44.emf"/><Relationship Id="rId4" Type="http://schemas.microsoft.com/office/2007/relationships/hdphoto" Target="../media/hdphoto1.wdp"/><Relationship Id="rId9" Type="http://schemas.openxmlformats.org/officeDocument/2006/relationships/image" Target="../media/image43.emf"/></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33.jpeg"/></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9.xml"/><Relationship Id="rId1" Type="http://schemas.openxmlformats.org/officeDocument/2006/relationships/slideLayout" Target="../slideLayouts/slideLayout24.xml"/><Relationship Id="rId4" Type="http://schemas.openxmlformats.org/officeDocument/2006/relationships/image" Target="../media/image33.jpeg"/></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image" Target="../media/image38.png"/><Relationship Id="rId7" Type="http://schemas.openxmlformats.org/officeDocument/2006/relationships/image" Target="../media/image41.emf"/><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image" Target="../media/image40.emf"/><Relationship Id="rId11" Type="http://schemas.openxmlformats.org/officeDocument/2006/relationships/image" Target="../media/image45.emf"/><Relationship Id="rId5" Type="http://schemas.openxmlformats.org/officeDocument/2006/relationships/image" Target="../media/image39.emf"/><Relationship Id="rId10" Type="http://schemas.openxmlformats.org/officeDocument/2006/relationships/image" Target="../media/image44.emf"/><Relationship Id="rId4" Type="http://schemas.microsoft.com/office/2007/relationships/hdphoto" Target="../media/hdphoto1.wdp"/><Relationship Id="rId9" Type="http://schemas.openxmlformats.org/officeDocument/2006/relationships/image" Target="../media/image43.emf"/></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2.xml"/><Relationship Id="rId1" Type="http://schemas.openxmlformats.org/officeDocument/2006/relationships/slideLayout" Target="../slideLayouts/slideLayout24.xml"/><Relationship Id="rId5" Type="http://schemas.openxmlformats.org/officeDocument/2006/relationships/chart" Target="../charts/chart3.xml"/><Relationship Id="rId4" Type="http://schemas.openxmlformats.org/officeDocument/2006/relationships/chart" Target="../charts/chart2.xml"/></Relationships>
</file>

<file path=ppt/slides/_rels/slide3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3" Type="http://schemas.microsoft.com/office/2018/10/relationships/comments" Target="../comments/modernComment_7FFFF647_55A69B63.xml"/><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8" Type="http://schemas.microsoft.com/office/2007/relationships/hdphoto" Target="../media/hdphoto2.wdp"/><Relationship Id="rId13" Type="http://schemas.openxmlformats.org/officeDocument/2006/relationships/image" Target="../media/image55.jpeg"/><Relationship Id="rId18" Type="http://schemas.openxmlformats.org/officeDocument/2006/relationships/image" Target="../media/image60.png"/><Relationship Id="rId3" Type="http://schemas.microsoft.com/office/2018/10/relationships/comments" Target="../comments/modernComment_7FFFF648_432D9690.xml"/><Relationship Id="rId7" Type="http://schemas.openxmlformats.org/officeDocument/2006/relationships/image" Target="../media/image50.png"/><Relationship Id="rId12" Type="http://schemas.openxmlformats.org/officeDocument/2006/relationships/image" Target="../media/image54.png"/><Relationship Id="rId17" Type="http://schemas.openxmlformats.org/officeDocument/2006/relationships/image" Target="../media/image59.jpeg"/><Relationship Id="rId2" Type="http://schemas.openxmlformats.org/officeDocument/2006/relationships/notesSlide" Target="../notesSlides/notesSlide25.xml"/><Relationship Id="rId16" Type="http://schemas.openxmlformats.org/officeDocument/2006/relationships/image" Target="../media/image58.jpeg"/><Relationship Id="rId20" Type="http://schemas.openxmlformats.org/officeDocument/2006/relationships/image" Target="../media/image62.png"/><Relationship Id="rId1" Type="http://schemas.openxmlformats.org/officeDocument/2006/relationships/slideLayout" Target="../slideLayouts/slideLayout24.xml"/><Relationship Id="rId6" Type="http://schemas.openxmlformats.org/officeDocument/2006/relationships/image" Target="../media/image49.png"/><Relationship Id="rId11" Type="http://schemas.openxmlformats.org/officeDocument/2006/relationships/image" Target="../media/image53.png"/><Relationship Id="rId5" Type="http://schemas.openxmlformats.org/officeDocument/2006/relationships/image" Target="../media/image48.png"/><Relationship Id="rId15" Type="http://schemas.openxmlformats.org/officeDocument/2006/relationships/image" Target="../media/image57.png"/><Relationship Id="rId10" Type="http://schemas.openxmlformats.org/officeDocument/2006/relationships/image" Target="../media/image52.jpeg"/><Relationship Id="rId19" Type="http://schemas.openxmlformats.org/officeDocument/2006/relationships/image" Target="../media/image61.jpeg"/><Relationship Id="rId4" Type="http://schemas.openxmlformats.org/officeDocument/2006/relationships/image" Target="../media/image47.png"/><Relationship Id="rId9" Type="http://schemas.openxmlformats.org/officeDocument/2006/relationships/image" Target="../media/image51.png"/><Relationship Id="rId14" Type="http://schemas.openxmlformats.org/officeDocument/2006/relationships/image" Target="../media/image56.jpeg"/></Relationships>
</file>

<file path=ppt/slides/_rels/slide33.xml.rels><?xml version="1.0" encoding="UTF-8" standalone="yes"?>
<Relationships xmlns="http://schemas.openxmlformats.org/package/2006/relationships"><Relationship Id="rId3" Type="http://schemas.microsoft.com/office/2018/10/relationships/comments" Target="../comments/modernComment_7FFFF649_4A052A62.xml"/><Relationship Id="rId2" Type="http://schemas.openxmlformats.org/officeDocument/2006/relationships/notesSlide" Target="../notesSlides/notesSlide26.xml"/><Relationship Id="rId1" Type="http://schemas.openxmlformats.org/officeDocument/2006/relationships/slideLayout" Target="../slideLayouts/slideLayout24.xml"/><Relationship Id="rId4" Type="http://schemas.openxmlformats.org/officeDocument/2006/relationships/image" Target="../media/image63.png"/></Relationships>
</file>

<file path=ppt/slides/_rels/slide34.xml.rels><?xml version="1.0" encoding="UTF-8" standalone="yes"?>
<Relationships xmlns="http://schemas.openxmlformats.org/package/2006/relationships"><Relationship Id="rId3" Type="http://schemas.microsoft.com/office/2018/10/relationships/comments" Target="../comments/modernComment_7FFFF64A_F6DC2BB1.xml"/><Relationship Id="rId2" Type="http://schemas.openxmlformats.org/officeDocument/2006/relationships/notesSlide" Target="../notesSlides/notesSlide27.xml"/><Relationship Id="rId1" Type="http://schemas.openxmlformats.org/officeDocument/2006/relationships/slideLayout" Target="../slideLayouts/slideLayout24.xml"/><Relationship Id="rId4" Type="http://schemas.openxmlformats.org/officeDocument/2006/relationships/image" Target="../media/image64.png"/></Relationships>
</file>

<file path=ppt/slides/_rels/slide3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8.xml"/><Relationship Id="rId1" Type="http://schemas.openxmlformats.org/officeDocument/2006/relationships/slideLayout" Target="../slideLayouts/slideLayout24.xml"/><Relationship Id="rId4"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microsoft.com/office/2018/10/relationships/comments" Target="../comments/modernComment_7FFFF64C_F4E1C4F9.xml"/><Relationship Id="rId2" Type="http://schemas.openxmlformats.org/officeDocument/2006/relationships/notesSlide" Target="../notesSlides/notesSlide29.xml"/><Relationship Id="rId1" Type="http://schemas.openxmlformats.org/officeDocument/2006/relationships/slideLayout" Target="../slideLayouts/slideLayout24.xml"/><Relationship Id="rId4" Type="http://schemas.openxmlformats.org/officeDocument/2006/relationships/image" Target="../media/image65.png"/></Relationships>
</file>

<file path=ppt/slides/_rels/slide37.xml.rels><?xml version="1.0" encoding="UTF-8" standalone="yes"?>
<Relationships xmlns="http://schemas.openxmlformats.org/package/2006/relationships"><Relationship Id="rId8" Type="http://schemas.microsoft.com/office/2007/relationships/hdphoto" Target="../media/hdphoto5.wdp"/><Relationship Id="rId3" Type="http://schemas.openxmlformats.org/officeDocument/2006/relationships/image" Target="../media/image66.png"/><Relationship Id="rId7" Type="http://schemas.openxmlformats.org/officeDocument/2006/relationships/image" Target="../media/image68.png"/><Relationship Id="rId2" Type="http://schemas.openxmlformats.org/officeDocument/2006/relationships/notesSlide" Target="../notesSlides/notesSlide30.xml"/><Relationship Id="rId1" Type="http://schemas.openxmlformats.org/officeDocument/2006/relationships/slideLayout" Target="../slideLayouts/slideLayout24.xml"/><Relationship Id="rId6" Type="http://schemas.microsoft.com/office/2007/relationships/hdphoto" Target="../media/hdphoto4.wdp"/><Relationship Id="rId11" Type="http://schemas.openxmlformats.org/officeDocument/2006/relationships/image" Target="../media/image70.png"/><Relationship Id="rId5" Type="http://schemas.openxmlformats.org/officeDocument/2006/relationships/image" Target="../media/image67.png"/><Relationship Id="rId10" Type="http://schemas.microsoft.com/office/2007/relationships/hdphoto" Target="../media/hdphoto6.wdp"/><Relationship Id="rId4" Type="http://schemas.microsoft.com/office/2007/relationships/hdphoto" Target="../media/hdphoto3.wdp"/><Relationship Id="rId9" Type="http://schemas.openxmlformats.org/officeDocument/2006/relationships/image" Target="../media/image69.png"/></Relationships>
</file>

<file path=ppt/slides/_rels/slide38.xml.rels><?xml version="1.0" encoding="UTF-8" standalone="yes"?>
<Relationships xmlns="http://schemas.openxmlformats.org/package/2006/relationships"><Relationship Id="rId8" Type="http://schemas.openxmlformats.org/officeDocument/2006/relationships/image" Target="../media/image68.png"/><Relationship Id="rId3" Type="http://schemas.microsoft.com/office/2018/10/relationships/comments" Target="../comments/modernComment_7FFFF64E_A5BC318E.xml"/><Relationship Id="rId7" Type="http://schemas.microsoft.com/office/2007/relationships/hdphoto" Target="../media/hdphoto4.wdp"/><Relationship Id="rId12" Type="http://schemas.openxmlformats.org/officeDocument/2006/relationships/image" Target="../media/image70.png"/><Relationship Id="rId2" Type="http://schemas.openxmlformats.org/officeDocument/2006/relationships/notesSlide" Target="../notesSlides/notesSlide31.xml"/><Relationship Id="rId1" Type="http://schemas.openxmlformats.org/officeDocument/2006/relationships/slideLayout" Target="../slideLayouts/slideLayout24.xml"/><Relationship Id="rId6" Type="http://schemas.openxmlformats.org/officeDocument/2006/relationships/image" Target="../media/image67.png"/><Relationship Id="rId11" Type="http://schemas.microsoft.com/office/2007/relationships/hdphoto" Target="../media/hdphoto6.wdp"/><Relationship Id="rId5" Type="http://schemas.microsoft.com/office/2007/relationships/hdphoto" Target="../media/hdphoto3.wdp"/><Relationship Id="rId10" Type="http://schemas.openxmlformats.org/officeDocument/2006/relationships/image" Target="../media/image69.png"/><Relationship Id="rId4" Type="http://schemas.openxmlformats.org/officeDocument/2006/relationships/image" Target="../media/image66.png"/><Relationship Id="rId9" Type="http://schemas.microsoft.com/office/2007/relationships/hdphoto" Target="../media/hdphoto5.wd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33.xml"/><Relationship Id="rId1" Type="http://schemas.openxmlformats.org/officeDocument/2006/relationships/slideLayout" Target="../slideLayouts/slideLayout24.xml"/><Relationship Id="rId5" Type="http://schemas.openxmlformats.org/officeDocument/2006/relationships/image" Target="../media/image73.png"/><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4.png"/><Relationship Id="rId3" Type="http://schemas.openxmlformats.org/officeDocument/2006/relationships/image" Target="../media/image74.png"/><Relationship Id="rId7" Type="http://schemas.openxmlformats.org/officeDocument/2006/relationships/image" Target="../media/image78.jpeg"/><Relationship Id="rId12" Type="http://schemas.openxmlformats.org/officeDocument/2006/relationships/image" Target="../media/image83.png"/><Relationship Id="rId2" Type="http://schemas.openxmlformats.org/officeDocument/2006/relationships/notesSlide" Target="../notesSlides/notesSlide36.xml"/><Relationship Id="rId1" Type="http://schemas.openxmlformats.org/officeDocument/2006/relationships/slideLayout" Target="../slideLayouts/slideLayout24.xml"/><Relationship Id="rId6" Type="http://schemas.openxmlformats.org/officeDocument/2006/relationships/image" Target="../media/image77.png"/><Relationship Id="rId11" Type="http://schemas.openxmlformats.org/officeDocument/2006/relationships/image" Target="../media/image82.png"/><Relationship Id="rId5" Type="http://schemas.openxmlformats.org/officeDocument/2006/relationships/image" Target="../media/image76.png"/><Relationship Id="rId10" Type="http://schemas.openxmlformats.org/officeDocument/2006/relationships/image" Target="../media/image81.jpeg"/><Relationship Id="rId4" Type="http://schemas.openxmlformats.org/officeDocument/2006/relationships/image" Target="../media/image75.png"/><Relationship Id="rId9" Type="http://schemas.openxmlformats.org/officeDocument/2006/relationships/image" Target="../media/image80.png"/><Relationship Id="rId14" Type="http://schemas.openxmlformats.org/officeDocument/2006/relationships/image" Target="../media/image8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3" Type="http://schemas.openxmlformats.org/officeDocument/2006/relationships/image" Target="../media/image86.jpeg"/><Relationship Id="rId7" Type="http://schemas.openxmlformats.org/officeDocument/2006/relationships/image" Target="../media/image90.jpeg"/><Relationship Id="rId2" Type="http://schemas.openxmlformats.org/officeDocument/2006/relationships/notesSlide" Target="../notesSlides/notesSlide39.xml"/><Relationship Id="rId1" Type="http://schemas.openxmlformats.org/officeDocument/2006/relationships/slideLayout" Target="../slideLayouts/slideLayout24.xml"/><Relationship Id="rId6" Type="http://schemas.openxmlformats.org/officeDocument/2006/relationships/image" Target="../media/image89.jpeg"/><Relationship Id="rId5" Type="http://schemas.openxmlformats.org/officeDocument/2006/relationships/image" Target="../media/image88.jpeg"/><Relationship Id="rId4" Type="http://schemas.openxmlformats.org/officeDocument/2006/relationships/image" Target="../media/image87.jpeg"/></Relationships>
</file>

<file path=ppt/slides/_rels/slide47.xml.rels><?xml version="1.0" encoding="UTF-8" standalone="yes"?>
<Relationships xmlns="http://schemas.openxmlformats.org/package/2006/relationships"><Relationship Id="rId8" Type="http://schemas.microsoft.com/office/2007/relationships/diagramDrawing" Target="../diagrams/drawing1.xml"/><Relationship Id="rId3" Type="http://schemas.microsoft.com/office/2018/10/relationships/comments" Target="../comments/modernComment_7FFFF657_4C3FE6D.xml"/><Relationship Id="rId7" Type="http://schemas.openxmlformats.org/officeDocument/2006/relationships/diagramColors" Target="../diagrams/colors1.xml"/><Relationship Id="rId2" Type="http://schemas.openxmlformats.org/officeDocument/2006/relationships/notesSlide" Target="../notesSlides/notesSlide40.xml"/><Relationship Id="rId1" Type="http://schemas.openxmlformats.org/officeDocument/2006/relationships/slideLayout" Target="../slideLayouts/slideLayout24.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41.xml"/><Relationship Id="rId1" Type="http://schemas.openxmlformats.org/officeDocument/2006/relationships/slideLayout" Target="../slideLayouts/slideLayout24.xml"/><Relationship Id="rId6" Type="http://schemas.openxmlformats.org/officeDocument/2006/relationships/image" Target="../media/image94.svg"/><Relationship Id="rId5" Type="http://schemas.openxmlformats.org/officeDocument/2006/relationships/image" Target="../media/image93.png"/><Relationship Id="rId4" Type="http://schemas.openxmlformats.org/officeDocument/2006/relationships/image" Target="../media/image92.svg"/></Relationships>
</file>

<file path=ppt/slides/_rels/slide49.xml.rels><?xml version="1.0" encoding="UTF-8" standalone="yes"?>
<Relationships xmlns="http://schemas.openxmlformats.org/package/2006/relationships"><Relationship Id="rId3" Type="http://schemas.microsoft.com/office/2018/10/relationships/comments" Target="../comments/modernComment_7FFFF65D_B12C5BBF.xml"/><Relationship Id="rId2" Type="http://schemas.openxmlformats.org/officeDocument/2006/relationships/notesSlide" Target="../notesSlides/notesSlide42.xml"/><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8" Type="http://schemas.openxmlformats.org/officeDocument/2006/relationships/image" Target="../media/image99.png"/><Relationship Id="rId13" Type="http://schemas.openxmlformats.org/officeDocument/2006/relationships/image" Target="../media/image104.svg"/><Relationship Id="rId3" Type="http://schemas.microsoft.com/office/2018/10/relationships/comments" Target="../comments/modernComment_7FFFF65E_2E014C17.xml"/><Relationship Id="rId7" Type="http://schemas.openxmlformats.org/officeDocument/2006/relationships/image" Target="../media/image98.svg"/><Relationship Id="rId12" Type="http://schemas.openxmlformats.org/officeDocument/2006/relationships/image" Target="../media/image103.png"/><Relationship Id="rId2" Type="http://schemas.openxmlformats.org/officeDocument/2006/relationships/notesSlide" Target="../notesSlides/notesSlide43.xml"/><Relationship Id="rId1" Type="http://schemas.openxmlformats.org/officeDocument/2006/relationships/slideLayout" Target="../slideLayouts/slideLayout24.xml"/><Relationship Id="rId6" Type="http://schemas.openxmlformats.org/officeDocument/2006/relationships/image" Target="../media/image97.png"/><Relationship Id="rId11" Type="http://schemas.openxmlformats.org/officeDocument/2006/relationships/image" Target="../media/image102.svg"/><Relationship Id="rId5" Type="http://schemas.openxmlformats.org/officeDocument/2006/relationships/image" Target="../media/image96.svg"/><Relationship Id="rId10" Type="http://schemas.openxmlformats.org/officeDocument/2006/relationships/image" Target="../media/image101.png"/><Relationship Id="rId4" Type="http://schemas.openxmlformats.org/officeDocument/2006/relationships/image" Target="../media/image95.png"/><Relationship Id="rId9" Type="http://schemas.openxmlformats.org/officeDocument/2006/relationships/image" Target="../media/image100.svg"/></Relationships>
</file>

<file path=ppt/slides/_rels/slide51.xml.rels><?xml version="1.0" encoding="UTF-8" standalone="yes"?>
<Relationships xmlns="http://schemas.openxmlformats.org/package/2006/relationships"><Relationship Id="rId3" Type="http://schemas.microsoft.com/office/2018/10/relationships/comments" Target="../comments/modernComment_7FFFF65F_D5494608.xml"/><Relationship Id="rId7" Type="http://schemas.openxmlformats.org/officeDocument/2006/relationships/image" Target="../media/image2.jpeg"/><Relationship Id="rId2" Type="http://schemas.openxmlformats.org/officeDocument/2006/relationships/notesSlide" Target="../notesSlides/notesSlide44.xml"/><Relationship Id="rId1" Type="http://schemas.openxmlformats.org/officeDocument/2006/relationships/slideLayout" Target="../slideLayouts/slideLayout24.xml"/><Relationship Id="rId6" Type="http://schemas.openxmlformats.org/officeDocument/2006/relationships/image" Target="../media/image17.jpeg"/><Relationship Id="rId5" Type="http://schemas.openxmlformats.org/officeDocument/2006/relationships/image" Target="../media/image33.jpeg"/><Relationship Id="rId4" Type="http://schemas.openxmlformats.org/officeDocument/2006/relationships/image" Target="../media/image105.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6.png"/><Relationship Id="rId3" Type="http://schemas.openxmlformats.org/officeDocument/2006/relationships/image" Target="../media/image106.jpeg"/><Relationship Id="rId7" Type="http://schemas.openxmlformats.org/officeDocument/2006/relationships/image" Target="../media/image110.png"/><Relationship Id="rId12" Type="http://schemas.openxmlformats.org/officeDocument/2006/relationships/image" Target="../media/image115.png"/><Relationship Id="rId2" Type="http://schemas.openxmlformats.org/officeDocument/2006/relationships/notesSlide" Target="../notesSlides/notesSlide47.xml"/><Relationship Id="rId1" Type="http://schemas.openxmlformats.org/officeDocument/2006/relationships/slideLayout" Target="../slideLayouts/slideLayout24.xml"/><Relationship Id="rId6" Type="http://schemas.openxmlformats.org/officeDocument/2006/relationships/image" Target="../media/image109.png"/><Relationship Id="rId11" Type="http://schemas.openxmlformats.org/officeDocument/2006/relationships/image" Target="../media/image114.png"/><Relationship Id="rId5" Type="http://schemas.openxmlformats.org/officeDocument/2006/relationships/image" Target="../media/image108.png"/><Relationship Id="rId10" Type="http://schemas.openxmlformats.org/officeDocument/2006/relationships/image" Target="../media/image113.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7.jpeg"/></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48.xml"/><Relationship Id="rId1" Type="http://schemas.openxmlformats.org/officeDocument/2006/relationships/slideLayout" Target="../slideLayouts/slideLayout24.xml"/><Relationship Id="rId5" Type="http://schemas.openxmlformats.org/officeDocument/2006/relationships/image" Target="../media/image119.png"/><Relationship Id="rId4" Type="http://schemas.openxmlformats.org/officeDocument/2006/relationships/image" Target="../media/image11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3" Type="http://schemas.microsoft.com/office/2018/10/relationships/comments" Target="../comments/modernComment_7FFFF666_6B20DFE6.xml"/><Relationship Id="rId2" Type="http://schemas.openxmlformats.org/officeDocument/2006/relationships/notesSlide" Target="../notesSlides/notesSlide50.xml"/><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96DAC541-7B7A-43D3-8B79-37D633B846F1}">
                <asvg:svgBlip xmlns:asvg="http://schemas.microsoft.com/office/drawing/2016/SVG/main" r:embed="rId4"/>
              </a:ext>
            </a:extLst>
          </a:blip>
          <a:srcRect/>
          <a:stretch>
            <a:fillRect/>
          </a:stretch>
        </a:blip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B473EEDD-0C4E-47D0-F6BF-FE7D76649B83}"/>
              </a:ext>
            </a:extLst>
          </p:cNvPr>
          <p:cNvSpPr/>
          <p:nvPr/>
        </p:nvSpPr>
        <p:spPr>
          <a:xfrm>
            <a:off x="0" y="-9623"/>
            <a:ext cx="12394131" cy="7387396"/>
          </a:xfrm>
          <a:custGeom>
            <a:avLst/>
            <a:gdLst>
              <a:gd name="connsiteX0" fmla="*/ 12192000 w 12192000"/>
              <a:gd name="connsiteY0" fmla="*/ 4217480 h 6858000"/>
              <a:gd name="connsiteX1" fmla="*/ 12192000 w 12192000"/>
              <a:gd name="connsiteY1" fmla="*/ 6858000 h 6858000"/>
              <a:gd name="connsiteX2" fmla="*/ 8060614 w 12192000"/>
              <a:gd name="connsiteY2" fmla="*/ 6858000 h 6858000"/>
              <a:gd name="connsiteX3" fmla="*/ 8473195 w 12192000"/>
              <a:gd name="connsiteY3" fmla="*/ 6687602 h 6858000"/>
              <a:gd name="connsiteX4" fmla="*/ 12093917 w 12192000"/>
              <a:gd name="connsiteY4" fmla="*/ 4318133 h 6858000"/>
              <a:gd name="connsiteX5" fmla="*/ 0 w 12192000"/>
              <a:gd name="connsiteY5" fmla="*/ 0 h 6858000"/>
              <a:gd name="connsiteX6" fmla="*/ 6050513 w 12192000"/>
              <a:gd name="connsiteY6" fmla="*/ 0 h 6858000"/>
              <a:gd name="connsiteX7" fmla="*/ 5916266 w 12192000"/>
              <a:gd name="connsiteY7" fmla="*/ 42427 h 6858000"/>
              <a:gd name="connsiteX8" fmla="*/ 5201634 w 12192000"/>
              <a:gd name="connsiteY8" fmla="*/ 297607 h 6858000"/>
              <a:gd name="connsiteX9" fmla="*/ 26251 w 12192000"/>
              <a:gd name="connsiteY9" fmla="*/ 3979501 h 6858000"/>
              <a:gd name="connsiteX10" fmla="*/ 0 w 12192000"/>
              <a:gd name="connsiteY10" fmla="*/ 402151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6858000">
                <a:moveTo>
                  <a:pt x="12192000" y="4217480"/>
                </a:moveTo>
                <a:lnTo>
                  <a:pt x="12192000" y="6858000"/>
                </a:lnTo>
                <a:lnTo>
                  <a:pt x="8060614" y="6858000"/>
                </a:lnTo>
                <a:lnTo>
                  <a:pt x="8473195" y="6687602"/>
                </a:lnTo>
                <a:cubicBezTo>
                  <a:pt x="9957774" y="6031279"/>
                  <a:pt x="11207930" y="5195410"/>
                  <a:pt x="12093917" y="4318133"/>
                </a:cubicBezTo>
                <a:close/>
                <a:moveTo>
                  <a:pt x="0" y="0"/>
                </a:moveTo>
                <a:lnTo>
                  <a:pt x="6050513" y="0"/>
                </a:lnTo>
                <a:lnTo>
                  <a:pt x="5916266" y="42427"/>
                </a:lnTo>
                <a:cubicBezTo>
                  <a:pt x="5679095" y="120596"/>
                  <a:pt x="5440655" y="205637"/>
                  <a:pt x="5201634" y="297607"/>
                </a:cubicBezTo>
                <a:cubicBezTo>
                  <a:pt x="2811421" y="1217313"/>
                  <a:pt x="928810" y="2612281"/>
                  <a:pt x="26251" y="3979501"/>
                </a:cubicBezTo>
                <a:lnTo>
                  <a:pt x="0" y="4021514"/>
                </a:lnTo>
                <a:close/>
              </a:path>
            </a:pathLst>
          </a:custGeom>
          <a:solidFill>
            <a:srgbClr val="1E324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Open Sans"/>
              <a:ea typeface="+mn-ea"/>
              <a:cs typeface="+mn-cs"/>
            </a:endParaRPr>
          </a:p>
        </p:txBody>
      </p:sp>
      <p:sp>
        <p:nvSpPr>
          <p:cNvPr id="2" name="Title 1">
            <a:extLst>
              <a:ext uri="{FF2B5EF4-FFF2-40B4-BE49-F238E27FC236}">
                <a16:creationId xmlns:a16="http://schemas.microsoft.com/office/drawing/2014/main" id="{5B89492E-0C38-9090-0DE5-41007A28C60B}"/>
              </a:ext>
            </a:extLst>
          </p:cNvPr>
          <p:cNvSpPr>
            <a:spLocks noGrp="1"/>
          </p:cNvSpPr>
          <p:nvPr>
            <p:ph type="ctrTitle"/>
          </p:nvPr>
        </p:nvSpPr>
        <p:spPr>
          <a:xfrm>
            <a:off x="2391156" y="1600011"/>
            <a:ext cx="8023860" cy="2387600"/>
          </a:xfrm>
        </p:spPr>
        <p:txBody>
          <a:bodyPr>
            <a:normAutofit fontScale="90000"/>
          </a:bodyPr>
          <a:lstStyle/>
          <a:p>
            <a:r>
              <a:rPr lang="en-GB" b="1" dirty="0">
                <a:solidFill>
                  <a:srgbClr val="FFA726"/>
                </a:solidFill>
              </a:rPr>
              <a:t>Global Water Investment Facility </a:t>
            </a:r>
            <a:br>
              <a:rPr lang="en-GB" b="1" dirty="0">
                <a:solidFill>
                  <a:srgbClr val="FFA726"/>
                </a:solidFill>
              </a:rPr>
            </a:br>
            <a:endParaRPr lang="en-GB" dirty="0">
              <a:solidFill>
                <a:srgbClr val="FFA726"/>
              </a:solidFill>
            </a:endParaRPr>
          </a:p>
        </p:txBody>
      </p:sp>
      <p:sp>
        <p:nvSpPr>
          <p:cNvPr id="5" name="Afgeronde rechthoek 4">
            <a:extLst>
              <a:ext uri="{FF2B5EF4-FFF2-40B4-BE49-F238E27FC236}">
                <a16:creationId xmlns:a16="http://schemas.microsoft.com/office/drawing/2014/main" id="{CEFD3D52-0155-BDF0-B883-C7273D86AB74}"/>
              </a:ext>
            </a:extLst>
          </p:cNvPr>
          <p:cNvSpPr/>
          <p:nvPr/>
        </p:nvSpPr>
        <p:spPr>
          <a:xfrm>
            <a:off x="2970347" y="3856490"/>
            <a:ext cx="6865478" cy="607610"/>
          </a:xfrm>
          <a:prstGeom prst="roundRect">
            <a:avLst>
              <a:gd name="adj" fmla="val 50000"/>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3045E"/>
                </a:solidFill>
                <a:effectLst/>
                <a:uLnTx/>
                <a:uFillTx/>
                <a:latin typeface="Raleway" pitchFamily="2" charset="77"/>
                <a:ea typeface="+mn-ea"/>
                <a:cs typeface="+mn-cs"/>
              </a:rPr>
              <a:t>A trajectory for financing water solutions in 100 priority basins</a:t>
            </a:r>
          </a:p>
        </p:txBody>
      </p:sp>
      <p:sp>
        <p:nvSpPr>
          <p:cNvPr id="13" name="Tekstvak 12">
            <a:extLst>
              <a:ext uri="{FF2B5EF4-FFF2-40B4-BE49-F238E27FC236}">
                <a16:creationId xmlns:a16="http://schemas.microsoft.com/office/drawing/2014/main" id="{267BC267-3C9B-A928-72ED-FC1EA2F61771}"/>
              </a:ext>
            </a:extLst>
          </p:cNvPr>
          <p:cNvSpPr txBox="1"/>
          <p:nvPr/>
        </p:nvSpPr>
        <p:spPr>
          <a:xfrm>
            <a:off x="3088769" y="4728292"/>
            <a:ext cx="662863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FFFF"/>
                </a:solidFill>
                <a:effectLst/>
                <a:uLnTx/>
                <a:uFillTx/>
                <a:latin typeface="Raleway" pitchFamily="2" charset="77"/>
                <a:ea typeface="+mn-ea"/>
                <a:cs typeface="+mn-cs"/>
              </a:rPr>
              <a:t>April-May 2026</a:t>
            </a:r>
          </a:p>
        </p:txBody>
      </p:sp>
      <p:sp>
        <p:nvSpPr>
          <p:cNvPr id="4" name="TextBox 3">
            <a:extLst>
              <a:ext uri="{FF2B5EF4-FFF2-40B4-BE49-F238E27FC236}">
                <a16:creationId xmlns:a16="http://schemas.microsoft.com/office/drawing/2014/main" id="{69260177-4BAD-D385-6087-7E99A406CB14}"/>
              </a:ext>
            </a:extLst>
          </p:cNvPr>
          <p:cNvSpPr txBox="1"/>
          <p:nvPr/>
        </p:nvSpPr>
        <p:spPr>
          <a:xfrm>
            <a:off x="5771184" y="6412802"/>
            <a:ext cx="1263803"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i="0" u="none" strike="noStrike" kern="1200" cap="none" spc="0" normalizeH="0" baseline="0" noProof="0" dirty="0">
                <a:ln>
                  <a:noFill/>
                </a:ln>
                <a:solidFill>
                  <a:srgbClr val="FFB703"/>
                </a:solidFill>
                <a:effectLst/>
                <a:uLnTx/>
                <a:uFillTx/>
                <a:latin typeface="Raleway" pitchFamily="2" charset="77"/>
                <a:ea typeface="+mn-ea"/>
                <a:cs typeface="+mn-cs"/>
              </a:rPr>
              <a:t>Confidential</a:t>
            </a:r>
            <a:endParaRPr kumimoji="0" lang="en-GB" sz="1400" i="0" u="none" strike="noStrike" kern="1200" cap="none" spc="0" normalizeH="0" baseline="0" noProof="0" dirty="0">
              <a:ln>
                <a:noFill/>
              </a:ln>
              <a:solidFill>
                <a:prstClr val="white"/>
              </a:solidFill>
              <a:effectLst/>
              <a:uLnTx/>
              <a:uFillTx/>
              <a:latin typeface="Open Sans"/>
              <a:ea typeface="+mn-ea"/>
              <a:cs typeface="+mn-cs"/>
            </a:endParaRPr>
          </a:p>
        </p:txBody>
      </p:sp>
      <p:pic>
        <p:nvPicPr>
          <p:cNvPr id="6" name="Picture 5">
            <a:extLst>
              <a:ext uri="{FF2B5EF4-FFF2-40B4-BE49-F238E27FC236}">
                <a16:creationId xmlns:a16="http://schemas.microsoft.com/office/drawing/2014/main" id="{1512E959-5527-868E-E552-7EE32E16627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2500" y="285767"/>
            <a:ext cx="2136651" cy="845627"/>
          </a:xfrm>
          <a:prstGeom prst="rect">
            <a:avLst/>
          </a:prstGeom>
        </p:spPr>
      </p:pic>
      <p:pic>
        <p:nvPicPr>
          <p:cNvPr id="7" name="Picture 6" descr="A blue water droplet and text&#10;&#10;AI-generated content may be incorrect.">
            <a:extLst>
              <a:ext uri="{FF2B5EF4-FFF2-40B4-BE49-F238E27FC236}">
                <a16:creationId xmlns:a16="http://schemas.microsoft.com/office/drawing/2014/main" id="{848AE5FE-D65F-E6B4-8753-A1839BDD2E4F}"/>
              </a:ext>
            </a:extLst>
          </p:cNvPr>
          <p:cNvPicPr>
            <a:picLocks noChangeAspect="1"/>
          </p:cNvPicPr>
          <p:nvPr/>
        </p:nvPicPr>
        <p:blipFill>
          <a:blip r:embed="rId6">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311054" y="1063800"/>
            <a:ext cx="1426912" cy="940151"/>
          </a:xfrm>
          <a:prstGeom prst="rect">
            <a:avLst/>
          </a:prstGeom>
        </p:spPr>
      </p:pic>
    </p:spTree>
    <p:extLst>
      <p:ext uri="{BB962C8B-B14F-4D97-AF65-F5344CB8AC3E}">
        <p14:creationId xmlns:p14="http://schemas.microsoft.com/office/powerpoint/2010/main" val="745558938"/>
      </p:ext>
    </p:extLst>
  </p:cSld>
  <p:clrMapOvr>
    <a:masterClrMapping/>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Afgeronde rechthoek 27">
            <a:extLst>
              <a:ext uri="{FF2B5EF4-FFF2-40B4-BE49-F238E27FC236}">
                <a16:creationId xmlns:a16="http://schemas.microsoft.com/office/drawing/2014/main" id="{C3AD679D-35DA-19B5-307B-1304423A0BF9}"/>
              </a:ext>
            </a:extLst>
          </p:cNvPr>
          <p:cNvSpPr/>
          <p:nvPr/>
        </p:nvSpPr>
        <p:spPr>
          <a:xfrm>
            <a:off x="9025609" y="917844"/>
            <a:ext cx="2804157" cy="4786002"/>
          </a:xfrm>
          <a:prstGeom prst="roundRect">
            <a:avLst>
              <a:gd name="adj" fmla="val 7912"/>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2" name="TextBox 2">
            <a:extLst>
              <a:ext uri="{FF2B5EF4-FFF2-40B4-BE49-F238E27FC236}">
                <a16:creationId xmlns:a16="http://schemas.microsoft.com/office/drawing/2014/main" id="{30699007-25EC-535E-BB95-86DAD7071B48}"/>
              </a:ext>
            </a:extLst>
          </p:cNvPr>
          <p:cNvSpPr txBox="1"/>
          <p:nvPr/>
        </p:nvSpPr>
        <p:spPr>
          <a:xfrm>
            <a:off x="697342" y="917843"/>
            <a:ext cx="8163055" cy="5854808"/>
          </a:xfrm>
          <a:prstGeom prst="rect">
            <a:avLst/>
          </a:prstGeom>
          <a:noFill/>
        </p:spPr>
        <p:txBody>
          <a:bodyPr wrap="square" lIns="91440" tIns="45720" rIns="91440" bIns="45720" numCol="2" spcCol="360000" rtlCol="0" anchor="t">
            <a:spAutoFit/>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Open Sans"/>
                <a:ea typeface="Open Sans"/>
                <a:cs typeface="Open Sans"/>
              </a:rPr>
              <a:t>Dear [name],</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GB" sz="1200" b="1" i="0" u="none" strike="noStrike" kern="1200" cap="none" spc="0" normalizeH="0" baseline="0" noProof="0" dirty="0">
              <a:ln>
                <a:noFill/>
              </a:ln>
              <a:effectLst/>
              <a:uLnTx/>
              <a:uFillTx/>
              <a:latin typeface="Open Sans"/>
              <a:ea typeface="Open Sans" panose="020B0606030504020204" pitchFamily="34" charset="0"/>
              <a:cs typeface="Open Sans" panose="020B0606030504020204" pitchFamily="34" charset="0"/>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GB" sz="1200" b="1" i="0" u="none" strike="noStrike" kern="1200" cap="none" spc="0" normalizeH="0" baseline="0" noProof="0" dirty="0">
                <a:ln>
                  <a:noFill/>
                </a:ln>
                <a:effectLst/>
                <a:uLnTx/>
                <a:uFillTx/>
                <a:latin typeface="Open Sans"/>
                <a:ea typeface="Open Sans"/>
                <a:cs typeface="Open Sans"/>
              </a:rPr>
              <a:t>Aqua for All is pleased to submit this proposal for catalytic capital from the [programme] </a:t>
            </a:r>
            <a:r>
              <a:rPr kumimoji="0" lang="en-US" sz="1200" b="1" i="0" u="none" strike="noStrike" kern="1200" cap="none" spc="0" normalizeH="0" baseline="0" noProof="0" dirty="0">
                <a:ln>
                  <a:noFill/>
                </a:ln>
                <a:effectLst/>
                <a:uLnTx/>
                <a:uFillTx/>
                <a:latin typeface="Open Sans"/>
                <a:ea typeface="Open Sans"/>
                <a:cs typeface="Open Sans"/>
              </a:rPr>
              <a:t>at this critical juncture to transition our Global Water Investment Facility from concept to an investable design. In a strategic partnership with the CEO Water Mandate Water Resilience Coalition, we have already secured commitments from the Governments of the Netherlands and Luxembourg to establish a structured global water investment facility. Our global vehicle has a target size of [USD 1.5 billion] with an expected first close of [USD 250 million by Q4 2026]. To broaden our investment strategy and tailor it specifically to address water related adaptation and resilience in the Africa region we are looking to establish a dedicated  sleeve for which we request your support.</a:t>
            </a: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effectLst/>
                <a:uLnTx/>
                <a:uFillTx/>
                <a:latin typeface="Open Sans"/>
                <a:ea typeface="Open Sans"/>
                <a:cs typeface="Open Sans"/>
              </a:rPr>
              <a:t> </a:t>
            </a: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0" i="0" u="none" strike="noStrike" kern="1200" cap="none" spc="0" normalizeH="0" baseline="0" noProof="0" dirty="0">
                <a:ln>
                  <a:noFill/>
                </a:ln>
                <a:effectLst/>
                <a:uLnTx/>
                <a:uFillTx/>
                <a:latin typeface="Open Sans"/>
                <a:ea typeface="Open Sans"/>
                <a:cs typeface="Open Sans"/>
              </a:rPr>
              <a:t>This landmark initiative continues to position Aqua for All as a frontrunner in water and sanitation financing, advancing innovative public–private partnerships to strengthen global water resilience, paving the way for others to replicate and scale the model.</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GB" sz="1200" b="0" i="0" u="none" strike="noStrike" kern="1200" cap="none" spc="0" normalizeH="0" baseline="0" noProof="0" dirty="0">
              <a:ln>
                <a:noFill/>
              </a:ln>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GB" sz="1200" b="0" i="0" u="none" strike="noStrike" kern="1200" cap="none" spc="0" normalizeH="0" baseline="0" noProof="0" dirty="0">
              <a:ln>
                <a:noFill/>
              </a:ln>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lang="en-GB" sz="1200" dirty="0">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GB" sz="1200" b="0" i="0" u="none" strike="noStrike" kern="1200" cap="none" spc="0" normalizeH="0" baseline="0" noProof="0" dirty="0">
              <a:ln>
                <a:noFill/>
              </a:ln>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GB" sz="1200" b="0" i="0" u="none" strike="noStrike" kern="1200" cap="none" spc="0" normalizeH="0" baseline="0" noProof="0" dirty="0">
                <a:ln>
                  <a:noFill/>
                </a:ln>
                <a:effectLst/>
                <a:uLnTx/>
                <a:uFillTx/>
                <a:latin typeface="Open Sans"/>
                <a:ea typeface="Open Sans"/>
                <a:cs typeface="Open Sans"/>
              </a:rPr>
              <a:t>We believe we are well positioned to set-up and lead this investment vehicle and achieve significant impact in Africa. Key strengths of our proposal include:</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GB" sz="1200" b="0" i="0" u="none" strike="noStrike" kern="1200" cap="none" spc="0" normalizeH="0" baseline="0" noProof="0" dirty="0">
              <a:ln>
                <a:noFill/>
              </a:ln>
              <a:effectLst/>
              <a:uLnTx/>
              <a:uFillTx/>
              <a:latin typeface="Open Sans"/>
              <a:ea typeface="Open Sans"/>
              <a:cs typeface="Open Sans"/>
            </a:endParaRPr>
          </a:p>
          <a:p>
            <a:pPr marL="285750" marR="0" lvl="0" indent="-2857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Adaptation &amp; Resilience in Africa:</a:t>
            </a: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 </a:t>
            </a:r>
            <a:r>
              <a:rPr kumimoji="0" lang="en-US" sz="1200" b="0" i="0" u="none" strike="noStrike" kern="1200" cap="none" spc="0" normalizeH="0" baseline="0" noProof="0" dirty="0">
                <a:ln>
                  <a:noFill/>
                </a:ln>
                <a:effectLst/>
                <a:uLnTx/>
                <a:uFillTx/>
                <a:latin typeface="Open Sans"/>
                <a:ea typeface="Open Sans"/>
                <a:cs typeface="Open Sans"/>
              </a:rPr>
              <a:t>The facility will attract corporate investments to deliver measurable climate and social impact, strengthening water security and resilience in regions where climate change could cost up to 20% of GDP by 2050.</a:t>
            </a:r>
          </a:p>
          <a:p>
            <a:pPr marL="285750" marR="0" lvl="0" indent="-2857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Private Capital Mobilization:</a:t>
            </a: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 </a:t>
            </a:r>
            <a:r>
              <a:rPr kumimoji="0" lang="en-US" sz="1200" b="0" i="0" u="none" strike="noStrike" kern="1200" cap="none" spc="0" normalizeH="0" baseline="0" noProof="0" dirty="0">
                <a:ln>
                  <a:noFill/>
                </a:ln>
                <a:effectLst/>
                <a:uLnTx/>
                <a:uFillTx/>
                <a:latin typeface="Open Sans"/>
                <a:ea typeface="Open Sans"/>
                <a:cs typeface="Open Sans"/>
              </a:rPr>
              <a:t>Through the CEO Water Mandate’s Water Resilience Coalition, corporate commitments are translated into bankable projects, unlocking up to USD 1.5 billion in private capital and leveraging stewardship into large‑scale investment flows. Through your support, we can scale efforts in Africa targeting a leverage ratio of at least 1:4. </a:t>
            </a:r>
          </a:p>
          <a:p>
            <a:pPr marL="285750" marR="0" lvl="0" indent="-2857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Experienced Investment Management:</a:t>
            </a: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 </a:t>
            </a:r>
            <a:r>
              <a:rPr kumimoji="0" lang="en-US" sz="1200" b="0" i="0" u="none" strike="noStrike" kern="1200" cap="none" spc="0" normalizeH="0" baseline="0" noProof="0" dirty="0">
                <a:ln>
                  <a:noFill/>
                </a:ln>
                <a:effectLst/>
                <a:uLnTx/>
                <a:uFillTx/>
                <a:latin typeface="Open Sans"/>
                <a:ea typeface="Open Sans"/>
                <a:cs typeface="Open Sans"/>
              </a:rPr>
              <a:t>Aqua for All, a frontrunner in water and sanitation financing, leads with proven fund structuring expertise, supported by a robust governance framework and seasoned partners to ensure disciplined execution and impact delivery.</a:t>
            </a:r>
          </a:p>
          <a:p>
            <a:pPr marL="0" marR="0" lvl="0" indent="0" algn="l" defTabSz="914400" rtl="0" eaLnBrk="1" fontAlgn="auto" latinLnBrk="0" hangingPunct="1">
              <a:lnSpc>
                <a:spcPts val="1540"/>
              </a:lnSpc>
              <a:spcBef>
                <a:spcPts val="0"/>
              </a:spcBef>
              <a:spcAft>
                <a:spcPts val="600"/>
              </a:spcAft>
              <a:buClrTx/>
              <a:buSzTx/>
              <a:buFontTx/>
              <a:buNone/>
              <a:tabLst/>
              <a:defRPr/>
            </a:pPr>
            <a:endParaRPr kumimoji="0" lang="nl-NL" sz="1200" b="0" i="0" u="none" strike="noStrike" kern="1200" cap="none" spc="0" normalizeH="0" baseline="0" noProof="0" dirty="0">
              <a:ln>
                <a:noFill/>
              </a:ln>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600"/>
              </a:spcAft>
              <a:buClrTx/>
              <a:buSzTx/>
              <a:buFontTx/>
              <a:buNone/>
              <a:tabLst/>
              <a:defRPr/>
            </a:pPr>
            <a:r>
              <a:rPr kumimoji="0" lang="en-US" sz="1200" b="0" i="0" u="none" strike="noStrike" kern="1200" cap="none" spc="0" normalizeH="0" baseline="0" noProof="0" dirty="0">
                <a:ln>
                  <a:noFill/>
                </a:ln>
                <a:effectLst/>
                <a:uLnTx/>
                <a:uFillTx/>
                <a:latin typeface="Open Sans"/>
                <a:ea typeface="Open Sans"/>
                <a:cs typeface="Open Sans"/>
              </a:rPr>
              <a:t>This document comprises our high-level proposal for your consideration, and we remain available to answer any queries you may have.</a:t>
            </a:r>
            <a:endParaRPr kumimoji="0" lang="nl-NL" sz="1200" b="0" i="0" u="none" strike="noStrike" kern="1200" cap="none" spc="0" normalizeH="0" baseline="0" noProof="0" dirty="0">
              <a:ln>
                <a:noFill/>
              </a:ln>
              <a:effectLst/>
              <a:uLnTx/>
              <a:uFillTx/>
              <a:latin typeface="Open Sans"/>
              <a:ea typeface="Open Sans"/>
              <a:cs typeface="Open Sans"/>
            </a:endParaRPr>
          </a:p>
        </p:txBody>
      </p:sp>
      <p:pic>
        <p:nvPicPr>
          <p:cNvPr id="9" name="Picture 2" descr="Ms Josien Sluijs - Aqua for All">
            <a:extLst>
              <a:ext uri="{FF2B5EF4-FFF2-40B4-BE49-F238E27FC236}">
                <a16:creationId xmlns:a16="http://schemas.microsoft.com/office/drawing/2014/main" id="{3DB9A509-A829-D647-ADF9-19E36A8D1982}"/>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9184271" y="1154155"/>
            <a:ext cx="2480283" cy="2480283"/>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16">
            <a:extLst>
              <a:ext uri="{FF2B5EF4-FFF2-40B4-BE49-F238E27FC236}">
                <a16:creationId xmlns:a16="http://schemas.microsoft.com/office/drawing/2014/main" id="{7696564C-1882-018A-1AF1-070B5E4B826F}"/>
              </a:ext>
            </a:extLst>
          </p:cNvPr>
          <p:cNvSpPr txBox="1"/>
          <p:nvPr/>
        </p:nvSpPr>
        <p:spPr>
          <a:xfrm>
            <a:off x="9184271" y="3845247"/>
            <a:ext cx="2480283" cy="7232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b="1" i="0" u="none" strike="noStrike" kern="1200" cap="none" spc="0" normalizeH="0" baseline="0" noProof="0" dirty="0" err="1">
                <a:ln>
                  <a:noFill/>
                </a:ln>
                <a:effectLst/>
                <a:uLnTx/>
                <a:uFillTx/>
                <a:latin typeface="Open Sans"/>
                <a:ea typeface="Open Sans"/>
                <a:cs typeface="Open Sans"/>
              </a:rPr>
              <a:t>Josien</a:t>
            </a:r>
            <a:r>
              <a:rPr kumimoji="0" lang="nl-NL" b="1" i="0" u="none" strike="noStrike" kern="1200" cap="none" spc="0" normalizeH="0" baseline="0" noProof="0" dirty="0">
                <a:ln>
                  <a:noFill/>
                </a:ln>
                <a:effectLst/>
                <a:uLnTx/>
                <a:uFillTx/>
                <a:latin typeface="Open Sans"/>
                <a:ea typeface="Open Sans"/>
                <a:cs typeface="Open Sans"/>
              </a:rPr>
              <a:t> Sluijs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nl-NL" b="0" i="0" u="none" strike="noStrike" kern="1200" cap="none" spc="0" normalizeH="0" baseline="0" noProof="0" dirty="0">
                <a:ln>
                  <a:noFill/>
                </a:ln>
                <a:effectLst/>
                <a:uLnTx/>
                <a:uFillTx/>
                <a:latin typeface="Open Sans"/>
                <a:ea typeface="Open Sans"/>
                <a:cs typeface="Open Sans"/>
              </a:rPr>
              <a:t>Managing Director</a:t>
            </a:r>
            <a:endParaRPr kumimoji="0" lang="nl-NL" b="0" i="0" u="none" strike="noStrike" kern="1200" cap="none" spc="0" normalizeH="0" baseline="0" noProof="0" dirty="0">
              <a:ln>
                <a:noFill/>
              </a:ln>
              <a:effectLst/>
              <a:uLnTx/>
              <a:uFillTx/>
              <a:latin typeface="Open Sans"/>
              <a:ea typeface="+mn-ea"/>
              <a:cs typeface="+mn-cs"/>
            </a:endParaRPr>
          </a:p>
        </p:txBody>
      </p:sp>
      <p:sp>
        <p:nvSpPr>
          <p:cNvPr id="22" name="TextBox 16">
            <a:extLst>
              <a:ext uri="{FF2B5EF4-FFF2-40B4-BE49-F238E27FC236}">
                <a16:creationId xmlns:a16="http://schemas.microsoft.com/office/drawing/2014/main" id="{EDE88B5F-89BA-D758-EB9A-DC58B2156B47}"/>
              </a:ext>
            </a:extLst>
          </p:cNvPr>
          <p:cNvSpPr txBox="1"/>
          <p:nvPr/>
        </p:nvSpPr>
        <p:spPr>
          <a:xfrm>
            <a:off x="9184271" y="5024421"/>
            <a:ext cx="2480283"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0" i="0" u="none" strike="noStrike" kern="1200" cap="none" spc="0" normalizeH="0" baseline="0" noProof="0" dirty="0">
                <a:ln>
                  <a:noFill/>
                </a:ln>
                <a:solidFill>
                  <a:srgbClr val="B7D6E1"/>
                </a:solidFill>
                <a:effectLst/>
                <a:uLnTx/>
                <a:uFillTx/>
                <a:latin typeface="Open Sans"/>
                <a:ea typeface="Open Sans" panose="020B0606030504020204" pitchFamily="34" charset="0"/>
                <a:cs typeface="Open Sans" panose="020B0606030504020204" pitchFamily="34" charset="0"/>
              </a:rPr>
              <a:t>M: +31625036924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0" i="0" u="none" strike="noStrike" kern="1200" cap="none" spc="0" normalizeH="0" baseline="0" noProof="0" dirty="0" err="1">
                <a:ln>
                  <a:noFill/>
                </a:ln>
                <a:solidFill>
                  <a:srgbClr val="B7D6E1"/>
                </a:solidFill>
                <a:effectLst/>
                <a:uLnTx/>
                <a:uFillTx/>
                <a:latin typeface="Open Sans"/>
                <a:ea typeface="Open Sans" panose="020B0606030504020204" pitchFamily="34" charset="0"/>
                <a:cs typeface="Open Sans" panose="020B0606030504020204" pitchFamily="34" charset="0"/>
              </a:rPr>
              <a:t>j.sluijs@aquaforall.org</a:t>
            </a:r>
            <a:endParaRPr kumimoji="0" lang="en-KE" sz="1400" b="0" i="0" u="none" strike="noStrike" kern="1200" cap="none" spc="0" normalizeH="0" baseline="0" noProof="0">
              <a:ln>
                <a:noFill/>
              </a:ln>
              <a:solidFill>
                <a:srgbClr val="B7D6E1"/>
              </a:solidFill>
              <a:effectLst/>
              <a:uLnTx/>
              <a:uFillTx/>
              <a:latin typeface="Open Sans"/>
              <a:ea typeface="+mn-ea"/>
              <a:cs typeface="+mn-cs"/>
            </a:endParaRPr>
          </a:p>
        </p:txBody>
      </p:sp>
      <p:sp>
        <p:nvSpPr>
          <p:cNvPr id="24" name="Tekstvak 23">
            <a:extLst>
              <a:ext uri="{FF2B5EF4-FFF2-40B4-BE49-F238E27FC236}">
                <a16:creationId xmlns:a16="http://schemas.microsoft.com/office/drawing/2014/main" id="{DBA7A6B0-F70B-BD05-EFF0-06B6B6084006}"/>
              </a:ext>
            </a:extLst>
          </p:cNvPr>
          <p:cNvSpPr txBox="1"/>
          <p:nvPr/>
        </p:nvSpPr>
        <p:spPr>
          <a:xfrm>
            <a:off x="9184270" y="6159745"/>
            <a:ext cx="2480283" cy="276999"/>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600"/>
              </a:spcAft>
              <a:buClrTx/>
              <a:buSzTx/>
              <a:buFontTx/>
              <a:buNone/>
              <a:tabLst/>
              <a:defRPr/>
            </a:pPr>
            <a:r>
              <a:rPr kumimoji="0" lang="nl-NL" sz="1200" b="0" i="0" u="none" strike="noStrike" kern="1200" cap="none" spc="0" normalizeH="0" baseline="0" noProof="0" dirty="0">
                <a:ln>
                  <a:noFill/>
                </a:ln>
                <a:solidFill>
                  <a:srgbClr val="B7D6E1"/>
                </a:solidFill>
                <a:effectLst/>
                <a:uLnTx/>
                <a:uFillTx/>
                <a:latin typeface="Open Sans"/>
                <a:ea typeface="Open Sans"/>
                <a:cs typeface="Open Sans"/>
              </a:rPr>
              <a:t>The Hague, [date] 2026</a:t>
            </a:r>
          </a:p>
        </p:txBody>
      </p:sp>
      <p:sp>
        <p:nvSpPr>
          <p:cNvPr id="25" name="Tijdelijke aanduiding voor tekst 3">
            <a:extLst>
              <a:ext uri="{FF2B5EF4-FFF2-40B4-BE49-F238E27FC236}">
                <a16:creationId xmlns:a16="http://schemas.microsoft.com/office/drawing/2014/main" id="{4C7E37F6-2E45-6C32-C243-CBEB829698A3}"/>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6" name="Tijdelijke aanduiding voor tekst 3">
            <a:extLst>
              <a:ext uri="{FF2B5EF4-FFF2-40B4-BE49-F238E27FC236}">
                <a16:creationId xmlns:a16="http://schemas.microsoft.com/office/drawing/2014/main" id="{8819879C-B394-2363-9385-A5EEB4852A79}"/>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7" name="Tijdelijke aanduiding voor tekst 3">
            <a:extLst>
              <a:ext uri="{FF2B5EF4-FFF2-40B4-BE49-F238E27FC236}">
                <a16:creationId xmlns:a16="http://schemas.microsoft.com/office/drawing/2014/main" id="{0BE2CB1B-171A-981C-C5CD-2DBE5AAB7BBE}"/>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BBFDD5DA-221A-8C36-1A44-5BE9C25DED64}"/>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0" name="Tijdelijke aanduiding voor tekst 3">
            <a:extLst>
              <a:ext uri="{FF2B5EF4-FFF2-40B4-BE49-F238E27FC236}">
                <a16:creationId xmlns:a16="http://schemas.microsoft.com/office/drawing/2014/main" id="{C70E47A8-30B0-E94F-5327-B8DC4C497AE0}"/>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1" name="Tijdelijke aanduiding voor tekst 3">
            <a:extLst>
              <a:ext uri="{FF2B5EF4-FFF2-40B4-BE49-F238E27FC236}">
                <a16:creationId xmlns:a16="http://schemas.microsoft.com/office/drawing/2014/main" id="{7E67F262-A0CB-A8B3-E107-DAA38FD06E00}"/>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2" name="Tijdelijke aanduiding voor tekst 3">
            <a:extLst>
              <a:ext uri="{FF2B5EF4-FFF2-40B4-BE49-F238E27FC236}">
                <a16:creationId xmlns:a16="http://schemas.microsoft.com/office/drawing/2014/main" id="{714333B6-38BF-056A-7C22-1C0E229BAFC0}"/>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192665097"/>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jdelijke aanduiding voor tekst 3">
            <a:extLst>
              <a:ext uri="{FF2B5EF4-FFF2-40B4-BE49-F238E27FC236}">
                <a16:creationId xmlns:a16="http://schemas.microsoft.com/office/drawing/2014/main" id="{D8015C64-3AE9-AFC6-98BE-EC8AA163AF9F}"/>
              </a:ext>
            </a:extLst>
          </p:cNvPr>
          <p:cNvSpPr>
            <a:spLocks noGrp="1"/>
          </p:cNvSpPr>
          <p:nvPr>
            <p:ph type="body" sz="quarter" idx="4294967295"/>
          </p:nvPr>
        </p:nvSpPr>
        <p:spPr>
          <a:xfrm>
            <a:off x="741103" y="265799"/>
            <a:ext cx="1539896" cy="337433"/>
          </a:xfrm>
          <a:prstGeom prst="roundRect">
            <a:avLst>
              <a:gd name="adj" fmla="val 50000"/>
            </a:avLst>
          </a:prstGeom>
          <a:solidFill>
            <a:srgbClr val="FFA726"/>
          </a:solidFill>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u="none" strike="noStrike" kern="1200" cap="all" spc="110" normalizeH="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D25BB836-85C5-E342-940D-D65146DE66C4}"/>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4EEC8745-0FB7-6B3A-D8FD-7E50A906EB34}"/>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D63805C-6ACC-0D7A-D46C-FEE92A18F261}"/>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C3DC7B1E-1170-1ADE-3E9E-CD439A7A02A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7FCAFEC3-239C-00BB-7C02-9D08CCFF4D3D}"/>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ijdelijke aanduiding voor tekst 3">
            <a:extLst>
              <a:ext uri="{FF2B5EF4-FFF2-40B4-BE49-F238E27FC236}">
                <a16:creationId xmlns:a16="http://schemas.microsoft.com/office/drawing/2014/main" id="{6C529ECA-CAF7-EF65-6F5F-22810EB8B8E1}"/>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a:extLst>
              <a:ext uri="{FF2B5EF4-FFF2-40B4-BE49-F238E27FC236}">
                <a16:creationId xmlns:a16="http://schemas.microsoft.com/office/drawing/2014/main" id="{5AADFADE-258C-C1E1-E4E0-1E906F98D270}"/>
              </a:ext>
            </a:extLst>
          </p:cNvPr>
          <p:cNvSpPr txBox="1">
            <a:spLocks/>
          </p:cNvSpPr>
          <p:nvPr/>
        </p:nvSpPr>
        <p:spPr>
          <a:xfrm>
            <a:off x="631893" y="930613"/>
            <a:ext cx="5013003"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Executive summary</a:t>
            </a:r>
          </a:p>
        </p:txBody>
      </p:sp>
      <p:cxnSp>
        <p:nvCxnSpPr>
          <p:cNvPr id="4" name="Rechte verbindingslijn 24">
            <a:extLst>
              <a:ext uri="{FF2B5EF4-FFF2-40B4-BE49-F238E27FC236}">
                <a16:creationId xmlns:a16="http://schemas.microsoft.com/office/drawing/2014/main" id="{4E4FEB0D-4560-BFAB-C3FC-06693E29F598}"/>
              </a:ext>
            </a:extLst>
          </p:cNvPr>
          <p:cNvCxnSpPr>
            <a:cxnSpLocks/>
          </p:cNvCxnSpPr>
          <p:nvPr/>
        </p:nvCxnSpPr>
        <p:spPr>
          <a:xfrm>
            <a:off x="8224231" y="1713686"/>
            <a:ext cx="0" cy="4712952"/>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5" name="Afgeronde rechthoek 27">
            <a:extLst>
              <a:ext uri="{FF2B5EF4-FFF2-40B4-BE49-F238E27FC236}">
                <a16:creationId xmlns:a16="http://schemas.microsoft.com/office/drawing/2014/main" id="{523C8CE4-C118-CAE8-DF07-3F3208B03878}"/>
              </a:ext>
            </a:extLst>
          </p:cNvPr>
          <p:cNvSpPr/>
          <p:nvPr/>
        </p:nvSpPr>
        <p:spPr>
          <a:xfrm>
            <a:off x="8487623" y="1713686"/>
            <a:ext cx="3342143" cy="4712952"/>
          </a:xfrm>
          <a:prstGeom prst="roundRect">
            <a:avLst>
              <a:gd name="adj" fmla="val 10535"/>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err="1">
                <a:ln>
                  <a:noFill/>
                </a:ln>
                <a:solidFill>
                  <a:srgbClr val="FFA726"/>
                </a:solidFill>
                <a:effectLst/>
                <a:uLnTx/>
                <a:uFillTx/>
                <a:latin typeface="Raleway"/>
                <a:ea typeface="+mn-ea"/>
                <a:cs typeface="+mn-cs"/>
              </a:rPr>
              <a:t>Extr</a:t>
            </a:r>
            <a:r>
              <a:rPr lang="en-GB" sz="1200" b="1" dirty="0">
                <a:solidFill>
                  <a:srgbClr val="FFA726"/>
                </a:solidFill>
                <a:latin typeface="Raleway"/>
              </a:rPr>
              <a:t>a information</a:t>
            </a:r>
            <a:endParaRPr kumimoji="0" lang="en-GB" sz="1200" b="0" i="0" u="none" strike="noStrike" kern="1200" cap="none" spc="0" normalizeH="0" baseline="0" noProof="0" dirty="0">
              <a:ln>
                <a:noFill/>
              </a:ln>
              <a:solidFill>
                <a:srgbClr val="FFA726"/>
              </a:solidFill>
              <a:effectLst/>
              <a:uLnTx/>
              <a:uFillTx/>
              <a:latin typeface="Ralew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Text</a:t>
            </a:r>
          </a:p>
        </p:txBody>
      </p:sp>
      <p:sp>
        <p:nvSpPr>
          <p:cNvPr id="11" name="Tekstvak 10">
            <a:extLst>
              <a:ext uri="{FF2B5EF4-FFF2-40B4-BE49-F238E27FC236}">
                <a16:creationId xmlns:a16="http://schemas.microsoft.com/office/drawing/2014/main" id="{73D37A2B-0F3B-9771-07F9-44EF5ED9CEB8}"/>
              </a:ext>
            </a:extLst>
          </p:cNvPr>
          <p:cNvSpPr txBox="1"/>
          <p:nvPr/>
        </p:nvSpPr>
        <p:spPr>
          <a:xfrm>
            <a:off x="631892" y="1713686"/>
            <a:ext cx="7430273" cy="276999"/>
          </a:xfrm>
          <a:prstGeom prst="rect">
            <a:avLst/>
          </a:prstGeom>
          <a:noFill/>
        </p:spPr>
        <p:txBody>
          <a:bodyPr wrap="square">
            <a:spAutoFit/>
          </a:bodyPr>
          <a:lstStyle/>
          <a:p>
            <a:r>
              <a:rPr kumimoji="0" lang="en-US" sz="1200" b="0" i="0" u="none" strike="noStrike" kern="1200" cap="none" spc="0" normalizeH="0" baseline="0" noProof="0" dirty="0">
                <a:ln>
                  <a:noFill/>
                </a:ln>
                <a:effectLst/>
                <a:uLnTx/>
                <a:uFillTx/>
                <a:latin typeface="Open Sans"/>
                <a:ea typeface="Open Sans"/>
                <a:cs typeface="Open Sans"/>
              </a:rPr>
              <a:t>Text </a:t>
            </a:r>
            <a:endParaRPr lang="nl-NL" sz="1200" dirty="0"/>
          </a:p>
        </p:txBody>
      </p:sp>
    </p:spTree>
    <p:extLst>
      <p:ext uri="{BB962C8B-B14F-4D97-AF65-F5344CB8AC3E}">
        <p14:creationId xmlns:p14="http://schemas.microsoft.com/office/powerpoint/2010/main" val="1567516334"/>
      </p:ext>
    </p:extLst>
  </p:cSld>
  <p:clrMapOvr>
    <a:masterClrMapping/>
  </p:clrMapOvr>
  <p:extLst>
    <p:ext uri="{6950BFC3-D8DA-4A85-94F7-54DA5524770B}">
      <p188:commentRel xmlns:p188="http://schemas.microsoft.com/office/powerpoint/2018/8/main" r:id="rId2"/>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p:cNvGrpSpPr/>
        <p:nvPr/>
      </p:nvGrpSpPr>
      <p:grpSpPr>
        <a:xfrm>
          <a:off x="0" y="0"/>
          <a:ext cx="0" cy="0"/>
          <a:chOff x="0" y="0"/>
          <a:chExt cx="0" cy="0"/>
        </a:xfrm>
      </p:grpSpPr>
      <p:sp>
        <p:nvSpPr>
          <p:cNvPr id="19" name="Tijdelijke aanduiding voor tekst 3">
            <a:extLst>
              <a:ext uri="{FF2B5EF4-FFF2-40B4-BE49-F238E27FC236}">
                <a16:creationId xmlns:a16="http://schemas.microsoft.com/office/drawing/2014/main" id="{D8015C64-3AE9-AFC6-98BE-EC8AA163AF9F}"/>
              </a:ext>
            </a:extLst>
          </p:cNvPr>
          <p:cNvSpPr>
            <a:spLocks noGrp="1"/>
          </p:cNvSpPr>
          <p:nvPr>
            <p:ph type="body" sz="quarter" idx="4294967295"/>
          </p:nvPr>
        </p:nvSpPr>
        <p:spPr>
          <a:xfrm>
            <a:off x="741103" y="265799"/>
            <a:ext cx="1539896" cy="337433"/>
          </a:xfrm>
          <a:prstGeom prst="roundRect">
            <a:avLst>
              <a:gd name="adj" fmla="val 50000"/>
            </a:avLst>
          </a:prstGeom>
          <a:solidFill>
            <a:srgbClr val="FFA726"/>
          </a:solidFill>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u="none" strike="noStrike" kern="1200" cap="all" spc="110" normalizeH="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D25BB836-85C5-E342-940D-D65146DE66C4}"/>
              </a:ext>
            </a:extLst>
          </p:cNvPr>
          <p:cNvSpPr txBox="1">
            <a:spLocks/>
          </p:cNvSpPr>
          <p:nvPr/>
        </p:nvSpPr>
        <p:spPr>
          <a:xfrm>
            <a:off x="2332564"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4EEC8745-0FB7-6B3A-D8FD-7E50A906EB34}"/>
              </a:ext>
            </a:extLst>
          </p:cNvPr>
          <p:cNvSpPr txBox="1">
            <a:spLocks/>
          </p:cNvSpPr>
          <p:nvPr/>
        </p:nvSpPr>
        <p:spPr>
          <a:xfrm>
            <a:off x="3924025"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D63805C-6ACC-0D7A-D46C-FEE92A18F261}"/>
              </a:ext>
            </a:extLst>
          </p:cNvPr>
          <p:cNvSpPr txBox="1">
            <a:spLocks/>
          </p:cNvSpPr>
          <p:nvPr/>
        </p:nvSpPr>
        <p:spPr>
          <a:xfrm>
            <a:off x="5515486"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C3DC7B1E-1170-1ADE-3E9E-CD439A7A02A5}"/>
              </a:ext>
            </a:extLst>
          </p:cNvPr>
          <p:cNvSpPr txBox="1">
            <a:spLocks/>
          </p:cNvSpPr>
          <p:nvPr/>
        </p:nvSpPr>
        <p:spPr>
          <a:xfrm>
            <a:off x="7106947"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7FCAFEC3-239C-00BB-7C02-9D08CCFF4D3D}"/>
              </a:ext>
            </a:extLst>
          </p:cNvPr>
          <p:cNvSpPr txBox="1">
            <a:spLocks/>
          </p:cNvSpPr>
          <p:nvPr/>
        </p:nvSpPr>
        <p:spPr>
          <a:xfrm>
            <a:off x="8698408"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ijdelijke aanduiding voor tekst 3">
            <a:extLst>
              <a:ext uri="{FF2B5EF4-FFF2-40B4-BE49-F238E27FC236}">
                <a16:creationId xmlns:a16="http://schemas.microsoft.com/office/drawing/2014/main" id="{6C529ECA-CAF7-EF65-6F5F-22810EB8B8E1}"/>
              </a:ext>
            </a:extLst>
          </p:cNvPr>
          <p:cNvSpPr txBox="1">
            <a:spLocks/>
          </p:cNvSpPr>
          <p:nvPr/>
        </p:nvSpPr>
        <p:spPr>
          <a:xfrm>
            <a:off x="10289870"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a:extLst>
              <a:ext uri="{FF2B5EF4-FFF2-40B4-BE49-F238E27FC236}">
                <a16:creationId xmlns:a16="http://schemas.microsoft.com/office/drawing/2014/main" id="{5AADFADE-258C-C1E1-E4E0-1E906F98D270}"/>
              </a:ext>
            </a:extLst>
          </p:cNvPr>
          <p:cNvSpPr txBox="1">
            <a:spLocks/>
          </p:cNvSpPr>
          <p:nvPr/>
        </p:nvSpPr>
        <p:spPr>
          <a:xfrm>
            <a:off x="631893" y="930613"/>
            <a:ext cx="5013003"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Executive summary</a:t>
            </a:r>
          </a:p>
        </p:txBody>
      </p:sp>
      <p:cxnSp>
        <p:nvCxnSpPr>
          <p:cNvPr id="4" name="Rechte verbindingslijn 24">
            <a:extLst>
              <a:ext uri="{FF2B5EF4-FFF2-40B4-BE49-F238E27FC236}">
                <a16:creationId xmlns:a16="http://schemas.microsoft.com/office/drawing/2014/main" id="{4E4FEB0D-4560-BFAB-C3FC-06693E29F598}"/>
              </a:ext>
            </a:extLst>
          </p:cNvPr>
          <p:cNvCxnSpPr>
            <a:cxnSpLocks/>
          </p:cNvCxnSpPr>
          <p:nvPr/>
        </p:nvCxnSpPr>
        <p:spPr>
          <a:xfrm>
            <a:off x="8224231" y="1713686"/>
            <a:ext cx="0" cy="4712952"/>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5" name="Afgeronde rechthoek 27">
            <a:extLst>
              <a:ext uri="{FF2B5EF4-FFF2-40B4-BE49-F238E27FC236}">
                <a16:creationId xmlns:a16="http://schemas.microsoft.com/office/drawing/2014/main" id="{523C8CE4-C118-CAE8-DF07-3F3208B03878}"/>
              </a:ext>
            </a:extLst>
          </p:cNvPr>
          <p:cNvSpPr/>
          <p:nvPr/>
        </p:nvSpPr>
        <p:spPr>
          <a:xfrm>
            <a:off x="8487623" y="1713686"/>
            <a:ext cx="3342143" cy="4712952"/>
          </a:xfrm>
          <a:prstGeom prst="roundRect">
            <a:avLst>
              <a:gd name="adj" fmla="val 1053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err="1">
                <a:ln>
                  <a:noFill/>
                </a:ln>
                <a:solidFill>
                  <a:srgbClr val="FFA726"/>
                </a:solidFill>
                <a:effectLst/>
                <a:uLnTx/>
                <a:uFillTx/>
                <a:latin typeface="Raleway"/>
                <a:ea typeface="+mn-ea"/>
                <a:cs typeface="+mn-cs"/>
              </a:rPr>
              <a:t>Extr</a:t>
            </a:r>
            <a:r>
              <a:rPr lang="en-GB" sz="1200" b="1" dirty="0">
                <a:solidFill>
                  <a:srgbClr val="FFA726"/>
                </a:solidFill>
                <a:latin typeface="Raleway"/>
              </a:rPr>
              <a:t>a information</a:t>
            </a:r>
            <a:endParaRPr kumimoji="0" lang="en-GB" sz="1200" b="0" i="0" u="none" strike="noStrike" kern="1200" cap="none" spc="0" normalizeH="0" baseline="0" noProof="0" dirty="0">
              <a:ln>
                <a:noFill/>
              </a:ln>
              <a:solidFill>
                <a:srgbClr val="FFA726"/>
              </a:solidFill>
              <a:effectLst/>
              <a:uLnTx/>
              <a:uFillTx/>
              <a:latin typeface="Ralew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Text</a:t>
            </a:r>
          </a:p>
        </p:txBody>
      </p:sp>
      <p:sp>
        <p:nvSpPr>
          <p:cNvPr id="11" name="Tekstvak 10">
            <a:extLst>
              <a:ext uri="{FF2B5EF4-FFF2-40B4-BE49-F238E27FC236}">
                <a16:creationId xmlns:a16="http://schemas.microsoft.com/office/drawing/2014/main" id="{73D37A2B-0F3B-9771-07F9-44EF5ED9CEB8}"/>
              </a:ext>
            </a:extLst>
          </p:cNvPr>
          <p:cNvSpPr txBox="1"/>
          <p:nvPr/>
        </p:nvSpPr>
        <p:spPr>
          <a:xfrm>
            <a:off x="631892" y="1713686"/>
            <a:ext cx="7430273" cy="276999"/>
          </a:xfrm>
          <a:prstGeom prst="rect">
            <a:avLst/>
          </a:prstGeom>
          <a:noFill/>
        </p:spPr>
        <p:txBody>
          <a:bodyPr wrap="square">
            <a:spAutoFit/>
          </a:bodyPr>
          <a:lstStyle/>
          <a:p>
            <a:r>
              <a:rPr kumimoji="0" lang="en-US" sz="1200" b="0" i="0" u="none" strike="noStrike" kern="1200" cap="none" spc="0" normalizeH="0" baseline="0" noProof="0" dirty="0">
                <a:ln>
                  <a:noFill/>
                </a:ln>
                <a:solidFill>
                  <a:srgbClr val="173E55"/>
                </a:solidFill>
                <a:effectLst/>
                <a:uLnTx/>
                <a:uFillTx/>
                <a:latin typeface="Open Sans"/>
                <a:ea typeface="Open Sans"/>
                <a:cs typeface="Open Sans"/>
              </a:rPr>
              <a:t>Text </a:t>
            </a:r>
            <a:endParaRPr lang="nl-NL" sz="1200" dirty="0">
              <a:solidFill>
                <a:srgbClr val="173E55"/>
              </a:solidFill>
            </a:endParaRPr>
          </a:p>
        </p:txBody>
      </p:sp>
    </p:spTree>
    <p:extLst>
      <p:ext uri="{BB962C8B-B14F-4D97-AF65-F5344CB8AC3E}">
        <p14:creationId xmlns:p14="http://schemas.microsoft.com/office/powerpoint/2010/main" val="1538453447"/>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7D6E1"/>
        </a:solidFill>
        <a:effectLst/>
      </p:bgPr>
    </p:bg>
    <p:spTree>
      <p:nvGrpSpPr>
        <p:cNvPr id="1" name=""/>
        <p:cNvGrpSpPr/>
        <p:nvPr/>
      </p:nvGrpSpPr>
      <p:grpSpPr>
        <a:xfrm>
          <a:off x="0" y="0"/>
          <a:ext cx="0" cy="0"/>
          <a:chOff x="0" y="0"/>
          <a:chExt cx="0" cy="0"/>
        </a:xfrm>
      </p:grpSpPr>
      <p:sp>
        <p:nvSpPr>
          <p:cNvPr id="19" name="Tijdelijke aanduiding voor tekst 3">
            <a:extLst>
              <a:ext uri="{FF2B5EF4-FFF2-40B4-BE49-F238E27FC236}">
                <a16:creationId xmlns:a16="http://schemas.microsoft.com/office/drawing/2014/main" id="{D8015C64-3AE9-AFC6-98BE-EC8AA163AF9F}"/>
              </a:ext>
            </a:extLst>
          </p:cNvPr>
          <p:cNvSpPr>
            <a:spLocks noGrp="1"/>
          </p:cNvSpPr>
          <p:nvPr>
            <p:ph type="body" sz="quarter" idx="4294967295"/>
          </p:nvPr>
        </p:nvSpPr>
        <p:spPr>
          <a:xfrm>
            <a:off x="741103" y="265799"/>
            <a:ext cx="1539896" cy="337433"/>
          </a:xfrm>
          <a:prstGeom prst="roundRect">
            <a:avLst>
              <a:gd name="adj" fmla="val 50000"/>
            </a:avLst>
          </a:prstGeom>
          <a:solidFill>
            <a:srgbClr val="FFA726"/>
          </a:solidFill>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u="none" strike="noStrike" kern="1200" cap="all" spc="110" normalizeH="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D25BB836-85C5-E342-940D-D65146DE66C4}"/>
              </a:ext>
            </a:extLst>
          </p:cNvPr>
          <p:cNvSpPr txBox="1">
            <a:spLocks/>
          </p:cNvSpPr>
          <p:nvPr/>
        </p:nvSpPr>
        <p:spPr>
          <a:xfrm>
            <a:off x="2332564"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4EEC8745-0FB7-6B3A-D8FD-7E50A906EB34}"/>
              </a:ext>
            </a:extLst>
          </p:cNvPr>
          <p:cNvSpPr txBox="1">
            <a:spLocks/>
          </p:cNvSpPr>
          <p:nvPr/>
        </p:nvSpPr>
        <p:spPr>
          <a:xfrm>
            <a:off x="3924025"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D63805C-6ACC-0D7A-D46C-FEE92A18F261}"/>
              </a:ext>
            </a:extLst>
          </p:cNvPr>
          <p:cNvSpPr txBox="1">
            <a:spLocks/>
          </p:cNvSpPr>
          <p:nvPr/>
        </p:nvSpPr>
        <p:spPr>
          <a:xfrm>
            <a:off x="5515486"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C3DC7B1E-1170-1ADE-3E9E-CD439A7A02A5}"/>
              </a:ext>
            </a:extLst>
          </p:cNvPr>
          <p:cNvSpPr txBox="1">
            <a:spLocks/>
          </p:cNvSpPr>
          <p:nvPr/>
        </p:nvSpPr>
        <p:spPr>
          <a:xfrm>
            <a:off x="7106947"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7FCAFEC3-239C-00BB-7C02-9D08CCFF4D3D}"/>
              </a:ext>
            </a:extLst>
          </p:cNvPr>
          <p:cNvSpPr txBox="1">
            <a:spLocks/>
          </p:cNvSpPr>
          <p:nvPr/>
        </p:nvSpPr>
        <p:spPr>
          <a:xfrm>
            <a:off x="8698408"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ijdelijke aanduiding voor tekst 3">
            <a:extLst>
              <a:ext uri="{FF2B5EF4-FFF2-40B4-BE49-F238E27FC236}">
                <a16:creationId xmlns:a16="http://schemas.microsoft.com/office/drawing/2014/main" id="{6C529ECA-CAF7-EF65-6F5F-22810EB8B8E1}"/>
              </a:ext>
            </a:extLst>
          </p:cNvPr>
          <p:cNvSpPr txBox="1">
            <a:spLocks/>
          </p:cNvSpPr>
          <p:nvPr/>
        </p:nvSpPr>
        <p:spPr>
          <a:xfrm>
            <a:off x="10289870"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a:extLst>
              <a:ext uri="{FF2B5EF4-FFF2-40B4-BE49-F238E27FC236}">
                <a16:creationId xmlns:a16="http://schemas.microsoft.com/office/drawing/2014/main" id="{5AADFADE-258C-C1E1-E4E0-1E906F98D270}"/>
              </a:ext>
            </a:extLst>
          </p:cNvPr>
          <p:cNvSpPr txBox="1">
            <a:spLocks/>
          </p:cNvSpPr>
          <p:nvPr/>
        </p:nvSpPr>
        <p:spPr>
          <a:xfrm>
            <a:off x="631893" y="930613"/>
            <a:ext cx="5013003"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Executive summary</a:t>
            </a:r>
          </a:p>
        </p:txBody>
      </p:sp>
      <p:cxnSp>
        <p:nvCxnSpPr>
          <p:cNvPr id="4" name="Rechte verbindingslijn 24">
            <a:extLst>
              <a:ext uri="{FF2B5EF4-FFF2-40B4-BE49-F238E27FC236}">
                <a16:creationId xmlns:a16="http://schemas.microsoft.com/office/drawing/2014/main" id="{4E4FEB0D-4560-BFAB-C3FC-06693E29F598}"/>
              </a:ext>
            </a:extLst>
          </p:cNvPr>
          <p:cNvCxnSpPr>
            <a:cxnSpLocks/>
          </p:cNvCxnSpPr>
          <p:nvPr/>
        </p:nvCxnSpPr>
        <p:spPr>
          <a:xfrm>
            <a:off x="8224231" y="1713686"/>
            <a:ext cx="0" cy="4712952"/>
          </a:xfrm>
          <a:prstGeom prst="line">
            <a:avLst/>
          </a:prstGeom>
          <a:ln>
            <a:solidFill>
              <a:srgbClr val="FFFFFF"/>
            </a:solidFill>
          </a:ln>
        </p:spPr>
        <p:style>
          <a:lnRef idx="2">
            <a:schemeClr val="accent1"/>
          </a:lnRef>
          <a:fillRef idx="0">
            <a:schemeClr val="accent1"/>
          </a:fillRef>
          <a:effectRef idx="1">
            <a:schemeClr val="accent1"/>
          </a:effectRef>
          <a:fontRef idx="minor">
            <a:schemeClr val="tx1"/>
          </a:fontRef>
        </p:style>
      </p:cxnSp>
      <p:sp>
        <p:nvSpPr>
          <p:cNvPr id="5" name="Afgeronde rechthoek 27">
            <a:extLst>
              <a:ext uri="{FF2B5EF4-FFF2-40B4-BE49-F238E27FC236}">
                <a16:creationId xmlns:a16="http://schemas.microsoft.com/office/drawing/2014/main" id="{523C8CE4-C118-CAE8-DF07-3F3208B03878}"/>
              </a:ext>
            </a:extLst>
          </p:cNvPr>
          <p:cNvSpPr/>
          <p:nvPr/>
        </p:nvSpPr>
        <p:spPr>
          <a:xfrm>
            <a:off x="8487623" y="1713686"/>
            <a:ext cx="3342143" cy="4712952"/>
          </a:xfrm>
          <a:prstGeom prst="roundRect">
            <a:avLst>
              <a:gd name="adj" fmla="val 10535"/>
            </a:avLst>
          </a:prstGeom>
          <a:solidFill>
            <a:srgbClr val="173E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err="1">
                <a:ln>
                  <a:noFill/>
                </a:ln>
                <a:solidFill>
                  <a:srgbClr val="FFA726"/>
                </a:solidFill>
                <a:effectLst/>
                <a:uLnTx/>
                <a:uFillTx/>
                <a:latin typeface="Raleway"/>
                <a:ea typeface="+mn-ea"/>
                <a:cs typeface="+mn-cs"/>
              </a:rPr>
              <a:t>Extr</a:t>
            </a:r>
            <a:r>
              <a:rPr lang="en-GB" sz="1200" b="1" dirty="0">
                <a:solidFill>
                  <a:srgbClr val="FFA726"/>
                </a:solidFill>
                <a:latin typeface="Raleway"/>
              </a:rPr>
              <a:t>a information</a:t>
            </a:r>
            <a:endParaRPr kumimoji="0" lang="en-GB" sz="1200" b="0" i="0" u="none" strike="noStrike" kern="1200" cap="none" spc="0" normalizeH="0" baseline="0" noProof="0" dirty="0">
              <a:ln>
                <a:noFill/>
              </a:ln>
              <a:solidFill>
                <a:srgbClr val="FFA726"/>
              </a:solidFill>
              <a:effectLst/>
              <a:uLnTx/>
              <a:uFillTx/>
              <a:latin typeface="Ralew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
        <p:nvSpPr>
          <p:cNvPr id="11" name="Tekstvak 10">
            <a:extLst>
              <a:ext uri="{FF2B5EF4-FFF2-40B4-BE49-F238E27FC236}">
                <a16:creationId xmlns:a16="http://schemas.microsoft.com/office/drawing/2014/main" id="{73D37A2B-0F3B-9771-07F9-44EF5ED9CEB8}"/>
              </a:ext>
            </a:extLst>
          </p:cNvPr>
          <p:cNvSpPr txBox="1"/>
          <p:nvPr/>
        </p:nvSpPr>
        <p:spPr>
          <a:xfrm>
            <a:off x="631892" y="1713686"/>
            <a:ext cx="7430273" cy="276999"/>
          </a:xfrm>
          <a:prstGeom prst="rect">
            <a:avLst/>
          </a:prstGeom>
          <a:noFill/>
        </p:spPr>
        <p:txBody>
          <a:bodyPr wrap="square">
            <a:spAutoFit/>
          </a:bodyPr>
          <a:lstStyle/>
          <a:p>
            <a:r>
              <a:rPr kumimoji="0" lang="en-US" sz="1200" b="0" i="0" u="none" strike="noStrike" kern="1200" cap="none" spc="0" normalizeH="0" baseline="0" noProof="0" dirty="0">
                <a:ln>
                  <a:noFill/>
                </a:ln>
                <a:solidFill>
                  <a:srgbClr val="173E55"/>
                </a:solidFill>
                <a:effectLst/>
                <a:uLnTx/>
                <a:uFillTx/>
                <a:latin typeface="Open Sans"/>
                <a:ea typeface="Open Sans"/>
                <a:cs typeface="Open Sans"/>
              </a:rPr>
              <a:t>Text </a:t>
            </a:r>
            <a:endParaRPr lang="nl-NL" sz="1200" dirty="0">
              <a:solidFill>
                <a:srgbClr val="173E55"/>
              </a:solidFill>
            </a:endParaRPr>
          </a:p>
        </p:txBody>
      </p:sp>
    </p:spTree>
    <p:extLst>
      <p:ext uri="{BB962C8B-B14F-4D97-AF65-F5344CB8AC3E}">
        <p14:creationId xmlns:p14="http://schemas.microsoft.com/office/powerpoint/2010/main" val="3552017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jdelijke aanduiding voor tekst 3">
            <a:extLst>
              <a:ext uri="{FF2B5EF4-FFF2-40B4-BE49-F238E27FC236}">
                <a16:creationId xmlns:a16="http://schemas.microsoft.com/office/drawing/2014/main" id="{D8015C64-3AE9-AFC6-98BE-EC8AA163AF9F}"/>
              </a:ext>
            </a:extLst>
          </p:cNvPr>
          <p:cNvSpPr>
            <a:spLocks noGrp="1"/>
          </p:cNvSpPr>
          <p:nvPr>
            <p:ph type="body" sz="quarter" idx="4294967295"/>
          </p:nvPr>
        </p:nvSpPr>
        <p:spPr>
          <a:xfrm>
            <a:off x="741103" y="265799"/>
            <a:ext cx="1539896" cy="337433"/>
          </a:xfrm>
          <a:prstGeom prst="roundRect">
            <a:avLst>
              <a:gd name="adj" fmla="val 50000"/>
            </a:avLst>
          </a:prstGeom>
          <a:solidFill>
            <a:srgbClr val="FFA726"/>
          </a:solidFill>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800" u="none" strike="noStrike" kern="1200" cap="all" spc="110" normalizeH="0" noProof="0" dirty="0">
              <a:ln>
                <a:noFill/>
              </a:ln>
              <a:solidFill>
                <a:schemeClr val="bg1"/>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D25BB836-85C5-E342-940D-D65146DE66C4}"/>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4EEC8745-0FB7-6B3A-D8FD-7E50A906EB34}"/>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D63805C-6ACC-0D7A-D46C-FEE92A18F261}"/>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C3DC7B1E-1170-1ADE-3E9E-CD439A7A02A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7FCAFEC3-239C-00BB-7C02-9D08CCFF4D3D}"/>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7" name="Tijdelijke aanduiding voor tekst 3">
            <a:extLst>
              <a:ext uri="{FF2B5EF4-FFF2-40B4-BE49-F238E27FC236}">
                <a16:creationId xmlns:a16="http://schemas.microsoft.com/office/drawing/2014/main" id="{6C529ECA-CAF7-EF65-6F5F-22810EB8B8E1}"/>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itle 1">
            <a:extLst>
              <a:ext uri="{FF2B5EF4-FFF2-40B4-BE49-F238E27FC236}">
                <a16:creationId xmlns:a16="http://schemas.microsoft.com/office/drawing/2014/main" id="{5AADFADE-258C-C1E1-E4E0-1E906F98D270}"/>
              </a:ext>
            </a:extLst>
          </p:cNvPr>
          <p:cNvSpPr txBox="1">
            <a:spLocks/>
          </p:cNvSpPr>
          <p:nvPr/>
        </p:nvSpPr>
        <p:spPr>
          <a:xfrm>
            <a:off x="631893" y="930613"/>
            <a:ext cx="5013003"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Contents</a:t>
            </a:r>
          </a:p>
        </p:txBody>
      </p:sp>
      <p:sp>
        <p:nvSpPr>
          <p:cNvPr id="5" name="Afgeronde rechthoek 27">
            <a:extLst>
              <a:ext uri="{FF2B5EF4-FFF2-40B4-BE49-F238E27FC236}">
                <a16:creationId xmlns:a16="http://schemas.microsoft.com/office/drawing/2014/main" id="{523C8CE4-C118-CAE8-DF07-3F3208B03878}"/>
              </a:ext>
            </a:extLst>
          </p:cNvPr>
          <p:cNvSpPr/>
          <p:nvPr/>
        </p:nvSpPr>
        <p:spPr>
          <a:xfrm>
            <a:off x="661492" y="1713686"/>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1.</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Vision</a:t>
            </a:r>
            <a:endParaRPr lang="en-GB" sz="1200" b="1" dirty="0">
              <a:solidFill>
                <a:srgbClr val="004D7A"/>
              </a:solidFill>
            </a:endParaRPr>
          </a:p>
        </p:txBody>
      </p:sp>
      <p:sp>
        <p:nvSpPr>
          <p:cNvPr id="2" name="Afgeronde rechthoek 27">
            <a:extLst>
              <a:ext uri="{FF2B5EF4-FFF2-40B4-BE49-F238E27FC236}">
                <a16:creationId xmlns:a16="http://schemas.microsoft.com/office/drawing/2014/main" id="{6CC0B7A7-791C-C13A-7F75-39382C19C00D}"/>
              </a:ext>
            </a:extLst>
          </p:cNvPr>
          <p:cNvSpPr/>
          <p:nvPr/>
        </p:nvSpPr>
        <p:spPr>
          <a:xfrm>
            <a:off x="661492" y="3429000"/>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a:defRPr/>
            </a:pPr>
            <a:r>
              <a:rPr lang="en-GB" sz="1200" b="1" dirty="0">
                <a:solidFill>
                  <a:srgbClr val="004D7A"/>
                </a:solidFill>
              </a:rPr>
              <a:t>A Global Water Investment Facility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endParaRPr>
          </a:p>
        </p:txBody>
      </p:sp>
      <p:sp>
        <p:nvSpPr>
          <p:cNvPr id="6" name="Afgeronde rechthoek 27">
            <a:extLst>
              <a:ext uri="{FF2B5EF4-FFF2-40B4-BE49-F238E27FC236}">
                <a16:creationId xmlns:a16="http://schemas.microsoft.com/office/drawing/2014/main" id="{47332F90-AFC4-120A-8938-F9CF68964AD0}"/>
              </a:ext>
            </a:extLst>
          </p:cNvPr>
          <p:cNvSpPr/>
          <p:nvPr/>
        </p:nvSpPr>
        <p:spPr>
          <a:xfrm>
            <a:off x="661492" y="5142186"/>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rgbClr val="004D7A"/>
                </a:solidFill>
                <a:latin typeface="Open Sans"/>
              </a:rPr>
              <a:t>Governance</a:t>
            </a:r>
            <a:endParaRPr lang="en-GB" sz="1200" b="1" dirty="0">
              <a:solidFill>
                <a:srgbClr val="004D7A"/>
              </a:solidFill>
            </a:endParaRPr>
          </a:p>
        </p:txBody>
      </p:sp>
      <p:sp>
        <p:nvSpPr>
          <p:cNvPr id="7" name="Afgeronde rechthoek 27">
            <a:extLst>
              <a:ext uri="{FF2B5EF4-FFF2-40B4-BE49-F238E27FC236}">
                <a16:creationId xmlns:a16="http://schemas.microsoft.com/office/drawing/2014/main" id="{D18C93E5-522D-8D25-8CD6-72E00E7CF781}"/>
              </a:ext>
            </a:extLst>
          </p:cNvPr>
          <p:cNvSpPr/>
          <p:nvPr/>
        </p:nvSpPr>
        <p:spPr>
          <a:xfrm>
            <a:off x="3415203" y="1713686"/>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Context</a:t>
            </a:r>
            <a:endParaRPr lang="en-GB" sz="1200" b="1" dirty="0">
              <a:solidFill>
                <a:srgbClr val="004D7A"/>
              </a:solidFill>
            </a:endParaRPr>
          </a:p>
        </p:txBody>
      </p:sp>
      <p:sp>
        <p:nvSpPr>
          <p:cNvPr id="8" name="Afgeronde rechthoek 27">
            <a:extLst>
              <a:ext uri="{FF2B5EF4-FFF2-40B4-BE49-F238E27FC236}">
                <a16:creationId xmlns:a16="http://schemas.microsoft.com/office/drawing/2014/main" id="{110730DD-2D4F-E22C-3CAA-7C4269AE0B84}"/>
              </a:ext>
            </a:extLst>
          </p:cNvPr>
          <p:cNvSpPr/>
          <p:nvPr/>
        </p:nvSpPr>
        <p:spPr>
          <a:xfrm>
            <a:off x="3415203" y="3429000"/>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Targeted Portfolio</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endParaRPr>
          </a:p>
        </p:txBody>
      </p:sp>
      <p:sp>
        <p:nvSpPr>
          <p:cNvPr id="9" name="Afgeronde rechthoek 27">
            <a:extLst>
              <a:ext uri="{FF2B5EF4-FFF2-40B4-BE49-F238E27FC236}">
                <a16:creationId xmlns:a16="http://schemas.microsoft.com/office/drawing/2014/main" id="{EFD00042-848D-320C-F0A1-FC43F432E2F7}"/>
              </a:ext>
            </a:extLst>
          </p:cNvPr>
          <p:cNvSpPr/>
          <p:nvPr/>
        </p:nvSpPr>
        <p:spPr>
          <a:xfrm>
            <a:off x="3415203" y="5142186"/>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a:defRPr/>
            </a:pPr>
            <a:r>
              <a:rPr kumimoji="0" lang="en-GB" sz="1200" b="1" i="0" u="none" strike="noStrike" kern="1200" cap="none" spc="0" normalizeH="0" baseline="0" noProof="0" dirty="0">
                <a:ln>
                  <a:noFill/>
                </a:ln>
                <a:solidFill>
                  <a:srgbClr val="004D7A"/>
                </a:solidFill>
                <a:effectLst/>
                <a:uLnTx/>
                <a:uFillTx/>
                <a:latin typeface="Open Sans"/>
                <a:ea typeface="+mn-ea"/>
                <a:cs typeface="+mn-cs"/>
              </a:rPr>
              <a:t>Call to Action &amp; Next Steps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endParaRPr>
          </a:p>
        </p:txBody>
      </p:sp>
      <p:sp>
        <p:nvSpPr>
          <p:cNvPr id="10" name="Afgeronde rechthoek 27">
            <a:extLst>
              <a:ext uri="{FF2B5EF4-FFF2-40B4-BE49-F238E27FC236}">
                <a16:creationId xmlns:a16="http://schemas.microsoft.com/office/drawing/2014/main" id="{75397269-AD75-9610-206A-D947D887EC17}"/>
              </a:ext>
            </a:extLst>
          </p:cNvPr>
          <p:cNvSpPr/>
          <p:nvPr/>
        </p:nvSpPr>
        <p:spPr>
          <a:xfrm>
            <a:off x="6168914" y="1713686"/>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n-GB" sz="1200" b="1" dirty="0">
                <a:solidFill>
                  <a:srgbClr val="004D7A"/>
                </a:solidFill>
              </a:rPr>
              <a:t>3. </a:t>
            </a:r>
          </a:p>
          <a:p>
            <a:pPr>
              <a:defRPr/>
            </a:pPr>
            <a:endParaRPr lang="en-GB" sz="1200" b="1" dirty="0">
              <a:solidFill>
                <a:srgbClr val="004D7A"/>
              </a:solidFill>
            </a:endParaRPr>
          </a:p>
          <a:p>
            <a:pPr>
              <a:defRPr/>
            </a:pPr>
            <a:r>
              <a:rPr lang="en-GB" sz="1200" b="1" dirty="0">
                <a:solidFill>
                  <a:srgbClr val="004D7A"/>
                </a:solidFill>
              </a:rPr>
              <a:t>Aqua for All and Water Resilience Coalition</a:t>
            </a:r>
          </a:p>
        </p:txBody>
      </p:sp>
      <p:sp>
        <p:nvSpPr>
          <p:cNvPr id="18" name="Afgeronde rechthoek 27">
            <a:extLst>
              <a:ext uri="{FF2B5EF4-FFF2-40B4-BE49-F238E27FC236}">
                <a16:creationId xmlns:a16="http://schemas.microsoft.com/office/drawing/2014/main" id="{4F8B0DAE-BA0C-3CD0-BE01-0292EC65B8DF}"/>
              </a:ext>
            </a:extLst>
          </p:cNvPr>
          <p:cNvSpPr/>
          <p:nvPr/>
        </p:nvSpPr>
        <p:spPr>
          <a:xfrm>
            <a:off x="6168914" y="3429000"/>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rgbClr val="004D7A"/>
                </a:solidFill>
                <a:latin typeface="Open Sans"/>
              </a:rPr>
              <a:t>6.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1" dirty="0">
              <a:solidFill>
                <a:srgbClr val="004D7A"/>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solidFill>
                  <a:srgbClr val="004D7A"/>
                </a:solidFill>
              </a:rPr>
              <a:t>Impact</a:t>
            </a:r>
          </a:p>
        </p:txBody>
      </p:sp>
      <p:sp>
        <p:nvSpPr>
          <p:cNvPr id="20" name="Afgeronde rechthoek 27">
            <a:extLst>
              <a:ext uri="{FF2B5EF4-FFF2-40B4-BE49-F238E27FC236}">
                <a16:creationId xmlns:a16="http://schemas.microsoft.com/office/drawing/2014/main" id="{9EAD0598-238A-F91F-3E61-C44F8FBD816B}"/>
              </a:ext>
            </a:extLst>
          </p:cNvPr>
          <p:cNvSpPr/>
          <p:nvPr/>
        </p:nvSpPr>
        <p:spPr>
          <a:xfrm>
            <a:off x="6168914" y="5142186"/>
            <a:ext cx="2428545" cy="1386865"/>
          </a:xfrm>
          <a:prstGeom prst="roundRect">
            <a:avLst>
              <a:gd name="adj" fmla="val 10535"/>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defRPr/>
            </a:pPr>
            <a:r>
              <a:rPr lang="en-GB" sz="1200" b="1" dirty="0">
                <a:solidFill>
                  <a:srgbClr val="004D7A"/>
                </a:solidFill>
              </a:rPr>
              <a:t>9.</a:t>
            </a:r>
          </a:p>
          <a:p>
            <a:pPr>
              <a:defRPr/>
            </a:pPr>
            <a:endParaRPr lang="en-GB" sz="1200" b="1" dirty="0">
              <a:solidFill>
                <a:srgbClr val="004D7A"/>
              </a:solidFill>
            </a:endParaRPr>
          </a:p>
          <a:p>
            <a:pPr>
              <a:defRPr/>
            </a:pPr>
            <a:r>
              <a:rPr lang="en-GB" sz="1200" b="1" dirty="0">
                <a:solidFill>
                  <a:srgbClr val="004D7A"/>
                </a:solidFill>
              </a:rPr>
              <a:t>Annex: Structure and Terms</a:t>
            </a:r>
          </a:p>
        </p:txBody>
      </p:sp>
      <p:pic>
        <p:nvPicPr>
          <p:cNvPr id="21" name="Picture Placeholder 6" descr="River complex in forest">
            <a:extLst>
              <a:ext uri="{FF2B5EF4-FFF2-40B4-BE49-F238E27FC236}">
                <a16:creationId xmlns:a16="http://schemas.microsoft.com/office/drawing/2014/main" id="{1E8DE15B-19D9-703A-E9AA-B49ACF9FDF5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208" t="2920" r="43698"/>
          <a:stretch/>
        </p:blipFill>
        <p:spPr>
          <a:xfrm>
            <a:off x="8820001" y="1713686"/>
            <a:ext cx="3009766" cy="4788000"/>
          </a:xfrm>
          <a:prstGeom prst="roundRect">
            <a:avLst>
              <a:gd name="adj" fmla="val 6210"/>
            </a:avLst>
          </a:prstGeom>
          <a:ln>
            <a:noFill/>
          </a:ln>
          <a:effectLst/>
          <a:scene3d>
            <a:camera prst="orthographicFront"/>
            <a:lightRig rig="contrasting" dir="t">
              <a:rot lat="0" lon="0" rev="4200000"/>
            </a:lightRig>
          </a:scene3d>
          <a:sp3d prstMaterial="plastic">
            <a:contourClr>
              <a:srgbClr val="969696"/>
            </a:contourClr>
          </a:sp3d>
        </p:spPr>
      </p:pic>
    </p:spTree>
    <p:extLst>
      <p:ext uri="{BB962C8B-B14F-4D97-AF65-F5344CB8AC3E}">
        <p14:creationId xmlns:p14="http://schemas.microsoft.com/office/powerpoint/2010/main" val="3674546489"/>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Afgeronde rechthoek 35">
            <a:extLst>
              <a:ext uri="{FF2B5EF4-FFF2-40B4-BE49-F238E27FC236}">
                <a16:creationId xmlns:a16="http://schemas.microsoft.com/office/drawing/2014/main" id="{3D8E76DA-0975-F503-7E77-7770DB8CEC3D}"/>
              </a:ext>
            </a:extLst>
          </p:cNvPr>
          <p:cNvSpPr/>
          <p:nvPr/>
        </p:nvSpPr>
        <p:spPr>
          <a:xfrm>
            <a:off x="741103" y="5219367"/>
            <a:ext cx="10728086" cy="914354"/>
          </a:xfrm>
          <a:prstGeom prst="roundRect">
            <a:avLst>
              <a:gd name="adj" fmla="val 20791"/>
            </a:avLst>
          </a:prstGeom>
          <a:solidFill>
            <a:srgbClr val="FFFFFF"/>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dirty="0">
                <a:solidFill>
                  <a:srgbClr val="FFA726"/>
                </a:solidFill>
                <a:latin typeface="Roboto" panose="02000000000000000000" pitchFamily="2" charset="0"/>
                <a:ea typeface="Roboto" panose="02000000000000000000" pitchFamily="2" charset="0"/>
                <a:cs typeface="Open Sans" panose="020B0606030504020204" pitchFamily="34" charset="0"/>
              </a:rPr>
              <a:t>Our 2030 </a:t>
            </a:r>
            <a:r>
              <a:rPr lang="en-US" sz="2200" dirty="0">
                <a:solidFill>
                  <a:srgbClr val="FFA726"/>
                </a:solidFill>
                <a:latin typeface="Raleway" pitchFamily="2" charset="77"/>
                <a:ea typeface="Roboto" panose="02000000000000000000" pitchFamily="2" charset="0"/>
                <a:cs typeface="Open Sans" panose="020B0606030504020204" pitchFamily="34" charset="0"/>
              </a:rPr>
              <a:t>Ambition</a:t>
            </a:r>
            <a:r>
              <a:rPr lang="en-US" sz="2200" dirty="0">
                <a:solidFill>
                  <a:srgbClr val="FFA726"/>
                </a:solidFill>
                <a:latin typeface="Roboto" panose="02000000000000000000" pitchFamily="2" charset="0"/>
                <a:ea typeface="Roboto" panose="02000000000000000000" pitchFamily="2" charset="0"/>
                <a:cs typeface="Open Sans" panose="020B0606030504020204" pitchFamily="34" charset="0"/>
              </a:rPr>
              <a:t>: </a:t>
            </a:r>
            <a:r>
              <a:rPr lang="en-US" dirty="0">
                <a:solidFill>
                  <a:srgbClr val="FFA726"/>
                </a:solidFill>
                <a:latin typeface="Roboto" panose="02000000000000000000" pitchFamily="2" charset="0"/>
                <a:ea typeface="Roboto" panose="02000000000000000000" pitchFamily="2" charset="0"/>
                <a:cs typeface="Open Sans" panose="020B0606030504020204" pitchFamily="34" charset="0"/>
              </a:rPr>
              <a:t>Positive Water Impact in 100 Priority Basins</a:t>
            </a:r>
            <a:endParaRPr lang="en-GB" dirty="0">
              <a:solidFill>
                <a:srgbClr val="FFA726"/>
              </a:solidFill>
              <a:latin typeface="Roboto" panose="02000000000000000000" pitchFamily="2" charset="0"/>
              <a:ea typeface="Roboto" panose="02000000000000000000" pitchFamily="2" charset="0"/>
              <a:cs typeface="Open Sans" panose="020B0606030504020204" pitchFamily="34" charset="0"/>
            </a:endParaRPr>
          </a:p>
        </p:txBody>
      </p:sp>
      <p:sp>
        <p:nvSpPr>
          <p:cNvPr id="37" name="Text Placeholder 13">
            <a:extLst>
              <a:ext uri="{FF2B5EF4-FFF2-40B4-BE49-F238E27FC236}">
                <a16:creationId xmlns:a16="http://schemas.microsoft.com/office/drawing/2014/main" id="{592BB936-D3D4-DB63-1635-DC14D187B659}"/>
              </a:ext>
            </a:extLst>
          </p:cNvPr>
          <p:cNvSpPr txBox="1">
            <a:spLocks/>
          </p:cNvSpPr>
          <p:nvPr/>
        </p:nvSpPr>
        <p:spPr>
          <a:xfrm>
            <a:off x="630132" y="1646237"/>
            <a:ext cx="3904100" cy="242561"/>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 COLLECTIVE CHALLENGE</a:t>
            </a:r>
          </a:p>
        </p:txBody>
      </p:sp>
      <p:cxnSp>
        <p:nvCxnSpPr>
          <p:cNvPr id="38" name="Rechte verbindingslijn 37">
            <a:extLst>
              <a:ext uri="{FF2B5EF4-FFF2-40B4-BE49-F238E27FC236}">
                <a16:creationId xmlns:a16="http://schemas.microsoft.com/office/drawing/2014/main" id="{1ABA0B9A-6FDE-CF15-DDBB-767667355A43}"/>
              </a:ext>
            </a:extLst>
          </p:cNvPr>
          <p:cNvCxnSpPr>
            <a:cxnSpLocks/>
          </p:cNvCxnSpPr>
          <p:nvPr/>
        </p:nvCxnSpPr>
        <p:spPr>
          <a:xfrm>
            <a:off x="836104" y="1933125"/>
            <a:ext cx="3717686"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39" name="Text Placeholder 13">
            <a:extLst>
              <a:ext uri="{FF2B5EF4-FFF2-40B4-BE49-F238E27FC236}">
                <a16:creationId xmlns:a16="http://schemas.microsoft.com/office/drawing/2014/main" id="{D3ABD009-05B6-4646-02EC-D1232420E453}"/>
              </a:ext>
            </a:extLst>
          </p:cNvPr>
          <p:cNvSpPr txBox="1">
            <a:spLocks/>
          </p:cNvSpPr>
          <p:nvPr/>
        </p:nvSpPr>
        <p:spPr>
          <a:xfrm>
            <a:off x="4679198" y="1646238"/>
            <a:ext cx="2833601" cy="242560"/>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 SHARED GOAL</a:t>
            </a:r>
          </a:p>
          <a:p>
            <a:endPar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0" name="Rechte verbindingslijn 39">
            <a:extLst>
              <a:ext uri="{FF2B5EF4-FFF2-40B4-BE49-F238E27FC236}">
                <a16:creationId xmlns:a16="http://schemas.microsoft.com/office/drawing/2014/main" id="{944CEB63-992D-17B8-7875-E0F4E17BB25B}"/>
              </a:ext>
            </a:extLst>
          </p:cNvPr>
          <p:cNvCxnSpPr>
            <a:cxnSpLocks/>
          </p:cNvCxnSpPr>
          <p:nvPr/>
        </p:nvCxnSpPr>
        <p:spPr>
          <a:xfrm>
            <a:off x="4805363" y="1933125"/>
            <a:ext cx="2579687"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41" name="Text Placeholder 13">
            <a:extLst>
              <a:ext uri="{FF2B5EF4-FFF2-40B4-BE49-F238E27FC236}">
                <a16:creationId xmlns:a16="http://schemas.microsoft.com/office/drawing/2014/main" id="{106D3BD5-2BC8-33B6-8E6D-9951D6AD8568}"/>
              </a:ext>
            </a:extLst>
          </p:cNvPr>
          <p:cNvSpPr txBox="1">
            <a:spLocks/>
          </p:cNvSpPr>
          <p:nvPr/>
        </p:nvSpPr>
        <p:spPr>
          <a:xfrm>
            <a:off x="7635800" y="1646238"/>
            <a:ext cx="3926065" cy="242564"/>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 JOINT OPPORTUNITY</a:t>
            </a:r>
          </a:p>
          <a:p>
            <a:endParaRPr lang="en-US" sz="1000" dirty="0">
              <a:latin typeface="Open Sans" panose="020B0606030504020204" pitchFamily="34" charset="0"/>
              <a:ea typeface="Open Sans" panose="020B0606030504020204" pitchFamily="34" charset="0"/>
              <a:cs typeface="Open Sans" panose="020B0606030504020204" pitchFamily="34" charset="0"/>
            </a:endParaRPr>
          </a:p>
          <a:p>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42" name="Rechte verbindingslijn 41">
            <a:extLst>
              <a:ext uri="{FF2B5EF4-FFF2-40B4-BE49-F238E27FC236}">
                <a16:creationId xmlns:a16="http://schemas.microsoft.com/office/drawing/2014/main" id="{FF2FB451-CFB2-EE9A-BF40-4093E3280E50}"/>
              </a:ext>
            </a:extLst>
          </p:cNvPr>
          <p:cNvCxnSpPr>
            <a:cxnSpLocks/>
          </p:cNvCxnSpPr>
          <p:nvPr/>
        </p:nvCxnSpPr>
        <p:spPr>
          <a:xfrm>
            <a:off x="7635800" y="1933125"/>
            <a:ext cx="3833389"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45" name="TextBox 37">
            <a:extLst>
              <a:ext uri="{FF2B5EF4-FFF2-40B4-BE49-F238E27FC236}">
                <a16:creationId xmlns:a16="http://schemas.microsoft.com/office/drawing/2014/main" id="{35616458-D00D-D42C-D6DF-D417E6B56722}"/>
              </a:ext>
            </a:extLst>
          </p:cNvPr>
          <p:cNvSpPr txBox="1"/>
          <p:nvPr/>
        </p:nvSpPr>
        <p:spPr>
          <a:xfrm>
            <a:off x="7529514" y="2077161"/>
            <a:ext cx="3941762" cy="2987038"/>
          </a:xfrm>
          <a:prstGeom prst="roundRect">
            <a:avLst>
              <a:gd name="adj" fmla="val 6897"/>
            </a:avLst>
          </a:prstGeom>
          <a:solidFill>
            <a:srgbClr val="004D7A"/>
          </a:solidFill>
        </p:spPr>
        <p:txBody>
          <a:bodyPr wrap="square" lIns="216000" tIns="360000" rIns="216000" bIns="108000" numCol="1" spcCol="108000" rtlCol="0" anchor="t" anchorCtr="0">
            <a:noAutofit/>
          </a:bodyPr>
          <a:lstStyle/>
          <a:p>
            <a:pPr>
              <a:spcBef>
                <a:spcPts val="600"/>
              </a:spcBef>
              <a:spcAft>
                <a:spcPts val="600"/>
              </a:spcAft>
              <a:buClr>
                <a:srgbClr val="E4A039"/>
              </a:buClr>
              <a:buSzPct val="100000"/>
              <a:defRPr/>
            </a:pPr>
            <a:r>
              <a:rPr kumimoji="0" lang="en-US" sz="2200" u="none" strike="noStrike" kern="1200" cap="none" spc="0" normalizeH="0" baseline="0" noProof="0" dirty="0">
                <a:ln>
                  <a:noFill/>
                </a:ln>
                <a:solidFill>
                  <a:srgbClr val="E3F5FF"/>
                </a:solidFill>
                <a:effectLst/>
                <a:uLnTx/>
                <a:uFillTx/>
                <a:latin typeface="Raleway" pitchFamily="2" charset="77"/>
                <a:ea typeface="Roboto Medium" panose="02000000000000000000" pitchFamily="2" charset="0"/>
              </a:rPr>
              <a:t>The Global Water Investment Facility</a:t>
            </a:r>
            <a:br>
              <a:rPr lang="en-US" sz="2200" dirty="0">
                <a:solidFill>
                  <a:srgbClr val="E3F5FF"/>
                </a:solidFill>
                <a:latin typeface="Roboto Medium" panose="02000000000000000000" pitchFamily="2" charset="0"/>
                <a:ea typeface="Roboto Medium" panose="02000000000000000000" pitchFamily="2" charset="0"/>
              </a:rPr>
            </a:br>
            <a:endParaRPr lang="en-US" sz="1400" dirty="0">
              <a:solidFill>
                <a:srgbClr val="E3F5FF"/>
              </a:solidFill>
              <a:latin typeface="Roboto Medium" panose="02000000000000000000" pitchFamily="2" charset="0"/>
              <a:ea typeface="Roboto Medium" panose="02000000000000000000" pitchFamily="2" charset="0"/>
            </a:endParaRP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Scalable solution</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Unlocking economic value</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Impact results</a:t>
            </a:r>
          </a:p>
        </p:txBody>
      </p:sp>
      <p:sp>
        <p:nvSpPr>
          <p:cNvPr id="46" name="TextBox 37">
            <a:extLst>
              <a:ext uri="{FF2B5EF4-FFF2-40B4-BE49-F238E27FC236}">
                <a16:creationId xmlns:a16="http://schemas.microsoft.com/office/drawing/2014/main" id="{3C4A1B10-E4DA-220C-93A7-91F8DC6A034C}"/>
              </a:ext>
            </a:extLst>
          </p:cNvPr>
          <p:cNvSpPr txBox="1"/>
          <p:nvPr/>
        </p:nvSpPr>
        <p:spPr>
          <a:xfrm>
            <a:off x="4662487" y="2077160"/>
            <a:ext cx="2867026" cy="2999353"/>
          </a:xfrm>
          <a:prstGeom prst="roundRect">
            <a:avLst>
              <a:gd name="adj" fmla="val 6043"/>
            </a:avLst>
          </a:prstGeom>
          <a:solidFill>
            <a:srgbClr val="B7D6E1"/>
          </a:solidFill>
        </p:spPr>
        <p:txBody>
          <a:bodyPr wrap="square" lIns="360000" tIns="360000" rIns="216000" bIns="108000" numCol="1" spcCol="108000" rtlCol="0" anchor="t" anchorCtr="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endParaRPr kumimoji="0" lang="en-US" sz="1800" u="none" strike="noStrike" kern="1200" cap="none" spc="0" normalizeH="0" baseline="0" noProof="0" dirty="0">
              <a:ln>
                <a:noFill/>
              </a:ln>
              <a:solidFill>
                <a:srgbClr val="00539A"/>
              </a:solidFill>
              <a:effectLst/>
              <a:uLnTx/>
              <a:uFillTx/>
              <a:latin typeface="Roboto" panose="02000000000000000000" pitchFamily="2" charset="0"/>
              <a:ea typeface="Roboto" panose="02000000000000000000" pitchFamily="2" charset="0"/>
              <a:cs typeface="Open Sans" panose="020B0606030504020204" pitchFamily="34" charset="0"/>
            </a:endParaRPr>
          </a:p>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endParaRPr kumimoji="0" lang="en-US" sz="100" u="none" strike="noStrike" kern="1200" cap="none" spc="0" normalizeH="0" baseline="0" noProof="0" dirty="0">
              <a:ln>
                <a:noFill/>
              </a:ln>
              <a:solidFill>
                <a:srgbClr val="00539A"/>
              </a:solidFill>
              <a:effectLst/>
              <a:uLnTx/>
              <a:uFillTx/>
              <a:latin typeface="Roboto" panose="02000000000000000000" pitchFamily="2" charset="0"/>
              <a:ea typeface="Roboto" panose="02000000000000000000" pitchFamily="2" charset="0"/>
              <a:cs typeface="Open Sans" panose="020B0606030504020204" pitchFamily="34" charset="0"/>
            </a:endParaRPr>
          </a:p>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br>
              <a:rPr kumimoji="0" lang="en-US" sz="1800" u="none" strike="noStrike" kern="1200" cap="none" spc="0" normalizeH="0" baseline="0" noProof="0" dirty="0">
                <a:ln>
                  <a:noFill/>
                </a:ln>
                <a:solidFill>
                  <a:srgbClr val="00539A"/>
                </a:solidFill>
                <a:effectLst/>
                <a:uLnTx/>
                <a:uFillTx/>
                <a:latin typeface="Raleway" pitchFamily="2" charset="77"/>
                <a:ea typeface="Roboto" panose="02000000000000000000" pitchFamily="2" charset="0"/>
                <a:cs typeface="Open Sans" panose="020B0606030504020204" pitchFamily="34" charset="0"/>
              </a:rPr>
            </a:br>
            <a:r>
              <a:rPr kumimoji="0" lang="en-US" sz="2200" u="none" strike="noStrike" kern="1200" cap="none" spc="0" normalizeH="0" baseline="0" noProof="0" dirty="0">
                <a:ln>
                  <a:noFill/>
                </a:ln>
                <a:solidFill>
                  <a:srgbClr val="00539A"/>
                </a:solidFill>
                <a:effectLst/>
                <a:uLnTx/>
                <a:uFillTx/>
                <a:latin typeface="Raleway" pitchFamily="2" charset="77"/>
                <a:ea typeface="Roboto Medium" panose="02000000000000000000" pitchFamily="2" charset="0"/>
                <a:cs typeface="Open Sans" panose="020B0606030504020204" pitchFamily="34" charset="0"/>
              </a:rPr>
              <a:t>Invest $2B </a:t>
            </a:r>
            <a:br>
              <a:rPr kumimoji="0" lang="en-US" sz="1800" u="none" strike="noStrike" kern="1200" cap="none" spc="0" normalizeH="0" baseline="0" noProof="0" dirty="0">
                <a:ln>
                  <a:noFill/>
                </a:ln>
                <a:solidFill>
                  <a:srgbClr val="00539A"/>
                </a:solidFill>
                <a:effectLst/>
                <a:uLnTx/>
                <a:uFillTx/>
                <a:latin typeface="Roboto" panose="02000000000000000000" pitchFamily="2" charset="0"/>
                <a:ea typeface="Roboto" panose="02000000000000000000" pitchFamily="2" charset="0"/>
                <a:cs typeface="Open Sans" panose="020B0606030504020204" pitchFamily="34" charset="0"/>
              </a:rPr>
            </a:br>
            <a:r>
              <a:rPr kumimoji="0" lang="en-US" sz="1400" u="none" strike="noStrike" kern="1200" cap="none" spc="0" normalizeH="0" baseline="0" noProof="0" dirty="0">
                <a:ln>
                  <a:noFill/>
                </a:ln>
                <a:solidFill>
                  <a:srgbClr val="00539A"/>
                </a:solidFill>
                <a:effectLst/>
                <a:uLnTx/>
                <a:uFillTx/>
                <a:latin typeface="Open Sans" panose="020B0606030504020204" pitchFamily="34" charset="0"/>
                <a:ea typeface="Open Sans" panose="020B0606030504020204" pitchFamily="34" charset="0"/>
                <a:cs typeface="Open Sans" panose="020B0606030504020204" pitchFamily="34" charset="0"/>
              </a:rPr>
              <a:t>in WASH, reaching 100 million people by 2027 and 300 million people by 2030.</a:t>
            </a:r>
            <a:endParaRPr kumimoji="0" lang="en-GB" sz="1400" u="none" strike="noStrike" kern="1200" cap="none" spc="0" normalizeH="0" baseline="0" noProof="0" dirty="0">
              <a:ln>
                <a:noFill/>
              </a:ln>
              <a:solidFill>
                <a:srgbClr val="00539A"/>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47" name="TextBox 37">
            <a:extLst>
              <a:ext uri="{FF2B5EF4-FFF2-40B4-BE49-F238E27FC236}">
                <a16:creationId xmlns:a16="http://schemas.microsoft.com/office/drawing/2014/main" id="{7ACEF8F4-48BC-1699-38C8-B6868FB12DAF}"/>
              </a:ext>
            </a:extLst>
          </p:cNvPr>
          <p:cNvSpPr txBox="1"/>
          <p:nvPr/>
        </p:nvSpPr>
        <p:spPr>
          <a:xfrm>
            <a:off x="719138" y="2077161"/>
            <a:ext cx="3941762" cy="2987038"/>
          </a:xfrm>
          <a:prstGeom prst="roundRect">
            <a:avLst>
              <a:gd name="adj" fmla="val 5950"/>
            </a:avLst>
          </a:prstGeom>
          <a:solidFill>
            <a:srgbClr val="004D7A"/>
          </a:solidFill>
        </p:spPr>
        <p:txBody>
          <a:bodyPr wrap="square" lIns="360000" tIns="360000" rIns="216000" bIns="108000" numCol="1" spcCol="108000" rtlCol="0" anchor="t"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200" u="none" strike="noStrike" kern="1200" cap="none" spc="0" normalizeH="0" baseline="0" noProof="0" dirty="0">
                <a:ln>
                  <a:noFill/>
                </a:ln>
                <a:solidFill>
                  <a:srgbClr val="E3F5FF"/>
                </a:solidFill>
                <a:effectLst/>
                <a:uLnTx/>
                <a:uFillTx/>
                <a:latin typeface="Raleway" pitchFamily="2" charset="77"/>
                <a:ea typeface="Roboto Medium" panose="02000000000000000000" pitchFamily="2" charset="0"/>
                <a:cs typeface="Archivo" pitchFamily="2" charset="77"/>
              </a:rPr>
              <a:t>The Global Water Financing Challenge</a:t>
            </a:r>
            <a:endParaRPr lang="en-US" sz="2200" dirty="0">
              <a:solidFill>
                <a:srgbClr val="E3F5FF"/>
              </a:solidFill>
              <a:latin typeface="Raleway" pitchFamily="2" charset="77"/>
              <a:ea typeface="Roboto Medium" panose="02000000000000000000" pitchFamily="2" charset="0"/>
              <a:cs typeface="Archivo" pitchFamily="2" charset="77"/>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200" u="none" strike="noStrike" kern="1200" cap="none" spc="0" normalizeH="0" baseline="0" noProof="0" dirty="0">
              <a:ln>
                <a:noFill/>
              </a:ln>
              <a:solidFill>
                <a:srgbClr val="E3F5FF"/>
              </a:solidFill>
              <a:effectLst/>
              <a:uLnTx/>
              <a:uFillTx/>
              <a:latin typeface="Roboto Medium" panose="02000000000000000000" pitchFamily="2" charset="0"/>
              <a:ea typeface="Roboto Medium" panose="02000000000000000000" pitchFamily="2" charset="0"/>
            </a:endParaRPr>
          </a:p>
          <a:p>
            <a:pPr marL="285750" marR="0" lvl="0" indent="-285750" defTabSz="914400" rtl="0" eaLnBrk="1" fontAlgn="auto" latinLnBrk="0" hangingPunct="1">
              <a:lnSpc>
                <a:spcPct val="10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Global funding gap</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Limited private investments</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Cost of inaction</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E3F5FF"/>
              </a:solidFill>
              <a:effectLst/>
              <a:uLnTx/>
              <a:uFillTx/>
              <a:latin typeface="Open Sans"/>
              <a:ea typeface="+mn-ea"/>
              <a:cs typeface="+mn-cs"/>
            </a:endParaRPr>
          </a:p>
        </p:txBody>
      </p:sp>
      <p:pic>
        <p:nvPicPr>
          <p:cNvPr id="11" name="Graphic 10">
            <a:extLst>
              <a:ext uri="{FF2B5EF4-FFF2-40B4-BE49-F238E27FC236}">
                <a16:creationId xmlns:a16="http://schemas.microsoft.com/office/drawing/2014/main" id="{8A75DC6B-A2B1-6B12-12AE-9B1AB1CFD9D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18412" y="2427403"/>
            <a:ext cx="836451" cy="836451"/>
          </a:xfrm>
          <a:prstGeom prst="rect">
            <a:avLst/>
          </a:prstGeom>
        </p:spPr>
      </p:pic>
      <p:sp>
        <p:nvSpPr>
          <p:cNvPr id="2" name="Title 1">
            <a:extLst>
              <a:ext uri="{FF2B5EF4-FFF2-40B4-BE49-F238E27FC236}">
                <a16:creationId xmlns:a16="http://schemas.microsoft.com/office/drawing/2014/main" id="{6B5740D5-58B9-CF2C-FF07-7C2CB9F33BE7}"/>
              </a:ext>
            </a:extLst>
          </p:cNvPr>
          <p:cNvSpPr txBox="1">
            <a:spLocks/>
          </p:cNvSpPr>
          <p:nvPr/>
        </p:nvSpPr>
        <p:spPr>
          <a:xfrm>
            <a:off x="631893" y="921824"/>
            <a:ext cx="8472350"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Vision</a:t>
            </a:r>
          </a:p>
        </p:txBody>
      </p:sp>
      <p:sp>
        <p:nvSpPr>
          <p:cNvPr id="9" name="Tijdelijke aanduiding voor tekst 3">
            <a:extLst>
              <a:ext uri="{FF2B5EF4-FFF2-40B4-BE49-F238E27FC236}">
                <a16:creationId xmlns:a16="http://schemas.microsoft.com/office/drawing/2014/main" id="{D025BC1B-67A1-2139-9270-C1ABA9857A5D}"/>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0" name="Tijdelijke aanduiding voor tekst 3">
            <a:extLst>
              <a:ext uri="{FF2B5EF4-FFF2-40B4-BE49-F238E27FC236}">
                <a16:creationId xmlns:a16="http://schemas.microsoft.com/office/drawing/2014/main" id="{EF1969D1-3F88-D137-8136-DA7E3CDB78E2}"/>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25BF76D-2535-E1B0-20FA-882E57D628B1}"/>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E8BF4964-90AD-EFA4-C11B-58F123CEA4E9}"/>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1134F6C8-59CB-7D65-1018-3D6012D2C555}"/>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8EB8C072-7121-F4F7-60E2-48D03BEDDC1D}"/>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6F4D292F-2879-7ECA-E63B-2B58458A1142}"/>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15937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7" name="Text Placeholder 13">
            <a:extLst>
              <a:ext uri="{FF2B5EF4-FFF2-40B4-BE49-F238E27FC236}">
                <a16:creationId xmlns:a16="http://schemas.microsoft.com/office/drawing/2014/main" id="{0D291C60-BB0D-8135-02C9-627044D17B68}"/>
              </a:ext>
            </a:extLst>
          </p:cNvPr>
          <p:cNvSpPr txBox="1">
            <a:spLocks/>
          </p:cNvSpPr>
          <p:nvPr/>
        </p:nvSpPr>
        <p:spPr>
          <a:xfrm>
            <a:off x="606381" y="1435343"/>
            <a:ext cx="3369445" cy="209343"/>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 COLLECTIVE CHALLENGE</a:t>
            </a:r>
          </a:p>
        </p:txBody>
      </p:sp>
      <p:cxnSp>
        <p:nvCxnSpPr>
          <p:cNvPr id="18" name="Rechte verbindingslijn 17">
            <a:extLst>
              <a:ext uri="{FF2B5EF4-FFF2-40B4-BE49-F238E27FC236}">
                <a16:creationId xmlns:a16="http://schemas.microsoft.com/office/drawing/2014/main" id="{99802A8D-DA90-DE2A-2CC5-AF00DDDF6767}"/>
              </a:ext>
            </a:extLst>
          </p:cNvPr>
          <p:cNvCxnSpPr>
            <a:cxnSpLocks/>
          </p:cNvCxnSpPr>
          <p:nvPr/>
        </p:nvCxnSpPr>
        <p:spPr>
          <a:xfrm>
            <a:off x="669852" y="1722231"/>
            <a:ext cx="3258474"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20" name="Text Placeholder 13">
            <a:extLst>
              <a:ext uri="{FF2B5EF4-FFF2-40B4-BE49-F238E27FC236}">
                <a16:creationId xmlns:a16="http://schemas.microsoft.com/office/drawing/2014/main" id="{C8115570-D0E8-E307-7D5F-C44CEECDB2FD}"/>
              </a:ext>
            </a:extLst>
          </p:cNvPr>
          <p:cNvSpPr txBox="1">
            <a:spLocks/>
          </p:cNvSpPr>
          <p:nvPr/>
        </p:nvSpPr>
        <p:spPr>
          <a:xfrm>
            <a:off x="4144816" y="1435344"/>
            <a:ext cx="2445546" cy="209342"/>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 SHARED GOAL</a:t>
            </a:r>
          </a:p>
          <a:p>
            <a:endPar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21" name="Rechte verbindingslijn 20">
            <a:extLst>
              <a:ext uri="{FF2B5EF4-FFF2-40B4-BE49-F238E27FC236}">
                <a16:creationId xmlns:a16="http://schemas.microsoft.com/office/drawing/2014/main" id="{BB50991E-1F5B-FE9B-4346-C759D4C33B0B}"/>
              </a:ext>
            </a:extLst>
          </p:cNvPr>
          <p:cNvCxnSpPr>
            <a:cxnSpLocks/>
          </p:cNvCxnSpPr>
          <p:nvPr/>
        </p:nvCxnSpPr>
        <p:spPr>
          <a:xfrm>
            <a:off x="4097316" y="1722232"/>
            <a:ext cx="2445546"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22" name="Text Placeholder 13">
            <a:extLst>
              <a:ext uri="{FF2B5EF4-FFF2-40B4-BE49-F238E27FC236}">
                <a16:creationId xmlns:a16="http://schemas.microsoft.com/office/drawing/2014/main" id="{9980C185-F7AD-1072-C11B-82A7494748F3}"/>
              </a:ext>
            </a:extLst>
          </p:cNvPr>
          <p:cNvSpPr txBox="1">
            <a:spLocks/>
          </p:cNvSpPr>
          <p:nvPr/>
        </p:nvSpPr>
        <p:spPr>
          <a:xfrm>
            <a:off x="6677079" y="1435344"/>
            <a:ext cx="3388393" cy="209345"/>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 JOINT OPPORTUNITY</a:t>
            </a:r>
          </a:p>
          <a:p>
            <a:endParaRPr lang="en-US" sz="1000" dirty="0">
              <a:latin typeface="Open Sans" panose="020B0606030504020204" pitchFamily="34" charset="0"/>
              <a:ea typeface="Open Sans" panose="020B0606030504020204" pitchFamily="34" charset="0"/>
              <a:cs typeface="Open Sans" panose="020B0606030504020204" pitchFamily="34" charset="0"/>
            </a:endParaRPr>
          </a:p>
          <a:p>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23" name="Rechte verbindingslijn 22">
            <a:extLst>
              <a:ext uri="{FF2B5EF4-FFF2-40B4-BE49-F238E27FC236}">
                <a16:creationId xmlns:a16="http://schemas.microsoft.com/office/drawing/2014/main" id="{AB22A3A6-F542-898E-50E4-7A79F289AEB0}"/>
              </a:ext>
            </a:extLst>
          </p:cNvPr>
          <p:cNvCxnSpPr>
            <a:cxnSpLocks/>
          </p:cNvCxnSpPr>
          <p:nvPr/>
        </p:nvCxnSpPr>
        <p:spPr>
          <a:xfrm>
            <a:off x="6782861" y="1722231"/>
            <a:ext cx="3180506"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24" name="TextBox 37">
            <a:extLst>
              <a:ext uri="{FF2B5EF4-FFF2-40B4-BE49-F238E27FC236}">
                <a16:creationId xmlns:a16="http://schemas.microsoft.com/office/drawing/2014/main" id="{7685C0B4-C47F-1A9F-A5D2-829D9979EBAB}"/>
              </a:ext>
            </a:extLst>
          </p:cNvPr>
          <p:cNvSpPr txBox="1"/>
          <p:nvPr/>
        </p:nvSpPr>
        <p:spPr>
          <a:xfrm>
            <a:off x="6689655" y="1797265"/>
            <a:ext cx="3273712" cy="2510333"/>
          </a:xfrm>
          <a:prstGeom prst="roundRect">
            <a:avLst>
              <a:gd name="adj" fmla="val 6697"/>
            </a:avLst>
          </a:prstGeom>
          <a:solidFill>
            <a:srgbClr val="004D7A"/>
          </a:solidFill>
        </p:spPr>
        <p:txBody>
          <a:bodyPr wrap="square" lIns="216000" tIns="360000" rIns="216000" bIns="108000" numCol="1" spcCol="108000" rtlCol="0" anchor="t" anchorCtr="0">
            <a:noAutofit/>
          </a:bodyPr>
          <a:lstStyle/>
          <a:p>
            <a:pPr>
              <a:spcBef>
                <a:spcPts val="600"/>
              </a:spcBef>
              <a:spcAft>
                <a:spcPts val="600"/>
              </a:spcAft>
              <a:buClr>
                <a:srgbClr val="E4A039"/>
              </a:buClr>
              <a:buSzPct val="100000"/>
              <a:defRPr/>
            </a:pPr>
            <a:r>
              <a:rPr kumimoji="0" lang="en-US" sz="2200" b="1" u="none" strike="noStrike" kern="1200" cap="none" spc="0" normalizeH="0" baseline="0" noProof="0" dirty="0">
                <a:ln>
                  <a:noFill/>
                </a:ln>
                <a:solidFill>
                  <a:srgbClr val="E3F5FF"/>
                </a:solidFill>
                <a:effectLst/>
                <a:uLnTx/>
                <a:uFillTx/>
                <a:latin typeface="Raleway" pitchFamily="2" charset="77"/>
                <a:ea typeface="Roboto Medium" panose="02000000000000000000" pitchFamily="2" charset="0"/>
              </a:rPr>
              <a:t>The Global Water Investment Facility</a:t>
            </a:r>
            <a:br>
              <a:rPr lang="en-US" sz="2200" dirty="0">
                <a:solidFill>
                  <a:srgbClr val="E3F5FF"/>
                </a:solidFill>
                <a:latin typeface="Roboto Medium" panose="02000000000000000000" pitchFamily="2" charset="0"/>
                <a:ea typeface="Roboto Medium" panose="02000000000000000000" pitchFamily="2" charset="0"/>
              </a:rPr>
            </a:br>
            <a:endParaRPr lang="en-US" sz="1400" dirty="0">
              <a:solidFill>
                <a:srgbClr val="E3F5FF"/>
              </a:solidFill>
              <a:latin typeface="Roboto" panose="02000000000000000000" pitchFamily="2" charset="0"/>
              <a:ea typeface="Roboto" panose="02000000000000000000" pitchFamily="2" charset="0"/>
            </a:endParaRP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Scalable solution</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Unlocking economic value</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Impact results</a:t>
            </a:r>
          </a:p>
        </p:txBody>
      </p:sp>
      <p:sp>
        <p:nvSpPr>
          <p:cNvPr id="25" name="TextBox 37">
            <a:extLst>
              <a:ext uri="{FF2B5EF4-FFF2-40B4-BE49-F238E27FC236}">
                <a16:creationId xmlns:a16="http://schemas.microsoft.com/office/drawing/2014/main" id="{A21DB2BB-F28A-1924-30B5-EC5F881E017D}"/>
              </a:ext>
            </a:extLst>
          </p:cNvPr>
          <p:cNvSpPr txBox="1"/>
          <p:nvPr/>
        </p:nvSpPr>
        <p:spPr>
          <a:xfrm>
            <a:off x="4014815" y="1797545"/>
            <a:ext cx="2674839" cy="2520682"/>
          </a:xfrm>
          <a:prstGeom prst="roundRect">
            <a:avLst>
              <a:gd name="adj" fmla="val 6358"/>
            </a:avLst>
          </a:prstGeom>
          <a:solidFill>
            <a:srgbClr val="B7D6E1"/>
          </a:solidFill>
        </p:spPr>
        <p:txBody>
          <a:bodyPr wrap="square" lIns="360000" tIns="360000" rIns="216000" bIns="108000" numCol="1" spcCol="108000" rtlCol="0" anchor="t" anchorCtr="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endParaRPr kumimoji="0" lang="en-US" sz="1050" u="none" strike="noStrike" kern="1200" cap="none" spc="0" normalizeH="0" baseline="0" noProof="0" dirty="0">
              <a:ln>
                <a:noFill/>
              </a:ln>
              <a:solidFill>
                <a:srgbClr val="00539A"/>
              </a:solidFill>
              <a:effectLst/>
              <a:uLnTx/>
              <a:uFillTx/>
              <a:latin typeface="Roboto" panose="02000000000000000000" pitchFamily="2" charset="0"/>
              <a:ea typeface="Roboto" panose="02000000000000000000" pitchFamily="2" charset="0"/>
              <a:cs typeface="Open Sans" panose="020B0606030504020204" pitchFamily="34" charset="0"/>
            </a:endParaRPr>
          </a:p>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br>
              <a:rPr kumimoji="0" lang="en-US" sz="1800" u="none" strike="noStrike" kern="1200" cap="none" spc="0" normalizeH="0" baseline="0" noProof="0" dirty="0">
                <a:ln>
                  <a:noFill/>
                </a:ln>
                <a:solidFill>
                  <a:srgbClr val="00539A"/>
                </a:solidFill>
                <a:effectLst/>
                <a:uLnTx/>
                <a:uFillTx/>
                <a:latin typeface="Roboto" panose="02000000000000000000" pitchFamily="2" charset="0"/>
                <a:ea typeface="Roboto" panose="02000000000000000000" pitchFamily="2" charset="0"/>
                <a:cs typeface="Open Sans" panose="020B0606030504020204" pitchFamily="34" charset="0"/>
              </a:rPr>
            </a:br>
            <a:r>
              <a:rPr kumimoji="0" lang="en-US" sz="2200" b="1" u="none" strike="noStrike" kern="1200" cap="none" spc="0" normalizeH="0" baseline="0" noProof="0" dirty="0">
                <a:ln>
                  <a:noFill/>
                </a:ln>
                <a:solidFill>
                  <a:srgbClr val="00539A"/>
                </a:solidFill>
                <a:effectLst/>
                <a:uLnTx/>
                <a:uFillTx/>
                <a:latin typeface="Raleway" pitchFamily="2" charset="77"/>
                <a:ea typeface="Roboto Medium" panose="02000000000000000000" pitchFamily="2" charset="0"/>
                <a:cs typeface="Open Sans" panose="020B0606030504020204" pitchFamily="34" charset="0"/>
              </a:rPr>
              <a:t>Invest $2B </a:t>
            </a:r>
            <a:br>
              <a:rPr kumimoji="0" lang="en-US" sz="1800" u="none" strike="noStrike" kern="1200" cap="none" spc="0" normalizeH="0" baseline="0" noProof="0" dirty="0">
                <a:ln>
                  <a:noFill/>
                </a:ln>
                <a:solidFill>
                  <a:srgbClr val="00539A"/>
                </a:solidFill>
                <a:effectLst/>
                <a:uLnTx/>
                <a:uFillTx/>
                <a:latin typeface="Roboto" panose="02000000000000000000" pitchFamily="2" charset="0"/>
                <a:ea typeface="Roboto" panose="02000000000000000000" pitchFamily="2" charset="0"/>
                <a:cs typeface="Open Sans" panose="020B0606030504020204" pitchFamily="34" charset="0"/>
              </a:rPr>
            </a:br>
            <a:r>
              <a:rPr kumimoji="0" lang="en-US" sz="1400" u="none" strike="noStrike" kern="1200" cap="none" spc="0" normalizeH="0" baseline="0" noProof="0" dirty="0">
                <a:ln>
                  <a:noFill/>
                </a:ln>
                <a:solidFill>
                  <a:srgbClr val="00539A"/>
                </a:solidFill>
                <a:effectLst/>
                <a:uLnTx/>
                <a:uFillTx/>
                <a:latin typeface="Open Sans" panose="020B0606030504020204" pitchFamily="34" charset="0"/>
                <a:ea typeface="Open Sans" panose="020B0606030504020204" pitchFamily="34" charset="0"/>
                <a:cs typeface="Open Sans" panose="020B0606030504020204" pitchFamily="34" charset="0"/>
              </a:rPr>
              <a:t>in WASH, reaching 100 million people by 2027 and  300 million people by 2030.</a:t>
            </a:r>
            <a:endParaRPr kumimoji="0" lang="en-GB" sz="1400" u="none" strike="noStrike" kern="1200" cap="none" spc="0" normalizeH="0" baseline="0" noProof="0" dirty="0">
              <a:ln>
                <a:noFill/>
              </a:ln>
              <a:solidFill>
                <a:srgbClr val="00539A"/>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6" name="TextBox 37">
            <a:extLst>
              <a:ext uri="{FF2B5EF4-FFF2-40B4-BE49-F238E27FC236}">
                <a16:creationId xmlns:a16="http://schemas.microsoft.com/office/drawing/2014/main" id="{9F7B7125-5BE2-2B63-AE12-0D065F7BCB1A}"/>
              </a:ext>
            </a:extLst>
          </p:cNvPr>
          <p:cNvSpPr txBox="1"/>
          <p:nvPr/>
        </p:nvSpPr>
        <p:spPr>
          <a:xfrm>
            <a:off x="741103" y="1797265"/>
            <a:ext cx="3273712" cy="2510333"/>
          </a:xfrm>
          <a:prstGeom prst="roundRect">
            <a:avLst>
              <a:gd name="adj" fmla="val 6697"/>
            </a:avLst>
          </a:prstGeom>
          <a:solidFill>
            <a:srgbClr val="004D7A"/>
          </a:solidFill>
        </p:spPr>
        <p:txBody>
          <a:bodyPr wrap="square" lIns="360000" tIns="360000" rIns="216000" bIns="108000" numCol="1" spcCol="108000" rtlCol="0" anchor="t"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3F5FF"/>
                </a:solidFill>
                <a:effectLst/>
                <a:uLnTx/>
                <a:uFillTx/>
                <a:latin typeface="Raleway" pitchFamily="2" charset="77"/>
                <a:ea typeface="Roboto Medium" panose="02000000000000000000" pitchFamily="2" charset="0"/>
                <a:cs typeface="Archivo" pitchFamily="2" charset="77"/>
              </a:rPr>
              <a:t>The Global Water Financing Challenge</a:t>
            </a:r>
            <a:endParaRPr lang="en-US" sz="2000" b="1" dirty="0">
              <a:solidFill>
                <a:srgbClr val="E3F5FF"/>
              </a:solidFill>
              <a:latin typeface="Raleway" pitchFamily="2" charset="77"/>
              <a:ea typeface="Roboto Medium" panose="02000000000000000000" pitchFamily="2" charset="0"/>
              <a:cs typeface="Archivo" pitchFamily="2" charset="77"/>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2200" u="none" strike="noStrike" kern="1200" cap="none" spc="0" normalizeH="0" baseline="0" noProof="0" dirty="0">
              <a:ln>
                <a:noFill/>
              </a:ln>
              <a:solidFill>
                <a:srgbClr val="E3F5FF"/>
              </a:solidFill>
              <a:effectLst/>
              <a:uLnTx/>
              <a:uFillTx/>
              <a:latin typeface="Roboto Medium" panose="02000000000000000000" pitchFamily="2" charset="0"/>
              <a:ea typeface="Roboto Medium" panose="02000000000000000000" pitchFamily="2" charset="0"/>
            </a:endParaRPr>
          </a:p>
          <a:p>
            <a:pPr marL="285750" marR="0" lvl="0" indent="-285750" defTabSz="914400" rtl="0" eaLnBrk="1" fontAlgn="auto" latinLnBrk="0" hangingPunct="1">
              <a:lnSpc>
                <a:spcPct val="10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Global funding gap</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Limited private investments</a:t>
            </a:r>
          </a:p>
          <a:p>
            <a:pPr marL="285750" marR="0" lvl="0" indent="-285750" defTabSz="914400" rtl="0" eaLnBrk="1" fontAlgn="auto" latinLnBrk="0" hangingPunct="1">
              <a:lnSpc>
                <a:spcPct val="150000"/>
              </a:lnSpc>
              <a:spcBef>
                <a:spcPts val="0"/>
              </a:spcBef>
              <a:spcAft>
                <a:spcPts val="0"/>
              </a:spcAft>
              <a:buClr>
                <a:srgbClr val="FFA726"/>
              </a:buClr>
              <a:buSzTx/>
              <a:buFont typeface="Arial" panose="020B0604020202020204" pitchFamily="34" charset="0"/>
              <a:buChar char="•"/>
              <a:tabLst/>
              <a:defRPr/>
            </a:pPr>
            <a:r>
              <a:rPr kumimoji="0" lang="en-US" sz="1400" u="none" strike="noStrike" kern="1200" cap="none" spc="0" normalizeH="0" baseline="0" noProof="0" dirty="0">
                <a:ln>
                  <a:noFill/>
                </a:ln>
                <a:solidFill>
                  <a:srgbClr val="E3F5FF"/>
                </a:solidFill>
                <a:effectLst/>
                <a:uLnTx/>
                <a:uFillTx/>
                <a:latin typeface="Open Sans" panose="020B0606030504020204" pitchFamily="34" charset="0"/>
                <a:ea typeface="Open Sans" panose="020B0606030504020204" pitchFamily="34" charset="0"/>
                <a:cs typeface="Open Sans" panose="020B0606030504020204" pitchFamily="34" charset="0"/>
              </a:rPr>
              <a:t>Cost of inaction</a:t>
            </a: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E3F5FF"/>
              </a:solidFill>
              <a:effectLst/>
              <a:uLnTx/>
              <a:uFillTx/>
              <a:latin typeface="Open Sans"/>
              <a:ea typeface="+mn-ea"/>
              <a:cs typeface="+mn-cs"/>
            </a:endParaRPr>
          </a:p>
        </p:txBody>
      </p:sp>
      <p:pic>
        <p:nvPicPr>
          <p:cNvPr id="27" name="Graphic 26">
            <a:extLst>
              <a:ext uri="{FF2B5EF4-FFF2-40B4-BE49-F238E27FC236}">
                <a16:creationId xmlns:a16="http://schemas.microsoft.com/office/drawing/2014/main" id="{489A9BA9-F9E6-AE53-2711-FF1A0CE011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05637" y="1976068"/>
            <a:ext cx="723904" cy="723904"/>
          </a:xfrm>
          <a:prstGeom prst="rect">
            <a:avLst/>
          </a:prstGeom>
        </p:spPr>
      </p:pic>
      <p:sp>
        <p:nvSpPr>
          <p:cNvPr id="63" name="TextBox 37">
            <a:extLst>
              <a:ext uri="{FF2B5EF4-FFF2-40B4-BE49-F238E27FC236}">
                <a16:creationId xmlns:a16="http://schemas.microsoft.com/office/drawing/2014/main" id="{3E6E052E-D909-CA6A-708F-A3AD42AC96AD}"/>
              </a:ext>
            </a:extLst>
          </p:cNvPr>
          <p:cNvSpPr txBox="1"/>
          <p:nvPr/>
        </p:nvSpPr>
        <p:spPr>
          <a:xfrm>
            <a:off x="10097386" y="1797265"/>
            <a:ext cx="1373889" cy="2510333"/>
          </a:xfrm>
          <a:prstGeom prst="roundRect">
            <a:avLst>
              <a:gd name="adj" fmla="val 13116"/>
            </a:avLst>
          </a:prstGeom>
          <a:solidFill>
            <a:schemeClr val="tx1"/>
          </a:solidFill>
        </p:spPr>
        <p:txBody>
          <a:bodyPr wrap="square" lIns="72000" tIns="468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
                <a:srgbClr val="90CEF1"/>
              </a:buClr>
              <a:buSzPct val="100000"/>
              <a:buFontTx/>
              <a:buNone/>
              <a:tabLst/>
              <a:defRPr/>
            </a:pPr>
            <a:r>
              <a:rPr kumimoji="0" lang="en-US" b="1" u="none" strike="noStrike" kern="1200" cap="none" spc="0" normalizeH="0" baseline="0" noProof="0" dirty="0">
                <a:ln>
                  <a:noFill/>
                </a:ln>
                <a:solidFill>
                  <a:srgbClr val="FFA726"/>
                </a:solidFill>
                <a:effectLst/>
                <a:uLnTx/>
                <a:uFillTx/>
                <a:latin typeface="Raleway" pitchFamily="2" charset="77"/>
                <a:ea typeface="Roboto" panose="02000000000000000000" pitchFamily="2" charset="0"/>
                <a:cs typeface="Open Sans" panose="020B0606030504020204" pitchFamily="34" charset="0"/>
              </a:rPr>
              <a:t>Our 2030 Ambition </a:t>
            </a:r>
          </a:p>
          <a:p>
            <a:pPr marL="0" marR="0" lvl="0" indent="0" algn="ctr" defTabSz="914400" rtl="0" eaLnBrk="1" fontAlgn="auto" latinLnBrk="0" hangingPunct="1">
              <a:lnSpc>
                <a:spcPct val="100000"/>
              </a:lnSpc>
              <a:spcBef>
                <a:spcPts val="0"/>
              </a:spcBef>
              <a:spcAft>
                <a:spcPts val="0"/>
              </a:spcAft>
              <a:buClr>
                <a:srgbClr val="90CEF1"/>
              </a:buClr>
              <a:buSzPct val="100000"/>
              <a:buFontTx/>
              <a:buNone/>
              <a:tabLst/>
              <a:defRPr/>
            </a:pPr>
            <a:endParaRPr kumimoji="0" lang="en-US" sz="2000" u="none" strike="noStrike" kern="1200" cap="none" spc="0" normalizeH="0" baseline="0" noProof="0" dirty="0">
              <a:ln>
                <a:noFill/>
              </a:ln>
              <a:solidFill>
                <a:srgbClr val="FFA726"/>
              </a:solidFill>
              <a:effectLst/>
              <a:uLnTx/>
              <a:uFillTx/>
              <a:latin typeface="Roboto" panose="02000000000000000000" pitchFamily="2" charset="0"/>
              <a:ea typeface="Roboto" panose="02000000000000000000" pitchFamily="2" charset="0"/>
              <a:cs typeface="Open Sans" panose="020B0606030504020204" pitchFamily="34" charset="0"/>
            </a:endParaRPr>
          </a:p>
          <a:p>
            <a:pPr marL="0" marR="0" lvl="0" indent="0" algn="ctr" defTabSz="914400" rtl="0" eaLnBrk="1" fontAlgn="auto" latinLnBrk="0" hangingPunct="1">
              <a:lnSpc>
                <a:spcPct val="100000"/>
              </a:lnSpc>
              <a:spcBef>
                <a:spcPts val="0"/>
              </a:spcBef>
              <a:spcAft>
                <a:spcPts val="0"/>
              </a:spcAft>
              <a:buClr>
                <a:srgbClr val="90CEF1"/>
              </a:buClr>
              <a:buSzPct val="100000"/>
              <a:buFontTx/>
              <a:buNone/>
              <a:tabLst/>
              <a:defRPr/>
            </a:pPr>
            <a:r>
              <a:rPr kumimoji="0" lang="en-US" sz="14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Positive Water Impact in 100 Priority Basins</a:t>
            </a:r>
            <a:endParaRPr kumimoji="0" lang="en-GB" sz="14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64" name="TextBox 37">
            <a:extLst>
              <a:ext uri="{FF2B5EF4-FFF2-40B4-BE49-F238E27FC236}">
                <a16:creationId xmlns:a16="http://schemas.microsoft.com/office/drawing/2014/main" id="{3797C379-7CD8-B59B-0EAA-9C569693D0CF}"/>
              </a:ext>
            </a:extLst>
          </p:cNvPr>
          <p:cNvSpPr txBox="1"/>
          <p:nvPr/>
        </p:nvSpPr>
        <p:spPr>
          <a:xfrm>
            <a:off x="741103" y="4438512"/>
            <a:ext cx="10730172" cy="2077897"/>
          </a:xfrm>
          <a:prstGeom prst="roundRect">
            <a:avLst>
              <a:gd name="adj" fmla="val 6981"/>
            </a:avLst>
          </a:prstGeom>
          <a:solidFill>
            <a:srgbClr val="FFFFFF">
              <a:alpha val="9000"/>
            </a:srgbClr>
          </a:solidFill>
        </p:spPr>
        <p:txBody>
          <a:bodyPr wrap="square" numCol="2" spcCol="216000" rtlCol="0" anchor="t" anchorCtr="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u="none" strike="noStrike" kern="1200" cap="none" spc="0" normalizeH="0" baseline="0" noProof="0" dirty="0">
                <a:ln>
                  <a:noFill/>
                </a:ln>
                <a:solidFill>
                  <a:srgbClr val="FFC000"/>
                </a:solidFill>
                <a:effectLst/>
                <a:uLnTx/>
                <a:uFillTx/>
                <a:latin typeface="Open Sans" panose="020B0606030504020204" pitchFamily="34" charset="0"/>
                <a:ea typeface="Open Sans" panose="020B0606030504020204" pitchFamily="34" charset="0"/>
                <a:cs typeface="Open Sans" panose="020B0606030504020204" pitchFamily="34" charset="0"/>
              </a:rPr>
              <a:t>[</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Name </a:t>
            </a:r>
            <a:r>
              <a:rPr kumimoji="0" lang="en-US" sz="1000" u="none" strike="noStrike" kern="1200" cap="none" spc="0" normalizeH="0" baseline="0" noProof="0" dirty="0" err="1">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Stichting</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in partnership with the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CEO Water Mandate’s Water Resilience Coalition (WRC),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is addressing the global water financing challenge by combining corporate leadership and basin-level priorities with Aqua for All’s expertise in water investments and fund structuring.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The objective of this initiative is to establish a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Global Water Investment Facility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with the ambition to invest corporate capital for positive water impact in the value chains of</a:t>
            </a:r>
            <a:r>
              <a:rPr kumimoji="0" lang="en-US" sz="1000" u="none" strike="noStrike" kern="1200" cap="none" spc="0" normalizeH="0" baseline="0" noProof="0" dirty="0">
                <a:ln>
                  <a:noFill/>
                </a:ln>
                <a:solidFill>
                  <a:srgbClr val="FFC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100+ water-stressed basins,</a:t>
            </a:r>
            <a:r>
              <a:rPr kumimoji="0" lang="en-US" sz="1000" u="none" strike="noStrike" kern="1200" cap="none" spc="0" normalizeH="0" baseline="0" noProof="0" dirty="0">
                <a:ln>
                  <a:noFill/>
                </a:ln>
                <a:solidFill>
                  <a:srgbClr val="FFC000"/>
                </a:solidFill>
                <a:effectLst/>
                <a:uLnTx/>
                <a:uFillTx/>
                <a:latin typeface="Open Sans" panose="020B0606030504020204" pitchFamily="34" charset="0"/>
                <a:ea typeface="Open Sans" panose="020B0606030504020204" pitchFamily="34" charset="0"/>
                <a:cs typeface="Open Sans" panose="020B0606030504020204" pitchFamily="34" charset="0"/>
              </a:rPr>
              <a:t>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reaching 100 million people by 2027 and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300 million people by 2030.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Our global vehicle has a target size of USD 1.5 billion with an expected first close of USD 175 million by Q4 2026.</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The focus of the facility is on the one side to attract corporate investors into the Global Water Investment Facility, deploying its capital into funds that enable private sector projects focused on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water infrastructure, natural capital, financial institutions and enterprises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that have the goal to respond to and reduce water risks within assets, companies and their value chains. They are also expected to result in significant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climate adaptation and resilience solutions, gender empowerment </a:t>
            </a: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and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economic development opportunities.</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r>
              <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rPr>
              <a:t>The set-up of the facility is supported by the </a:t>
            </a:r>
            <a:r>
              <a:rPr kumimoji="0" lang="en-US" sz="1000" u="none" strike="noStrike" kern="1200" cap="none" spc="0" normalizeH="0" baseline="0" noProof="0" dirty="0">
                <a:ln>
                  <a:noFill/>
                </a:ln>
                <a:solidFill>
                  <a:srgbClr val="FFA726"/>
                </a:solidFill>
                <a:effectLst/>
                <a:uLnTx/>
                <a:uFillTx/>
                <a:latin typeface="Open Sans" panose="020B0606030504020204" pitchFamily="34" charset="0"/>
                <a:ea typeface="Open Sans" panose="020B0606030504020204" pitchFamily="34" charset="0"/>
                <a:cs typeface="Open Sans" panose="020B0606030504020204" pitchFamily="34" charset="0"/>
              </a:rPr>
              <a:t>Governments of the Netherlands and Luxemburg. </a:t>
            </a: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1" fontAlgn="auto" latinLnBrk="0" hangingPunct="1">
              <a:lnSpc>
                <a:spcPct val="120000"/>
              </a:lnSpc>
              <a:spcBef>
                <a:spcPts val="0"/>
              </a:spcBef>
              <a:spcAft>
                <a:spcPts val="0"/>
              </a:spcAft>
              <a:buClrTx/>
              <a:buSzTx/>
              <a:buFontTx/>
              <a:buNone/>
              <a:tabLst/>
              <a:defRPr/>
            </a:pPr>
            <a:endParaRPr kumimoji="0" lang="en-US" sz="1000" u="none" strike="noStrike" kern="1200" cap="none" spc="0" normalizeH="0" baseline="0" noProof="0" dirty="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2" name="Text Placeholder 13">
            <a:extLst>
              <a:ext uri="{FF2B5EF4-FFF2-40B4-BE49-F238E27FC236}">
                <a16:creationId xmlns:a16="http://schemas.microsoft.com/office/drawing/2014/main" id="{EFF8EF80-63F2-E30D-AA68-1AEFECE9080B}"/>
              </a:ext>
            </a:extLst>
          </p:cNvPr>
          <p:cNvSpPr txBox="1">
            <a:spLocks/>
          </p:cNvSpPr>
          <p:nvPr/>
        </p:nvSpPr>
        <p:spPr>
          <a:xfrm>
            <a:off x="10097386" y="1435344"/>
            <a:ext cx="1334973" cy="286880"/>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AMBITION</a:t>
            </a:r>
            <a:endParaRPr lang="en-US" sz="1000" dirty="0">
              <a:latin typeface="Open Sans" panose="020B0606030504020204" pitchFamily="34" charset="0"/>
              <a:ea typeface="Open Sans" panose="020B0606030504020204" pitchFamily="34" charset="0"/>
              <a:cs typeface="Open Sans" panose="020B0606030504020204" pitchFamily="34" charset="0"/>
            </a:endParaRPr>
          </a:p>
        </p:txBody>
      </p:sp>
      <p:cxnSp>
        <p:nvCxnSpPr>
          <p:cNvPr id="9" name="Rechte verbindingslijn 8">
            <a:extLst>
              <a:ext uri="{FF2B5EF4-FFF2-40B4-BE49-F238E27FC236}">
                <a16:creationId xmlns:a16="http://schemas.microsoft.com/office/drawing/2014/main" id="{C64953D1-30D3-51AA-27F8-1C1A8C38C18D}"/>
              </a:ext>
            </a:extLst>
          </p:cNvPr>
          <p:cNvCxnSpPr>
            <a:cxnSpLocks/>
          </p:cNvCxnSpPr>
          <p:nvPr/>
        </p:nvCxnSpPr>
        <p:spPr>
          <a:xfrm>
            <a:off x="10097386" y="1722231"/>
            <a:ext cx="1366887"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4886037"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Vision and Ambition</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20742989"/>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26" name="TextBox 37">
            <a:extLst>
              <a:ext uri="{FF2B5EF4-FFF2-40B4-BE49-F238E27FC236}">
                <a16:creationId xmlns:a16="http://schemas.microsoft.com/office/drawing/2014/main" id="{9F7B7125-5BE2-2B63-AE12-0D065F7BCB1A}"/>
              </a:ext>
            </a:extLst>
          </p:cNvPr>
          <p:cNvSpPr txBox="1"/>
          <p:nvPr/>
        </p:nvSpPr>
        <p:spPr>
          <a:xfrm>
            <a:off x="670762" y="1435131"/>
            <a:ext cx="5884783" cy="2152131"/>
          </a:xfrm>
          <a:prstGeom prst="roundRect">
            <a:avLst>
              <a:gd name="adj" fmla="val 6697"/>
            </a:avLst>
          </a:prstGeom>
          <a:solidFill>
            <a:srgbClr val="F3F1ED"/>
          </a:solidFill>
        </p:spPr>
        <p:txBody>
          <a:bodyPr wrap="square" lIns="251999" tIns="0" rIns="216000" bIns="108000" numCol="1" spcCol="108000" rtlCol="0" anchor="ctr" anchorCtr="0">
            <a:noAutofit/>
          </a:bodyPr>
          <a:lstStyle/>
          <a:p>
            <a:pPr fontAlgn="t">
              <a:lnSpc>
                <a:spcPct val="130000"/>
              </a:lnSpc>
              <a:defRPr/>
            </a:pPr>
            <a:r>
              <a:rPr kumimoji="0" lang="en-GB" b="1" i="0" u="none" strike="noStrike" kern="1200" cap="none" spc="0" normalizeH="0" baseline="0" noProof="0" dirty="0">
                <a:ln>
                  <a:noFill/>
                </a:ln>
                <a:solidFill>
                  <a:srgbClr val="FFA726"/>
                </a:solidFill>
                <a:effectLst/>
                <a:uLnTx/>
                <a:uFillTx/>
                <a:latin typeface="Raleway"/>
                <a:ea typeface="+mj-ea"/>
                <a:cs typeface="+mj-cs"/>
              </a:rPr>
              <a:t>Global spending on water is insufficient</a:t>
            </a:r>
          </a:p>
          <a:p>
            <a:pPr marL="0" marR="0" lvl="0" indent="0" algn="l" defTabSz="914400" rtl="0" eaLnBrk="1" fontAlgn="t" latinLnBrk="0" hangingPunct="1">
              <a:lnSpc>
                <a:spcPct val="13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4D7A"/>
                </a:solidFill>
                <a:effectLst/>
                <a:uLnTx/>
                <a:uFillTx/>
                <a:latin typeface="Raleway"/>
                <a:ea typeface="+mn-ea"/>
                <a:cs typeface="+mn-cs"/>
              </a:rPr>
              <a:t>To meet 2030 SDGs f</a:t>
            </a:r>
            <a:r>
              <a:rPr kumimoji="0" lang="en-US" sz="1100" b="1" i="0" u="none" strike="noStrike" kern="1200" cap="none" spc="0" normalizeH="0" baseline="0" noProof="0" dirty="0">
                <a:ln>
                  <a:noFill/>
                </a:ln>
                <a:solidFill>
                  <a:srgbClr val="004D7A"/>
                </a:solidFill>
                <a:effectLst/>
                <a:uLnTx/>
                <a:uFillTx/>
                <a:latin typeface="Raleway"/>
                <a:ea typeface="+mn-ea"/>
                <a:cs typeface="+mn-cs"/>
              </a:rPr>
              <a:t>or universal access to safe water and sanitation</a:t>
            </a:r>
            <a:r>
              <a:rPr kumimoji="0" lang="en-GB" sz="1100" b="1" i="0" u="none" strike="noStrike" kern="1200" cap="none" spc="0" normalizeH="0" baseline="0" noProof="0" dirty="0">
                <a:ln>
                  <a:noFill/>
                </a:ln>
                <a:solidFill>
                  <a:srgbClr val="004D7A"/>
                </a:solidFill>
                <a:effectLst/>
                <a:uLnTx/>
                <a:uFillTx/>
                <a:latin typeface="Raleway"/>
                <a:ea typeface="+mn-ea"/>
                <a:cs typeface="+mn-cs"/>
              </a:rPr>
              <a:t>, </a:t>
            </a:r>
            <a:r>
              <a:rPr kumimoji="0" lang="en-US" sz="1100" b="1" i="0" u="none" strike="noStrike" kern="1200" cap="none" spc="0" normalizeH="0" baseline="0" noProof="0" dirty="0">
                <a:ln>
                  <a:noFill/>
                </a:ln>
                <a:solidFill>
                  <a:srgbClr val="004D7A"/>
                </a:solidFill>
                <a:effectLst/>
                <a:uLnTx/>
                <a:uFillTx/>
                <a:latin typeface="Raleway"/>
                <a:ea typeface="+mn-ea"/>
                <a:cs typeface="+mn-cs"/>
              </a:rPr>
              <a:t>&gt; US$1 trillion per year is needed to deliver sustainable water management globally. </a:t>
            </a:r>
          </a:p>
          <a:p>
            <a:pPr marL="0" marR="0" lvl="0" indent="0" algn="l" defTabSz="914400" rtl="0" eaLnBrk="1" fontAlgn="t" latinLnBrk="0" hangingPunct="1">
              <a:lnSpc>
                <a:spcPct val="13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4D7A"/>
                </a:solidFill>
                <a:effectLst/>
                <a:uLnTx/>
                <a:uFillTx/>
                <a:latin typeface="Open Sans"/>
                <a:ea typeface="+mn-ea"/>
                <a:cs typeface="+mn-cs"/>
              </a:rPr>
              <a:t>(World Bank </a:t>
            </a:r>
            <a:r>
              <a:rPr kumimoji="0" lang="en-US" sz="1100" b="0" i="0" u="none" strike="noStrike" kern="1200" cap="none" spc="0" normalizeH="0" baseline="0" noProof="0" dirty="0">
                <a:ln>
                  <a:noFill/>
                </a:ln>
                <a:solidFill>
                  <a:srgbClr val="004D7A"/>
                </a:solidFill>
                <a:effectLst/>
                <a:uLnTx/>
                <a:uFillTx/>
                <a:latin typeface="Open Sans"/>
                <a:ea typeface="+mn-ea"/>
                <a:cs typeface="+mn-cs"/>
              </a:rPr>
              <a:t>2026</a:t>
            </a:r>
            <a:r>
              <a:rPr kumimoji="0" lang="en-GB" sz="1100" b="0" i="0" u="none" strike="noStrike" kern="1200" cap="none" spc="0" normalizeH="0" baseline="0" noProof="0" dirty="0">
                <a:ln>
                  <a:noFill/>
                </a:ln>
                <a:solidFill>
                  <a:srgbClr val="004D7A"/>
                </a:solidFill>
                <a:effectLst/>
                <a:uLnTx/>
                <a:uFillTx/>
                <a:latin typeface="Open Sans"/>
                <a:ea typeface="+mn-ea"/>
                <a:cs typeface="+mn-cs"/>
              </a:rPr>
              <a:t>)</a:t>
            </a:r>
          </a:p>
          <a:p>
            <a:pPr marL="0" marR="0" lvl="0" indent="0" algn="l" defTabSz="914400" rtl="0" eaLnBrk="1" fontAlgn="t" latinLnBrk="0" hangingPunct="1">
              <a:lnSpc>
                <a:spcPct val="130000"/>
              </a:lnSpc>
              <a:spcBef>
                <a:spcPts val="0"/>
              </a:spcBef>
              <a:spcAft>
                <a:spcPts val="0"/>
              </a:spcAft>
              <a:buClrTx/>
              <a:buSzTx/>
              <a:buFontTx/>
              <a:buNone/>
              <a:tabLst/>
              <a:defRPr/>
            </a:pPr>
            <a:endParaRPr lang="en-GB" sz="1100" dirty="0">
              <a:solidFill>
                <a:srgbClr val="004D7A"/>
              </a:solidFill>
              <a:latin typeface="Open Sans"/>
            </a:endParaRPr>
          </a:p>
          <a:p>
            <a:pPr marL="0" marR="0" lvl="0" indent="0" algn="l" defTabSz="914400" rtl="0" eaLnBrk="1" fontAlgn="t" latinLnBrk="0" hangingPunct="1">
              <a:lnSpc>
                <a:spcPct val="13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4D7A"/>
                </a:solidFill>
                <a:effectLst/>
                <a:uLnTx/>
                <a:uFillTx/>
                <a:latin typeface="Raleway"/>
                <a:ea typeface="+mn-ea"/>
                <a:cs typeface="+mn-cs"/>
              </a:rPr>
              <a:t>Public spending (0.5% of GDP on average) constitutes the largest share of spending in the water sector. Private spending makes up roughly 2%. </a:t>
            </a:r>
          </a:p>
          <a:p>
            <a:pPr marL="0" marR="0" lvl="0" indent="0" algn="l" defTabSz="914400" rtl="0" eaLnBrk="1" fontAlgn="t" latinLnBrk="0" hangingPunct="1">
              <a:lnSpc>
                <a:spcPct val="130000"/>
              </a:lnSpc>
              <a:spcBef>
                <a:spcPts val="0"/>
              </a:spcBef>
              <a:spcAft>
                <a:spcPts val="0"/>
              </a:spcAft>
              <a:buClrTx/>
              <a:buSzTx/>
              <a:buFontTx/>
              <a:buNone/>
              <a:tabLst/>
              <a:defRPr/>
            </a:pPr>
            <a:r>
              <a:rPr kumimoji="0" lang="en-GB" sz="1100" b="0" i="0" u="none" strike="noStrike" kern="1200" cap="none" spc="0" normalizeH="0" baseline="0" noProof="0" dirty="0">
                <a:ln>
                  <a:noFill/>
                </a:ln>
                <a:solidFill>
                  <a:srgbClr val="004D7A"/>
                </a:solidFill>
                <a:effectLst/>
                <a:uLnTx/>
                <a:uFillTx/>
                <a:latin typeface="Open Sans"/>
                <a:ea typeface="+mn-ea"/>
                <a:cs typeface="+mn-cs"/>
              </a:rPr>
              <a:t>(</a:t>
            </a:r>
            <a:r>
              <a:rPr kumimoji="0" lang="en-US" sz="1100" b="0" i="0" u="none" strike="noStrike" kern="1200" cap="none" spc="0" normalizeH="0" baseline="0" noProof="0" dirty="0">
                <a:ln>
                  <a:noFill/>
                </a:ln>
                <a:solidFill>
                  <a:srgbClr val="004D7A"/>
                </a:solidFill>
                <a:effectLst/>
                <a:uLnTx/>
                <a:uFillTx/>
                <a:latin typeface="Open Sans"/>
                <a:ea typeface="+mn-ea"/>
                <a:cs typeface="+mn-cs"/>
              </a:rPr>
              <a:t>World Bank 2026</a:t>
            </a:r>
            <a:r>
              <a:rPr kumimoji="0" lang="en-GB" sz="1100" b="0" i="0" u="none" strike="noStrike" kern="1200" cap="none" spc="0" normalizeH="0" baseline="0" noProof="0" dirty="0">
                <a:ln>
                  <a:noFill/>
                </a:ln>
                <a:solidFill>
                  <a:srgbClr val="004D7A"/>
                </a:solidFill>
                <a:effectLst/>
                <a:uLnTx/>
                <a:uFillTx/>
                <a:latin typeface="Open Sans"/>
                <a:ea typeface="+mn-ea"/>
                <a:cs typeface="+mn-cs"/>
              </a:rPr>
              <a:t>)</a:t>
            </a:r>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4886037"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Context</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 name="Rechte verbindingslijn 21">
            <a:extLst>
              <a:ext uri="{FF2B5EF4-FFF2-40B4-BE49-F238E27FC236}">
                <a16:creationId xmlns:a16="http://schemas.microsoft.com/office/drawing/2014/main" id="{958FC242-2A6F-4544-90D5-109B7C6B791A}"/>
              </a:ext>
            </a:extLst>
          </p:cNvPr>
          <p:cNvCxnSpPr>
            <a:cxnSpLocks/>
          </p:cNvCxnSpPr>
          <p:nvPr/>
        </p:nvCxnSpPr>
        <p:spPr>
          <a:xfrm flipV="1">
            <a:off x="6827822" y="1435131"/>
            <a:ext cx="0" cy="4889060"/>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pic>
        <p:nvPicPr>
          <p:cNvPr id="5" name="Content Placeholder 5" descr="A map of the world&#10;&#10;AI-generated content may be incorrect.">
            <a:extLst>
              <a:ext uri="{FF2B5EF4-FFF2-40B4-BE49-F238E27FC236}">
                <a16:creationId xmlns:a16="http://schemas.microsoft.com/office/drawing/2014/main" id="{45853AB3-97B2-0990-EB06-4246F661AD09}"/>
              </a:ext>
            </a:extLst>
          </p:cNvPr>
          <p:cNvPicPr>
            <a:picLocks noChangeAspect="1"/>
          </p:cNvPicPr>
          <p:nvPr/>
        </p:nvPicPr>
        <p:blipFill rotWithShape="1">
          <a:blip r:embed="rId4">
            <a:alphaModFix/>
            <a:extLst>
              <a:ext uri="{28A0092B-C50C-407E-A947-70E740481C1C}">
                <a14:useLocalDpi xmlns:a14="http://schemas.microsoft.com/office/drawing/2010/main" val="0"/>
              </a:ext>
            </a:extLst>
          </a:blip>
          <a:srcRect t="3531"/>
          <a:stretch/>
        </p:blipFill>
        <p:spPr>
          <a:xfrm>
            <a:off x="7106947" y="3489259"/>
            <a:ext cx="4712636" cy="2831885"/>
          </a:xfrm>
          <a:prstGeom prst="roundRect">
            <a:avLst>
              <a:gd name="adj" fmla="val 8728"/>
            </a:avLst>
          </a:prstGeom>
        </p:spPr>
      </p:pic>
      <p:sp>
        <p:nvSpPr>
          <p:cNvPr id="6" name="Afgeronde rechthoek 27">
            <a:extLst>
              <a:ext uri="{FF2B5EF4-FFF2-40B4-BE49-F238E27FC236}">
                <a16:creationId xmlns:a16="http://schemas.microsoft.com/office/drawing/2014/main" id="{9011CDA0-E111-92A3-96E2-EDC5B3CAD1DE}"/>
              </a:ext>
            </a:extLst>
          </p:cNvPr>
          <p:cNvSpPr/>
          <p:nvPr/>
        </p:nvSpPr>
        <p:spPr>
          <a:xfrm>
            <a:off x="7055382" y="1435131"/>
            <a:ext cx="4774380" cy="1795424"/>
          </a:xfrm>
          <a:prstGeom prst="roundRect">
            <a:avLst>
              <a:gd name="adj" fmla="val 10535"/>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Open Sans"/>
                <a:ea typeface="+mn-ea"/>
                <a:cs typeface="+mn-cs"/>
              </a:rPr>
              <a:t>The cost of inaction on water risk 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A726"/>
                </a:solidFill>
                <a:effectLst/>
                <a:uLnTx/>
                <a:uFillTx/>
                <a:latin typeface="Open Sans"/>
                <a:ea typeface="+mn-ea"/>
                <a:cs typeface="+mn-cs"/>
              </a:rPr>
              <a:t>5x higher</a:t>
            </a:r>
            <a:r>
              <a:rPr kumimoji="0" lang="en-GB" sz="1800" b="0" i="0" u="none" strike="noStrike" kern="1200" cap="none" spc="0" normalizeH="0" baseline="0" noProof="0" dirty="0">
                <a:ln>
                  <a:noFill/>
                </a:ln>
                <a:solidFill>
                  <a:srgbClr val="FFA726"/>
                </a:solidFill>
                <a:effectLst/>
                <a:uLnTx/>
                <a:uFillTx/>
                <a:latin typeface="Open Sans"/>
                <a:ea typeface="+mn-ea"/>
                <a:cs typeface="+mn-cs"/>
              </a:rPr>
              <a:t> </a:t>
            </a:r>
            <a:br>
              <a:rPr kumimoji="0" lang="en-GB" sz="1800" b="0" i="0" u="none" strike="noStrike" kern="1200" cap="none" spc="0" normalizeH="0" baseline="0" noProof="0" dirty="0">
                <a:ln>
                  <a:noFill/>
                </a:ln>
                <a:solidFill>
                  <a:prstClr val="white"/>
                </a:solidFill>
                <a:effectLst/>
                <a:uLnTx/>
                <a:uFillTx/>
                <a:latin typeface="Open Sans"/>
                <a:ea typeface="+mn-ea"/>
                <a:cs typeface="+mn-cs"/>
              </a:rPr>
            </a:br>
            <a:r>
              <a:rPr kumimoji="0" lang="en-GB" sz="1800" b="0" i="0" u="none" strike="noStrike" kern="1200" cap="none" spc="0" normalizeH="0" baseline="0" noProof="0" dirty="0">
                <a:ln>
                  <a:noFill/>
                </a:ln>
                <a:solidFill>
                  <a:prstClr val="white"/>
                </a:solidFill>
                <a:effectLst/>
                <a:uLnTx/>
                <a:uFillTx/>
                <a:latin typeface="Open Sans"/>
                <a:ea typeface="+mn-ea"/>
                <a:cs typeface="+mn-cs"/>
              </a:rPr>
              <a:t>than the cost of investment.</a:t>
            </a:r>
          </a:p>
        </p:txBody>
      </p:sp>
      <p:sp>
        <p:nvSpPr>
          <p:cNvPr id="19" name="TextBox 37">
            <a:extLst>
              <a:ext uri="{FF2B5EF4-FFF2-40B4-BE49-F238E27FC236}">
                <a16:creationId xmlns:a16="http://schemas.microsoft.com/office/drawing/2014/main" id="{B391D090-EE1D-604F-8A6C-BF930723F6CE}"/>
              </a:ext>
            </a:extLst>
          </p:cNvPr>
          <p:cNvSpPr txBox="1"/>
          <p:nvPr/>
        </p:nvSpPr>
        <p:spPr>
          <a:xfrm>
            <a:off x="670763" y="3713871"/>
            <a:ext cx="5884782" cy="2588455"/>
          </a:xfrm>
          <a:prstGeom prst="roundRect">
            <a:avLst>
              <a:gd name="adj" fmla="val 6697"/>
            </a:avLst>
          </a:prstGeom>
          <a:solidFill>
            <a:srgbClr val="F3F1ED"/>
          </a:solidFill>
        </p:spPr>
        <p:txBody>
          <a:bodyPr wrap="square" lIns="216000" tIns="108000" rIns="216000" bIns="108000" numCol="1" spcCol="108000" rtlCol="0" anchor="ctr" anchorCtr="0">
            <a:noAutofit/>
          </a:bodyPr>
          <a:lstStyle/>
          <a:p>
            <a:pPr fontAlgn="t">
              <a:lnSpc>
                <a:spcPct val="150000"/>
              </a:lnSpc>
              <a:defRPr/>
            </a:pPr>
            <a:r>
              <a:rPr kumimoji="0" lang="en-GB" b="1" i="0" u="none" strike="noStrike" kern="1200" cap="none" spc="0" normalizeH="0" baseline="0" noProof="0" dirty="0">
                <a:ln>
                  <a:noFill/>
                </a:ln>
                <a:solidFill>
                  <a:srgbClr val="FFA726"/>
                </a:solidFill>
                <a:effectLst/>
                <a:uLnTx/>
                <a:uFillTx/>
                <a:latin typeface="Raleway"/>
                <a:ea typeface="+mj-ea"/>
                <a:cs typeface="+mj-cs"/>
              </a:rPr>
              <a:t>Why this matters</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4D7A"/>
                </a:solidFill>
                <a:effectLst/>
                <a:uLnTx/>
                <a:uFillTx/>
                <a:latin typeface="Raleway"/>
                <a:ea typeface="+mn-ea"/>
                <a:cs typeface="+mn-cs"/>
              </a:rPr>
              <a:t>$300B+ in potential business losses from unmitigated water risks.</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100" i="0" u="none" strike="noStrike" kern="1200" cap="none" spc="0" normalizeH="0" baseline="0" noProof="0" dirty="0">
                <a:ln>
                  <a:noFill/>
                </a:ln>
                <a:solidFill>
                  <a:srgbClr val="004D7A"/>
                </a:solidFill>
                <a:effectLst/>
                <a:uLnTx/>
                <a:uFillTx/>
                <a:latin typeface="Raleway"/>
                <a:ea typeface="+mn-ea"/>
                <a:cs typeface="+mn-cs"/>
              </a:rPr>
              <a:t>(CDP Water Analysis Report 2020)</a:t>
            </a:r>
          </a:p>
          <a:p>
            <a:pPr marL="0" marR="0" lvl="0" indent="0" algn="l" defTabSz="914400" rtl="0" eaLnBrk="1" fontAlgn="t" latinLnBrk="0" hangingPunct="1">
              <a:lnSpc>
                <a:spcPct val="15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04D7A"/>
              </a:solidFill>
              <a:effectLst/>
              <a:uLnTx/>
              <a:uFillTx/>
              <a:latin typeface="Raleway"/>
              <a:ea typeface="+mn-ea"/>
              <a:cs typeface="+mn-cs"/>
            </a:endParaRP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4D7A"/>
                </a:solidFill>
                <a:effectLst/>
                <a:uLnTx/>
                <a:uFillTx/>
                <a:latin typeface="Raleway"/>
                <a:ea typeface="+mn-ea"/>
                <a:cs typeface="+mn-cs"/>
              </a:rPr>
              <a:t>Hidden costs of water are often &gt;3x the price paid on utility bills.</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100" i="0" u="none" strike="noStrike" kern="1200" cap="none" spc="0" normalizeH="0" baseline="0" noProof="0" dirty="0">
                <a:ln>
                  <a:noFill/>
                </a:ln>
                <a:solidFill>
                  <a:srgbClr val="004D7A"/>
                </a:solidFill>
                <a:effectLst/>
                <a:uLnTx/>
                <a:uFillTx/>
                <a:latin typeface="Raleway"/>
                <a:ea typeface="+mn-ea"/>
                <a:cs typeface="+mn-cs"/>
              </a:rPr>
              <a:t>(</a:t>
            </a:r>
            <a:r>
              <a:rPr kumimoji="0" lang="en-GB" sz="1100" i="0" u="none" strike="noStrike" kern="1200" cap="none" spc="0" normalizeH="0" baseline="0" noProof="0" dirty="0" err="1">
                <a:ln>
                  <a:noFill/>
                </a:ln>
                <a:solidFill>
                  <a:srgbClr val="004D7A"/>
                </a:solidFill>
                <a:effectLst/>
                <a:uLnTx/>
                <a:uFillTx/>
                <a:latin typeface="Raleway"/>
                <a:ea typeface="+mn-ea"/>
                <a:cs typeface="+mn-cs"/>
              </a:rPr>
              <a:t>AnteaGroup</a:t>
            </a:r>
            <a:r>
              <a:rPr kumimoji="0" lang="en-GB" sz="1100" i="0" u="none" strike="noStrike" kern="1200" cap="none" spc="0" normalizeH="0" baseline="0" noProof="0" dirty="0">
                <a:ln>
                  <a:noFill/>
                </a:ln>
                <a:solidFill>
                  <a:srgbClr val="004D7A"/>
                </a:solidFill>
                <a:effectLst/>
                <a:uLnTx/>
                <a:uFillTx/>
                <a:latin typeface="Raleway"/>
                <a:ea typeface="+mn-ea"/>
                <a:cs typeface="+mn-cs"/>
              </a:rPr>
              <a:t> Determine True Cost of Water 2025)</a:t>
            </a:r>
          </a:p>
          <a:p>
            <a:pPr marL="0" marR="0" lvl="0" indent="0" algn="l" defTabSz="914400" rtl="0" eaLnBrk="1" fontAlgn="t" latinLnBrk="0" hangingPunct="1">
              <a:lnSpc>
                <a:spcPct val="15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04D7A"/>
              </a:solidFill>
              <a:effectLst/>
              <a:uLnTx/>
              <a:uFillTx/>
              <a:latin typeface="Raleway"/>
              <a:ea typeface="+mn-ea"/>
              <a:cs typeface="+mn-cs"/>
            </a:endParaRP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04D7A"/>
                </a:solidFill>
                <a:effectLst/>
                <a:uLnTx/>
                <a:uFillTx/>
                <a:latin typeface="Raleway"/>
                <a:ea typeface="+mn-ea"/>
                <a:cs typeface="+mn-cs"/>
              </a:rPr>
              <a:t>$200B annual insurance losses from water-driven events projected by 2034.</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100" i="0" u="none" strike="noStrike" kern="1200" cap="none" spc="0" normalizeH="0" baseline="0" noProof="0" dirty="0">
                <a:ln>
                  <a:noFill/>
                </a:ln>
                <a:solidFill>
                  <a:srgbClr val="004D7A"/>
                </a:solidFill>
                <a:effectLst/>
                <a:uLnTx/>
                <a:uFillTx/>
                <a:latin typeface="Raleway"/>
                <a:ea typeface="+mn-ea"/>
                <a:cs typeface="+mn-cs"/>
              </a:rPr>
              <a:t>(WEF Water Futures: Mobilizing Multi-Stakeholder Action for Resilience 2025)</a:t>
            </a:r>
          </a:p>
          <a:p>
            <a:pPr marL="0" marR="0" lvl="0" indent="0" algn="l" defTabSz="914400" rtl="0" eaLnBrk="1" fontAlgn="t" latinLnBrk="0" hangingPunct="1">
              <a:lnSpc>
                <a:spcPct val="15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04D7A"/>
              </a:solidFill>
              <a:effectLst/>
              <a:uLnTx/>
              <a:uFillTx/>
              <a:latin typeface="Raleway"/>
              <a:ea typeface="+mn-ea"/>
              <a:cs typeface="+mn-cs"/>
            </a:endParaRPr>
          </a:p>
        </p:txBody>
      </p:sp>
    </p:spTree>
    <p:extLst>
      <p:ext uri="{BB962C8B-B14F-4D97-AF65-F5344CB8AC3E}">
        <p14:creationId xmlns:p14="http://schemas.microsoft.com/office/powerpoint/2010/main" val="3547127567"/>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4886037"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4D7A"/>
                </a:solidFill>
                <a:effectLst/>
                <a:uLnTx/>
                <a:uFillTx/>
                <a:latin typeface="Raleway"/>
                <a:ea typeface="+mj-ea"/>
                <a:cs typeface="+mj-cs"/>
              </a:rPr>
              <a:t>Context</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9" name="Rechte verbindingslijn 21">
            <a:extLst>
              <a:ext uri="{FF2B5EF4-FFF2-40B4-BE49-F238E27FC236}">
                <a16:creationId xmlns:a16="http://schemas.microsoft.com/office/drawing/2014/main" id="{B9D7BADC-DA60-4AC3-6F6E-25E1241D3476}"/>
              </a:ext>
            </a:extLst>
          </p:cNvPr>
          <p:cNvCxnSpPr>
            <a:cxnSpLocks/>
          </p:cNvCxnSpPr>
          <p:nvPr/>
        </p:nvCxnSpPr>
        <p:spPr>
          <a:xfrm flipV="1">
            <a:off x="6827822" y="1435131"/>
            <a:ext cx="0" cy="4889060"/>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pic>
        <p:nvPicPr>
          <p:cNvPr id="17" name="Content Placeholder 5" descr="A map of the world&#10;&#10;AI-generated content may be incorrect.">
            <a:extLst>
              <a:ext uri="{FF2B5EF4-FFF2-40B4-BE49-F238E27FC236}">
                <a16:creationId xmlns:a16="http://schemas.microsoft.com/office/drawing/2014/main" id="{18AA0474-0D8C-8740-44EF-B01B4BA0C287}"/>
              </a:ext>
            </a:extLst>
          </p:cNvPr>
          <p:cNvPicPr>
            <a:picLocks noChangeAspect="1"/>
          </p:cNvPicPr>
          <p:nvPr/>
        </p:nvPicPr>
        <p:blipFill rotWithShape="1">
          <a:blip r:embed="rId4">
            <a:alphaModFix/>
            <a:extLst>
              <a:ext uri="{28A0092B-C50C-407E-A947-70E740481C1C}">
                <a14:useLocalDpi xmlns:a14="http://schemas.microsoft.com/office/drawing/2010/main" val="0"/>
              </a:ext>
            </a:extLst>
          </a:blip>
          <a:srcRect t="3531"/>
          <a:stretch/>
        </p:blipFill>
        <p:spPr>
          <a:xfrm>
            <a:off x="7106947" y="3489259"/>
            <a:ext cx="4712636" cy="2831885"/>
          </a:xfrm>
          <a:prstGeom prst="roundRect">
            <a:avLst>
              <a:gd name="adj" fmla="val 8728"/>
            </a:avLst>
          </a:prstGeom>
        </p:spPr>
      </p:pic>
      <p:sp>
        <p:nvSpPr>
          <p:cNvPr id="18" name="Afgeronde rechthoek 27">
            <a:extLst>
              <a:ext uri="{FF2B5EF4-FFF2-40B4-BE49-F238E27FC236}">
                <a16:creationId xmlns:a16="http://schemas.microsoft.com/office/drawing/2014/main" id="{AA951928-86F8-890C-C74D-8E786FBB793C}"/>
              </a:ext>
            </a:extLst>
          </p:cNvPr>
          <p:cNvSpPr/>
          <p:nvPr/>
        </p:nvSpPr>
        <p:spPr>
          <a:xfrm>
            <a:off x="7055382" y="1435131"/>
            <a:ext cx="4774380" cy="1795424"/>
          </a:xfrm>
          <a:prstGeom prst="roundRect">
            <a:avLst>
              <a:gd name="adj" fmla="val 10535"/>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Open Sans"/>
                <a:ea typeface="+mn-ea"/>
                <a:cs typeface="+mn-cs"/>
              </a:rPr>
              <a:t>The cost of inaction on water risk 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A726"/>
                </a:solidFill>
                <a:effectLst/>
                <a:uLnTx/>
                <a:uFillTx/>
                <a:latin typeface="Open Sans"/>
                <a:ea typeface="+mn-ea"/>
                <a:cs typeface="+mn-cs"/>
              </a:rPr>
              <a:t>5x higher</a:t>
            </a:r>
            <a:r>
              <a:rPr kumimoji="0" lang="en-GB" sz="1800" b="0" i="0" u="none" strike="noStrike" kern="1200" cap="none" spc="0" normalizeH="0" baseline="0" noProof="0" dirty="0">
                <a:ln>
                  <a:noFill/>
                </a:ln>
                <a:solidFill>
                  <a:srgbClr val="FFA726"/>
                </a:solidFill>
                <a:effectLst/>
                <a:uLnTx/>
                <a:uFillTx/>
                <a:latin typeface="Open Sans"/>
                <a:ea typeface="+mn-ea"/>
                <a:cs typeface="+mn-cs"/>
              </a:rPr>
              <a:t> </a:t>
            </a:r>
            <a:br>
              <a:rPr kumimoji="0" lang="en-GB" sz="1800" b="0" i="0" u="none" strike="noStrike" kern="1200" cap="none" spc="0" normalizeH="0" baseline="0" noProof="0" dirty="0">
                <a:ln>
                  <a:noFill/>
                </a:ln>
                <a:solidFill>
                  <a:prstClr val="white"/>
                </a:solidFill>
                <a:effectLst/>
                <a:uLnTx/>
                <a:uFillTx/>
                <a:latin typeface="Open Sans"/>
                <a:ea typeface="+mn-ea"/>
                <a:cs typeface="+mn-cs"/>
              </a:rPr>
            </a:br>
            <a:r>
              <a:rPr kumimoji="0" lang="en-GB" sz="1800" b="0" i="0" u="none" strike="noStrike" kern="1200" cap="none" spc="0" normalizeH="0" baseline="0" noProof="0" dirty="0">
                <a:ln>
                  <a:noFill/>
                </a:ln>
                <a:solidFill>
                  <a:prstClr val="white"/>
                </a:solidFill>
                <a:effectLst/>
                <a:uLnTx/>
                <a:uFillTx/>
                <a:latin typeface="Open Sans"/>
                <a:ea typeface="+mn-ea"/>
                <a:cs typeface="+mn-cs"/>
              </a:rPr>
              <a:t>than the cost of investment.</a:t>
            </a:r>
          </a:p>
        </p:txBody>
      </p:sp>
      <p:sp>
        <p:nvSpPr>
          <p:cNvPr id="21" name="Tekstvak 20">
            <a:extLst>
              <a:ext uri="{FF2B5EF4-FFF2-40B4-BE49-F238E27FC236}">
                <a16:creationId xmlns:a16="http://schemas.microsoft.com/office/drawing/2014/main" id="{C269CED0-29C3-FC04-20F0-5535654D91BE}"/>
              </a:ext>
            </a:extLst>
          </p:cNvPr>
          <p:cNvSpPr txBox="1"/>
          <p:nvPr/>
        </p:nvSpPr>
        <p:spPr>
          <a:xfrm>
            <a:off x="631894" y="1435131"/>
            <a:ext cx="6042178" cy="5124480"/>
          </a:xfrm>
          <a:prstGeom prst="rect">
            <a:avLst/>
          </a:prstGeom>
          <a:noFill/>
        </p:spPr>
        <p:txBody>
          <a:bodyPr wrap="square">
            <a:spAutoFit/>
          </a:bodyPr>
          <a:lstStyle/>
          <a:p>
            <a:pPr fontAlgn="t">
              <a:lnSpc>
                <a:spcPct val="130000"/>
              </a:lnSpc>
              <a:defRPr/>
            </a:pPr>
            <a:r>
              <a:rPr kumimoji="0" lang="en-GB" b="1" i="0" u="none" strike="noStrike" kern="1200" cap="none" spc="0" normalizeH="0" baseline="0" noProof="0" dirty="0">
                <a:ln>
                  <a:noFill/>
                </a:ln>
                <a:solidFill>
                  <a:srgbClr val="FFA726"/>
                </a:solidFill>
                <a:effectLst/>
                <a:uLnTx/>
                <a:uFillTx/>
                <a:latin typeface="Raleway"/>
                <a:ea typeface="+mj-ea"/>
                <a:cs typeface="+mj-cs"/>
              </a:rPr>
              <a:t>Global spending on water is insufficient</a:t>
            </a:r>
          </a:p>
          <a:p>
            <a:pPr marL="0" marR="0" lvl="0" indent="0" algn="l" defTabSz="914400" rtl="0" eaLnBrk="1" fontAlgn="t" latinLnBrk="0" hangingPunct="1">
              <a:lnSpc>
                <a:spcPct val="13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Raleway"/>
                <a:ea typeface="+mn-ea"/>
                <a:cs typeface="+mn-cs"/>
              </a:rPr>
              <a:t>To meet 2030 SDGs f</a:t>
            </a:r>
            <a:r>
              <a:rPr kumimoji="0" lang="en-US" sz="1200" b="1" i="0" u="none" strike="noStrike" kern="1200" cap="none" spc="0" normalizeH="0" baseline="0" noProof="0" dirty="0">
                <a:ln>
                  <a:noFill/>
                </a:ln>
                <a:solidFill>
                  <a:srgbClr val="004D7A"/>
                </a:solidFill>
                <a:effectLst/>
                <a:uLnTx/>
                <a:uFillTx/>
                <a:latin typeface="Raleway"/>
                <a:ea typeface="+mn-ea"/>
                <a:cs typeface="+mn-cs"/>
              </a:rPr>
              <a:t>or universal access to safe water and sanitation</a:t>
            </a:r>
            <a:r>
              <a:rPr kumimoji="0" lang="en-GB" sz="1200" b="1" i="0" u="none" strike="noStrike" kern="1200" cap="none" spc="0" normalizeH="0" baseline="0" noProof="0" dirty="0">
                <a:ln>
                  <a:noFill/>
                </a:ln>
                <a:solidFill>
                  <a:srgbClr val="004D7A"/>
                </a:solidFill>
                <a:effectLst/>
                <a:uLnTx/>
                <a:uFillTx/>
                <a:latin typeface="Raleway"/>
                <a:ea typeface="+mn-ea"/>
                <a:cs typeface="+mn-cs"/>
              </a:rPr>
              <a:t>, </a:t>
            </a:r>
            <a:r>
              <a:rPr kumimoji="0" lang="en-US" sz="1200" b="1" i="0" u="none" strike="noStrike" kern="1200" cap="none" spc="0" normalizeH="0" baseline="0" noProof="0" dirty="0">
                <a:ln>
                  <a:noFill/>
                </a:ln>
                <a:solidFill>
                  <a:srgbClr val="004D7A"/>
                </a:solidFill>
                <a:effectLst/>
                <a:uLnTx/>
                <a:uFillTx/>
                <a:latin typeface="Raleway"/>
                <a:ea typeface="+mn-ea"/>
                <a:cs typeface="+mn-cs"/>
              </a:rPr>
              <a:t>&gt; US$1 trillion per year is needed to deliver sustainable water management globally. </a:t>
            </a:r>
          </a:p>
          <a:p>
            <a:pPr marL="0" marR="0" lvl="0" indent="0" algn="l" defTabSz="914400" rtl="0" eaLnBrk="1" fontAlgn="t" latinLnBrk="0" hangingPunct="1">
              <a:lnSpc>
                <a:spcPct val="13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4D7A"/>
                </a:solidFill>
                <a:effectLst/>
                <a:uLnTx/>
                <a:uFillTx/>
                <a:latin typeface="Open Sans"/>
                <a:ea typeface="+mn-ea"/>
                <a:cs typeface="+mn-cs"/>
              </a:rPr>
              <a:t>(World Bank </a:t>
            </a:r>
            <a:r>
              <a:rPr kumimoji="0" lang="en-US" sz="1200" b="0" i="0" u="none" strike="noStrike" kern="1200" cap="none" spc="0" normalizeH="0" baseline="0" noProof="0" dirty="0">
                <a:ln>
                  <a:noFill/>
                </a:ln>
                <a:solidFill>
                  <a:srgbClr val="004D7A"/>
                </a:solidFill>
                <a:effectLst/>
                <a:uLnTx/>
                <a:uFillTx/>
                <a:latin typeface="Open Sans"/>
                <a:ea typeface="+mn-ea"/>
                <a:cs typeface="+mn-cs"/>
              </a:rPr>
              <a:t>2026</a:t>
            </a:r>
            <a:r>
              <a:rPr kumimoji="0" lang="en-GB" sz="1200" b="0" i="0" u="none" strike="noStrike" kern="1200" cap="none" spc="0" normalizeH="0" baseline="0" noProof="0" dirty="0">
                <a:ln>
                  <a:noFill/>
                </a:ln>
                <a:solidFill>
                  <a:srgbClr val="004D7A"/>
                </a:solidFill>
                <a:effectLst/>
                <a:uLnTx/>
                <a:uFillTx/>
                <a:latin typeface="Open Sans"/>
                <a:ea typeface="+mn-ea"/>
                <a:cs typeface="+mn-cs"/>
              </a:rPr>
              <a:t>)</a:t>
            </a:r>
          </a:p>
          <a:p>
            <a:pPr marL="0" marR="0" lvl="0" indent="0" algn="l" defTabSz="914400" rtl="0" eaLnBrk="1" fontAlgn="t" latinLnBrk="0" hangingPunct="1">
              <a:lnSpc>
                <a:spcPct val="130000"/>
              </a:lnSpc>
              <a:spcBef>
                <a:spcPts val="0"/>
              </a:spcBef>
              <a:spcAft>
                <a:spcPts val="0"/>
              </a:spcAft>
              <a:buClrTx/>
              <a:buSzTx/>
              <a:buFontTx/>
              <a:buNone/>
              <a:tabLst/>
              <a:defRPr/>
            </a:pPr>
            <a:endParaRPr lang="en-GB" sz="1200" dirty="0">
              <a:solidFill>
                <a:srgbClr val="004D7A"/>
              </a:solidFill>
              <a:latin typeface="Open Sans"/>
            </a:endParaRPr>
          </a:p>
          <a:p>
            <a:pPr marL="0" marR="0" lvl="0" indent="0" algn="l" defTabSz="914400" rtl="0" eaLnBrk="1" fontAlgn="t"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4D7A"/>
                </a:solidFill>
                <a:effectLst/>
                <a:uLnTx/>
                <a:uFillTx/>
                <a:latin typeface="Raleway"/>
                <a:ea typeface="+mn-ea"/>
                <a:cs typeface="+mn-cs"/>
              </a:rPr>
              <a:t>Public spending (0.5% of GDP on average) constitutes the largest share of spending in the water sector. Private spending makes up roughly 2%. </a:t>
            </a:r>
          </a:p>
          <a:p>
            <a:pPr marL="0" marR="0" lvl="0" indent="0" algn="l" defTabSz="914400" rtl="0" eaLnBrk="1" fontAlgn="t" latinLnBrk="0" hangingPunct="1">
              <a:lnSpc>
                <a:spcPct val="13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004D7A"/>
                </a:solidFill>
                <a:effectLst/>
                <a:uLnTx/>
                <a:uFillTx/>
                <a:latin typeface="Open Sans"/>
                <a:ea typeface="+mn-ea"/>
                <a:cs typeface="+mn-cs"/>
              </a:rPr>
              <a:t>(</a:t>
            </a:r>
            <a:r>
              <a:rPr kumimoji="0" lang="en-US" sz="1200" b="0" i="0" u="none" strike="noStrike" kern="1200" cap="none" spc="0" normalizeH="0" baseline="0" noProof="0" dirty="0">
                <a:ln>
                  <a:noFill/>
                </a:ln>
                <a:solidFill>
                  <a:srgbClr val="004D7A"/>
                </a:solidFill>
                <a:effectLst/>
                <a:uLnTx/>
                <a:uFillTx/>
                <a:latin typeface="Open Sans"/>
                <a:ea typeface="+mn-ea"/>
                <a:cs typeface="+mn-cs"/>
              </a:rPr>
              <a:t>World Bank 2026</a:t>
            </a:r>
            <a:r>
              <a:rPr kumimoji="0" lang="en-GB" sz="1200" b="0" i="0" u="none" strike="noStrike" kern="1200" cap="none" spc="0" normalizeH="0" baseline="0" noProof="0" dirty="0">
                <a:ln>
                  <a:noFill/>
                </a:ln>
                <a:solidFill>
                  <a:srgbClr val="004D7A"/>
                </a:solidFill>
                <a:effectLst/>
                <a:uLnTx/>
                <a:uFillTx/>
                <a:latin typeface="Open Sans"/>
                <a:ea typeface="+mn-ea"/>
                <a:cs typeface="+mn-cs"/>
              </a:rPr>
              <a:t>)</a:t>
            </a:r>
          </a:p>
          <a:p>
            <a:pPr marL="0" marR="0" lvl="0" indent="0" algn="l" defTabSz="914400" rtl="0" eaLnBrk="1" fontAlgn="t" latinLnBrk="0" hangingPunct="1">
              <a:lnSpc>
                <a:spcPct val="130000"/>
              </a:lnSpc>
              <a:spcBef>
                <a:spcPts val="0"/>
              </a:spcBef>
              <a:spcAft>
                <a:spcPts val="0"/>
              </a:spcAft>
              <a:buClrTx/>
              <a:buSzTx/>
              <a:buFontTx/>
              <a:buNone/>
              <a:tabLst/>
              <a:defRPr/>
            </a:pPr>
            <a:endParaRPr lang="en-GB" sz="1800" dirty="0">
              <a:solidFill>
                <a:srgbClr val="004D7A"/>
              </a:solidFill>
              <a:latin typeface="Open Sans"/>
            </a:endParaRPr>
          </a:p>
          <a:p>
            <a:pPr fontAlgn="t">
              <a:lnSpc>
                <a:spcPct val="150000"/>
              </a:lnSpc>
              <a:defRPr/>
            </a:pPr>
            <a:r>
              <a:rPr kumimoji="0" lang="en-GB" sz="1800" b="1" i="0" u="none" strike="noStrike" kern="1200" cap="none" spc="0" normalizeH="0" baseline="0" noProof="0" dirty="0">
                <a:ln>
                  <a:noFill/>
                </a:ln>
                <a:solidFill>
                  <a:srgbClr val="FFA726"/>
                </a:solidFill>
                <a:effectLst/>
                <a:uLnTx/>
                <a:uFillTx/>
                <a:latin typeface="Raleway"/>
                <a:ea typeface="+mj-ea"/>
                <a:cs typeface="+mj-cs"/>
              </a:rPr>
              <a:t>Why this matters</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Raleway"/>
                <a:ea typeface="+mn-ea"/>
                <a:cs typeface="+mn-cs"/>
              </a:rPr>
              <a:t>$300B+ in potential business losses from unmitigated water risks.</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200" i="0" u="none" strike="noStrike" kern="1200" cap="none" spc="0" normalizeH="0" baseline="0" noProof="0" dirty="0">
                <a:ln>
                  <a:noFill/>
                </a:ln>
                <a:solidFill>
                  <a:srgbClr val="004D7A"/>
                </a:solidFill>
                <a:effectLst/>
                <a:uLnTx/>
                <a:uFillTx/>
                <a:latin typeface="Raleway"/>
                <a:ea typeface="+mn-ea"/>
                <a:cs typeface="+mn-cs"/>
              </a:rPr>
              <a:t>(CDP Water Analysis Report 2020)</a:t>
            </a:r>
          </a:p>
          <a:p>
            <a:pPr marL="0" marR="0" lvl="0" indent="0" algn="l" defTabSz="914400" rtl="0" eaLnBrk="1" fontAlgn="t" latinLnBrk="0" hangingPunct="1">
              <a:lnSpc>
                <a:spcPct val="15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004D7A"/>
              </a:solidFill>
              <a:effectLst/>
              <a:uLnTx/>
              <a:uFillTx/>
              <a:latin typeface="Raleway"/>
              <a:ea typeface="+mn-ea"/>
              <a:cs typeface="+mn-cs"/>
            </a:endParaRP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Raleway"/>
                <a:ea typeface="+mn-ea"/>
                <a:cs typeface="+mn-cs"/>
              </a:rPr>
              <a:t>Hidden costs of water are often &gt;3x the price paid on utility bills.</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200" i="0" u="none" strike="noStrike" kern="1200" cap="none" spc="0" normalizeH="0" baseline="0" noProof="0" dirty="0">
                <a:ln>
                  <a:noFill/>
                </a:ln>
                <a:solidFill>
                  <a:srgbClr val="004D7A"/>
                </a:solidFill>
                <a:effectLst/>
                <a:uLnTx/>
                <a:uFillTx/>
                <a:latin typeface="Raleway"/>
                <a:ea typeface="+mn-ea"/>
                <a:cs typeface="+mn-cs"/>
              </a:rPr>
              <a:t>(</a:t>
            </a:r>
            <a:r>
              <a:rPr kumimoji="0" lang="en-GB" sz="1200" i="0" u="none" strike="noStrike" kern="1200" cap="none" spc="0" normalizeH="0" baseline="0" noProof="0" dirty="0" err="1">
                <a:ln>
                  <a:noFill/>
                </a:ln>
                <a:solidFill>
                  <a:srgbClr val="004D7A"/>
                </a:solidFill>
                <a:effectLst/>
                <a:uLnTx/>
                <a:uFillTx/>
                <a:latin typeface="Raleway"/>
                <a:ea typeface="+mn-ea"/>
                <a:cs typeface="+mn-cs"/>
              </a:rPr>
              <a:t>AnteaGroup</a:t>
            </a:r>
            <a:r>
              <a:rPr kumimoji="0" lang="en-GB" sz="1200" i="0" u="none" strike="noStrike" kern="1200" cap="none" spc="0" normalizeH="0" baseline="0" noProof="0" dirty="0">
                <a:ln>
                  <a:noFill/>
                </a:ln>
                <a:solidFill>
                  <a:srgbClr val="004D7A"/>
                </a:solidFill>
                <a:effectLst/>
                <a:uLnTx/>
                <a:uFillTx/>
                <a:latin typeface="Raleway"/>
                <a:ea typeface="+mn-ea"/>
                <a:cs typeface="+mn-cs"/>
              </a:rPr>
              <a:t> Determine True Cost of Water 2025)</a:t>
            </a:r>
          </a:p>
          <a:p>
            <a:pPr marL="0" marR="0" lvl="0" indent="0" algn="l" defTabSz="914400" rtl="0" eaLnBrk="1" fontAlgn="t" latinLnBrk="0" hangingPunct="1">
              <a:lnSpc>
                <a:spcPct val="150000"/>
              </a:lnSpc>
              <a:spcBef>
                <a:spcPts val="0"/>
              </a:spcBef>
              <a:spcAft>
                <a:spcPts val="0"/>
              </a:spcAft>
              <a:buClrTx/>
              <a:buSzTx/>
              <a:buFontTx/>
              <a:buNone/>
              <a:tabLst/>
              <a:defRPr/>
            </a:pPr>
            <a:endParaRPr kumimoji="0" lang="en-GB" sz="1200" b="1" i="0" u="none" strike="noStrike" kern="1200" cap="none" spc="0" normalizeH="0" baseline="0" noProof="0" dirty="0">
              <a:ln>
                <a:noFill/>
              </a:ln>
              <a:solidFill>
                <a:srgbClr val="004D7A"/>
              </a:solidFill>
              <a:effectLst/>
              <a:uLnTx/>
              <a:uFillTx/>
              <a:latin typeface="Raleway"/>
              <a:ea typeface="+mn-ea"/>
              <a:cs typeface="+mn-cs"/>
            </a:endParaRP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4D7A"/>
                </a:solidFill>
                <a:effectLst/>
                <a:uLnTx/>
                <a:uFillTx/>
                <a:latin typeface="Raleway"/>
                <a:ea typeface="+mn-ea"/>
                <a:cs typeface="+mn-cs"/>
              </a:rPr>
              <a:t>$200B annual insurance losses from water-driven events projected by 2034.</a:t>
            </a:r>
          </a:p>
          <a:p>
            <a:pPr marL="0" marR="0" lvl="0" indent="0" algn="l" defTabSz="914400" rtl="0" eaLnBrk="1" fontAlgn="t" latinLnBrk="0" hangingPunct="1">
              <a:lnSpc>
                <a:spcPct val="150000"/>
              </a:lnSpc>
              <a:spcBef>
                <a:spcPts val="0"/>
              </a:spcBef>
              <a:spcAft>
                <a:spcPts val="0"/>
              </a:spcAft>
              <a:buClrTx/>
              <a:buSzTx/>
              <a:buFontTx/>
              <a:buNone/>
              <a:tabLst/>
              <a:defRPr/>
            </a:pPr>
            <a:r>
              <a:rPr kumimoji="0" lang="en-GB" sz="1200" i="0" u="none" strike="noStrike" kern="1200" cap="none" spc="0" normalizeH="0" baseline="0" noProof="0" dirty="0">
                <a:ln>
                  <a:noFill/>
                </a:ln>
                <a:solidFill>
                  <a:srgbClr val="004D7A"/>
                </a:solidFill>
                <a:effectLst/>
                <a:uLnTx/>
                <a:uFillTx/>
                <a:latin typeface="Raleway"/>
                <a:ea typeface="+mn-ea"/>
                <a:cs typeface="+mn-cs"/>
              </a:rPr>
              <a:t>(WEF Water Futures: Mobilizing Multi-Stakeholder Action for Resilience 2025)</a:t>
            </a:r>
          </a:p>
        </p:txBody>
      </p:sp>
    </p:spTree>
    <p:extLst>
      <p:ext uri="{BB962C8B-B14F-4D97-AF65-F5344CB8AC3E}">
        <p14:creationId xmlns:p14="http://schemas.microsoft.com/office/powerpoint/2010/main" val="841011205"/>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4886037"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Macro Trends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 name="Rechte verbindingslijn 21">
            <a:extLst>
              <a:ext uri="{FF2B5EF4-FFF2-40B4-BE49-F238E27FC236}">
                <a16:creationId xmlns:a16="http://schemas.microsoft.com/office/drawing/2014/main" id="{958FC242-2A6F-4544-90D5-109B7C6B791A}"/>
              </a:ext>
            </a:extLst>
          </p:cNvPr>
          <p:cNvCxnSpPr>
            <a:cxnSpLocks/>
          </p:cNvCxnSpPr>
          <p:nvPr/>
        </p:nvCxnSpPr>
        <p:spPr>
          <a:xfrm flipV="1">
            <a:off x="8994247" y="1435131"/>
            <a:ext cx="0" cy="4889060"/>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pic>
        <p:nvPicPr>
          <p:cNvPr id="5" name="Content Placeholder 5" descr="A map of the world&#10;&#10;AI-generated content may be incorrect.">
            <a:extLst>
              <a:ext uri="{FF2B5EF4-FFF2-40B4-BE49-F238E27FC236}">
                <a16:creationId xmlns:a16="http://schemas.microsoft.com/office/drawing/2014/main" id="{45853AB3-97B2-0990-EB06-4246F661AD09}"/>
              </a:ext>
            </a:extLst>
          </p:cNvPr>
          <p:cNvPicPr>
            <a:picLocks noChangeAspect="1"/>
          </p:cNvPicPr>
          <p:nvPr/>
        </p:nvPicPr>
        <p:blipFill rotWithShape="1">
          <a:blip r:embed="rId3">
            <a:alphaModFix/>
            <a:extLst>
              <a:ext uri="{28A0092B-C50C-407E-A947-70E740481C1C}">
                <a14:useLocalDpi xmlns:a14="http://schemas.microsoft.com/office/drawing/2010/main" val="0"/>
              </a:ext>
            </a:extLst>
          </a:blip>
          <a:srcRect t="3531"/>
          <a:stretch/>
        </p:blipFill>
        <p:spPr>
          <a:xfrm>
            <a:off x="9338065" y="4833014"/>
            <a:ext cx="2481518" cy="1491177"/>
          </a:xfrm>
          <a:prstGeom prst="roundRect">
            <a:avLst>
              <a:gd name="adj" fmla="val 11321"/>
            </a:avLst>
          </a:prstGeom>
        </p:spPr>
      </p:pic>
      <p:sp>
        <p:nvSpPr>
          <p:cNvPr id="6" name="Afgeronde rechthoek 27">
            <a:extLst>
              <a:ext uri="{FF2B5EF4-FFF2-40B4-BE49-F238E27FC236}">
                <a16:creationId xmlns:a16="http://schemas.microsoft.com/office/drawing/2014/main" id="{9011CDA0-E111-92A3-96E2-EDC5B3CAD1DE}"/>
              </a:ext>
            </a:extLst>
          </p:cNvPr>
          <p:cNvSpPr/>
          <p:nvPr/>
        </p:nvSpPr>
        <p:spPr>
          <a:xfrm>
            <a:off x="9341652" y="1435130"/>
            <a:ext cx="2488110" cy="3193141"/>
          </a:xfrm>
          <a:prstGeom prst="roundRect">
            <a:avLst>
              <a:gd name="adj" fmla="val 10535"/>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white"/>
                </a:solidFill>
                <a:effectLst/>
                <a:uLnTx/>
                <a:uFillTx/>
                <a:latin typeface="Open Sans"/>
                <a:ea typeface="+mn-ea"/>
                <a:cs typeface="+mn-cs"/>
              </a:rPr>
              <a:t>The cost of inaction on water risk 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A726"/>
                </a:solidFill>
                <a:effectLst/>
                <a:uLnTx/>
                <a:uFillTx/>
                <a:latin typeface="Open Sans"/>
                <a:ea typeface="+mn-ea"/>
                <a:cs typeface="+mn-cs"/>
              </a:rPr>
              <a:t>5x higher</a:t>
            </a:r>
            <a:r>
              <a:rPr kumimoji="0" lang="en-GB" sz="1800" b="0" i="0" u="none" strike="noStrike" kern="1200" cap="none" spc="0" normalizeH="0" baseline="0" noProof="0" dirty="0">
                <a:ln>
                  <a:noFill/>
                </a:ln>
                <a:solidFill>
                  <a:srgbClr val="FFA726"/>
                </a:solidFill>
                <a:effectLst/>
                <a:uLnTx/>
                <a:uFillTx/>
                <a:latin typeface="Open Sans"/>
                <a:ea typeface="+mn-ea"/>
                <a:cs typeface="+mn-cs"/>
              </a:rPr>
              <a:t> </a:t>
            </a:r>
            <a:br>
              <a:rPr kumimoji="0" lang="en-GB" sz="1800" b="0" i="0" u="none" strike="noStrike" kern="1200" cap="none" spc="0" normalizeH="0" baseline="0" noProof="0" dirty="0">
                <a:ln>
                  <a:noFill/>
                </a:ln>
                <a:solidFill>
                  <a:prstClr val="white"/>
                </a:solidFill>
                <a:effectLst/>
                <a:uLnTx/>
                <a:uFillTx/>
                <a:latin typeface="Open Sans"/>
                <a:ea typeface="+mn-ea"/>
                <a:cs typeface="+mn-cs"/>
              </a:rPr>
            </a:br>
            <a:r>
              <a:rPr kumimoji="0" lang="en-GB" sz="1800" b="0" i="0" u="none" strike="noStrike" kern="1200" cap="none" spc="0" normalizeH="0" baseline="0" noProof="0" dirty="0">
                <a:ln>
                  <a:noFill/>
                </a:ln>
                <a:solidFill>
                  <a:prstClr val="white"/>
                </a:solidFill>
                <a:effectLst/>
                <a:uLnTx/>
                <a:uFillTx/>
                <a:latin typeface="Open Sans"/>
                <a:ea typeface="+mn-ea"/>
                <a:cs typeface="+mn-cs"/>
              </a:rPr>
              <a:t>than the cost of investment.</a:t>
            </a:r>
          </a:p>
        </p:txBody>
      </p:sp>
      <p:sp>
        <p:nvSpPr>
          <p:cNvPr id="2" name="TextBox 3">
            <a:extLst>
              <a:ext uri="{FF2B5EF4-FFF2-40B4-BE49-F238E27FC236}">
                <a16:creationId xmlns:a16="http://schemas.microsoft.com/office/drawing/2014/main" id="{EC4EE6EC-B282-9236-FFD9-435F618A31D2}"/>
              </a:ext>
            </a:extLst>
          </p:cNvPr>
          <p:cNvSpPr txBox="1"/>
          <p:nvPr/>
        </p:nvSpPr>
        <p:spPr>
          <a:xfrm>
            <a:off x="606521" y="2108860"/>
            <a:ext cx="8237204" cy="4708981"/>
          </a:xfrm>
          <a:prstGeom prst="rect">
            <a:avLst/>
          </a:prstGeom>
          <a:noFill/>
        </p:spPr>
        <p:txBody>
          <a:bodyPr wrap="square" lIns="91440" tIns="45720" rIns="91440" bIns="45720" numCol="2" spcCol="360000" rtlCol="0" anchor="t">
            <a:spAutoFit/>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In 2050, 46% of global GDP will come from regions with high water risk. Climate change exacerbates these risks and directly impacts availability of freshwater. Across the globe, rivers are running dry, aquifers are shrinking. Business and their value chains are dependent on products from agriculture (e.g. food production), freshwater resources as inputs (e.g. beverage companies), and using water for their processes (e.g. data centers). Water stress caused by climate change leads to increased costs, production interruptions and market instability.</a:t>
            </a:r>
            <a:endParaRPr kumimoji="0" lang="en-US" sz="1800" b="0" i="0" u="none" strike="noStrike" kern="1200" cap="none" spc="0" normalizeH="0" baseline="0" noProof="0" dirty="0">
              <a:ln>
                <a:noFill/>
              </a:ln>
              <a:solidFill>
                <a:prstClr val="white"/>
              </a:solidFill>
              <a:effectLst/>
              <a:uLnTx/>
              <a:uFillTx/>
              <a:latin typeface="Open Sans"/>
              <a:ea typeface="Open Sans"/>
              <a:cs typeface="Open Sans"/>
            </a:endParaRPr>
          </a:p>
          <a:p>
            <a:pPr marL="171450" marR="0" lvl="0" indent="-171450" algn="l" defTabSz="914400" rtl="0" eaLnBrk="1" fontAlgn="auto" latinLnBrk="0" hangingPunct="1">
              <a:lnSpc>
                <a:spcPts val="154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The WRC has identified the 100 Priority Basins where climate change, water stress, business risk, and social need intersect and where collective action is most urgent and impactful. These basins support communities with access to clean water and sanitation services, local economies, and farms facing supply chain disruptions. </a:t>
            </a:r>
          </a:p>
          <a:p>
            <a:pPr marL="0" marR="0" lvl="0" indent="0" algn="l" defTabSz="914400" rtl="0" eaLnBrk="1" fontAlgn="auto" latinLnBrk="0" hangingPunct="1">
              <a:lnSpc>
                <a:spcPts val="1540"/>
              </a:lnSpc>
              <a:spcBef>
                <a:spcPts val="0"/>
              </a:spcBef>
              <a:spcAft>
                <a:spcPts val="0"/>
              </a:spcAft>
              <a:buClrTx/>
              <a:buSzTx/>
              <a:buFontTx/>
              <a:buNone/>
              <a:tabLst/>
              <a:defRPr/>
            </a:pPr>
            <a:endParaRPr lang="en-US" sz="1200" dirty="0">
              <a:solidFill>
                <a:prstClr val="white"/>
              </a:solidFill>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lang="en-US" sz="1200" dirty="0">
              <a:solidFill>
                <a:prstClr val="white"/>
              </a:solidFill>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lang="en-US" sz="1200" dirty="0">
              <a:solidFill>
                <a:prstClr val="white"/>
              </a:solidFill>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rPr>
              <a:t>Each priority basin represents an area of:</a:t>
            </a:r>
          </a:p>
          <a:p>
            <a:pPr marL="228600" marR="0" lvl="0" indent="-228600" algn="l" defTabSz="914400" rtl="0" eaLnBrk="1" fontAlgn="auto" latinLnBrk="0" hangingPunct="1">
              <a:lnSpc>
                <a:spcPts val="154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High water risk</a:t>
            </a: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where scarcity or pollution threatens both communities and economies.</a:t>
            </a:r>
          </a:p>
          <a:p>
            <a:pPr marL="228600" marR="0" lvl="0" indent="-228600" algn="l" defTabSz="914400" rtl="0" eaLnBrk="1" fontAlgn="auto" latinLnBrk="0" hangingPunct="1">
              <a:lnSpc>
                <a:spcPts val="154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Shared responsibility</a:t>
            </a: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where no stakeholder can make a difference alone.</a:t>
            </a:r>
          </a:p>
          <a:p>
            <a:pPr marL="228600" marR="0" lvl="0" indent="-228600" algn="l" defTabSz="914400" rtl="0" eaLnBrk="1" fontAlgn="auto" latinLnBrk="0" hangingPunct="1">
              <a:lnSpc>
                <a:spcPts val="1540"/>
              </a:lnSpc>
              <a:spcBef>
                <a:spcPts val="0"/>
              </a:spcBef>
              <a:spcAft>
                <a:spcPts val="0"/>
              </a:spcAft>
              <a:buClrTx/>
              <a:buSzTx/>
              <a:buFont typeface="+mj-lt"/>
              <a:buAutoNum type="arabicPeriod"/>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Opportunities for resilience</a:t>
            </a: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where solutions exist and can be scaled for positive impact. </a:t>
            </a:r>
            <a:endParaRPr kumimoji="0" lang="en-US" sz="18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Adaptation</a:t>
            </a: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In a world where usable water will become scarcer due to climate change, </a:t>
            </a:r>
            <a:r>
              <a:rPr kumimoji="0" lang="en-US" sz="1200" b="0" i="0" u="none" strike="noStrike" kern="1200" cap="none" spc="0" normalizeH="0" baseline="0" noProof="0" dirty="0">
                <a:ln>
                  <a:noFill/>
                </a:ln>
                <a:solidFill>
                  <a:srgbClr val="FFFFFF"/>
                </a:solidFill>
                <a:effectLst/>
                <a:uLnTx/>
                <a:uFillTx/>
                <a:latin typeface="Open Sans"/>
                <a:ea typeface="Open Sans"/>
                <a:cs typeface="Open Sans"/>
              </a:rPr>
              <a:t>adaptation is essential</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 </a:t>
            </a:r>
            <a:r>
              <a:rPr kumimoji="0" lang="en-US" sz="1200" b="0" i="0" u="none" strike="noStrike" kern="1200" cap="none" spc="0" normalizeH="0" baseline="0" noProof="0" dirty="0">
                <a:ln>
                  <a:noFill/>
                </a:ln>
                <a:solidFill>
                  <a:srgbClr val="FFFFFF"/>
                </a:solidFill>
                <a:effectLst/>
                <a:uLnTx/>
                <a:uFillTx/>
                <a:latin typeface="Open Sans"/>
                <a:ea typeface="Open Sans"/>
                <a:cs typeface="Open Sans"/>
              </a:rPr>
              <a:t>Through</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 investing in better water management of </a:t>
            </a:r>
            <a:r>
              <a:rPr kumimoji="0" lang="en-US" sz="1200" b="0" i="0" u="none" strike="noStrike" kern="1200" cap="none" spc="0" normalizeH="0" baseline="0" noProof="0" dirty="0">
                <a:ln>
                  <a:noFill/>
                </a:ln>
                <a:solidFill>
                  <a:srgbClr val="FFFFFF"/>
                </a:solidFill>
                <a:effectLst/>
                <a:uLnTx/>
                <a:uFillTx/>
                <a:latin typeface="Open Sans"/>
                <a:ea typeface="Open Sans"/>
                <a:cs typeface="Open Sans"/>
              </a:rPr>
              <a:t>key water basins,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sustainable </a:t>
            </a:r>
            <a:r>
              <a:rPr kumimoji="0" lang="en-US" sz="1200" b="0" i="0" u="none" strike="noStrike" kern="1200" cap="none" spc="0" normalizeH="0" baseline="0" noProof="0" dirty="0">
                <a:ln>
                  <a:noFill/>
                </a:ln>
                <a:solidFill>
                  <a:srgbClr val="FFFFFF"/>
                </a:solidFill>
                <a:effectLst/>
                <a:uLnTx/>
                <a:uFillTx/>
                <a:latin typeface="Open Sans"/>
                <a:ea typeface="Open Sans"/>
                <a:cs typeface="Open Sans"/>
              </a:rPr>
              <a:t>water use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in </a:t>
            </a:r>
            <a:r>
              <a:rPr kumimoji="0" lang="en-US" sz="1200" b="0" i="0" u="none" strike="noStrike" kern="1200" cap="none" spc="0" normalizeH="0" baseline="0" noProof="0" dirty="0">
                <a:ln>
                  <a:noFill/>
                </a:ln>
                <a:solidFill>
                  <a:srgbClr val="FFFFFF"/>
                </a:solidFill>
                <a:effectLst/>
                <a:uLnTx/>
                <a:uFillTx/>
                <a:latin typeface="Open Sans"/>
                <a:ea typeface="Open Sans"/>
                <a:cs typeface="Open Sans"/>
              </a:rPr>
              <a:t>value chains, water treatment,</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 and provision of safe water and sanitation to communities. </a:t>
            </a:r>
            <a:endParaRPr kumimoji="0" lang="en-US" sz="18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ts val="154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Resilience</a:t>
            </a: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Additionally, sudden and slow onset climate events are posing a risks to businesses and their value chains. Making their operations resilient to changing environmental conditions is essential. </a:t>
            </a:r>
            <a:endParaRPr kumimoji="0" lang="en-US" sz="18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3" name="TextBox 29">
            <a:extLst>
              <a:ext uri="{FF2B5EF4-FFF2-40B4-BE49-F238E27FC236}">
                <a16:creationId xmlns:a16="http://schemas.microsoft.com/office/drawing/2014/main" id="{3E9A26E8-36A5-11E2-BFF0-1704B222AE5C}"/>
              </a:ext>
            </a:extLst>
          </p:cNvPr>
          <p:cNvSpPr txBox="1"/>
          <p:nvPr/>
        </p:nvSpPr>
        <p:spPr>
          <a:xfrm>
            <a:off x="580327" y="1387562"/>
            <a:ext cx="743825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Investing in water protects value chains from water stress and increases predictable operations alongside impact returns</a:t>
            </a:r>
          </a:p>
        </p:txBody>
      </p:sp>
    </p:spTree>
    <p:extLst>
      <p:ext uri="{BB962C8B-B14F-4D97-AF65-F5344CB8AC3E}">
        <p14:creationId xmlns:p14="http://schemas.microsoft.com/office/powerpoint/2010/main" val="4046825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Investors invest in markets, then projects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4" name="Rechte verbindingslijn 21">
            <a:extLst>
              <a:ext uri="{FF2B5EF4-FFF2-40B4-BE49-F238E27FC236}">
                <a16:creationId xmlns:a16="http://schemas.microsoft.com/office/drawing/2014/main" id="{958FC242-2A6F-4544-90D5-109B7C6B791A}"/>
              </a:ext>
            </a:extLst>
          </p:cNvPr>
          <p:cNvCxnSpPr>
            <a:cxnSpLocks/>
          </p:cNvCxnSpPr>
          <p:nvPr/>
        </p:nvCxnSpPr>
        <p:spPr>
          <a:xfrm flipV="1">
            <a:off x="8384647" y="1435131"/>
            <a:ext cx="0" cy="4889060"/>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sp>
        <p:nvSpPr>
          <p:cNvPr id="6" name="Afgeronde rechthoek 27">
            <a:extLst>
              <a:ext uri="{FF2B5EF4-FFF2-40B4-BE49-F238E27FC236}">
                <a16:creationId xmlns:a16="http://schemas.microsoft.com/office/drawing/2014/main" id="{9011CDA0-E111-92A3-96E2-EDC5B3CAD1DE}"/>
              </a:ext>
            </a:extLst>
          </p:cNvPr>
          <p:cNvSpPr/>
          <p:nvPr/>
        </p:nvSpPr>
        <p:spPr>
          <a:xfrm>
            <a:off x="8698408" y="1435130"/>
            <a:ext cx="3131354" cy="1665422"/>
          </a:xfrm>
          <a:prstGeom prst="roundRect">
            <a:avLst>
              <a:gd name="adj" fmla="val 10535"/>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Raleway"/>
                <a:ea typeface="+mn-ea"/>
                <a:cs typeface="+mn-cs"/>
              </a:rPr>
              <a:t>Considering the magnitude of the problem we need to work on systemic solutions  in addition to repairing leaking water pipes.</a:t>
            </a:r>
            <a:endParaRPr kumimoji="0" lang="en-US" sz="1600" b="1" i="0" u="none" strike="noStrike" kern="1200" cap="none" spc="0" normalizeH="0" baseline="0" noProof="0" dirty="0">
              <a:ln>
                <a:noFill/>
              </a:ln>
              <a:solidFill>
                <a:srgbClr val="FFFFFF"/>
              </a:solidFill>
              <a:effectLst/>
              <a:uLnTx/>
              <a:uFillTx/>
              <a:latin typeface="Raleway" pitchFamily="2" charset="77"/>
              <a:ea typeface="+mn-ea"/>
              <a:cs typeface="+mn-cs"/>
            </a:endParaRPr>
          </a:p>
        </p:txBody>
      </p:sp>
      <p:sp>
        <p:nvSpPr>
          <p:cNvPr id="2" name="TextBox 3">
            <a:extLst>
              <a:ext uri="{FF2B5EF4-FFF2-40B4-BE49-F238E27FC236}">
                <a16:creationId xmlns:a16="http://schemas.microsoft.com/office/drawing/2014/main" id="{EC4EE6EC-B282-9236-FFD9-435F618A31D2}"/>
              </a:ext>
            </a:extLst>
          </p:cNvPr>
          <p:cNvSpPr txBox="1"/>
          <p:nvPr/>
        </p:nvSpPr>
        <p:spPr>
          <a:xfrm>
            <a:off x="606521" y="2108860"/>
            <a:ext cx="7528484" cy="4315925"/>
          </a:xfrm>
          <a:prstGeom prst="rect">
            <a:avLst/>
          </a:prstGeom>
          <a:noFill/>
        </p:spPr>
        <p:txBody>
          <a:bodyPr wrap="square" lIns="91440" tIns="45720" rIns="91440" bIns="45720" numCol="2" spcCol="360000" rtlCol="0" anchor="t">
            <a:spAutoFit/>
          </a:bodyPr>
          <a:lstStyle/>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Shift in focus: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Water investment is moving beyond traditional WASH solutions toward integrated approaches that deliver combined economic, social, and climate benefits.</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Beyond operations: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Investments extend past core business premises to catalyze solutions across nexus sectors — water, food, energy, industry, and circular economy. This positions companies not only as resilient operators but also as drivers of systemic transformation.</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Opportunity: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This creates a larger pool of transformative solutions that address global market failures while contributing to a water‑resilient future.</a:t>
            </a:r>
            <a:endParaRPr lang="en-US" sz="1200" dirty="0">
              <a:solidFill>
                <a:prstClr val="white"/>
              </a:solidFill>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lang="en-US" sz="1200" dirty="0">
              <a:solidFill>
                <a:prstClr val="white"/>
              </a:solidFill>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ts val="154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B7D6E1"/>
                </a:solidFill>
                <a:effectLst/>
                <a:uLnTx/>
                <a:uFillTx/>
                <a:latin typeface="Open Sans"/>
                <a:ea typeface="Open Sans"/>
                <a:cs typeface="Open Sans"/>
              </a:rPr>
              <a:t>Guiding Principles</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171450" marR="0" lvl="0" indent="-1714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Anchored in core and beyond: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Strengthen resilience within operations while scaling nexus solutions with systemic impact.</a:t>
            </a:r>
          </a:p>
          <a:p>
            <a:pPr marL="171450" marR="0" lvl="0" indent="-1714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Transformational: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Unlock financial and economic value through strategic private‑sector water investments.</a:t>
            </a:r>
          </a:p>
          <a:p>
            <a:pPr marL="171450" marR="0" lvl="0" indent="-1714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Commercially viable: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Ensure investments preserve economic capital and minimize expected losses.</a:t>
            </a:r>
          </a:p>
          <a:p>
            <a:pPr marL="171450" marR="0" lvl="0" indent="-1714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Selective / Additional: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Target market gaps, starting with the challenge and integrating ESG and impact assessments aligned with global standards.</a:t>
            </a:r>
          </a:p>
          <a:p>
            <a:pPr marL="171450" marR="0" lvl="0" indent="-1714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Speed: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Urgency demands rapid execution. Aggregation and programmatic approaches accelerate deployment.</a:t>
            </a:r>
          </a:p>
          <a:p>
            <a:pPr marL="171450" marR="0" lvl="0" indent="-171450" algn="l" defTabSz="914400" rtl="0" eaLnBrk="1" fontAlgn="auto" latinLnBrk="0" hangingPunct="1">
              <a:lnSpc>
                <a:spcPts val="154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srgbClr val="B7D6E1"/>
                </a:solidFill>
                <a:effectLst/>
                <a:uLnTx/>
                <a:uFillTx/>
                <a:latin typeface="Open Sans"/>
                <a:ea typeface="Open Sans"/>
                <a:cs typeface="Open Sans"/>
              </a:rPr>
              <a:t>Partnerships: </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Collaboration is essential. We engage leaders and stakeholders across the resilient water finance space.</a:t>
            </a:r>
          </a:p>
          <a:p>
            <a:pPr marL="0" marR="0" lvl="0" indent="0" algn="l" defTabSz="914400" rtl="0" eaLnBrk="1" fontAlgn="auto" latinLnBrk="0" hangingPunct="1">
              <a:lnSpc>
                <a:spcPts val="154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p:txBody>
      </p:sp>
      <p:sp>
        <p:nvSpPr>
          <p:cNvPr id="3" name="TextBox 29">
            <a:extLst>
              <a:ext uri="{FF2B5EF4-FFF2-40B4-BE49-F238E27FC236}">
                <a16:creationId xmlns:a16="http://schemas.microsoft.com/office/drawing/2014/main" id="{3E9A26E8-36A5-11E2-BFF0-1704B222AE5C}"/>
              </a:ext>
            </a:extLst>
          </p:cNvPr>
          <p:cNvSpPr txBox="1"/>
          <p:nvPr/>
        </p:nvSpPr>
        <p:spPr>
          <a:xfrm>
            <a:off x="580327" y="1387562"/>
            <a:ext cx="743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Water as an investment opportunity</a:t>
            </a:r>
          </a:p>
        </p:txBody>
      </p:sp>
      <p:pic>
        <p:nvPicPr>
          <p:cNvPr id="8" name="Picture 2" descr="A person in a hard hat working on a machine&#10;&#10;AI-generated content may be incorrect.">
            <a:extLst>
              <a:ext uri="{FF2B5EF4-FFF2-40B4-BE49-F238E27FC236}">
                <a16:creationId xmlns:a16="http://schemas.microsoft.com/office/drawing/2014/main" id="{EF9122C1-19C2-3654-B91B-A4DE9EBD840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2598" b="14181"/>
          <a:stretch/>
        </p:blipFill>
        <p:spPr bwMode="auto">
          <a:xfrm>
            <a:off x="8698408" y="3429000"/>
            <a:ext cx="3158501" cy="2904979"/>
          </a:xfrm>
          <a:prstGeom prst="roundRect">
            <a:avLst>
              <a:gd name="adj" fmla="val 5978"/>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43228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5811104"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4D7A"/>
                </a:solidFill>
                <a:effectLst/>
                <a:uLnTx/>
                <a:uFillTx/>
                <a:latin typeface="Raleway"/>
                <a:ea typeface="+mj-ea"/>
                <a:cs typeface="+mj-cs"/>
              </a:rPr>
              <a:t>Core Investment Thesis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Water as an investment opportunity that leverages impact</a:t>
            </a:r>
          </a:p>
        </p:txBody>
      </p:sp>
      <p:sp>
        <p:nvSpPr>
          <p:cNvPr id="4" name="Isosceles Triangle 72">
            <a:extLst>
              <a:ext uri="{FF2B5EF4-FFF2-40B4-BE49-F238E27FC236}">
                <a16:creationId xmlns:a16="http://schemas.microsoft.com/office/drawing/2014/main" id="{AFC19EA6-F50B-E44F-EEA3-59EDFF8D32E2}"/>
              </a:ext>
            </a:extLst>
          </p:cNvPr>
          <p:cNvSpPr/>
          <p:nvPr/>
        </p:nvSpPr>
        <p:spPr>
          <a:xfrm rot="5400000">
            <a:off x="5286593" y="3817899"/>
            <a:ext cx="1834514" cy="258655"/>
          </a:xfrm>
          <a:prstGeom prst="triangle">
            <a:avLst>
              <a:gd name="adj" fmla="val 52872"/>
            </a:avLst>
          </a:prstGeom>
          <a:solidFill>
            <a:srgbClr val="FFB7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Open Sans"/>
              <a:ea typeface="+mn-ea"/>
              <a:cs typeface="+mn-cs"/>
            </a:endParaRPr>
          </a:p>
        </p:txBody>
      </p:sp>
      <p:sp>
        <p:nvSpPr>
          <p:cNvPr id="5" name="TextBox 37">
            <a:extLst>
              <a:ext uri="{FF2B5EF4-FFF2-40B4-BE49-F238E27FC236}">
                <a16:creationId xmlns:a16="http://schemas.microsoft.com/office/drawing/2014/main" id="{F4B16055-2126-F57D-353A-5D91654192A7}"/>
              </a:ext>
            </a:extLst>
          </p:cNvPr>
          <p:cNvSpPr txBox="1"/>
          <p:nvPr/>
        </p:nvSpPr>
        <p:spPr>
          <a:xfrm>
            <a:off x="585555" y="1856935"/>
            <a:ext cx="5379146" cy="4628271"/>
          </a:xfrm>
          <a:prstGeom prst="roundRect">
            <a:avLst>
              <a:gd name="adj" fmla="val 3911"/>
            </a:avLst>
          </a:prstGeom>
          <a:solidFill>
            <a:srgbClr val="FFFFFF"/>
          </a:solidFill>
        </p:spPr>
        <p:txBody>
          <a:bodyPr wrap="square" rtlCol="0" anchor="ctr" anchorCtr="0">
            <a:noAutofit/>
          </a:bodyPr>
          <a:lstStyle/>
          <a:p>
            <a:pPr marR="0" lvl="0" algn="l" defTabSz="914400" rtl="0" eaLnBrk="1" fontAlgn="auto" latinLnBrk="0" hangingPunct="1">
              <a:lnSpc>
                <a:spcPct val="100000"/>
              </a:lnSpc>
              <a:spcBef>
                <a:spcPts val="0"/>
              </a:spcBef>
              <a:spcAft>
                <a:spcPts val="1500"/>
              </a:spcAft>
              <a:buClrTx/>
              <a:buSzTx/>
              <a:tabLst/>
              <a:defRPr/>
            </a:pPr>
            <a:r>
              <a:rPr kumimoji="0" lang="en-US" sz="2000" b="1" i="0" u="none" strike="noStrike" kern="1200" cap="none" spc="0" normalizeH="0" baseline="0" noProof="0" dirty="0">
                <a:ln>
                  <a:noFill/>
                </a:ln>
                <a:solidFill>
                  <a:srgbClr val="173E55"/>
                </a:solidFill>
                <a:effectLst/>
                <a:uLnTx/>
                <a:uFillTx/>
                <a:latin typeface="Raleway" pitchFamily="2" charset="0"/>
                <a:ea typeface="+mn-ea"/>
                <a:cs typeface="+mn-cs"/>
              </a:rPr>
              <a:t>Investment Opportunity</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Essential asset class: </a:t>
            </a:r>
            <a:r>
              <a:rPr kumimoji="0" lang="en-US" sz="1100" b="0" i="0" u="none" strike="noStrike" kern="1200" cap="none" spc="0" normalizeH="0" baseline="0" noProof="0" dirty="0">
                <a:ln>
                  <a:noFill/>
                </a:ln>
                <a:solidFill>
                  <a:srgbClr val="173E55"/>
                </a:solidFill>
                <a:effectLst/>
                <a:uLnTx/>
                <a:uFillTx/>
                <a:latin typeface="Open Sans"/>
                <a:ea typeface="+mn-ea"/>
                <a:cs typeface="+mn-cs"/>
              </a:rPr>
              <a:t>Water is a non-substitutable resource underpinning all economies, making it a resilient long-term investment. Water is integral to over 60% of global gross domestic product (GDP).</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Growing demand–supply gap: </a:t>
            </a:r>
            <a:r>
              <a:rPr kumimoji="0" lang="en-US" sz="1100" b="0" i="0" u="none" strike="noStrike" kern="1200" cap="none" spc="0" normalizeH="0" baseline="0" noProof="0" dirty="0">
                <a:ln>
                  <a:noFill/>
                </a:ln>
                <a:solidFill>
                  <a:srgbClr val="173E55"/>
                </a:solidFill>
                <a:effectLst/>
                <a:uLnTx/>
                <a:uFillTx/>
                <a:latin typeface="Open Sans"/>
                <a:ea typeface="+mn-ea"/>
                <a:cs typeface="+mn-cs"/>
              </a:rPr>
              <a:t>Rising urbanization, industrialization, and climate stress create structural scarcity, driving value in water efficiency, reuse, and infrastructure. By 2030 water demand is expected to outstrip supply by 40%.</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Blended finance opportunity:</a:t>
            </a:r>
            <a:r>
              <a:rPr kumimoji="0" lang="en-US" sz="1100" b="0" i="0" u="none" strike="noStrike" kern="1200" cap="none" spc="0" normalizeH="0" baseline="0" noProof="0" dirty="0">
                <a:ln>
                  <a:noFill/>
                </a:ln>
                <a:solidFill>
                  <a:srgbClr val="173E55"/>
                </a:solidFill>
                <a:effectLst/>
                <a:uLnTx/>
                <a:uFillTx/>
                <a:latin typeface="Open Sans"/>
                <a:ea typeface="+mn-ea"/>
                <a:cs typeface="+mn-cs"/>
              </a:rPr>
              <a:t> To meet SDG commitments, the world needs to mobilize up to USD 7 trillion by 2030 for global water infrastructure. Public–private partnerships and concessional capital can de-risk investments, unlocking private flows into water resilience projects.</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Technology &amp; innovation: </a:t>
            </a:r>
            <a:r>
              <a:rPr kumimoji="0" lang="en-US" sz="1100" b="0" i="0" u="none" strike="noStrike" kern="1200" cap="none" spc="0" normalizeH="0" baseline="0" noProof="0" dirty="0">
                <a:ln>
                  <a:noFill/>
                </a:ln>
                <a:solidFill>
                  <a:srgbClr val="173E55"/>
                </a:solidFill>
                <a:effectLst/>
                <a:uLnTx/>
                <a:uFillTx/>
                <a:latin typeface="Open Sans"/>
                <a:ea typeface="+mn-ea"/>
                <a:cs typeface="+mn-cs"/>
              </a:rPr>
              <a:t>Groundwater is being withdrawn at a rate 3.5 times faster than it is able to replenish itself in some major aquifers. Digital monitoring, desalination, and circular water systems offer scalable solutions with strong commercial potential. </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Policy &amp; regulation tailwinds:</a:t>
            </a:r>
            <a:r>
              <a:rPr kumimoji="0" lang="en-US" sz="1100" b="0" i="0" u="none" strike="noStrike" kern="1200" cap="none" spc="0" normalizeH="0" baseline="0" noProof="0" dirty="0">
                <a:ln>
                  <a:noFill/>
                </a:ln>
                <a:solidFill>
                  <a:srgbClr val="173E55"/>
                </a:solidFill>
                <a:effectLst/>
                <a:uLnTx/>
                <a:uFillTx/>
                <a:latin typeface="Open Sans"/>
                <a:ea typeface="+mn-ea"/>
                <a:cs typeface="+mn-cs"/>
              </a:rPr>
              <a:t> Global commitments (SDGs, Paris Agreement, corporate water disclosure frameworks) are pushing capital toward water-positive investments. </a:t>
            </a:r>
            <a:endParaRPr kumimoji="0" lang="en-GB" sz="1100" b="1" i="0" u="none" strike="noStrike" kern="1200" cap="none" spc="0" normalizeH="0" baseline="0" noProof="0" dirty="0">
              <a:ln>
                <a:noFill/>
              </a:ln>
              <a:solidFill>
                <a:srgbClr val="173E55"/>
              </a:solidFill>
              <a:effectLst/>
              <a:uLnTx/>
              <a:uFillTx/>
              <a:latin typeface="Raleway" pitchFamily="2" charset="77"/>
              <a:ea typeface="Open Sans" panose="020B0606030504020204" pitchFamily="34" charset="0"/>
              <a:cs typeface="Open Sans" panose="020B0606030504020204" pitchFamily="34" charset="0"/>
            </a:endParaRPr>
          </a:p>
        </p:txBody>
      </p:sp>
      <p:sp>
        <p:nvSpPr>
          <p:cNvPr id="6" name="TextBox 37">
            <a:extLst>
              <a:ext uri="{FF2B5EF4-FFF2-40B4-BE49-F238E27FC236}">
                <a16:creationId xmlns:a16="http://schemas.microsoft.com/office/drawing/2014/main" id="{DB3C0AD6-072F-3E46-0E25-EF0855E6FDB3}"/>
              </a:ext>
            </a:extLst>
          </p:cNvPr>
          <p:cNvSpPr txBox="1"/>
          <p:nvPr/>
        </p:nvSpPr>
        <p:spPr>
          <a:xfrm>
            <a:off x="6442997" y="1856935"/>
            <a:ext cx="5379146" cy="4628271"/>
          </a:xfrm>
          <a:prstGeom prst="roundRect">
            <a:avLst>
              <a:gd name="adj" fmla="val 3911"/>
            </a:avLst>
          </a:prstGeom>
          <a:solidFill>
            <a:srgbClr val="FFFFFF"/>
          </a:solidFill>
        </p:spPr>
        <p:txBody>
          <a:bodyPr wrap="square" rtlCol="0" anchor="ctr" anchorCtr="0">
            <a:noAutofit/>
          </a:bodyPr>
          <a:lstStyle/>
          <a:p>
            <a:pPr marR="0" lvl="0" algn="l" defTabSz="914400" rtl="0" eaLnBrk="1" fontAlgn="auto" latinLnBrk="0" hangingPunct="1">
              <a:lnSpc>
                <a:spcPct val="100000"/>
              </a:lnSpc>
              <a:spcBef>
                <a:spcPts val="0"/>
              </a:spcBef>
              <a:spcAft>
                <a:spcPts val="1500"/>
              </a:spcAft>
              <a:buClrTx/>
              <a:buSzTx/>
              <a:tabLst/>
              <a:defRPr/>
            </a:pPr>
            <a:r>
              <a:rPr kumimoji="0" lang="en-US" sz="2000" b="1" i="0" u="none" strike="noStrike" kern="1200" cap="none" spc="0" normalizeH="0" baseline="0" noProof="0" dirty="0">
                <a:ln>
                  <a:noFill/>
                </a:ln>
                <a:solidFill>
                  <a:srgbClr val="173E55"/>
                </a:solidFill>
                <a:effectLst/>
                <a:uLnTx/>
                <a:uFillTx/>
                <a:latin typeface="Raleway" pitchFamily="2" charset="0"/>
                <a:ea typeface="+mn-ea"/>
                <a:cs typeface="+mn-cs"/>
              </a:rPr>
              <a:t>Sustainability and Impact Linkages</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Sustainability and reliability</a:t>
            </a:r>
            <a:r>
              <a:rPr kumimoji="0" lang="en-US" sz="1100" i="0" u="none" strike="noStrike" kern="1200" cap="none" spc="0" normalizeH="0" baseline="0" noProof="0" dirty="0">
                <a:ln>
                  <a:noFill/>
                </a:ln>
                <a:solidFill>
                  <a:srgbClr val="173E55"/>
                </a:solidFill>
                <a:effectLst/>
                <a:uLnTx/>
                <a:uFillTx/>
                <a:latin typeface="Open Sans"/>
                <a:ea typeface="+mn-ea"/>
                <a:cs typeface="+mn-cs"/>
              </a:rPr>
              <a:t>: Investments in water resilience contribute to sustainable and reliable supply systems and reduces vulnerability to droughts, floods, and climate shocks, protecting the business operations as well as communities and ecosystems.</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Economic productivity: </a:t>
            </a:r>
            <a:r>
              <a:rPr kumimoji="0" lang="en-US" sz="1100" i="0" u="none" strike="noStrike" kern="1200" cap="none" spc="0" normalizeH="0" baseline="0" noProof="0" dirty="0">
                <a:ln>
                  <a:noFill/>
                </a:ln>
                <a:solidFill>
                  <a:srgbClr val="173E55"/>
                </a:solidFill>
                <a:effectLst/>
                <a:uLnTx/>
                <a:uFillTx/>
                <a:latin typeface="Open Sans"/>
                <a:ea typeface="+mn-ea"/>
                <a:cs typeface="+mn-cs"/>
              </a:rPr>
              <a:t>Efficient water use in e.g. agriculture and industry boosts yields and competitiveness while lowering environmental footprints.</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Improving water quality:</a:t>
            </a:r>
            <a:r>
              <a:rPr kumimoji="0" lang="en-US" sz="1100" i="0" u="none" strike="noStrike" kern="1200" cap="none" spc="0" normalizeH="0" baseline="0" noProof="0" dirty="0">
                <a:ln>
                  <a:noFill/>
                </a:ln>
                <a:solidFill>
                  <a:srgbClr val="173E55"/>
                </a:solidFill>
                <a:effectLst/>
                <a:uLnTx/>
                <a:uFillTx/>
                <a:latin typeface="Open Sans"/>
                <a:ea typeface="+mn-ea"/>
                <a:cs typeface="+mn-cs"/>
              </a:rPr>
              <a:t> Treatment of agricultural and industrial wastewater, as well as domestic sewage, through the application of new technologies where applicable, improves water quality and leads to expanding safe water access. </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err="1">
                <a:ln>
                  <a:noFill/>
                </a:ln>
                <a:solidFill>
                  <a:srgbClr val="173E55"/>
                </a:solidFill>
                <a:effectLst/>
                <a:uLnTx/>
                <a:uFillTx/>
                <a:latin typeface="Open Sans"/>
                <a:ea typeface="+mn-ea"/>
                <a:cs typeface="+mn-cs"/>
              </a:rPr>
              <a:t>Monetisation</a:t>
            </a:r>
            <a:r>
              <a:rPr kumimoji="0" lang="en-US" sz="1100" b="1" i="0" u="none" strike="noStrike" kern="1200" cap="none" spc="0" normalizeH="0" baseline="0" noProof="0" dirty="0">
                <a:ln>
                  <a:noFill/>
                </a:ln>
                <a:solidFill>
                  <a:srgbClr val="173E55"/>
                </a:solidFill>
                <a:effectLst/>
                <a:uLnTx/>
                <a:uFillTx/>
                <a:latin typeface="Open Sans"/>
                <a:ea typeface="+mn-ea"/>
                <a:cs typeface="+mn-cs"/>
              </a:rPr>
              <a:t> of valuable waste streams:</a:t>
            </a:r>
            <a:r>
              <a:rPr kumimoji="0" lang="en-US" sz="1100" i="0" u="none" strike="noStrike" kern="1200" cap="none" spc="0" normalizeH="0" baseline="0" noProof="0" dirty="0">
                <a:ln>
                  <a:noFill/>
                </a:ln>
                <a:solidFill>
                  <a:srgbClr val="173E55"/>
                </a:solidFill>
                <a:effectLst/>
                <a:uLnTx/>
                <a:uFillTx/>
                <a:latin typeface="Open Sans"/>
                <a:ea typeface="+mn-ea"/>
                <a:cs typeface="+mn-cs"/>
              </a:rPr>
              <a:t> Liquid and solid waste, recycling of plastics can lead to cost reductions.  </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Biodiversity protection: </a:t>
            </a:r>
            <a:r>
              <a:rPr kumimoji="0" lang="en-US" sz="1100" i="0" u="none" strike="noStrike" kern="1200" cap="none" spc="0" normalizeH="0" baseline="0" noProof="0" dirty="0">
                <a:ln>
                  <a:noFill/>
                </a:ln>
                <a:solidFill>
                  <a:srgbClr val="173E55"/>
                </a:solidFill>
                <a:effectLst/>
                <a:uLnTx/>
                <a:uFillTx/>
                <a:latin typeface="Open Sans"/>
                <a:ea typeface="+mn-ea"/>
                <a:cs typeface="+mn-cs"/>
              </a:rPr>
              <a:t>Restoring watersheds and reducing pollution safeguards habitats, aligning with nature-positive investment strategies.</a:t>
            </a:r>
          </a:p>
          <a:p>
            <a:pPr marL="171450" marR="0" lvl="0" indent="-171450" algn="l" defTabSz="914400" rtl="0" eaLnBrk="1" fontAlgn="auto" latinLnBrk="0" hangingPunct="1">
              <a:lnSpc>
                <a:spcPct val="100000"/>
              </a:lnSpc>
              <a:spcBef>
                <a:spcPts val="0"/>
              </a:spcBef>
              <a:spcAft>
                <a:spcPts val="1500"/>
              </a:spcAft>
              <a:buClr>
                <a:srgbClr val="FFA726"/>
              </a:buClr>
              <a:buSzTx/>
              <a:buFont typeface="Courier New" panose="02070309020205020404" pitchFamily="49" charset="0"/>
              <a:buChar char="o"/>
              <a:tabLst/>
              <a:defRPr/>
            </a:pPr>
            <a:r>
              <a:rPr kumimoji="0" lang="en-US" sz="1100" b="1" i="0" u="none" strike="noStrike" kern="1200" cap="none" spc="0" normalizeH="0" baseline="0" noProof="0" dirty="0">
                <a:ln>
                  <a:noFill/>
                </a:ln>
                <a:solidFill>
                  <a:srgbClr val="173E55"/>
                </a:solidFill>
                <a:effectLst/>
                <a:uLnTx/>
                <a:uFillTx/>
                <a:latin typeface="Open Sans"/>
                <a:ea typeface="+mn-ea"/>
                <a:cs typeface="+mn-cs"/>
              </a:rPr>
              <a:t>ESG &amp; corporate value: </a:t>
            </a:r>
            <a:r>
              <a:rPr kumimoji="0" lang="en-US" sz="1100" i="0" u="none" strike="noStrike" kern="1200" cap="none" spc="0" normalizeH="0" baseline="0" noProof="0" dirty="0">
                <a:ln>
                  <a:noFill/>
                </a:ln>
                <a:solidFill>
                  <a:srgbClr val="173E55"/>
                </a:solidFill>
                <a:effectLst/>
                <a:uLnTx/>
                <a:uFillTx/>
                <a:latin typeface="Open Sans"/>
                <a:ea typeface="+mn-ea"/>
                <a:cs typeface="+mn-cs"/>
              </a:rPr>
              <a:t>Strong water stewardship enhances reputational capital, meets investor ESG and sustainability criteria, and drives long-term shareholder value.</a:t>
            </a:r>
            <a:endParaRPr kumimoji="0" lang="en-US" sz="1100" b="1" i="0" u="none" strike="noStrike" kern="1200" cap="none" spc="0" normalizeH="0" baseline="0" noProof="0" dirty="0">
              <a:ln>
                <a:noFill/>
              </a:ln>
              <a:solidFill>
                <a:srgbClr val="173E55"/>
              </a:solidFill>
              <a:effectLst/>
              <a:uLnTx/>
              <a:uFillTx/>
              <a:latin typeface="Open Sans"/>
              <a:ea typeface="+mn-ea"/>
              <a:cs typeface="+mn-cs"/>
            </a:endParaRPr>
          </a:p>
        </p:txBody>
      </p:sp>
      <p:sp>
        <p:nvSpPr>
          <p:cNvPr id="7" name="TextBox 9">
            <a:extLst>
              <a:ext uri="{FF2B5EF4-FFF2-40B4-BE49-F238E27FC236}">
                <a16:creationId xmlns:a16="http://schemas.microsoft.com/office/drawing/2014/main" id="{79FA79C8-C497-C2E9-87C1-4018966F748C}"/>
              </a:ext>
            </a:extLst>
          </p:cNvPr>
          <p:cNvSpPr txBox="1"/>
          <p:nvPr/>
        </p:nvSpPr>
        <p:spPr>
          <a:xfrm>
            <a:off x="509108" y="6520193"/>
            <a:ext cx="6994837"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rgbClr val="173E55"/>
                </a:solidFill>
                <a:effectLst/>
                <a:uLnTx/>
                <a:uFillTx/>
                <a:latin typeface="Open Sans"/>
                <a:ea typeface="+mn-ea"/>
                <a:cs typeface="+mn-cs"/>
              </a:rPr>
              <a:t>Source: Global Commission on the Economics of Water; WWF; Kumar, M., Jangam, C. L., &amp; Singh, S. K.; The World Bank; Guo, Y., et al..</a:t>
            </a:r>
          </a:p>
        </p:txBody>
      </p:sp>
    </p:spTree>
    <p:extLst>
      <p:ext uri="{BB962C8B-B14F-4D97-AF65-F5344CB8AC3E}">
        <p14:creationId xmlns:p14="http://schemas.microsoft.com/office/powerpoint/2010/main" val="8148003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5811104"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4D7A"/>
                </a:solidFill>
                <a:effectLst/>
                <a:uLnTx/>
                <a:uFillTx/>
                <a:latin typeface="Raleway"/>
                <a:ea typeface="+mj-ea"/>
                <a:cs typeface="+mj-cs"/>
              </a:rPr>
              <a:t>Market Size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Water investments beyond direct project investments and on the nexus with other sectors are required to enable transformative solutions</a:t>
            </a:r>
          </a:p>
        </p:txBody>
      </p:sp>
      <p:sp>
        <p:nvSpPr>
          <p:cNvPr id="3" name="TextBox 9">
            <a:extLst>
              <a:ext uri="{FF2B5EF4-FFF2-40B4-BE49-F238E27FC236}">
                <a16:creationId xmlns:a16="http://schemas.microsoft.com/office/drawing/2014/main" id="{BB6A05A1-FE55-45B9-DE46-02EB481812EE}"/>
              </a:ext>
            </a:extLst>
          </p:cNvPr>
          <p:cNvSpPr txBox="1"/>
          <p:nvPr/>
        </p:nvSpPr>
        <p:spPr>
          <a:xfrm>
            <a:off x="643382" y="4572699"/>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Financing opportunities in priority themes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Text (preferably include numbers). Infrastructure, nature based solutions, financial institutions (WASH portfolio), SMEs and ventures.  </a:t>
            </a:r>
          </a:p>
        </p:txBody>
      </p:sp>
      <p:sp>
        <p:nvSpPr>
          <p:cNvPr id="8" name="TextBox 5">
            <a:extLst>
              <a:ext uri="{FF2B5EF4-FFF2-40B4-BE49-F238E27FC236}">
                <a16:creationId xmlns:a16="http://schemas.microsoft.com/office/drawing/2014/main" id="{099D76E7-638C-528F-C866-F551C231B51B}"/>
              </a:ext>
            </a:extLst>
          </p:cNvPr>
          <p:cNvSpPr txBox="1"/>
          <p:nvPr/>
        </p:nvSpPr>
        <p:spPr>
          <a:xfrm>
            <a:off x="627348" y="2035024"/>
            <a:ext cx="7180221" cy="10464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Global water-related economy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The estimated revenues of the global water related economy are USD x. This consists of 1) all economic handling activities in which water is a major process input (USD x), 2) all economic activities that depend on water (USD x), 3) water related equipment and services (USD x) and 4) water treatment and distribution (USD x).    </a:t>
            </a:r>
          </a:p>
        </p:txBody>
      </p:sp>
      <p:sp>
        <p:nvSpPr>
          <p:cNvPr id="9" name="TextBox 16">
            <a:extLst>
              <a:ext uri="{FF2B5EF4-FFF2-40B4-BE49-F238E27FC236}">
                <a16:creationId xmlns:a16="http://schemas.microsoft.com/office/drawing/2014/main" id="{B059AABE-3B02-89B8-D3AC-B08340477EF8}"/>
              </a:ext>
            </a:extLst>
          </p:cNvPr>
          <p:cNvSpPr txBox="1"/>
          <p:nvPr/>
        </p:nvSpPr>
        <p:spPr>
          <a:xfrm>
            <a:off x="627348" y="3375010"/>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73E55"/>
                </a:solidFill>
                <a:effectLst/>
                <a:uLnTx/>
                <a:uFillTx/>
                <a:latin typeface="Raleway" pitchFamily="2" charset="77"/>
                <a:ea typeface="+mn-ea"/>
                <a:cs typeface="+mn-cs"/>
              </a:rPr>
              <a:t>Financing opportunities in priority sectors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In addition to the water sector itself, priority sectors that are heavily dependent on water include, but are not limited to consumer goods, textiles, agriculture and tech. </a:t>
            </a:r>
          </a:p>
        </p:txBody>
      </p:sp>
      <p:sp>
        <p:nvSpPr>
          <p:cNvPr id="17" name="AutoShape 2">
            <a:extLst>
              <a:ext uri="{FF2B5EF4-FFF2-40B4-BE49-F238E27FC236}">
                <a16:creationId xmlns:a16="http://schemas.microsoft.com/office/drawing/2014/main" id="{8FDFBDB5-DFAC-9F42-56BD-CCA2EDCA131D}"/>
              </a:ext>
            </a:extLst>
          </p:cNvPr>
          <p:cNvSpPr/>
          <p:nvPr/>
        </p:nvSpPr>
        <p:spPr>
          <a:xfrm>
            <a:off x="732919" y="3198386"/>
            <a:ext cx="7090684"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8" name="AutoShape 2">
            <a:extLst>
              <a:ext uri="{FF2B5EF4-FFF2-40B4-BE49-F238E27FC236}">
                <a16:creationId xmlns:a16="http://schemas.microsoft.com/office/drawing/2014/main" id="{959547E3-0A88-F389-D859-4ABB28F417AF}"/>
              </a:ext>
            </a:extLst>
          </p:cNvPr>
          <p:cNvSpPr/>
          <p:nvPr/>
        </p:nvSpPr>
        <p:spPr>
          <a:xfrm>
            <a:off x="732918" y="4313489"/>
            <a:ext cx="7074651"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9" name="AutoShape 2">
            <a:extLst>
              <a:ext uri="{FF2B5EF4-FFF2-40B4-BE49-F238E27FC236}">
                <a16:creationId xmlns:a16="http://schemas.microsoft.com/office/drawing/2014/main" id="{AE605F28-204F-8622-2407-7031359BD7E1}"/>
              </a:ext>
            </a:extLst>
          </p:cNvPr>
          <p:cNvSpPr/>
          <p:nvPr/>
        </p:nvSpPr>
        <p:spPr>
          <a:xfrm>
            <a:off x="732918" y="5543353"/>
            <a:ext cx="7090685"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20" name="TextBox 4">
            <a:extLst>
              <a:ext uri="{FF2B5EF4-FFF2-40B4-BE49-F238E27FC236}">
                <a16:creationId xmlns:a16="http://schemas.microsoft.com/office/drawing/2014/main" id="{1AF32777-7F77-F3F3-73DA-E6C3A16ECFC9}"/>
              </a:ext>
            </a:extLst>
          </p:cNvPr>
          <p:cNvSpPr txBox="1"/>
          <p:nvPr/>
        </p:nvSpPr>
        <p:spPr>
          <a:xfrm>
            <a:off x="643382" y="57599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Financing opportunities in priority basins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Text (preferably include numbers)</a:t>
            </a:r>
          </a:p>
        </p:txBody>
      </p:sp>
      <p:sp>
        <p:nvSpPr>
          <p:cNvPr id="21" name="TextBox 19">
            <a:extLst>
              <a:ext uri="{FF2B5EF4-FFF2-40B4-BE49-F238E27FC236}">
                <a16:creationId xmlns:a16="http://schemas.microsoft.com/office/drawing/2014/main" id="{7540D03A-FCEF-C778-92EB-D04943A66479}"/>
              </a:ext>
            </a:extLst>
          </p:cNvPr>
          <p:cNvSpPr txBox="1"/>
          <p:nvPr/>
        </p:nvSpPr>
        <p:spPr>
          <a:xfrm>
            <a:off x="8271803" y="1167629"/>
            <a:ext cx="3557963" cy="5078313"/>
          </a:xfrm>
          <a:prstGeom prst="rect">
            <a:avLst/>
          </a:prstGeom>
          <a:noFill/>
          <a:ln>
            <a:solidFill>
              <a:srgbClr val="173E55"/>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Insert figure / diagrams.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KE" sz="1200" b="0" i="0" u="none" strike="noStrike" kern="1200" cap="none" spc="0" normalizeH="0" baseline="0" noProof="0" dirty="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957903057"/>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7D6E1"/>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5811104"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Market Size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Open Sans"/>
                <a:ea typeface="+mn-ea"/>
                <a:cs typeface="+mn-cs"/>
              </a:rPr>
              <a:t>Water investments beyond direct project investments and on the nexus with other sectors are required to enable transformative solutions</a:t>
            </a:r>
          </a:p>
        </p:txBody>
      </p:sp>
      <p:sp>
        <p:nvSpPr>
          <p:cNvPr id="3" name="TextBox 9">
            <a:extLst>
              <a:ext uri="{FF2B5EF4-FFF2-40B4-BE49-F238E27FC236}">
                <a16:creationId xmlns:a16="http://schemas.microsoft.com/office/drawing/2014/main" id="{BB6A05A1-FE55-45B9-DE46-02EB481812EE}"/>
              </a:ext>
            </a:extLst>
          </p:cNvPr>
          <p:cNvSpPr txBox="1"/>
          <p:nvPr/>
        </p:nvSpPr>
        <p:spPr>
          <a:xfrm>
            <a:off x="643382" y="4572699"/>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Financing opportunities in priority themes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Text (preferably include numbers). Infrastructure, nature based solutions, financial institutions (WASH portfolio), SMEs and ventures.  </a:t>
            </a:r>
          </a:p>
        </p:txBody>
      </p:sp>
      <p:sp>
        <p:nvSpPr>
          <p:cNvPr id="8" name="TextBox 5">
            <a:extLst>
              <a:ext uri="{FF2B5EF4-FFF2-40B4-BE49-F238E27FC236}">
                <a16:creationId xmlns:a16="http://schemas.microsoft.com/office/drawing/2014/main" id="{099D76E7-638C-528F-C866-F551C231B51B}"/>
              </a:ext>
            </a:extLst>
          </p:cNvPr>
          <p:cNvSpPr txBox="1"/>
          <p:nvPr/>
        </p:nvSpPr>
        <p:spPr>
          <a:xfrm>
            <a:off x="627348" y="2035024"/>
            <a:ext cx="7180221" cy="10464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Global water-related economy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The estimated revenues of the global water related economy are USD x. This consists of 1) all economic handling activities in which water is a major process input (USD x), 2) all economic activities that depend on water (USD x), 3) water related equipment and services (USD x) and 4) water treatment and distribution (USD x).    </a:t>
            </a:r>
          </a:p>
        </p:txBody>
      </p:sp>
      <p:sp>
        <p:nvSpPr>
          <p:cNvPr id="9" name="TextBox 16">
            <a:extLst>
              <a:ext uri="{FF2B5EF4-FFF2-40B4-BE49-F238E27FC236}">
                <a16:creationId xmlns:a16="http://schemas.microsoft.com/office/drawing/2014/main" id="{B059AABE-3B02-89B8-D3AC-B08340477EF8}"/>
              </a:ext>
            </a:extLst>
          </p:cNvPr>
          <p:cNvSpPr txBox="1"/>
          <p:nvPr/>
        </p:nvSpPr>
        <p:spPr>
          <a:xfrm>
            <a:off x="627348" y="3375010"/>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73E55"/>
                </a:solidFill>
                <a:effectLst/>
                <a:uLnTx/>
                <a:uFillTx/>
                <a:latin typeface="Raleway" pitchFamily="2" charset="77"/>
                <a:ea typeface="+mn-ea"/>
                <a:cs typeface="+mn-cs"/>
              </a:rPr>
              <a:t>Financing opportunities in priority sectors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In addition to the water sector itself, priority sectors that are heavily dependent on water include, but are not limited to consumer goods, textiles, agriculture and tech. </a:t>
            </a:r>
          </a:p>
        </p:txBody>
      </p:sp>
      <p:sp>
        <p:nvSpPr>
          <p:cNvPr id="17" name="AutoShape 2">
            <a:extLst>
              <a:ext uri="{FF2B5EF4-FFF2-40B4-BE49-F238E27FC236}">
                <a16:creationId xmlns:a16="http://schemas.microsoft.com/office/drawing/2014/main" id="{8FDFBDB5-DFAC-9F42-56BD-CCA2EDCA131D}"/>
              </a:ext>
            </a:extLst>
          </p:cNvPr>
          <p:cNvSpPr/>
          <p:nvPr/>
        </p:nvSpPr>
        <p:spPr>
          <a:xfrm>
            <a:off x="732919" y="3198386"/>
            <a:ext cx="7090684" cy="0"/>
          </a:xfrm>
          <a:prstGeom prst="line">
            <a:avLst/>
          </a:prstGeom>
          <a:ln w="12700"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8" name="AutoShape 2">
            <a:extLst>
              <a:ext uri="{FF2B5EF4-FFF2-40B4-BE49-F238E27FC236}">
                <a16:creationId xmlns:a16="http://schemas.microsoft.com/office/drawing/2014/main" id="{959547E3-0A88-F389-D859-4ABB28F417AF}"/>
              </a:ext>
            </a:extLst>
          </p:cNvPr>
          <p:cNvSpPr/>
          <p:nvPr/>
        </p:nvSpPr>
        <p:spPr>
          <a:xfrm>
            <a:off x="732918" y="4313489"/>
            <a:ext cx="7074651" cy="0"/>
          </a:xfrm>
          <a:prstGeom prst="line">
            <a:avLst/>
          </a:prstGeom>
          <a:ln w="12700"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9" name="AutoShape 2">
            <a:extLst>
              <a:ext uri="{FF2B5EF4-FFF2-40B4-BE49-F238E27FC236}">
                <a16:creationId xmlns:a16="http://schemas.microsoft.com/office/drawing/2014/main" id="{AE605F28-204F-8622-2407-7031359BD7E1}"/>
              </a:ext>
            </a:extLst>
          </p:cNvPr>
          <p:cNvSpPr/>
          <p:nvPr/>
        </p:nvSpPr>
        <p:spPr>
          <a:xfrm>
            <a:off x="732918" y="5543353"/>
            <a:ext cx="7090685" cy="0"/>
          </a:xfrm>
          <a:prstGeom prst="line">
            <a:avLst/>
          </a:prstGeom>
          <a:ln w="12700" cap="rnd">
            <a:solidFill>
              <a:srgbClr val="FFFFFF"/>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20" name="TextBox 4">
            <a:extLst>
              <a:ext uri="{FF2B5EF4-FFF2-40B4-BE49-F238E27FC236}">
                <a16:creationId xmlns:a16="http://schemas.microsoft.com/office/drawing/2014/main" id="{1AF32777-7F77-F3F3-73DA-E6C3A16ECFC9}"/>
              </a:ext>
            </a:extLst>
          </p:cNvPr>
          <p:cNvSpPr txBox="1"/>
          <p:nvPr/>
        </p:nvSpPr>
        <p:spPr>
          <a:xfrm>
            <a:off x="643382" y="57599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Financing opportunities in priority basins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173E55"/>
                </a:solidFill>
                <a:effectLst/>
                <a:uLnTx/>
                <a:uFillTx/>
                <a:latin typeface="Open Sans"/>
                <a:ea typeface="+mn-ea"/>
                <a:cs typeface="+mn-cs"/>
              </a:rPr>
              <a:t>Text (preferably include numbers)</a:t>
            </a:r>
          </a:p>
        </p:txBody>
      </p:sp>
      <p:sp>
        <p:nvSpPr>
          <p:cNvPr id="21" name="TextBox 19">
            <a:extLst>
              <a:ext uri="{FF2B5EF4-FFF2-40B4-BE49-F238E27FC236}">
                <a16:creationId xmlns:a16="http://schemas.microsoft.com/office/drawing/2014/main" id="{7540D03A-FCEF-C778-92EB-D04943A66479}"/>
              </a:ext>
            </a:extLst>
          </p:cNvPr>
          <p:cNvSpPr txBox="1"/>
          <p:nvPr/>
        </p:nvSpPr>
        <p:spPr>
          <a:xfrm>
            <a:off x="8271803" y="1167629"/>
            <a:ext cx="3557963" cy="5078313"/>
          </a:xfrm>
          <a:prstGeom prst="rect">
            <a:avLst/>
          </a:prstGeom>
          <a:noFill/>
          <a:ln>
            <a:solidFill>
              <a:srgbClr val="173E55"/>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Insert figure / diagrams.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prstClr val="white"/>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KE" sz="1200" b="0" i="0" u="none" strike="noStrike" kern="1200" cap="none" spc="0" normalizeH="0" baseline="0" noProof="0" dirty="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253583887"/>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5811104"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Market Size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Water investments beyond direct project investments and on the nexus with other sectors are required to enable transformative solutions</a:t>
            </a:r>
          </a:p>
        </p:txBody>
      </p:sp>
      <p:sp>
        <p:nvSpPr>
          <p:cNvPr id="3" name="TextBox 9">
            <a:extLst>
              <a:ext uri="{FF2B5EF4-FFF2-40B4-BE49-F238E27FC236}">
                <a16:creationId xmlns:a16="http://schemas.microsoft.com/office/drawing/2014/main" id="{BB6A05A1-FE55-45B9-DE46-02EB481812EE}"/>
              </a:ext>
            </a:extLst>
          </p:cNvPr>
          <p:cNvSpPr txBox="1"/>
          <p:nvPr/>
        </p:nvSpPr>
        <p:spPr>
          <a:xfrm>
            <a:off x="643382" y="4572699"/>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Financing opportunities in priority themes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Text (preferably include numbers). Infrastructure, nature based solutions, financial institutions (WASH portfolio), SMEs and ventures.  </a:t>
            </a:r>
          </a:p>
        </p:txBody>
      </p:sp>
      <p:sp>
        <p:nvSpPr>
          <p:cNvPr id="8" name="TextBox 5">
            <a:extLst>
              <a:ext uri="{FF2B5EF4-FFF2-40B4-BE49-F238E27FC236}">
                <a16:creationId xmlns:a16="http://schemas.microsoft.com/office/drawing/2014/main" id="{099D76E7-638C-528F-C866-F551C231B51B}"/>
              </a:ext>
            </a:extLst>
          </p:cNvPr>
          <p:cNvSpPr txBox="1"/>
          <p:nvPr/>
        </p:nvSpPr>
        <p:spPr>
          <a:xfrm>
            <a:off x="627348" y="2035024"/>
            <a:ext cx="7180221" cy="10464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Global water-related economy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The estimated revenues of the global water related economy are USD x. This consists of 1) all economic handling activities in which water is a major process input (USD x), 2) all economic activities that depend on water (USD x), 3) water related equipment and services (USD x) and 4) water treatment and distribution (USD x).    </a:t>
            </a:r>
          </a:p>
        </p:txBody>
      </p:sp>
      <p:sp>
        <p:nvSpPr>
          <p:cNvPr id="9" name="TextBox 16">
            <a:extLst>
              <a:ext uri="{FF2B5EF4-FFF2-40B4-BE49-F238E27FC236}">
                <a16:creationId xmlns:a16="http://schemas.microsoft.com/office/drawing/2014/main" id="{B059AABE-3B02-89B8-D3AC-B08340477EF8}"/>
              </a:ext>
            </a:extLst>
          </p:cNvPr>
          <p:cNvSpPr txBox="1"/>
          <p:nvPr/>
        </p:nvSpPr>
        <p:spPr>
          <a:xfrm>
            <a:off x="627348" y="3375010"/>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Raleway" pitchFamily="2" charset="77"/>
                <a:ea typeface="+mn-ea"/>
                <a:cs typeface="+mn-cs"/>
              </a:rPr>
              <a:t>Financing opportunities in priority sectors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In addition to the water sector itself, priority sectors that are heavily dependent on water include, but are not limited to consumer goods, textiles, agriculture and tech. </a:t>
            </a:r>
          </a:p>
        </p:txBody>
      </p:sp>
      <p:sp>
        <p:nvSpPr>
          <p:cNvPr id="17" name="AutoShape 2">
            <a:extLst>
              <a:ext uri="{FF2B5EF4-FFF2-40B4-BE49-F238E27FC236}">
                <a16:creationId xmlns:a16="http://schemas.microsoft.com/office/drawing/2014/main" id="{8FDFBDB5-DFAC-9F42-56BD-CCA2EDCA131D}"/>
              </a:ext>
            </a:extLst>
          </p:cNvPr>
          <p:cNvSpPr/>
          <p:nvPr/>
        </p:nvSpPr>
        <p:spPr>
          <a:xfrm>
            <a:off x="732919" y="3198386"/>
            <a:ext cx="7090684"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8" name="AutoShape 2">
            <a:extLst>
              <a:ext uri="{FF2B5EF4-FFF2-40B4-BE49-F238E27FC236}">
                <a16:creationId xmlns:a16="http://schemas.microsoft.com/office/drawing/2014/main" id="{959547E3-0A88-F389-D859-4ABB28F417AF}"/>
              </a:ext>
            </a:extLst>
          </p:cNvPr>
          <p:cNvSpPr/>
          <p:nvPr/>
        </p:nvSpPr>
        <p:spPr>
          <a:xfrm>
            <a:off x="732918" y="4313489"/>
            <a:ext cx="7074651"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9" name="AutoShape 2">
            <a:extLst>
              <a:ext uri="{FF2B5EF4-FFF2-40B4-BE49-F238E27FC236}">
                <a16:creationId xmlns:a16="http://schemas.microsoft.com/office/drawing/2014/main" id="{AE605F28-204F-8622-2407-7031359BD7E1}"/>
              </a:ext>
            </a:extLst>
          </p:cNvPr>
          <p:cNvSpPr/>
          <p:nvPr/>
        </p:nvSpPr>
        <p:spPr>
          <a:xfrm>
            <a:off x="732918" y="5543353"/>
            <a:ext cx="7090685"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20" name="TextBox 4">
            <a:extLst>
              <a:ext uri="{FF2B5EF4-FFF2-40B4-BE49-F238E27FC236}">
                <a16:creationId xmlns:a16="http://schemas.microsoft.com/office/drawing/2014/main" id="{1AF32777-7F77-F3F3-73DA-E6C3A16ECFC9}"/>
              </a:ext>
            </a:extLst>
          </p:cNvPr>
          <p:cNvSpPr txBox="1"/>
          <p:nvPr/>
        </p:nvSpPr>
        <p:spPr>
          <a:xfrm>
            <a:off x="643382" y="57599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Financing opportunities in priority basins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Text (preferably include numbers)</a:t>
            </a:r>
          </a:p>
        </p:txBody>
      </p:sp>
      <p:sp>
        <p:nvSpPr>
          <p:cNvPr id="21" name="TextBox 19">
            <a:extLst>
              <a:ext uri="{FF2B5EF4-FFF2-40B4-BE49-F238E27FC236}">
                <a16:creationId xmlns:a16="http://schemas.microsoft.com/office/drawing/2014/main" id="{7540D03A-FCEF-C778-92EB-D04943A66479}"/>
              </a:ext>
            </a:extLst>
          </p:cNvPr>
          <p:cNvSpPr txBox="1"/>
          <p:nvPr/>
        </p:nvSpPr>
        <p:spPr>
          <a:xfrm>
            <a:off x="8271803" y="1167629"/>
            <a:ext cx="3557963" cy="5078313"/>
          </a:xfrm>
          <a:prstGeom prst="rect">
            <a:avLst/>
          </a:prstGeom>
          <a:noFill/>
          <a:ln>
            <a:solidFill>
              <a:schemeClr val="tx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Open Sans"/>
                <a:ea typeface="+mn-ea"/>
                <a:cs typeface="+mn-cs"/>
              </a:rPr>
              <a:t>Insert figure / diagrams.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FFFFF"/>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FFFFF"/>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FFFFFF"/>
              </a:solidFill>
              <a:latin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KE" sz="1200" b="0" i="0" u="none" strike="noStrike" kern="1200" cap="none" spc="0" normalizeH="0" baseline="0" noProof="0" dirty="0">
              <a:ln>
                <a:noFill/>
              </a:ln>
              <a:solidFill>
                <a:srgbClr val="FFFFFF"/>
              </a:solidFill>
              <a:effectLst/>
              <a:uLnTx/>
              <a:uFillTx/>
              <a:latin typeface="Open Sans"/>
              <a:ea typeface="+mn-ea"/>
              <a:cs typeface="+mn-cs"/>
            </a:endParaRPr>
          </a:p>
        </p:txBody>
      </p:sp>
    </p:spTree>
    <p:extLst>
      <p:ext uri="{BB962C8B-B14F-4D97-AF65-F5344CB8AC3E}">
        <p14:creationId xmlns:p14="http://schemas.microsoft.com/office/powerpoint/2010/main" val="3480728666"/>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5811104"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Investment Opportunity</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6" name="Table 1">
            <a:extLst>
              <a:ext uri="{FF2B5EF4-FFF2-40B4-BE49-F238E27FC236}">
                <a16:creationId xmlns:a16="http://schemas.microsoft.com/office/drawing/2014/main" id="{80ED5C9C-88CE-3996-EEF4-BCD52B1585F8}"/>
              </a:ext>
            </a:extLst>
          </p:cNvPr>
          <p:cNvGraphicFramePr>
            <a:graphicFrameLocks noGrp="1"/>
          </p:cNvGraphicFramePr>
          <p:nvPr>
            <p:extLst>
              <p:ext uri="{D42A27DB-BD31-4B8C-83A1-F6EECF244321}">
                <p14:modId xmlns:p14="http://schemas.microsoft.com/office/powerpoint/2010/main" val="1977191617"/>
              </p:ext>
            </p:extLst>
          </p:nvPr>
        </p:nvGraphicFramePr>
        <p:xfrm>
          <a:off x="630132" y="1831206"/>
          <a:ext cx="11161899" cy="4760995"/>
        </p:xfrm>
        <a:graphic>
          <a:graphicData uri="http://schemas.openxmlformats.org/drawingml/2006/table">
            <a:tbl>
              <a:tblPr firstRow="1" bandRow="1">
                <a:tableStyleId>{5C22544A-7EE6-4342-B048-85BDC9FD1C3A}</a:tableStyleId>
              </a:tblPr>
              <a:tblGrid>
                <a:gridCol w="1535747">
                  <a:extLst>
                    <a:ext uri="{9D8B030D-6E8A-4147-A177-3AD203B41FA5}">
                      <a16:colId xmlns:a16="http://schemas.microsoft.com/office/drawing/2014/main" val="3262244198"/>
                    </a:ext>
                  </a:extLst>
                </a:gridCol>
                <a:gridCol w="2929012">
                  <a:extLst>
                    <a:ext uri="{9D8B030D-6E8A-4147-A177-3AD203B41FA5}">
                      <a16:colId xmlns:a16="http://schemas.microsoft.com/office/drawing/2014/main" val="1361935182"/>
                    </a:ext>
                  </a:extLst>
                </a:gridCol>
                <a:gridCol w="2232380">
                  <a:extLst>
                    <a:ext uri="{9D8B030D-6E8A-4147-A177-3AD203B41FA5}">
                      <a16:colId xmlns:a16="http://schemas.microsoft.com/office/drawing/2014/main" val="163027517"/>
                    </a:ext>
                  </a:extLst>
                </a:gridCol>
                <a:gridCol w="2232380">
                  <a:extLst>
                    <a:ext uri="{9D8B030D-6E8A-4147-A177-3AD203B41FA5}">
                      <a16:colId xmlns:a16="http://schemas.microsoft.com/office/drawing/2014/main" val="4288273379"/>
                    </a:ext>
                  </a:extLst>
                </a:gridCol>
                <a:gridCol w="2232380">
                  <a:extLst>
                    <a:ext uri="{9D8B030D-6E8A-4147-A177-3AD203B41FA5}">
                      <a16:colId xmlns:a16="http://schemas.microsoft.com/office/drawing/2014/main" val="3221035627"/>
                    </a:ext>
                  </a:extLst>
                </a:gridCol>
              </a:tblGrid>
              <a:tr h="400010">
                <a:tc>
                  <a:txBody>
                    <a:bodyPr/>
                    <a:lstStyle/>
                    <a:p>
                      <a:pPr algn="ctr"/>
                      <a:r>
                        <a:rPr lang="en-US" sz="1200" dirty="0"/>
                        <a:t>Sector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FA726"/>
                    </a:solidFill>
                  </a:tcPr>
                </a:tc>
                <a:tc>
                  <a:txBody>
                    <a:bodyPr/>
                    <a:lstStyle/>
                    <a:p>
                      <a:pPr algn="ctr"/>
                      <a:r>
                        <a:rPr lang="en-US" sz="1200" dirty="0"/>
                        <a:t>Investment opportunities / Business models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FA726"/>
                    </a:solidFill>
                  </a:tcPr>
                </a:tc>
                <a:tc>
                  <a:txBody>
                    <a:bodyPr/>
                    <a:lstStyle/>
                    <a:p>
                      <a:pPr algn="ctr"/>
                      <a:r>
                        <a:rPr lang="en-US" sz="1200" dirty="0"/>
                        <a:t>Financial viability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FA726"/>
                    </a:solidFill>
                  </a:tcPr>
                </a:tc>
                <a:tc>
                  <a:txBody>
                    <a:bodyPr/>
                    <a:lstStyle/>
                    <a:p>
                      <a:pPr algn="ctr"/>
                      <a:r>
                        <a:rPr lang="en-US" sz="1200" dirty="0"/>
                        <a:t>Impact potential</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FA726"/>
                    </a:solidFill>
                  </a:tcPr>
                </a:tc>
                <a:tc>
                  <a:txBody>
                    <a:bodyPr/>
                    <a:lstStyle/>
                    <a:p>
                      <a:pPr algn="ctr"/>
                      <a:r>
                        <a:rPr lang="en-US" sz="1200" dirty="0"/>
                        <a:t>Link with fund portfolios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FA726"/>
                    </a:solidFill>
                  </a:tcPr>
                </a:tc>
                <a:extLst>
                  <a:ext uri="{0D108BD9-81ED-4DB2-BD59-A6C34878D82A}">
                    <a16:rowId xmlns:a16="http://schemas.microsoft.com/office/drawing/2014/main" val="3123650628"/>
                  </a:ext>
                </a:extLst>
              </a:tr>
              <a:tr h="923773">
                <a:tc>
                  <a:txBody>
                    <a:bodyPr/>
                    <a:lstStyle/>
                    <a:p>
                      <a:pPr algn="ctr"/>
                      <a:r>
                        <a:rPr lang="en-US" sz="1200" b="1" dirty="0">
                          <a:solidFill>
                            <a:srgbClr val="004D7A"/>
                          </a:solidFill>
                        </a:rPr>
                        <a:t>Consumer Goods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Circular packaging</a:t>
                      </a:r>
                    </a:p>
                    <a:p>
                      <a:pPr marL="171450" indent="-171450">
                        <a:buFont typeface="Arial" panose="020B0604020202020204" pitchFamily="34" charset="0"/>
                        <a:buChar char="•"/>
                      </a:pPr>
                      <a:r>
                        <a:rPr lang="en-US" sz="1100" dirty="0">
                          <a:solidFill>
                            <a:srgbClr val="004D7A"/>
                          </a:solidFill>
                        </a:rPr>
                        <a:t>Refill and reuse models</a:t>
                      </a:r>
                    </a:p>
                    <a:p>
                      <a:pPr marL="171450" indent="-171450">
                        <a:buFont typeface="Arial" panose="020B0604020202020204" pitchFamily="34" charset="0"/>
                        <a:buChar char="•"/>
                      </a:pPr>
                      <a:r>
                        <a:rPr lang="en-US" sz="1100" dirty="0">
                          <a:solidFill>
                            <a:srgbClr val="004D7A"/>
                          </a:solidFill>
                        </a:rPr>
                        <a:t>Water-efficient manufacturing processes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Cost savings from reduced water and energy use</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Reduced water abstraction and wastewater discharge</a:t>
                      </a:r>
                    </a:p>
                    <a:p>
                      <a:pPr marL="171450" indent="-171450">
                        <a:buFont typeface="Arial" panose="020B0604020202020204" pitchFamily="34" charset="0"/>
                        <a:buChar char="•"/>
                      </a:pPr>
                      <a:r>
                        <a:rPr lang="en-US" sz="1100" dirty="0">
                          <a:solidFill>
                            <a:srgbClr val="004D7A"/>
                          </a:solidFill>
                        </a:rPr>
                        <a:t>Lower plastic leakage into waterways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Circular economy and impact consumer goods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extLst>
                  <a:ext uri="{0D108BD9-81ED-4DB2-BD59-A6C34878D82A}">
                    <a16:rowId xmlns:a16="http://schemas.microsoft.com/office/drawing/2014/main" val="769102738"/>
                  </a:ext>
                </a:extLst>
              </a:tr>
              <a:tr h="755814">
                <a:tc>
                  <a:txBody>
                    <a:bodyPr/>
                    <a:lstStyle/>
                    <a:p>
                      <a:pPr algn="ctr"/>
                      <a:r>
                        <a:rPr lang="en-US" sz="1200" b="1" dirty="0">
                          <a:solidFill>
                            <a:srgbClr val="004D7A"/>
                          </a:solidFill>
                        </a:rPr>
                        <a:t>Textiles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Low-water dyeing; wastewater recycling and treatment</a:t>
                      </a:r>
                    </a:p>
                    <a:p>
                      <a:pPr marL="171450" indent="-171450">
                        <a:buFont typeface="Arial" panose="020B0604020202020204" pitchFamily="34" charset="0"/>
                        <a:buChar char="•"/>
                      </a:pPr>
                      <a:r>
                        <a:rPr lang="en-US" sz="1100" dirty="0">
                          <a:solidFill>
                            <a:srgbClr val="004D7A"/>
                          </a:solidFill>
                        </a:rPr>
                        <a:t>Sustainable fiber production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Reduced treatment costs</a:t>
                      </a:r>
                    </a:p>
                    <a:p>
                      <a:pPr marL="171450" indent="-171450">
                        <a:buFont typeface="Arial" panose="020B0604020202020204" pitchFamily="34" charset="0"/>
                        <a:buChar char="•"/>
                      </a:pPr>
                      <a:r>
                        <a:rPr lang="en-US" sz="1100" dirty="0">
                          <a:solidFill>
                            <a:srgbClr val="004D7A"/>
                          </a:solidFill>
                        </a:rPr>
                        <a:t>Improved resilience to water scarcity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Reduction in water pollution</a:t>
                      </a:r>
                    </a:p>
                    <a:p>
                      <a:pPr marL="171450" indent="-171450">
                        <a:buFont typeface="Arial" panose="020B0604020202020204" pitchFamily="34" charset="0"/>
                        <a:buChar char="•"/>
                      </a:pPr>
                      <a:r>
                        <a:rPr lang="en-US" sz="1100" dirty="0">
                          <a:solidFill>
                            <a:srgbClr val="004D7A"/>
                          </a:solidFill>
                        </a:rPr>
                        <a:t>Improved water basin health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Sustainable apparel</a:t>
                      </a:r>
                    </a:p>
                    <a:p>
                      <a:pPr marL="171450" indent="-171450">
                        <a:buFont typeface="Arial" panose="020B0604020202020204" pitchFamily="34" charset="0"/>
                        <a:buChar char="•"/>
                      </a:pPr>
                      <a:r>
                        <a:rPr lang="en-US" sz="1100" dirty="0">
                          <a:solidFill>
                            <a:srgbClr val="004D7A"/>
                          </a:solidFill>
                        </a:rPr>
                        <a:t>Industrial water treatment</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extLst>
                  <a:ext uri="{0D108BD9-81ED-4DB2-BD59-A6C34878D82A}">
                    <a16:rowId xmlns:a16="http://schemas.microsoft.com/office/drawing/2014/main" val="2433620438"/>
                  </a:ext>
                </a:extLst>
              </a:tr>
              <a:tr h="923773">
                <a:tc>
                  <a:txBody>
                    <a:bodyPr/>
                    <a:lstStyle/>
                    <a:p>
                      <a:pPr algn="ctr"/>
                      <a:r>
                        <a:rPr lang="en-US" sz="1200" b="1" dirty="0">
                          <a:solidFill>
                            <a:srgbClr val="004D7A"/>
                          </a:solidFill>
                        </a:rPr>
                        <a:t>Agriculture</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Precision irrigation</a:t>
                      </a:r>
                    </a:p>
                    <a:p>
                      <a:pPr marL="171450" indent="-171450">
                        <a:buFont typeface="Arial" panose="020B0604020202020204" pitchFamily="34" charset="0"/>
                        <a:buChar char="•"/>
                      </a:pPr>
                      <a:r>
                        <a:rPr lang="en-US" sz="1100" dirty="0">
                          <a:solidFill>
                            <a:srgbClr val="004D7A"/>
                          </a:solidFill>
                        </a:rPr>
                        <a:t>Soil moisture sensing</a:t>
                      </a:r>
                    </a:p>
                    <a:p>
                      <a:pPr marL="171450" indent="-171450">
                        <a:buFont typeface="Arial" panose="020B0604020202020204" pitchFamily="34" charset="0"/>
                        <a:buChar char="•"/>
                      </a:pPr>
                      <a:r>
                        <a:rPr lang="en-US" sz="1100" dirty="0">
                          <a:solidFill>
                            <a:srgbClr val="004D7A"/>
                          </a:solidFill>
                        </a:rPr>
                        <a:t>Climate smart inputs</a:t>
                      </a:r>
                    </a:p>
                    <a:p>
                      <a:pPr marL="171450" indent="-171450">
                        <a:buFont typeface="Arial" panose="020B0604020202020204" pitchFamily="34" charset="0"/>
                        <a:buChar char="•"/>
                      </a:pPr>
                      <a:r>
                        <a:rPr lang="en-US" sz="1100" dirty="0">
                          <a:solidFill>
                            <a:srgbClr val="004D7A"/>
                          </a:solidFill>
                        </a:rPr>
                        <a:t>Water-efficient post-harvest solutions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Higher yields and input efficiency</a:t>
                      </a:r>
                    </a:p>
                    <a:p>
                      <a:pPr marL="171450" indent="-171450">
                        <a:buFont typeface="Arial" panose="020B0604020202020204" pitchFamily="34" charset="0"/>
                        <a:buChar char="•"/>
                      </a:pPr>
                      <a:r>
                        <a:rPr lang="en-US" sz="1100" dirty="0">
                          <a:solidFill>
                            <a:srgbClr val="004D7A"/>
                          </a:solidFill>
                        </a:rPr>
                        <a:t>Reduced water and energy costs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Reduced water withdrawals</a:t>
                      </a:r>
                    </a:p>
                    <a:p>
                      <a:pPr marL="171450" indent="-171450">
                        <a:buFont typeface="Arial" panose="020B0604020202020204" pitchFamily="34" charset="0"/>
                        <a:buChar char="•"/>
                      </a:pPr>
                      <a:r>
                        <a:rPr lang="en-US" sz="1100" dirty="0">
                          <a:solidFill>
                            <a:srgbClr val="004D7A"/>
                          </a:solidFill>
                        </a:rPr>
                        <a:t>Improved groundwater recharge</a:t>
                      </a:r>
                    </a:p>
                    <a:p>
                      <a:pPr marL="171450" indent="-171450">
                        <a:buFont typeface="Arial" panose="020B0604020202020204" pitchFamily="34" charset="0"/>
                        <a:buChar char="•"/>
                      </a:pPr>
                      <a:r>
                        <a:rPr lang="en-US" sz="1100" dirty="0">
                          <a:solidFill>
                            <a:srgbClr val="004D7A"/>
                          </a:solidFill>
                        </a:rPr>
                        <a:t>Lower nutrient runoff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Agri-tech</a:t>
                      </a:r>
                    </a:p>
                    <a:p>
                      <a:pPr marL="171450" indent="-171450">
                        <a:buFont typeface="Arial" panose="020B0604020202020204" pitchFamily="34" charset="0"/>
                        <a:buChar char="•"/>
                      </a:pPr>
                      <a:r>
                        <a:rPr lang="en-US" sz="1100" dirty="0">
                          <a:solidFill>
                            <a:srgbClr val="004D7A"/>
                          </a:solidFill>
                        </a:rPr>
                        <a:t>Climate-smart agriculture and food systems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extLst>
                  <a:ext uri="{0D108BD9-81ED-4DB2-BD59-A6C34878D82A}">
                    <a16:rowId xmlns:a16="http://schemas.microsoft.com/office/drawing/2014/main" val="2473258043"/>
                  </a:ext>
                </a:extLst>
              </a:tr>
              <a:tr h="755814">
                <a:tc>
                  <a:txBody>
                    <a:bodyPr/>
                    <a:lstStyle/>
                    <a:p>
                      <a:pPr algn="ctr"/>
                      <a:r>
                        <a:rPr lang="en-US" sz="1200" b="1" dirty="0">
                          <a:solidFill>
                            <a:srgbClr val="004D7A"/>
                          </a:solidFill>
                        </a:rPr>
                        <a:t>Water</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Utility partnerships through service contracts/co-investment</a:t>
                      </a:r>
                    </a:p>
                    <a:p>
                      <a:pPr marL="171450" indent="-171450">
                        <a:buFont typeface="Arial" panose="020B0604020202020204" pitchFamily="34" charset="0"/>
                        <a:buChar char="•"/>
                      </a:pPr>
                      <a:r>
                        <a:rPr lang="en-US" sz="1100" dirty="0">
                          <a:solidFill>
                            <a:srgbClr val="004D7A"/>
                          </a:solidFill>
                        </a:rPr>
                        <a:t>Fecal sludge management</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Reduced capex</a:t>
                      </a:r>
                    </a:p>
                    <a:p>
                      <a:pPr marL="171450" indent="-171450">
                        <a:buFont typeface="Arial" panose="020B0604020202020204" pitchFamily="34" charset="0"/>
                        <a:buChar char="•"/>
                      </a:pPr>
                      <a:r>
                        <a:rPr lang="en-US" sz="1100" dirty="0">
                          <a:solidFill>
                            <a:srgbClr val="004D7A"/>
                          </a:solidFill>
                        </a:rPr>
                        <a:t>Operational cost efficiencies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Improved water quality</a:t>
                      </a:r>
                    </a:p>
                    <a:p>
                      <a:pPr marL="171450" indent="-171450">
                        <a:buFont typeface="Arial" panose="020B0604020202020204" pitchFamily="34" charset="0"/>
                        <a:buChar char="•"/>
                      </a:pPr>
                      <a:r>
                        <a:rPr lang="en-US" sz="1100" dirty="0">
                          <a:solidFill>
                            <a:srgbClr val="004D7A"/>
                          </a:solidFill>
                        </a:rPr>
                        <a:t>Reduced groundwater/ surface water contamination</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WASH-focused investment vehicles</a:t>
                      </a:r>
                    </a:p>
                    <a:p>
                      <a:pPr marL="171450" indent="-171450">
                        <a:buFont typeface="Arial" panose="020B0604020202020204" pitchFamily="34" charset="0"/>
                        <a:buChar char="•"/>
                      </a:pPr>
                      <a:r>
                        <a:rPr lang="en-US" sz="1100" dirty="0">
                          <a:solidFill>
                            <a:srgbClr val="004D7A"/>
                          </a:solidFill>
                        </a:rPr>
                        <a:t>Infrastructure and utility investments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F3F1ED"/>
                    </a:solidFill>
                  </a:tcPr>
                </a:tc>
                <a:extLst>
                  <a:ext uri="{0D108BD9-81ED-4DB2-BD59-A6C34878D82A}">
                    <a16:rowId xmlns:a16="http://schemas.microsoft.com/office/drawing/2014/main" val="527762791"/>
                  </a:ext>
                </a:extLst>
              </a:tr>
              <a:tr h="938435">
                <a:tc>
                  <a:txBody>
                    <a:bodyPr/>
                    <a:lstStyle/>
                    <a:p>
                      <a:pPr algn="ctr"/>
                      <a:r>
                        <a:rPr lang="en-US" sz="1200" b="1" dirty="0">
                          <a:solidFill>
                            <a:srgbClr val="004D7A"/>
                          </a:solidFill>
                        </a:rPr>
                        <a:t>Tech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Water-efficient cooling</a:t>
                      </a:r>
                    </a:p>
                    <a:p>
                      <a:pPr marL="171450" indent="-171450">
                        <a:buFont typeface="Arial" panose="020B0604020202020204" pitchFamily="34" charset="0"/>
                        <a:buChar char="•"/>
                      </a:pPr>
                      <a:r>
                        <a:rPr lang="en-US" sz="1100" dirty="0">
                          <a:solidFill>
                            <a:srgbClr val="004D7A"/>
                          </a:solidFill>
                        </a:rPr>
                        <a:t>Rainwater capture</a:t>
                      </a:r>
                    </a:p>
                    <a:p>
                      <a:pPr marL="171450" indent="-171450">
                        <a:buFont typeface="Arial" panose="020B0604020202020204" pitchFamily="34" charset="0"/>
                        <a:buChar char="•"/>
                      </a:pPr>
                      <a:r>
                        <a:rPr lang="en-US" sz="1100" dirty="0">
                          <a:solidFill>
                            <a:srgbClr val="004D7A"/>
                          </a:solidFill>
                        </a:rPr>
                        <a:t>AI driven water management </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Reduced operational costs</a:t>
                      </a:r>
                    </a:p>
                    <a:p>
                      <a:pPr marL="171450" indent="-171450">
                        <a:buFont typeface="Arial" panose="020B0604020202020204" pitchFamily="34" charset="0"/>
                        <a:buChar char="•"/>
                      </a:pPr>
                      <a:r>
                        <a:rPr lang="en-US" sz="1100" dirty="0">
                          <a:solidFill>
                            <a:srgbClr val="004D7A"/>
                          </a:solidFill>
                        </a:rPr>
                        <a:t>Lower risk of supply disruptions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Improved water resilience</a:t>
                      </a:r>
                    </a:p>
                    <a:p>
                      <a:pPr marL="171450" indent="-171450">
                        <a:buFont typeface="Arial" panose="020B0604020202020204" pitchFamily="34" charset="0"/>
                        <a:buChar char="•"/>
                      </a:pPr>
                      <a:r>
                        <a:rPr lang="en-US" sz="1100" dirty="0">
                          <a:solidFill>
                            <a:srgbClr val="004D7A"/>
                          </a:solidFill>
                        </a:rPr>
                        <a:t>Minimized freshwater use</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Climate-resilient infrastructure</a:t>
                      </a:r>
                    </a:p>
                    <a:p>
                      <a:pPr marL="171450" indent="-171450">
                        <a:buFont typeface="Arial" panose="020B0604020202020204" pitchFamily="34" charset="0"/>
                        <a:buChar char="•"/>
                      </a:pPr>
                      <a:r>
                        <a:rPr lang="en-US" sz="1100" dirty="0">
                          <a:solidFill>
                            <a:srgbClr val="004D7A"/>
                          </a:solidFill>
                        </a:rPr>
                        <a:t>Water stewardship-linked investments</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solidFill>
                      <a:srgbClr val="B7D6E1"/>
                    </a:solidFill>
                  </a:tcPr>
                </a:tc>
                <a:extLst>
                  <a:ext uri="{0D108BD9-81ED-4DB2-BD59-A6C34878D82A}">
                    <a16:rowId xmlns:a16="http://schemas.microsoft.com/office/drawing/2014/main" val="813105373"/>
                  </a:ext>
                </a:extLst>
              </a:tr>
            </a:tbl>
          </a:graphicData>
        </a:graphic>
      </p:graphicFrame>
      <p:sp>
        <p:nvSpPr>
          <p:cNvPr id="7" name="TextBox 29">
            <a:extLst>
              <a:ext uri="{FF2B5EF4-FFF2-40B4-BE49-F238E27FC236}">
                <a16:creationId xmlns:a16="http://schemas.microsoft.com/office/drawing/2014/main" id="{87580180-985B-ADD0-5FC0-958F524DDF94}"/>
              </a:ext>
            </a:extLst>
          </p:cNvPr>
          <p:cNvSpPr txBox="1"/>
          <p:nvPr/>
        </p:nvSpPr>
        <p:spPr>
          <a:xfrm>
            <a:off x="580327" y="1387562"/>
            <a:ext cx="965797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Access to water as an investable asset class, investable opportunities found in every sector – a snapshot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A726"/>
              </a:solidFill>
              <a:effectLst/>
              <a:uLnTx/>
              <a:uFillTx/>
              <a:latin typeface="Open Sans"/>
              <a:ea typeface="+mn-ea"/>
              <a:cs typeface="+mn-cs"/>
            </a:endParaRPr>
          </a:p>
        </p:txBody>
      </p:sp>
    </p:spTree>
    <p:extLst>
      <p:ext uri="{BB962C8B-B14F-4D97-AF65-F5344CB8AC3E}">
        <p14:creationId xmlns:p14="http://schemas.microsoft.com/office/powerpoint/2010/main" val="3509537695"/>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51854"/>
            <a:ext cx="5811104"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4D7A"/>
                </a:solidFill>
                <a:effectLst/>
                <a:uLnTx/>
                <a:uFillTx/>
                <a:latin typeface="Raleway"/>
                <a:ea typeface="+mj-ea"/>
                <a:cs typeface="+mj-cs"/>
              </a:rPr>
              <a:t>Investment Opportunity</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29">
            <a:extLst>
              <a:ext uri="{FF2B5EF4-FFF2-40B4-BE49-F238E27FC236}">
                <a16:creationId xmlns:a16="http://schemas.microsoft.com/office/drawing/2014/main" id="{23299305-3105-4970-02C2-A247AF4FEE9F}"/>
              </a:ext>
            </a:extLst>
          </p:cNvPr>
          <p:cNvSpPr txBox="1"/>
          <p:nvPr/>
        </p:nvSpPr>
        <p:spPr>
          <a:xfrm>
            <a:off x="580327" y="1387562"/>
            <a:ext cx="9657977"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Access to water as an investable asset class, investable opportunities found in every sector – a snapshot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A726"/>
              </a:solidFill>
              <a:effectLst/>
              <a:uLnTx/>
              <a:uFillTx/>
              <a:latin typeface="Open Sans"/>
              <a:ea typeface="+mn-ea"/>
              <a:cs typeface="+mn-cs"/>
            </a:endParaRPr>
          </a:p>
        </p:txBody>
      </p:sp>
      <p:graphicFrame>
        <p:nvGraphicFramePr>
          <p:cNvPr id="5" name="Table 1">
            <a:extLst>
              <a:ext uri="{FF2B5EF4-FFF2-40B4-BE49-F238E27FC236}">
                <a16:creationId xmlns:a16="http://schemas.microsoft.com/office/drawing/2014/main" id="{AFC7DDE4-6CE8-68BF-7545-2D2FA1423DD8}"/>
              </a:ext>
            </a:extLst>
          </p:cNvPr>
          <p:cNvGraphicFramePr>
            <a:graphicFrameLocks noGrp="1"/>
          </p:cNvGraphicFramePr>
          <p:nvPr>
            <p:extLst>
              <p:ext uri="{D42A27DB-BD31-4B8C-83A1-F6EECF244321}">
                <p14:modId xmlns:p14="http://schemas.microsoft.com/office/powerpoint/2010/main" val="4135284392"/>
              </p:ext>
            </p:extLst>
          </p:nvPr>
        </p:nvGraphicFramePr>
        <p:xfrm>
          <a:off x="630132" y="1831206"/>
          <a:ext cx="11161899" cy="4760995"/>
        </p:xfrm>
        <a:graphic>
          <a:graphicData uri="http://schemas.openxmlformats.org/drawingml/2006/table">
            <a:tbl>
              <a:tblPr firstRow="1" bandRow="1">
                <a:tableStyleId>{5C22544A-7EE6-4342-B048-85BDC9FD1C3A}</a:tableStyleId>
              </a:tblPr>
              <a:tblGrid>
                <a:gridCol w="1535747">
                  <a:extLst>
                    <a:ext uri="{9D8B030D-6E8A-4147-A177-3AD203B41FA5}">
                      <a16:colId xmlns:a16="http://schemas.microsoft.com/office/drawing/2014/main" val="3262244198"/>
                    </a:ext>
                  </a:extLst>
                </a:gridCol>
                <a:gridCol w="2929012">
                  <a:extLst>
                    <a:ext uri="{9D8B030D-6E8A-4147-A177-3AD203B41FA5}">
                      <a16:colId xmlns:a16="http://schemas.microsoft.com/office/drawing/2014/main" val="1361935182"/>
                    </a:ext>
                  </a:extLst>
                </a:gridCol>
                <a:gridCol w="2232380">
                  <a:extLst>
                    <a:ext uri="{9D8B030D-6E8A-4147-A177-3AD203B41FA5}">
                      <a16:colId xmlns:a16="http://schemas.microsoft.com/office/drawing/2014/main" val="163027517"/>
                    </a:ext>
                  </a:extLst>
                </a:gridCol>
                <a:gridCol w="2232380">
                  <a:extLst>
                    <a:ext uri="{9D8B030D-6E8A-4147-A177-3AD203B41FA5}">
                      <a16:colId xmlns:a16="http://schemas.microsoft.com/office/drawing/2014/main" val="4288273379"/>
                    </a:ext>
                  </a:extLst>
                </a:gridCol>
                <a:gridCol w="2232380">
                  <a:extLst>
                    <a:ext uri="{9D8B030D-6E8A-4147-A177-3AD203B41FA5}">
                      <a16:colId xmlns:a16="http://schemas.microsoft.com/office/drawing/2014/main" val="3221035627"/>
                    </a:ext>
                  </a:extLst>
                </a:gridCol>
              </a:tblGrid>
              <a:tr h="400010">
                <a:tc>
                  <a:txBody>
                    <a:bodyPr/>
                    <a:lstStyle/>
                    <a:p>
                      <a:pPr algn="ctr"/>
                      <a:r>
                        <a:rPr lang="en-US" sz="1200" dirty="0"/>
                        <a:t>Sector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004D7A"/>
                    </a:solidFill>
                  </a:tcPr>
                </a:tc>
                <a:tc>
                  <a:txBody>
                    <a:bodyPr/>
                    <a:lstStyle/>
                    <a:p>
                      <a:pPr algn="ctr"/>
                      <a:r>
                        <a:rPr lang="en-US" sz="1200" dirty="0"/>
                        <a:t>Investment opportunities / Business models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004D7A"/>
                    </a:solidFill>
                  </a:tcPr>
                </a:tc>
                <a:tc>
                  <a:txBody>
                    <a:bodyPr/>
                    <a:lstStyle/>
                    <a:p>
                      <a:pPr algn="ctr"/>
                      <a:r>
                        <a:rPr lang="en-US" sz="1200" dirty="0"/>
                        <a:t>Financial viability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004D7A"/>
                    </a:solidFill>
                  </a:tcPr>
                </a:tc>
                <a:tc>
                  <a:txBody>
                    <a:bodyPr/>
                    <a:lstStyle/>
                    <a:p>
                      <a:pPr algn="ctr"/>
                      <a:r>
                        <a:rPr lang="en-US" sz="1200" dirty="0"/>
                        <a:t>Impact potential</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004D7A"/>
                    </a:solidFill>
                  </a:tcPr>
                </a:tc>
                <a:tc>
                  <a:txBody>
                    <a:bodyPr/>
                    <a:lstStyle/>
                    <a:p>
                      <a:pPr algn="ctr"/>
                      <a:r>
                        <a:rPr lang="en-US" sz="1200" dirty="0"/>
                        <a:t>Link with fund portfolios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004D7A"/>
                    </a:solidFill>
                  </a:tcPr>
                </a:tc>
                <a:extLst>
                  <a:ext uri="{0D108BD9-81ED-4DB2-BD59-A6C34878D82A}">
                    <a16:rowId xmlns:a16="http://schemas.microsoft.com/office/drawing/2014/main" val="3123650628"/>
                  </a:ext>
                </a:extLst>
              </a:tr>
              <a:tr h="923773">
                <a:tc>
                  <a:txBody>
                    <a:bodyPr/>
                    <a:lstStyle/>
                    <a:p>
                      <a:pPr algn="ctr"/>
                      <a:r>
                        <a:rPr lang="en-US" sz="1200" b="1" dirty="0">
                          <a:solidFill>
                            <a:srgbClr val="004D7A"/>
                          </a:solidFill>
                        </a:rPr>
                        <a:t>Consumer Goods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Circular packaging</a:t>
                      </a:r>
                    </a:p>
                    <a:p>
                      <a:pPr marL="171450" indent="-171450">
                        <a:buFont typeface="Arial" panose="020B0604020202020204" pitchFamily="34" charset="0"/>
                        <a:buChar char="•"/>
                      </a:pPr>
                      <a:r>
                        <a:rPr lang="en-US" sz="1100" dirty="0">
                          <a:solidFill>
                            <a:srgbClr val="004D7A"/>
                          </a:solidFill>
                        </a:rPr>
                        <a:t>Refill and reuse models</a:t>
                      </a:r>
                    </a:p>
                    <a:p>
                      <a:pPr marL="171450" indent="-171450">
                        <a:buFont typeface="Arial" panose="020B0604020202020204" pitchFamily="34" charset="0"/>
                        <a:buChar char="•"/>
                      </a:pPr>
                      <a:r>
                        <a:rPr lang="en-US" sz="1100" dirty="0">
                          <a:solidFill>
                            <a:srgbClr val="004D7A"/>
                          </a:solidFill>
                        </a:rPr>
                        <a:t>Water-efficient manufacturing processes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Cost savings from reduced water and energy use</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Reduced water abstraction and wastewater discharge</a:t>
                      </a:r>
                    </a:p>
                    <a:p>
                      <a:pPr marL="171450" indent="-171450">
                        <a:buFont typeface="Arial" panose="020B0604020202020204" pitchFamily="34" charset="0"/>
                        <a:buChar char="•"/>
                      </a:pPr>
                      <a:r>
                        <a:rPr lang="en-US" sz="1100" dirty="0">
                          <a:solidFill>
                            <a:srgbClr val="004D7A"/>
                          </a:solidFill>
                        </a:rPr>
                        <a:t>Lower plastic leakage into waterways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Circular economy and impact consumer goods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extLst>
                  <a:ext uri="{0D108BD9-81ED-4DB2-BD59-A6C34878D82A}">
                    <a16:rowId xmlns:a16="http://schemas.microsoft.com/office/drawing/2014/main" val="769102738"/>
                  </a:ext>
                </a:extLst>
              </a:tr>
              <a:tr h="755814">
                <a:tc>
                  <a:txBody>
                    <a:bodyPr/>
                    <a:lstStyle/>
                    <a:p>
                      <a:pPr algn="ctr"/>
                      <a:r>
                        <a:rPr lang="en-US" sz="1200" b="1" dirty="0">
                          <a:solidFill>
                            <a:srgbClr val="004D7A"/>
                          </a:solidFill>
                        </a:rPr>
                        <a:t>Textiles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Low-water dyeing; wastewater recycling and treatment</a:t>
                      </a:r>
                    </a:p>
                    <a:p>
                      <a:pPr marL="171450" indent="-171450">
                        <a:buFont typeface="Arial" panose="020B0604020202020204" pitchFamily="34" charset="0"/>
                        <a:buChar char="•"/>
                      </a:pPr>
                      <a:r>
                        <a:rPr lang="en-US" sz="1100" dirty="0">
                          <a:solidFill>
                            <a:srgbClr val="004D7A"/>
                          </a:solidFill>
                        </a:rPr>
                        <a:t>Sustainable fiber production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Reduced treatment costs</a:t>
                      </a:r>
                    </a:p>
                    <a:p>
                      <a:pPr marL="171450" indent="-171450">
                        <a:buFont typeface="Arial" panose="020B0604020202020204" pitchFamily="34" charset="0"/>
                        <a:buChar char="•"/>
                      </a:pPr>
                      <a:r>
                        <a:rPr lang="en-US" sz="1100" dirty="0">
                          <a:solidFill>
                            <a:srgbClr val="004D7A"/>
                          </a:solidFill>
                        </a:rPr>
                        <a:t>Improved resilience to water scarcity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Reduction in water pollution</a:t>
                      </a:r>
                    </a:p>
                    <a:p>
                      <a:pPr marL="171450" indent="-171450">
                        <a:buFont typeface="Arial" panose="020B0604020202020204" pitchFamily="34" charset="0"/>
                        <a:buChar char="•"/>
                      </a:pPr>
                      <a:r>
                        <a:rPr lang="en-US" sz="1100" dirty="0">
                          <a:solidFill>
                            <a:srgbClr val="004D7A"/>
                          </a:solidFill>
                        </a:rPr>
                        <a:t>Improved water basin health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Sustainable apparel</a:t>
                      </a:r>
                    </a:p>
                    <a:p>
                      <a:pPr marL="171450" indent="-171450">
                        <a:buFont typeface="Arial" panose="020B0604020202020204" pitchFamily="34" charset="0"/>
                        <a:buChar char="•"/>
                      </a:pPr>
                      <a:r>
                        <a:rPr lang="en-US" sz="1100" dirty="0">
                          <a:solidFill>
                            <a:srgbClr val="004D7A"/>
                          </a:solidFill>
                        </a:rPr>
                        <a:t>Industrial water treatment</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extLst>
                  <a:ext uri="{0D108BD9-81ED-4DB2-BD59-A6C34878D82A}">
                    <a16:rowId xmlns:a16="http://schemas.microsoft.com/office/drawing/2014/main" val="2433620438"/>
                  </a:ext>
                </a:extLst>
              </a:tr>
              <a:tr h="923773">
                <a:tc>
                  <a:txBody>
                    <a:bodyPr/>
                    <a:lstStyle/>
                    <a:p>
                      <a:pPr algn="ctr"/>
                      <a:r>
                        <a:rPr lang="en-US" sz="1200" b="1" dirty="0">
                          <a:solidFill>
                            <a:srgbClr val="004D7A"/>
                          </a:solidFill>
                        </a:rPr>
                        <a:t>Agriculture</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Precision irrigation</a:t>
                      </a:r>
                    </a:p>
                    <a:p>
                      <a:pPr marL="171450" indent="-171450">
                        <a:buFont typeface="Arial" panose="020B0604020202020204" pitchFamily="34" charset="0"/>
                        <a:buChar char="•"/>
                      </a:pPr>
                      <a:r>
                        <a:rPr lang="en-US" sz="1100" dirty="0">
                          <a:solidFill>
                            <a:srgbClr val="004D7A"/>
                          </a:solidFill>
                        </a:rPr>
                        <a:t>Soil moisture sensing</a:t>
                      </a:r>
                    </a:p>
                    <a:p>
                      <a:pPr marL="171450" indent="-171450">
                        <a:buFont typeface="Arial" panose="020B0604020202020204" pitchFamily="34" charset="0"/>
                        <a:buChar char="•"/>
                      </a:pPr>
                      <a:r>
                        <a:rPr lang="en-US" sz="1100" dirty="0">
                          <a:solidFill>
                            <a:srgbClr val="004D7A"/>
                          </a:solidFill>
                        </a:rPr>
                        <a:t>Climate smart inputs</a:t>
                      </a:r>
                    </a:p>
                    <a:p>
                      <a:pPr marL="171450" indent="-171450">
                        <a:buFont typeface="Arial" panose="020B0604020202020204" pitchFamily="34" charset="0"/>
                        <a:buChar char="•"/>
                      </a:pPr>
                      <a:r>
                        <a:rPr lang="en-US" sz="1100" dirty="0">
                          <a:solidFill>
                            <a:srgbClr val="004D7A"/>
                          </a:solidFill>
                        </a:rPr>
                        <a:t>Water-efficient post-harvest solutions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Higher yields and input efficiency</a:t>
                      </a:r>
                    </a:p>
                    <a:p>
                      <a:pPr marL="171450" indent="-171450">
                        <a:buFont typeface="Arial" panose="020B0604020202020204" pitchFamily="34" charset="0"/>
                        <a:buChar char="•"/>
                      </a:pPr>
                      <a:r>
                        <a:rPr lang="en-US" sz="1100" dirty="0">
                          <a:solidFill>
                            <a:srgbClr val="004D7A"/>
                          </a:solidFill>
                        </a:rPr>
                        <a:t>Reduced water and energy costs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Reduced water withdrawals</a:t>
                      </a:r>
                    </a:p>
                    <a:p>
                      <a:pPr marL="171450" indent="-171450">
                        <a:buFont typeface="Arial" panose="020B0604020202020204" pitchFamily="34" charset="0"/>
                        <a:buChar char="•"/>
                      </a:pPr>
                      <a:r>
                        <a:rPr lang="en-US" sz="1100" dirty="0">
                          <a:solidFill>
                            <a:srgbClr val="004D7A"/>
                          </a:solidFill>
                        </a:rPr>
                        <a:t>Improved groundwater recharge</a:t>
                      </a:r>
                    </a:p>
                    <a:p>
                      <a:pPr marL="171450" indent="-171450">
                        <a:buFont typeface="Arial" panose="020B0604020202020204" pitchFamily="34" charset="0"/>
                        <a:buChar char="•"/>
                      </a:pPr>
                      <a:r>
                        <a:rPr lang="en-US" sz="1100" dirty="0">
                          <a:solidFill>
                            <a:srgbClr val="004D7A"/>
                          </a:solidFill>
                        </a:rPr>
                        <a:t>Lower nutrient runoff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Agri-tech</a:t>
                      </a:r>
                    </a:p>
                    <a:p>
                      <a:pPr marL="171450" indent="-171450">
                        <a:buFont typeface="Arial" panose="020B0604020202020204" pitchFamily="34" charset="0"/>
                        <a:buChar char="•"/>
                      </a:pPr>
                      <a:r>
                        <a:rPr lang="en-US" sz="1100" dirty="0">
                          <a:solidFill>
                            <a:srgbClr val="004D7A"/>
                          </a:solidFill>
                        </a:rPr>
                        <a:t>Climate-smart agriculture and food systems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extLst>
                  <a:ext uri="{0D108BD9-81ED-4DB2-BD59-A6C34878D82A}">
                    <a16:rowId xmlns:a16="http://schemas.microsoft.com/office/drawing/2014/main" val="2473258043"/>
                  </a:ext>
                </a:extLst>
              </a:tr>
              <a:tr h="755814">
                <a:tc>
                  <a:txBody>
                    <a:bodyPr/>
                    <a:lstStyle/>
                    <a:p>
                      <a:pPr algn="ctr"/>
                      <a:r>
                        <a:rPr lang="en-US" sz="1200" b="1" dirty="0">
                          <a:solidFill>
                            <a:srgbClr val="004D7A"/>
                          </a:solidFill>
                        </a:rPr>
                        <a:t>Water</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Utility partnerships through service contracts/co-investment</a:t>
                      </a:r>
                    </a:p>
                    <a:p>
                      <a:pPr marL="171450" indent="-171450">
                        <a:buFont typeface="Arial" panose="020B0604020202020204" pitchFamily="34" charset="0"/>
                        <a:buChar char="•"/>
                      </a:pPr>
                      <a:r>
                        <a:rPr lang="en-US" sz="1100" dirty="0">
                          <a:solidFill>
                            <a:srgbClr val="004D7A"/>
                          </a:solidFill>
                        </a:rPr>
                        <a:t>Fecal sludge management</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Reduced capex</a:t>
                      </a:r>
                    </a:p>
                    <a:p>
                      <a:pPr marL="171450" indent="-171450">
                        <a:buFont typeface="Arial" panose="020B0604020202020204" pitchFamily="34" charset="0"/>
                        <a:buChar char="•"/>
                      </a:pPr>
                      <a:r>
                        <a:rPr lang="en-US" sz="1100" dirty="0">
                          <a:solidFill>
                            <a:srgbClr val="004D7A"/>
                          </a:solidFill>
                        </a:rPr>
                        <a:t>Operational cost efficiencies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Improved water quality</a:t>
                      </a:r>
                    </a:p>
                    <a:p>
                      <a:pPr marL="171450" indent="-171450">
                        <a:buFont typeface="Arial" panose="020B0604020202020204" pitchFamily="34" charset="0"/>
                        <a:buChar char="•"/>
                      </a:pPr>
                      <a:r>
                        <a:rPr lang="en-US" sz="1100" dirty="0">
                          <a:solidFill>
                            <a:srgbClr val="004D7A"/>
                          </a:solidFill>
                        </a:rPr>
                        <a:t>Reduced groundwater/ surface water contamination</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tc>
                  <a:txBody>
                    <a:bodyPr/>
                    <a:lstStyle/>
                    <a:p>
                      <a:pPr marL="171450" indent="-171450">
                        <a:buFont typeface="Arial" panose="020B0604020202020204" pitchFamily="34" charset="0"/>
                        <a:buChar char="•"/>
                      </a:pPr>
                      <a:r>
                        <a:rPr lang="en-US" sz="1100" dirty="0">
                          <a:solidFill>
                            <a:srgbClr val="004D7A"/>
                          </a:solidFill>
                        </a:rPr>
                        <a:t>WASH-focused investment vehicles</a:t>
                      </a:r>
                    </a:p>
                    <a:p>
                      <a:pPr marL="171450" indent="-171450">
                        <a:buFont typeface="Arial" panose="020B0604020202020204" pitchFamily="34" charset="0"/>
                        <a:buChar char="•"/>
                      </a:pPr>
                      <a:r>
                        <a:rPr lang="en-US" sz="1100" dirty="0">
                          <a:solidFill>
                            <a:srgbClr val="004D7A"/>
                          </a:solidFill>
                        </a:rPr>
                        <a:t>Infrastructure and utility investments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F3F1ED"/>
                    </a:solidFill>
                  </a:tcPr>
                </a:tc>
                <a:extLst>
                  <a:ext uri="{0D108BD9-81ED-4DB2-BD59-A6C34878D82A}">
                    <a16:rowId xmlns:a16="http://schemas.microsoft.com/office/drawing/2014/main" val="527762791"/>
                  </a:ext>
                </a:extLst>
              </a:tr>
              <a:tr h="938435">
                <a:tc>
                  <a:txBody>
                    <a:bodyPr/>
                    <a:lstStyle/>
                    <a:p>
                      <a:pPr algn="ctr"/>
                      <a:r>
                        <a:rPr lang="en-US" sz="1200" b="1" dirty="0">
                          <a:solidFill>
                            <a:srgbClr val="004D7A"/>
                          </a:solidFill>
                        </a:rPr>
                        <a:t>Tech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Water-efficient cooling</a:t>
                      </a:r>
                    </a:p>
                    <a:p>
                      <a:pPr marL="171450" indent="-171450">
                        <a:buFont typeface="Arial" panose="020B0604020202020204" pitchFamily="34" charset="0"/>
                        <a:buChar char="•"/>
                      </a:pPr>
                      <a:r>
                        <a:rPr lang="en-US" sz="1100" dirty="0">
                          <a:solidFill>
                            <a:srgbClr val="004D7A"/>
                          </a:solidFill>
                        </a:rPr>
                        <a:t>Rainwater capture</a:t>
                      </a:r>
                    </a:p>
                    <a:p>
                      <a:pPr marL="171450" indent="-171450">
                        <a:buFont typeface="Arial" panose="020B0604020202020204" pitchFamily="34" charset="0"/>
                        <a:buChar char="•"/>
                      </a:pPr>
                      <a:r>
                        <a:rPr lang="en-US" sz="1100" dirty="0">
                          <a:solidFill>
                            <a:srgbClr val="004D7A"/>
                          </a:solidFill>
                        </a:rPr>
                        <a:t>AI driven water management </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Reduced operational costs</a:t>
                      </a:r>
                    </a:p>
                    <a:p>
                      <a:pPr marL="171450" indent="-171450">
                        <a:buFont typeface="Arial" panose="020B0604020202020204" pitchFamily="34" charset="0"/>
                        <a:buChar char="•"/>
                      </a:pPr>
                      <a:r>
                        <a:rPr lang="en-US" sz="1100" dirty="0">
                          <a:solidFill>
                            <a:srgbClr val="004D7A"/>
                          </a:solidFill>
                        </a:rPr>
                        <a:t>Lower risk of supply disruptions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Improved water resilience</a:t>
                      </a:r>
                    </a:p>
                    <a:p>
                      <a:pPr marL="171450" indent="-171450">
                        <a:buFont typeface="Arial" panose="020B0604020202020204" pitchFamily="34" charset="0"/>
                        <a:buChar char="•"/>
                      </a:pPr>
                      <a:r>
                        <a:rPr lang="en-US" sz="1100" dirty="0">
                          <a:solidFill>
                            <a:srgbClr val="004D7A"/>
                          </a:solidFill>
                        </a:rPr>
                        <a:t>Minimized freshwater use</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tc>
                  <a:txBody>
                    <a:bodyPr/>
                    <a:lstStyle/>
                    <a:p>
                      <a:pPr marL="171450" indent="-171450">
                        <a:buFont typeface="Arial" panose="020B0604020202020204" pitchFamily="34" charset="0"/>
                        <a:buChar char="•"/>
                      </a:pPr>
                      <a:r>
                        <a:rPr lang="en-US" sz="1100" dirty="0">
                          <a:solidFill>
                            <a:srgbClr val="004D7A"/>
                          </a:solidFill>
                        </a:rPr>
                        <a:t>Climate-resilient infrastructure</a:t>
                      </a:r>
                    </a:p>
                    <a:p>
                      <a:pPr marL="171450" indent="-171450">
                        <a:buFont typeface="Arial" panose="020B0604020202020204" pitchFamily="34" charset="0"/>
                        <a:buChar char="•"/>
                      </a:pPr>
                      <a:r>
                        <a:rPr lang="en-US" sz="1100" dirty="0">
                          <a:solidFill>
                            <a:srgbClr val="004D7A"/>
                          </a:solidFill>
                        </a:rPr>
                        <a:t>Water stewardship-linked investments</a:t>
                      </a:r>
                    </a:p>
                  </a:txBody>
                  <a:tcPr anchor="ctr">
                    <a:lnL w="12700" cap="flat" cmpd="sng" algn="ctr">
                      <a:solidFill>
                        <a:srgbClr val="F3F1ED"/>
                      </a:solidFill>
                      <a:prstDash val="solid"/>
                      <a:round/>
                      <a:headEnd type="none" w="med" len="med"/>
                      <a:tailEnd type="none" w="med" len="med"/>
                    </a:lnL>
                    <a:lnR w="12700" cap="flat" cmpd="sng" algn="ctr">
                      <a:solidFill>
                        <a:srgbClr val="F3F1ED"/>
                      </a:solidFill>
                      <a:prstDash val="solid"/>
                      <a:round/>
                      <a:headEnd type="none" w="med" len="med"/>
                      <a:tailEnd type="none" w="med" len="med"/>
                    </a:lnR>
                    <a:lnT w="12700" cap="flat" cmpd="sng" algn="ctr">
                      <a:solidFill>
                        <a:srgbClr val="F3F1ED"/>
                      </a:solidFill>
                      <a:prstDash val="solid"/>
                      <a:round/>
                      <a:headEnd type="none" w="med" len="med"/>
                      <a:tailEnd type="none" w="med" len="med"/>
                    </a:lnT>
                    <a:lnB w="12700" cap="flat" cmpd="sng" algn="ctr">
                      <a:solidFill>
                        <a:srgbClr val="F3F1ED"/>
                      </a:solidFill>
                      <a:prstDash val="solid"/>
                      <a:round/>
                      <a:headEnd type="none" w="med" len="med"/>
                      <a:tailEnd type="none" w="med" len="med"/>
                    </a:lnB>
                    <a:solidFill>
                      <a:srgbClr val="B7D6E1"/>
                    </a:solidFill>
                  </a:tcPr>
                </a:tc>
                <a:extLst>
                  <a:ext uri="{0D108BD9-81ED-4DB2-BD59-A6C34878D82A}">
                    <a16:rowId xmlns:a16="http://schemas.microsoft.com/office/drawing/2014/main" val="813105373"/>
                  </a:ext>
                </a:extLst>
              </a:tr>
            </a:tbl>
          </a:graphicData>
        </a:graphic>
      </p:graphicFrame>
    </p:spTree>
    <p:extLst>
      <p:ext uri="{BB962C8B-B14F-4D97-AF65-F5344CB8AC3E}">
        <p14:creationId xmlns:p14="http://schemas.microsoft.com/office/powerpoint/2010/main" val="1334708751"/>
      </p:ext>
    </p:extLst>
  </p:cSld>
  <p:clrMapOvr>
    <a:masterClrMapping/>
  </p:clrMapOvr>
  <p:extLst>
    <p:ext uri="{6950BFC3-D8DA-4A85-94F7-54DA5524770B}">
      <p188:commentRel xmlns:p188="http://schemas.microsoft.com/office/powerpoint/2018/8/main" r:id="rId3"/>
    </p:ext>
  </p:extLs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43" name="TextBox 37">
            <a:extLst>
              <a:ext uri="{FF2B5EF4-FFF2-40B4-BE49-F238E27FC236}">
                <a16:creationId xmlns:a16="http://schemas.microsoft.com/office/drawing/2014/main" id="{FB049338-E49A-6C39-85BD-8ED0773B3F4D}"/>
              </a:ext>
            </a:extLst>
          </p:cNvPr>
          <p:cNvSpPr txBox="1"/>
          <p:nvPr/>
        </p:nvSpPr>
        <p:spPr>
          <a:xfrm>
            <a:off x="637559" y="5165518"/>
            <a:ext cx="11216240" cy="1444346"/>
          </a:xfrm>
          <a:prstGeom prst="roundRect">
            <a:avLst>
              <a:gd name="adj" fmla="val 13935"/>
            </a:avLst>
          </a:prstGeom>
          <a:solidFill>
            <a:srgbClr val="FFFFFF"/>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srgbClr val="E3F5FF"/>
              </a:solidFill>
              <a:effectLst/>
              <a:uLnTx/>
              <a:uFillTx/>
              <a:latin typeface="Raleway" pitchFamily="2" charset="77"/>
              <a:ea typeface="+mn-ea"/>
              <a:cs typeface="+mn-cs"/>
            </a:endParaRPr>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A trusted international partner</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37">
            <a:extLst>
              <a:ext uri="{FF2B5EF4-FFF2-40B4-BE49-F238E27FC236}">
                <a16:creationId xmlns:a16="http://schemas.microsoft.com/office/drawing/2014/main" id="{8345C7C7-FF50-C71F-08D5-D3C28C3AD927}"/>
              </a:ext>
            </a:extLst>
          </p:cNvPr>
          <p:cNvSpPr txBox="1"/>
          <p:nvPr/>
        </p:nvSpPr>
        <p:spPr>
          <a:xfrm>
            <a:off x="629091" y="2915750"/>
            <a:ext cx="6212685" cy="1994693"/>
          </a:xfrm>
          <a:prstGeom prst="roundRect">
            <a:avLst>
              <a:gd name="adj" fmla="val 3911"/>
            </a:avLst>
          </a:prstGeom>
          <a:solidFill>
            <a:srgbClr val="004D7A"/>
          </a:solidFill>
        </p:spPr>
        <p:txBody>
          <a:bodyPr wrap="square" rtlCol="0" anchor="ctr" anchorCtr="0">
            <a:noAutofit/>
          </a:bodyPr>
          <a:lstStyle/>
          <a:p>
            <a:pPr marL="0" marR="0" lvl="0" indent="0" algn="ctr" defTabSz="914400" rtl="0" eaLnBrk="1" fontAlgn="auto" latinLnBrk="0" hangingPunct="1">
              <a:lnSpc>
                <a:spcPct val="100000"/>
              </a:lnSpc>
              <a:spcBef>
                <a:spcPts val="600"/>
              </a:spcBef>
              <a:spcAft>
                <a:spcPts val="0"/>
              </a:spcAft>
              <a:buClr>
                <a:srgbClr val="E4A039"/>
              </a:buClr>
              <a:buSzPct val="100000"/>
              <a:buFontTx/>
              <a:buNone/>
              <a:tabLst/>
              <a:defRPr/>
            </a:pPr>
            <a:endParaRPr kumimoji="0" lang="en-US" sz="1800" b="1" i="0" u="none" strike="noStrike" kern="1200" cap="none" spc="0" normalizeH="0" baseline="0" noProof="0" dirty="0">
              <a:ln>
                <a:noFill/>
              </a:ln>
              <a:solidFill>
                <a:prstClr val="white"/>
              </a:solidFill>
              <a:effectLst/>
              <a:uLnTx/>
              <a:uFillTx/>
              <a:latin typeface="Raleway"/>
              <a:ea typeface="+mn-ea"/>
              <a:cs typeface="+mn-cs"/>
            </a:endParaRPr>
          </a:p>
          <a:p>
            <a:pPr marL="0" marR="0" lvl="0" indent="0" algn="ctr" defTabSz="914400" rtl="0" eaLnBrk="1" fontAlgn="auto" latinLnBrk="0" hangingPunct="1">
              <a:lnSpc>
                <a:spcPct val="100000"/>
              </a:lnSpc>
              <a:spcBef>
                <a:spcPts val="600"/>
              </a:spcBef>
              <a:spcAft>
                <a:spcPts val="0"/>
              </a:spcAft>
              <a:buClr>
                <a:srgbClr val="E4A039"/>
              </a:buClr>
              <a:buSzPct val="100000"/>
              <a:buFontTx/>
              <a:buNone/>
              <a:tabLst/>
              <a:defRPr/>
            </a:pPr>
            <a:endParaRPr kumimoji="0" lang="en-US" sz="1800" b="1" i="0" u="none" strike="noStrike" kern="1200" cap="none" spc="0" normalizeH="0" baseline="0" noProof="0" dirty="0">
              <a:ln>
                <a:noFill/>
              </a:ln>
              <a:solidFill>
                <a:prstClr val="white"/>
              </a:solidFill>
              <a:effectLst/>
              <a:uLnTx/>
              <a:uFillTx/>
              <a:latin typeface="Raleway"/>
              <a:ea typeface="+mn-ea"/>
              <a:cs typeface="+mn-cs"/>
            </a:endParaRPr>
          </a:p>
          <a:p>
            <a:pPr marL="0" marR="0" lvl="0" indent="0" algn="ctr" defTabSz="914400" rtl="0" eaLnBrk="1" fontAlgn="auto" latinLnBrk="0" hangingPunct="1">
              <a:lnSpc>
                <a:spcPct val="100000"/>
              </a:lnSpc>
              <a:spcBef>
                <a:spcPts val="600"/>
              </a:spcBef>
              <a:spcAft>
                <a:spcPts val="0"/>
              </a:spcAft>
              <a:buClr>
                <a:srgbClr val="E4A039"/>
              </a:buClr>
              <a:buSzPct val="100000"/>
              <a:buFontTx/>
              <a:buNone/>
              <a:tabLst/>
              <a:defRPr/>
            </a:pPr>
            <a:endParaRPr kumimoji="0" lang="en-US" sz="1800" b="1" i="0" u="none" strike="noStrike" kern="1200" cap="none" spc="0" normalizeH="0" baseline="0" noProof="0" dirty="0">
              <a:ln>
                <a:noFill/>
              </a:ln>
              <a:solidFill>
                <a:prstClr val="white"/>
              </a:solidFill>
              <a:effectLst/>
              <a:uLnTx/>
              <a:uFillTx/>
              <a:latin typeface="Raleway"/>
              <a:ea typeface="+mn-ea"/>
              <a:cs typeface="+mn-cs"/>
            </a:endParaRPr>
          </a:p>
          <a:p>
            <a:pPr marL="0" marR="0" lvl="0" indent="0" algn="ctr" defTabSz="914400" rtl="0" eaLnBrk="1" fontAlgn="auto" latinLnBrk="0" hangingPunct="1">
              <a:lnSpc>
                <a:spcPct val="100000"/>
              </a:lnSpc>
              <a:spcBef>
                <a:spcPts val="600"/>
              </a:spcBef>
              <a:spcAft>
                <a:spcPts val="0"/>
              </a:spcAft>
              <a:buClr>
                <a:srgbClr val="E4A039"/>
              </a:buClr>
              <a:buSzPct val="100000"/>
              <a:buFontTx/>
              <a:buNone/>
              <a:tabLst/>
              <a:defRPr/>
            </a:pPr>
            <a:r>
              <a:rPr kumimoji="0" lang="en-US" sz="1800" b="1" i="0" u="none" strike="noStrike" kern="1200" cap="none" spc="0" normalizeH="0" baseline="0" noProof="0" dirty="0">
                <a:ln>
                  <a:noFill/>
                </a:ln>
                <a:solidFill>
                  <a:prstClr val="white"/>
                </a:solidFill>
                <a:effectLst/>
                <a:uLnTx/>
                <a:uFillTx/>
                <a:latin typeface="Raleway"/>
                <a:ea typeface="+mn-ea"/>
                <a:cs typeface="+mn-cs"/>
              </a:rPr>
              <a:t>&gt; €100 million </a:t>
            </a:r>
            <a:br>
              <a:rPr kumimoji="0" lang="en-US" sz="1800" b="1" i="0" u="none" strike="noStrike" kern="1200" cap="none" spc="0" normalizeH="0" baseline="0" noProof="0" dirty="0">
                <a:ln>
                  <a:noFill/>
                </a:ln>
                <a:solidFill>
                  <a:prstClr val="white"/>
                </a:solidFill>
                <a:effectLst/>
                <a:uLnTx/>
                <a:uFillTx/>
                <a:latin typeface="Raleway"/>
                <a:ea typeface="+mn-ea"/>
                <a:cs typeface="+mn-cs"/>
              </a:rPr>
            </a:br>
            <a:r>
              <a:rPr kumimoji="0" lang="en-US" sz="1400" b="0" i="0" u="none" strike="noStrike" kern="1200" cap="none" spc="0" normalizeH="0" baseline="0" noProof="0" dirty="0">
                <a:ln>
                  <a:noFill/>
                </a:ln>
                <a:solidFill>
                  <a:srgbClr val="FFA726"/>
                </a:solidFill>
                <a:effectLst/>
                <a:uLnTx/>
                <a:uFillTx/>
                <a:latin typeface="Raleway" pitchFamily="2" charset="77"/>
                <a:ea typeface="Open Sans" panose="020B0606030504020204" pitchFamily="34" charset="0"/>
                <a:cs typeface="Open Sans" panose="020B0606030504020204" pitchFamily="34" charset="0"/>
              </a:rPr>
              <a:t>in mandates​ managed from public investors </a:t>
            </a:r>
            <a:br>
              <a:rPr kumimoji="0" lang="en-US" sz="1400" b="0" i="0" u="none" strike="noStrike" kern="1200" cap="none" spc="0" normalizeH="0" baseline="0" noProof="0" dirty="0">
                <a:ln>
                  <a:noFill/>
                </a:ln>
                <a:solidFill>
                  <a:srgbClr val="FFA726"/>
                </a:solidFill>
                <a:effectLst/>
                <a:uLnTx/>
                <a:uFillTx/>
                <a:latin typeface="Raleway" pitchFamily="2" charset="77"/>
                <a:ea typeface="Open Sans" panose="020B0606030504020204" pitchFamily="34" charset="0"/>
                <a:cs typeface="Open Sans" panose="020B0606030504020204" pitchFamily="34" charset="0"/>
              </a:rPr>
            </a:br>
            <a:r>
              <a:rPr kumimoji="0" lang="en-US" sz="1400" b="0" i="0" u="none" strike="noStrike" kern="1200" cap="none" spc="0" normalizeH="0" baseline="0" noProof="0" dirty="0">
                <a:ln>
                  <a:noFill/>
                </a:ln>
                <a:solidFill>
                  <a:srgbClr val="FFA726"/>
                </a:solidFill>
                <a:effectLst/>
                <a:uLnTx/>
                <a:uFillTx/>
                <a:latin typeface="Raleway" pitchFamily="2" charset="77"/>
                <a:ea typeface="Open Sans" panose="020B0606030504020204" pitchFamily="34" charset="0"/>
                <a:cs typeface="Open Sans" panose="020B0606030504020204" pitchFamily="34" charset="0"/>
              </a:rPr>
              <a:t>and corporate foundations</a:t>
            </a:r>
          </a:p>
          <a:p>
            <a:pPr marL="0" marR="0" lvl="0" indent="0" algn="ctr" defTabSz="914400" rtl="0" eaLnBrk="1" fontAlgn="auto" latinLnBrk="0" hangingPunct="1">
              <a:lnSpc>
                <a:spcPct val="100000"/>
              </a:lnSpc>
              <a:spcBef>
                <a:spcPts val="600"/>
              </a:spcBef>
              <a:spcAft>
                <a:spcPts val="0"/>
              </a:spcAft>
              <a:buClr>
                <a:srgbClr val="E4A039"/>
              </a:buClr>
              <a:buSzPct val="100000"/>
              <a:buFontTx/>
              <a:buNone/>
              <a:tabLst/>
              <a:defRPr/>
            </a:pPr>
            <a:endParaRPr kumimoji="0" lang="en-GB" sz="1100" b="1" i="0" u="none" strike="noStrike" kern="1200" cap="none" spc="0" normalizeH="0" baseline="0" noProof="0" dirty="0">
              <a:ln>
                <a:noFill/>
              </a:ln>
              <a:solidFill>
                <a:srgbClr val="FFB703"/>
              </a:solidFill>
              <a:effectLst/>
              <a:uLnTx/>
              <a:uFillTx/>
              <a:latin typeface="Raleway" pitchFamily="2" charset="77"/>
              <a:ea typeface="Open Sans" panose="020B0606030504020204" pitchFamily="34" charset="0"/>
              <a:cs typeface="Open Sans" panose="020B0606030504020204" pitchFamily="34" charset="0"/>
            </a:endParaRPr>
          </a:p>
        </p:txBody>
      </p:sp>
      <p:sp>
        <p:nvSpPr>
          <p:cNvPr id="7" name="TextBox 37">
            <a:extLst>
              <a:ext uri="{FF2B5EF4-FFF2-40B4-BE49-F238E27FC236}">
                <a16:creationId xmlns:a16="http://schemas.microsoft.com/office/drawing/2014/main" id="{5CF31801-AD9B-E7DD-0335-EEF57D10AA9D}"/>
              </a:ext>
            </a:extLst>
          </p:cNvPr>
          <p:cNvSpPr txBox="1"/>
          <p:nvPr/>
        </p:nvSpPr>
        <p:spPr>
          <a:xfrm>
            <a:off x="2231730" y="1435131"/>
            <a:ext cx="1450800" cy="1346400"/>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1539A"/>
                </a:solidFill>
                <a:effectLst/>
                <a:uLnTx/>
                <a:uFillTx/>
                <a:latin typeface="Open Sans"/>
                <a:ea typeface="+mn-ea"/>
                <a:cs typeface="+mn-cs"/>
              </a:rPr>
              <a:t>Market development</a:t>
            </a:r>
            <a:endParaRPr kumimoji="0" lang="en-GB" sz="1100" b="0" i="0" u="none" strike="noStrike" kern="1200" cap="none" spc="0" normalizeH="0" baseline="0" noProof="0">
              <a:ln>
                <a:noFill/>
              </a:ln>
              <a:solidFill>
                <a:srgbClr val="01539A"/>
              </a:solidFill>
              <a:effectLst/>
              <a:uLnTx/>
              <a:uFillTx/>
              <a:latin typeface="Open Sans"/>
              <a:ea typeface="+mn-ea"/>
              <a:cs typeface="+mn-cs"/>
            </a:endParaRPr>
          </a:p>
        </p:txBody>
      </p:sp>
      <p:sp>
        <p:nvSpPr>
          <p:cNvPr id="9" name="TextBox 37">
            <a:extLst>
              <a:ext uri="{FF2B5EF4-FFF2-40B4-BE49-F238E27FC236}">
                <a16:creationId xmlns:a16="http://schemas.microsoft.com/office/drawing/2014/main" id="{11A4595C-FDBB-9CD7-DEEE-D438C511E3D5}"/>
              </a:ext>
            </a:extLst>
          </p:cNvPr>
          <p:cNvSpPr txBox="1"/>
          <p:nvPr/>
        </p:nvSpPr>
        <p:spPr>
          <a:xfrm>
            <a:off x="649223" y="1435131"/>
            <a:ext cx="1450800" cy="1346920"/>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1539A"/>
                </a:solidFill>
                <a:effectLst/>
                <a:uLnTx/>
                <a:uFillTx/>
                <a:latin typeface="Open Sans"/>
                <a:ea typeface="+mn-ea"/>
                <a:cs typeface="+mn-cs"/>
              </a:rPr>
              <a:t>Fund investments</a:t>
            </a:r>
            <a:endParaRPr kumimoji="0" lang="en-GB" sz="1100" b="0" i="0" u="none" strike="noStrike" kern="1200" cap="none" spc="0" normalizeH="0" baseline="0" noProof="0">
              <a:ln>
                <a:noFill/>
              </a:ln>
              <a:solidFill>
                <a:srgbClr val="01539A"/>
              </a:solidFill>
              <a:effectLst/>
              <a:uLnTx/>
              <a:uFillTx/>
              <a:latin typeface="Open Sans"/>
              <a:ea typeface="+mn-ea"/>
              <a:cs typeface="+mn-cs"/>
            </a:endParaRPr>
          </a:p>
        </p:txBody>
      </p:sp>
      <p:sp>
        <p:nvSpPr>
          <p:cNvPr id="17" name="TextBox 37">
            <a:extLst>
              <a:ext uri="{FF2B5EF4-FFF2-40B4-BE49-F238E27FC236}">
                <a16:creationId xmlns:a16="http://schemas.microsoft.com/office/drawing/2014/main" id="{D10C3087-0AEC-CD72-7244-EAB6A0DA0FB1}"/>
              </a:ext>
            </a:extLst>
          </p:cNvPr>
          <p:cNvSpPr txBox="1"/>
          <p:nvPr/>
        </p:nvSpPr>
        <p:spPr>
          <a:xfrm>
            <a:off x="3814237" y="1435131"/>
            <a:ext cx="1450800" cy="1346400"/>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1539A"/>
                </a:solidFill>
                <a:effectLst/>
                <a:uLnTx/>
                <a:uFillTx/>
                <a:latin typeface="Open Sans"/>
                <a:ea typeface="+mn-ea"/>
                <a:cs typeface="+mn-cs"/>
              </a:rPr>
              <a:t>Country </a:t>
            </a:r>
            <a:br>
              <a:rPr kumimoji="0" lang="en-GB" sz="1100" b="1" i="0" u="none" strike="noStrike" kern="1200" cap="none" spc="0" normalizeH="0" baseline="0" noProof="0" dirty="0">
                <a:ln>
                  <a:noFill/>
                </a:ln>
                <a:solidFill>
                  <a:srgbClr val="01539A"/>
                </a:solidFill>
                <a:effectLst/>
                <a:uLnTx/>
                <a:uFillTx/>
                <a:latin typeface="Open Sans"/>
                <a:ea typeface="+mn-ea"/>
                <a:cs typeface="+mn-cs"/>
              </a:rPr>
            </a:br>
            <a:r>
              <a:rPr kumimoji="0" lang="en-GB" sz="1100" b="1" i="0" u="none" strike="noStrike" kern="1200" cap="none" spc="0" normalizeH="0" baseline="0" noProof="0" dirty="0">
                <a:ln>
                  <a:noFill/>
                </a:ln>
                <a:solidFill>
                  <a:srgbClr val="01539A"/>
                </a:solidFill>
                <a:effectLst/>
                <a:uLnTx/>
                <a:uFillTx/>
                <a:latin typeface="Open Sans"/>
                <a:ea typeface="+mn-ea"/>
                <a:cs typeface="+mn-cs"/>
              </a:rPr>
              <a:t>specific</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1539A"/>
                </a:solidFill>
                <a:effectLst/>
                <a:uLnTx/>
                <a:uFillTx/>
                <a:latin typeface="Open Sans"/>
                <a:ea typeface="+mn-ea"/>
                <a:cs typeface="+mn-cs"/>
              </a:rPr>
              <a:t>expertise</a:t>
            </a:r>
            <a:endParaRPr kumimoji="0" lang="en-GB" sz="1100" b="0" i="0" u="none" strike="noStrike" kern="1200" cap="none" spc="0" normalizeH="0" baseline="0" noProof="0" dirty="0">
              <a:ln>
                <a:noFill/>
              </a:ln>
              <a:solidFill>
                <a:srgbClr val="01539A"/>
              </a:solidFill>
              <a:effectLst/>
              <a:uLnTx/>
              <a:uFillTx/>
              <a:latin typeface="Open Sans"/>
              <a:ea typeface="+mn-ea"/>
              <a:cs typeface="+mn-cs"/>
            </a:endParaRPr>
          </a:p>
        </p:txBody>
      </p:sp>
      <p:sp>
        <p:nvSpPr>
          <p:cNvPr id="18" name="Tekstvak 14">
            <a:extLst>
              <a:ext uri="{FF2B5EF4-FFF2-40B4-BE49-F238E27FC236}">
                <a16:creationId xmlns:a16="http://schemas.microsoft.com/office/drawing/2014/main" id="{1515CFA7-BD4E-1766-2031-F6C81E93C0BD}"/>
              </a:ext>
            </a:extLst>
          </p:cNvPr>
          <p:cNvSpPr txBox="1"/>
          <p:nvPr/>
        </p:nvSpPr>
        <p:spPr>
          <a:xfrm>
            <a:off x="7164571" y="1386950"/>
            <a:ext cx="4689228" cy="285798"/>
          </a:xfrm>
          <a:prstGeom prst="rect">
            <a:avLst/>
          </a:prstGeom>
          <a:noFill/>
        </p:spPr>
        <p:txBody>
          <a:bodyPr wrap="square" tIns="36000">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A726"/>
                </a:solidFill>
                <a:effectLst/>
                <a:uLnTx/>
                <a:uFillTx/>
                <a:latin typeface="Raleway"/>
                <a:ea typeface="+mn-ea"/>
                <a:cs typeface="+mn-cs"/>
              </a:rPr>
              <a:t>Assets since 2002</a:t>
            </a:r>
            <a:endParaRPr kumimoji="0" lang="en-US" sz="1200" b="1" i="0" u="none" strike="noStrike" kern="1200" cap="none" spc="0" normalizeH="0" baseline="0" noProof="0" dirty="0">
              <a:ln>
                <a:noFill/>
              </a:ln>
              <a:solidFill>
                <a:srgbClr val="FFA726"/>
              </a:solidFill>
              <a:effectLst/>
              <a:uLnTx/>
              <a:uFillTx/>
              <a:latin typeface="Raleway" pitchFamily="2" charset="77"/>
              <a:ea typeface="+mn-ea"/>
              <a:cs typeface="+mn-cs"/>
            </a:endParaRPr>
          </a:p>
        </p:txBody>
      </p:sp>
      <p:sp>
        <p:nvSpPr>
          <p:cNvPr id="19" name="TextBox 37">
            <a:extLst>
              <a:ext uri="{FF2B5EF4-FFF2-40B4-BE49-F238E27FC236}">
                <a16:creationId xmlns:a16="http://schemas.microsoft.com/office/drawing/2014/main" id="{E64B67C6-A931-7DC9-049C-A23B85D2E822}"/>
              </a:ext>
            </a:extLst>
          </p:cNvPr>
          <p:cNvSpPr txBox="1"/>
          <p:nvPr/>
        </p:nvSpPr>
        <p:spPr>
          <a:xfrm>
            <a:off x="7164570" y="1849760"/>
            <a:ext cx="4665195" cy="950559"/>
          </a:xfrm>
          <a:prstGeom prst="roundRect">
            <a:avLst>
              <a:gd name="adj" fmla="val 13935"/>
            </a:avLst>
          </a:prstGeom>
          <a:solidFill>
            <a:srgbClr val="004D7A"/>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Raleway"/>
                <a:ea typeface="+mn-ea"/>
                <a:cs typeface="+mn-cs"/>
              </a:rPr>
              <a:t>€271 million</a:t>
            </a:r>
            <a:endParaRPr kumimoji="0" lang="en-US" sz="2200" b="1" i="0" u="none" strike="noStrike" kern="1200" cap="none" spc="0" normalizeH="0" baseline="0" noProof="0" dirty="0">
              <a:ln>
                <a:noFill/>
              </a:ln>
              <a:solidFill>
                <a:srgbClr val="E3F5FF"/>
              </a:solidFill>
              <a:effectLst/>
              <a:uLnTx/>
              <a:uFillTx/>
              <a:latin typeface="Raleway" pitchFamily="2" charset="77"/>
              <a:ea typeface="+mn-ea"/>
              <a:cs typeface="+mn-cs"/>
            </a:endParaRPr>
          </a:p>
        </p:txBody>
      </p:sp>
      <p:sp>
        <p:nvSpPr>
          <p:cNvPr id="20" name="TextBox 37">
            <a:extLst>
              <a:ext uri="{FF2B5EF4-FFF2-40B4-BE49-F238E27FC236}">
                <a16:creationId xmlns:a16="http://schemas.microsoft.com/office/drawing/2014/main" id="{98EC7B0E-33F2-1225-D6B0-E3B41E25B64D}"/>
              </a:ext>
            </a:extLst>
          </p:cNvPr>
          <p:cNvSpPr txBox="1"/>
          <p:nvPr/>
        </p:nvSpPr>
        <p:spPr>
          <a:xfrm>
            <a:off x="7164571" y="3644774"/>
            <a:ext cx="1424648" cy="1267685"/>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1539A"/>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1539A"/>
                </a:solidFill>
                <a:effectLst/>
                <a:uLnTx/>
                <a:uFillTx/>
                <a:latin typeface="Open Sans"/>
                <a:ea typeface="+mn-ea"/>
                <a:cs typeface="+mn-cs"/>
              </a:rPr>
              <a:t>10 million </a:t>
            </a:r>
            <a:r>
              <a:rPr kumimoji="0" lang="en-GB" sz="1100" b="1" i="0" u="none" strike="noStrike" kern="1200" cap="none" spc="0" normalizeH="0" baseline="0" noProof="0" dirty="0">
                <a:ln>
                  <a:noFill/>
                </a:ln>
                <a:solidFill>
                  <a:srgbClr val="01539A"/>
                </a:solidFill>
                <a:effectLst/>
                <a:uLnTx/>
                <a:uFillTx/>
                <a:latin typeface="Open Sans"/>
                <a:ea typeface="+mn-ea"/>
                <a:cs typeface="+mn-cs"/>
              </a:rPr>
              <a:t>people</a:t>
            </a:r>
            <a:br>
              <a:rPr kumimoji="0" lang="en-GB" sz="1100" b="1" i="0" u="none" strike="noStrike" kern="1200" cap="none" spc="0" normalizeH="0" baseline="0" noProof="0" dirty="0">
                <a:ln>
                  <a:noFill/>
                </a:ln>
                <a:solidFill>
                  <a:srgbClr val="01539A"/>
                </a:solidFill>
                <a:effectLst/>
                <a:uLnTx/>
                <a:uFillTx/>
                <a:latin typeface="Open Sans"/>
                <a:ea typeface="+mn-ea"/>
                <a:cs typeface="+mn-cs"/>
              </a:rPr>
            </a:br>
            <a:r>
              <a:rPr kumimoji="0" lang="en-GB" sz="1100" b="1" i="0" u="none" strike="noStrike" kern="1200" cap="none" spc="0" normalizeH="0" baseline="0" noProof="0" dirty="0">
                <a:ln>
                  <a:noFill/>
                </a:ln>
                <a:solidFill>
                  <a:srgbClr val="01539A"/>
                </a:solidFill>
                <a:effectLst/>
                <a:uLnTx/>
                <a:uFillTx/>
                <a:latin typeface="Open Sans"/>
                <a:ea typeface="+mn-ea"/>
                <a:cs typeface="+mn-cs"/>
              </a:rPr>
              <a:t>reached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01539A"/>
              </a:solidFill>
              <a:effectLst/>
              <a:uLnTx/>
              <a:uFillTx/>
              <a:latin typeface="Open Sans"/>
              <a:ea typeface="+mn-ea"/>
              <a:cs typeface="+mn-cs"/>
            </a:endParaRPr>
          </a:p>
        </p:txBody>
      </p:sp>
      <p:sp>
        <p:nvSpPr>
          <p:cNvPr id="21" name="TextBox 37">
            <a:extLst>
              <a:ext uri="{FF2B5EF4-FFF2-40B4-BE49-F238E27FC236}">
                <a16:creationId xmlns:a16="http://schemas.microsoft.com/office/drawing/2014/main" id="{FBEEB9B8-81A6-CF06-6B73-BFBC339F894C}"/>
              </a:ext>
            </a:extLst>
          </p:cNvPr>
          <p:cNvSpPr txBox="1"/>
          <p:nvPr/>
        </p:nvSpPr>
        <p:spPr>
          <a:xfrm>
            <a:off x="8813657" y="3670838"/>
            <a:ext cx="1424647" cy="1239605"/>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1539A"/>
                </a:solidFill>
                <a:effectLst/>
                <a:uLnTx/>
                <a:uFillTx/>
                <a:latin typeface="Open Sans"/>
                <a:ea typeface="+mn-ea"/>
                <a:cs typeface="+mn-cs"/>
              </a:rPr>
              <a:t>7x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1539A"/>
                </a:solidFill>
                <a:effectLst/>
                <a:uLnTx/>
                <a:uFillTx/>
                <a:latin typeface="Open Sans"/>
                <a:ea typeface="+mn-ea"/>
                <a:cs typeface="+mn-cs"/>
              </a:rPr>
              <a:t>capital leveraged</a:t>
            </a:r>
            <a:endParaRPr kumimoji="0" lang="en-GB" sz="1100" b="0" i="0" u="none" strike="noStrike" kern="1200" cap="none" spc="0" normalizeH="0" baseline="0" noProof="0" dirty="0">
              <a:ln>
                <a:noFill/>
              </a:ln>
              <a:solidFill>
                <a:srgbClr val="01539A"/>
              </a:solidFill>
              <a:effectLst/>
              <a:uLnTx/>
              <a:uFillTx/>
              <a:latin typeface="Open Sans"/>
              <a:ea typeface="+mn-ea"/>
              <a:cs typeface="+mn-cs"/>
            </a:endParaRPr>
          </a:p>
        </p:txBody>
      </p:sp>
      <p:sp>
        <p:nvSpPr>
          <p:cNvPr id="22" name="TextBox 37">
            <a:extLst>
              <a:ext uri="{FF2B5EF4-FFF2-40B4-BE49-F238E27FC236}">
                <a16:creationId xmlns:a16="http://schemas.microsoft.com/office/drawing/2014/main" id="{C1F340DA-91A1-C8A9-9A6A-887DB76C12E8}"/>
              </a:ext>
            </a:extLst>
          </p:cNvPr>
          <p:cNvSpPr txBox="1"/>
          <p:nvPr/>
        </p:nvSpPr>
        <p:spPr>
          <a:xfrm>
            <a:off x="10429152" y="3664556"/>
            <a:ext cx="1424647" cy="1239605"/>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1" i="0" u="none" strike="noStrike" kern="1200" cap="none" spc="0" normalizeH="0" baseline="0" noProof="0" dirty="0">
              <a:ln>
                <a:noFill/>
              </a:ln>
              <a:solidFill>
                <a:srgbClr val="01539A"/>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1539A"/>
                </a:solidFill>
                <a:effectLst/>
                <a:uLnTx/>
                <a:uFillTx/>
                <a:latin typeface="Open Sans"/>
                <a:ea typeface="+mn-ea"/>
                <a:cs typeface="+mn-cs"/>
              </a:rPr>
              <a:t>935</a:t>
            </a:r>
            <a:r>
              <a:rPr kumimoji="0" lang="en-GB" sz="1100" b="1" i="0" u="none" strike="noStrike" kern="1200" cap="none" spc="0" normalizeH="0" baseline="0" noProof="0" dirty="0">
                <a:ln>
                  <a:noFill/>
                </a:ln>
                <a:solidFill>
                  <a:srgbClr val="01539A"/>
                </a:solidFill>
                <a:effectLst/>
                <a:uLnTx/>
                <a:uFillTx/>
                <a:latin typeface="Open Sans"/>
                <a:ea typeface="+mn-ea"/>
                <a:cs typeface="+mn-cs"/>
              </a:rPr>
              <a:t> enterprises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srgbClr val="01539A"/>
                </a:solidFill>
                <a:effectLst/>
                <a:uLnTx/>
                <a:uFillTx/>
                <a:latin typeface="Open Sans"/>
                <a:ea typeface="+mn-ea"/>
                <a:cs typeface="+mn-cs"/>
              </a:rPr>
              <a:t>supported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01539A"/>
              </a:solidFill>
              <a:effectLst/>
              <a:uLnTx/>
              <a:uFillTx/>
              <a:latin typeface="Open Sans"/>
              <a:ea typeface="+mn-ea"/>
              <a:cs typeface="+mn-cs"/>
            </a:endParaRPr>
          </a:p>
        </p:txBody>
      </p:sp>
      <p:sp>
        <p:nvSpPr>
          <p:cNvPr id="23" name="Tekstvak 14">
            <a:extLst>
              <a:ext uri="{FF2B5EF4-FFF2-40B4-BE49-F238E27FC236}">
                <a16:creationId xmlns:a16="http://schemas.microsoft.com/office/drawing/2014/main" id="{23537D62-204B-1C79-A25F-FB386A4017A4}"/>
              </a:ext>
            </a:extLst>
          </p:cNvPr>
          <p:cNvSpPr txBox="1"/>
          <p:nvPr/>
        </p:nvSpPr>
        <p:spPr>
          <a:xfrm>
            <a:off x="7164571" y="3230775"/>
            <a:ext cx="4689228" cy="346416"/>
          </a:xfrm>
          <a:prstGeom prst="rect">
            <a:avLst/>
          </a:prstGeom>
          <a:noFill/>
        </p:spPr>
        <p:txBody>
          <a:bodyPr wrap="square" tIns="36000">
            <a:no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A726"/>
                </a:solidFill>
                <a:effectLst/>
                <a:uLnTx/>
                <a:uFillTx/>
                <a:latin typeface="Raleway"/>
                <a:ea typeface="+mn-ea"/>
                <a:cs typeface="+mn-cs"/>
              </a:rPr>
              <a:t>Results since 2019</a:t>
            </a:r>
            <a:endParaRPr kumimoji="0" lang="en-US" sz="1200" b="1" i="0" u="none" strike="noStrike" kern="1200" cap="none" spc="0" normalizeH="0" baseline="0" noProof="0" dirty="0">
              <a:ln>
                <a:noFill/>
              </a:ln>
              <a:solidFill>
                <a:srgbClr val="FFA726"/>
              </a:solidFill>
              <a:effectLst/>
              <a:uLnTx/>
              <a:uFillTx/>
              <a:latin typeface="Raleway" pitchFamily="2" charset="77"/>
              <a:ea typeface="+mn-ea"/>
              <a:cs typeface="+mn-cs"/>
            </a:endParaRPr>
          </a:p>
        </p:txBody>
      </p:sp>
      <p:sp>
        <p:nvSpPr>
          <p:cNvPr id="24" name="TextBox 37">
            <a:extLst>
              <a:ext uri="{FF2B5EF4-FFF2-40B4-BE49-F238E27FC236}">
                <a16:creationId xmlns:a16="http://schemas.microsoft.com/office/drawing/2014/main" id="{9E0F89F6-3F5F-0603-5335-1CC7C434BF96}"/>
              </a:ext>
            </a:extLst>
          </p:cNvPr>
          <p:cNvSpPr txBox="1"/>
          <p:nvPr/>
        </p:nvSpPr>
        <p:spPr>
          <a:xfrm>
            <a:off x="5396743" y="1435131"/>
            <a:ext cx="1450800" cy="1346400"/>
          </a:xfrm>
          <a:prstGeom prst="roundRect">
            <a:avLst>
              <a:gd name="adj" fmla="val 9030"/>
            </a:avLst>
          </a:prstGeom>
          <a:solidFill>
            <a:srgbClr val="B7D6E1"/>
          </a:solidFill>
        </p:spPr>
        <p:txBody>
          <a:bodyPr wrap="square" lIns="72000" rIns="72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1539A"/>
                </a:solidFill>
                <a:effectLst/>
                <a:uLnTx/>
                <a:uFillTx/>
                <a:latin typeface="Open Sans"/>
                <a:ea typeface="+mn-ea"/>
                <a:cs typeface="+mn-cs"/>
              </a:rPr>
              <a:t>Global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01539A"/>
                </a:solidFill>
                <a:effectLst/>
                <a:uLnTx/>
                <a:uFillTx/>
                <a:latin typeface="Open Sans"/>
                <a:ea typeface="+mn-ea"/>
                <a:cs typeface="+mn-cs"/>
              </a:rPr>
              <a:t>funder base</a:t>
            </a:r>
            <a:endParaRPr kumimoji="0" lang="en-GB" sz="1100" b="0" i="0" u="none" strike="noStrike" kern="1200" cap="none" spc="0" normalizeH="0" baseline="0" noProof="0">
              <a:ln>
                <a:noFill/>
              </a:ln>
              <a:solidFill>
                <a:srgbClr val="01539A"/>
              </a:solidFill>
              <a:effectLst/>
              <a:uLnTx/>
              <a:uFillTx/>
              <a:latin typeface="Open Sans"/>
              <a:ea typeface="+mn-ea"/>
              <a:cs typeface="+mn-cs"/>
            </a:endParaRPr>
          </a:p>
        </p:txBody>
      </p:sp>
      <p:sp>
        <p:nvSpPr>
          <p:cNvPr id="25" name="Tekstvak 14">
            <a:extLst>
              <a:ext uri="{FF2B5EF4-FFF2-40B4-BE49-F238E27FC236}">
                <a16:creationId xmlns:a16="http://schemas.microsoft.com/office/drawing/2014/main" id="{9DA9F201-D3D9-1BE3-70AA-405B4A3956F7}"/>
              </a:ext>
            </a:extLst>
          </p:cNvPr>
          <p:cNvSpPr txBox="1"/>
          <p:nvPr/>
        </p:nvSpPr>
        <p:spPr>
          <a:xfrm>
            <a:off x="7573995" y="2842020"/>
            <a:ext cx="3934712" cy="336887"/>
          </a:xfrm>
          <a:prstGeom prst="rect">
            <a:avLst/>
          </a:prstGeom>
          <a:noFill/>
        </p:spPr>
        <p:txBody>
          <a:bodyPr wrap="square" tIns="3600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rgbClr val="FFA726"/>
                </a:solidFill>
                <a:effectLst/>
                <a:uLnTx/>
                <a:uFillTx/>
                <a:latin typeface="Raleway"/>
                <a:ea typeface="+mn-ea"/>
                <a:cs typeface="+mn-cs"/>
              </a:rPr>
              <a:t>*Including grants and leverage</a:t>
            </a:r>
            <a:endParaRPr kumimoji="0" lang="en-US" sz="800" b="0" i="0" u="none" strike="noStrike" kern="1200" cap="none" spc="0" normalizeH="0" baseline="0" noProof="0">
              <a:ln>
                <a:noFill/>
              </a:ln>
              <a:solidFill>
                <a:srgbClr val="FFA726"/>
              </a:solidFill>
              <a:effectLst/>
              <a:uLnTx/>
              <a:uFillTx/>
              <a:latin typeface="Raleway" pitchFamily="2" charset="77"/>
              <a:ea typeface="+mn-ea"/>
              <a:cs typeface="+mn-cs"/>
            </a:endParaRPr>
          </a:p>
        </p:txBody>
      </p:sp>
      <p:pic>
        <p:nvPicPr>
          <p:cNvPr id="26" name="Graphic 25" descr="Coins outline">
            <a:extLst>
              <a:ext uri="{FF2B5EF4-FFF2-40B4-BE49-F238E27FC236}">
                <a16:creationId xmlns:a16="http://schemas.microsoft.com/office/drawing/2014/main" id="{315FFB20-89A4-D7C0-4FCA-73E95961369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444084" y="3197508"/>
            <a:ext cx="740306" cy="740306"/>
          </a:xfrm>
          <a:prstGeom prst="rect">
            <a:avLst/>
          </a:prstGeom>
        </p:spPr>
      </p:pic>
      <p:sp>
        <p:nvSpPr>
          <p:cNvPr id="27" name="TextBox 31">
            <a:extLst>
              <a:ext uri="{FF2B5EF4-FFF2-40B4-BE49-F238E27FC236}">
                <a16:creationId xmlns:a16="http://schemas.microsoft.com/office/drawing/2014/main" id="{E90526C9-D5BF-E695-1080-6207A2F429D0}"/>
              </a:ext>
            </a:extLst>
          </p:cNvPr>
          <p:cNvSpPr txBox="1"/>
          <p:nvPr/>
        </p:nvSpPr>
        <p:spPr>
          <a:xfrm>
            <a:off x="762519" y="5265981"/>
            <a:ext cx="5900704"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A726"/>
                </a:solidFill>
                <a:effectLst/>
                <a:uLnTx/>
                <a:uFillTx/>
                <a:latin typeface="Raleway"/>
                <a:ea typeface="+mn-ea"/>
                <a:cs typeface="+mn-cs"/>
              </a:rPr>
              <a:t>Selection of key partners</a:t>
            </a:r>
          </a:p>
        </p:txBody>
      </p:sp>
      <p:pic>
        <p:nvPicPr>
          <p:cNvPr id="28" name="Picture 8" descr="Conrad N. Hilton Foundation - Wikipedia">
            <a:extLst>
              <a:ext uri="{FF2B5EF4-FFF2-40B4-BE49-F238E27FC236}">
                <a16:creationId xmlns:a16="http://schemas.microsoft.com/office/drawing/2014/main" id="{5DE1F4B0-3194-3FE8-3B8A-817AE871A8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16233" y="5633103"/>
            <a:ext cx="689601" cy="74686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8" descr="Swiss Agency for Development and Cooperation (SDC) - Acted">
            <a:extLst>
              <a:ext uri="{FF2B5EF4-FFF2-40B4-BE49-F238E27FC236}">
                <a16:creationId xmlns:a16="http://schemas.microsoft.com/office/drawing/2014/main" id="{092F1651-B305-8F08-4EB9-97DE4307984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7593" r="6658"/>
          <a:stretch/>
        </p:blipFill>
        <p:spPr bwMode="auto">
          <a:xfrm>
            <a:off x="2405965" y="5742074"/>
            <a:ext cx="1371144" cy="533212"/>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4" descr="Dutch Ministry of Foreign Affairs – NWGN">
            <a:extLst>
              <a:ext uri="{FF2B5EF4-FFF2-40B4-BE49-F238E27FC236}">
                <a16:creationId xmlns:a16="http://schemas.microsoft.com/office/drawing/2014/main" id="{8D80BD88-1A9C-D0FD-E756-C9F8A2C3A8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9013" y="5651220"/>
            <a:ext cx="1578177" cy="6048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41" descr="Shape&#10;&#10;Description automatically generated with medium confidence">
            <a:extLst>
              <a:ext uri="{FF2B5EF4-FFF2-40B4-BE49-F238E27FC236}">
                <a16:creationId xmlns:a16="http://schemas.microsoft.com/office/drawing/2014/main" id="{D07BAAD7-1C57-88F7-34E9-3557289984A6}"/>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4894411" y="5679598"/>
            <a:ext cx="1247760" cy="721631"/>
          </a:xfrm>
          <a:prstGeom prst="rect">
            <a:avLst/>
          </a:prstGeom>
        </p:spPr>
      </p:pic>
      <p:pic>
        <p:nvPicPr>
          <p:cNvPr id="33" name="Picture 6" descr="giin-logo - Euclid Network">
            <a:extLst>
              <a:ext uri="{FF2B5EF4-FFF2-40B4-BE49-F238E27FC236}">
                <a16:creationId xmlns:a16="http://schemas.microsoft.com/office/drawing/2014/main" id="{08555A41-EA7B-0FA9-3DE7-1C003AA4DA6C}"/>
              </a:ext>
            </a:extLst>
          </p:cNvPr>
          <p:cNvPicPr>
            <a:picLocks noChangeAspect="1" noChangeArrowheads="1"/>
          </p:cNvPicPr>
          <p:nvPr/>
        </p:nvPicPr>
        <p:blipFill>
          <a:blip r:embed="rId10">
            <a:extLst>
              <a:ext uri="{28A0092B-C50C-407E-A947-70E740481C1C}">
                <a14:useLocalDpi xmlns:a14="http://schemas.microsoft.com/office/drawing/2010/main"/>
              </a:ext>
            </a:extLst>
          </a:blip>
          <a:srcRect/>
          <a:stretch>
            <a:fillRect/>
          </a:stretch>
        </p:blipFill>
        <p:spPr bwMode="auto">
          <a:xfrm>
            <a:off x="8869032" y="5377574"/>
            <a:ext cx="818951" cy="770779"/>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50">
            <a:extLst>
              <a:ext uri="{FF2B5EF4-FFF2-40B4-BE49-F238E27FC236}">
                <a16:creationId xmlns:a16="http://schemas.microsoft.com/office/drawing/2014/main" id="{BAAB476D-5C40-19F4-AAF2-8D5DA70E3793}"/>
              </a:ext>
            </a:extLst>
          </p:cNvPr>
          <p:cNvCxnSpPr>
            <a:cxnSpLocks/>
          </p:cNvCxnSpPr>
          <p:nvPr/>
        </p:nvCxnSpPr>
        <p:spPr>
          <a:xfrm>
            <a:off x="6543139" y="5346384"/>
            <a:ext cx="0" cy="1147347"/>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35" name="TextBox 55">
            <a:extLst>
              <a:ext uri="{FF2B5EF4-FFF2-40B4-BE49-F238E27FC236}">
                <a16:creationId xmlns:a16="http://schemas.microsoft.com/office/drawing/2014/main" id="{7EAA8048-2EBD-5445-87E5-1DDC957E3DFA}"/>
              </a:ext>
            </a:extLst>
          </p:cNvPr>
          <p:cNvSpPr txBox="1"/>
          <p:nvPr/>
        </p:nvSpPr>
        <p:spPr>
          <a:xfrm>
            <a:off x="7019690" y="5293025"/>
            <a:ext cx="5900703"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A726"/>
                </a:solidFill>
                <a:effectLst/>
                <a:uLnTx/>
                <a:uFillTx/>
                <a:latin typeface="Raleway"/>
                <a:ea typeface="+mn-ea"/>
                <a:cs typeface="+mn-cs"/>
              </a:rPr>
              <a:t>Influential in the sector</a:t>
            </a:r>
          </a:p>
        </p:txBody>
      </p:sp>
      <p:pic>
        <p:nvPicPr>
          <p:cNvPr id="36" name="Picture 56">
            <a:extLst>
              <a:ext uri="{FF2B5EF4-FFF2-40B4-BE49-F238E27FC236}">
                <a16:creationId xmlns:a16="http://schemas.microsoft.com/office/drawing/2014/main" id="{4965F979-A029-3096-371B-61935D9A2C9B}"/>
              </a:ext>
            </a:extLst>
          </p:cNvPr>
          <p:cNvPicPr>
            <a:picLocks noChangeAspect="1"/>
          </p:cNvPicPr>
          <p:nvPr/>
        </p:nvPicPr>
        <p:blipFill>
          <a:blip r:embed="rId11" cstate="print">
            <a:extLst>
              <a:ext uri="{28A0092B-C50C-407E-A947-70E740481C1C}">
                <a14:useLocalDpi xmlns:a14="http://schemas.microsoft.com/office/drawing/2010/main"/>
              </a:ext>
            </a:extLst>
          </a:blip>
          <a:stretch>
            <a:fillRect/>
          </a:stretch>
        </p:blipFill>
        <p:spPr>
          <a:xfrm>
            <a:off x="7019690" y="5601408"/>
            <a:ext cx="582587" cy="377951"/>
          </a:xfrm>
          <a:prstGeom prst="rect">
            <a:avLst/>
          </a:prstGeom>
        </p:spPr>
      </p:pic>
      <p:pic>
        <p:nvPicPr>
          <p:cNvPr id="37" name="Picture 57" descr="Home - Toilet Board Coalition">
            <a:extLst>
              <a:ext uri="{FF2B5EF4-FFF2-40B4-BE49-F238E27FC236}">
                <a16:creationId xmlns:a16="http://schemas.microsoft.com/office/drawing/2014/main" id="{DCEB6481-2392-E6B5-B7E2-5F59E43285C2}"/>
              </a:ext>
            </a:extLst>
          </p:cNvPr>
          <p:cNvPicPr>
            <a:picLocks noChangeAspect="1"/>
          </p:cNvPicPr>
          <p:nvPr/>
        </p:nvPicPr>
        <p:blipFill>
          <a:blip r:embed="rId12" cstate="print">
            <a:extLst>
              <a:ext uri="{28A0092B-C50C-407E-A947-70E740481C1C}">
                <a14:useLocalDpi xmlns:a14="http://schemas.microsoft.com/office/drawing/2010/main"/>
              </a:ext>
            </a:extLst>
          </a:blip>
          <a:srcRect/>
          <a:stretch>
            <a:fillRect/>
          </a:stretch>
        </p:blipFill>
        <p:spPr bwMode="auto">
          <a:xfrm>
            <a:off x="9853452" y="5490257"/>
            <a:ext cx="551979" cy="551979"/>
          </a:xfrm>
          <a:prstGeom prst="rect">
            <a:avLst/>
          </a:prstGeom>
          <a:noFill/>
          <a:ln>
            <a:noFill/>
          </a:ln>
        </p:spPr>
      </p:pic>
      <p:pic>
        <p:nvPicPr>
          <p:cNvPr id="38" name="Picture 8" descr="Impact Europe | Impact Europe">
            <a:extLst>
              <a:ext uri="{FF2B5EF4-FFF2-40B4-BE49-F238E27FC236}">
                <a16:creationId xmlns:a16="http://schemas.microsoft.com/office/drawing/2014/main" id="{205995E9-C555-1D7C-F00A-3A3204B1673A}"/>
              </a:ext>
            </a:extLst>
          </p:cNvPr>
          <p:cNvPicPr>
            <a:picLocks noChangeAspect="1" noChangeArrowheads="1"/>
          </p:cNvPicPr>
          <p:nvPr/>
        </p:nvPicPr>
        <p:blipFill rotWithShape="1">
          <a:blip r:embed="rId13" cstate="print">
            <a:extLst>
              <a:ext uri="{28A0092B-C50C-407E-A947-70E740481C1C}">
                <a14:useLocalDpi xmlns:a14="http://schemas.microsoft.com/office/drawing/2010/main"/>
              </a:ext>
            </a:extLst>
          </a:blip>
          <a:srcRect/>
          <a:stretch/>
        </p:blipFill>
        <p:spPr bwMode="auto">
          <a:xfrm>
            <a:off x="7732717" y="5546953"/>
            <a:ext cx="1047263" cy="406667"/>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1" descr="☑️NWP - Netherlands Water Partnership ...">
            <a:extLst>
              <a:ext uri="{FF2B5EF4-FFF2-40B4-BE49-F238E27FC236}">
                <a16:creationId xmlns:a16="http://schemas.microsoft.com/office/drawing/2014/main" id="{BAFFEDDD-57A0-D8D7-35D1-083DF4703DDD}"/>
              </a:ext>
            </a:extLst>
          </p:cNvPr>
          <p:cNvPicPr>
            <a:picLocks noChangeAspect="1"/>
          </p:cNvPicPr>
          <p:nvPr/>
        </p:nvPicPr>
        <p:blipFill rotWithShape="1">
          <a:blip r:embed="rId14" cstate="print">
            <a:extLst>
              <a:ext uri="{28A0092B-C50C-407E-A947-70E740481C1C}">
                <a14:useLocalDpi xmlns:a14="http://schemas.microsoft.com/office/drawing/2010/main"/>
              </a:ext>
            </a:extLst>
          </a:blip>
          <a:srcRect t="35207" b="36982"/>
          <a:stretch/>
        </p:blipFill>
        <p:spPr bwMode="auto">
          <a:xfrm>
            <a:off x="8434807" y="6135731"/>
            <a:ext cx="1175647" cy="326871"/>
          </a:xfrm>
          <a:prstGeom prst="rect">
            <a:avLst/>
          </a:prstGeom>
          <a:noFill/>
          <a:ln>
            <a:noFill/>
          </a:ln>
          <a:extLst>
            <a:ext uri="{53640926-AAD7-44D8-BBD7-CCE9431645EC}">
              <a14:shadowObscured xmlns:a14="http://schemas.microsoft.com/office/drawing/2010/main"/>
            </a:ext>
          </a:extLst>
        </p:spPr>
      </p:pic>
      <p:pic>
        <p:nvPicPr>
          <p:cNvPr id="40" name="Picture 2">
            <a:extLst>
              <a:ext uri="{FF2B5EF4-FFF2-40B4-BE49-F238E27FC236}">
                <a16:creationId xmlns:a16="http://schemas.microsoft.com/office/drawing/2014/main" id="{FB302D9D-6790-0355-32AF-DD90D9FC5B00}"/>
              </a:ext>
            </a:extLst>
          </p:cNvPr>
          <p:cNvPicPr>
            <a:picLocks noChangeAspect="1" noChangeArrowheads="1"/>
          </p:cNvPicPr>
          <p:nvPr/>
        </p:nvPicPr>
        <p:blipFill>
          <a:blip r:embed="rId15">
            <a:extLst>
              <a:ext uri="{28A0092B-C50C-407E-A947-70E740481C1C}">
                <a14:useLocalDpi xmlns:a14="http://schemas.microsoft.com/office/drawing/2010/main"/>
              </a:ext>
            </a:extLst>
          </a:blip>
          <a:srcRect/>
          <a:stretch>
            <a:fillRect/>
          </a:stretch>
        </p:blipFill>
        <p:spPr bwMode="auto">
          <a:xfrm>
            <a:off x="10038921" y="6178447"/>
            <a:ext cx="907387" cy="300791"/>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4">
            <a:extLst>
              <a:ext uri="{FF2B5EF4-FFF2-40B4-BE49-F238E27FC236}">
                <a16:creationId xmlns:a16="http://schemas.microsoft.com/office/drawing/2014/main" id="{33841534-B33C-8DC9-2864-2E844A6B175A}"/>
              </a:ext>
            </a:extLst>
          </p:cNvPr>
          <p:cNvPicPr>
            <a:picLocks noChangeAspect="1" noChangeArrowheads="1"/>
          </p:cNvPicPr>
          <p:nvPr/>
        </p:nvPicPr>
        <p:blipFill>
          <a:blip r:embed="rId16">
            <a:extLst>
              <a:ext uri="{28A0092B-C50C-407E-A947-70E740481C1C}">
                <a14:useLocalDpi xmlns:a14="http://schemas.microsoft.com/office/drawing/2010/main"/>
              </a:ext>
            </a:extLst>
          </a:blip>
          <a:srcRect/>
          <a:stretch>
            <a:fillRect/>
          </a:stretch>
        </p:blipFill>
        <p:spPr bwMode="auto">
          <a:xfrm>
            <a:off x="10534715" y="5489016"/>
            <a:ext cx="551979" cy="551979"/>
          </a:xfrm>
          <a:prstGeom prst="rect">
            <a:avLst/>
          </a:prstGeom>
          <a:noFill/>
          <a:extLst>
            <a:ext uri="{909E8E84-426E-40DD-AFC4-6F175D3DCCD1}">
              <a14:hiddenFill xmlns:a14="http://schemas.microsoft.com/office/drawing/2010/main">
                <a:solidFill>
                  <a:srgbClr val="FFFFFF"/>
                </a:solidFill>
              </a14:hiddenFill>
            </a:ext>
          </a:extLst>
        </p:spPr>
      </p:pic>
      <p:pic>
        <p:nvPicPr>
          <p:cNvPr id="42" name="Graphic 41">
            <a:extLst>
              <a:ext uri="{FF2B5EF4-FFF2-40B4-BE49-F238E27FC236}">
                <a16:creationId xmlns:a16="http://schemas.microsoft.com/office/drawing/2014/main" id="{4A5F3BED-59BD-7CA4-87E8-0DE4D7863F8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83812" y="6112463"/>
            <a:ext cx="984596" cy="431044"/>
          </a:xfrm>
          <a:prstGeom prst="rect">
            <a:avLst/>
          </a:prstGeom>
        </p:spPr>
      </p:pic>
      <p:cxnSp>
        <p:nvCxnSpPr>
          <p:cNvPr id="44" name="Straight Connector 50">
            <a:extLst>
              <a:ext uri="{FF2B5EF4-FFF2-40B4-BE49-F238E27FC236}">
                <a16:creationId xmlns:a16="http://schemas.microsoft.com/office/drawing/2014/main" id="{FFFC5F56-07D2-C78D-1AA0-581C45B2E2CD}"/>
              </a:ext>
            </a:extLst>
          </p:cNvPr>
          <p:cNvCxnSpPr>
            <a:cxnSpLocks/>
          </p:cNvCxnSpPr>
          <p:nvPr/>
        </p:nvCxnSpPr>
        <p:spPr>
          <a:xfrm flipH="1">
            <a:off x="7164571" y="1714449"/>
            <a:ext cx="4665194" cy="0"/>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cxnSp>
        <p:nvCxnSpPr>
          <p:cNvPr id="47" name="Straight Connector 50">
            <a:extLst>
              <a:ext uri="{FF2B5EF4-FFF2-40B4-BE49-F238E27FC236}">
                <a16:creationId xmlns:a16="http://schemas.microsoft.com/office/drawing/2014/main" id="{77C1F734-152F-2637-226B-98A47860BBDD}"/>
              </a:ext>
            </a:extLst>
          </p:cNvPr>
          <p:cNvCxnSpPr>
            <a:cxnSpLocks/>
          </p:cNvCxnSpPr>
          <p:nvPr/>
        </p:nvCxnSpPr>
        <p:spPr>
          <a:xfrm flipH="1">
            <a:off x="7164571" y="3523577"/>
            <a:ext cx="4665194" cy="19672"/>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0395428"/>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Title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kstvak 2">
            <a:extLst>
              <a:ext uri="{FF2B5EF4-FFF2-40B4-BE49-F238E27FC236}">
                <a16:creationId xmlns:a16="http://schemas.microsoft.com/office/drawing/2014/main" id="{E056F0D9-1E37-AD1F-023A-48783D787672}"/>
              </a:ext>
            </a:extLst>
          </p:cNvPr>
          <p:cNvSpPr txBox="1"/>
          <p:nvPr/>
        </p:nvSpPr>
        <p:spPr>
          <a:xfrm>
            <a:off x="560834" y="1405150"/>
            <a:ext cx="6458856" cy="2902077"/>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1500"/>
              </a:spcAft>
              <a:buClrTx/>
              <a:buSzTx/>
              <a:buFontTx/>
              <a:buNone/>
              <a:tabLst/>
              <a:defRPr/>
            </a:pPr>
            <a:r>
              <a:rPr kumimoji="0" lang="en-US" sz="1400" b="1" i="0" u="none" strike="noStrike" kern="1200" cap="none" spc="0" normalizeH="0" baseline="0" noProof="0" dirty="0">
                <a:ln>
                  <a:noFill/>
                </a:ln>
                <a:solidFill>
                  <a:srgbClr val="FFA726"/>
                </a:solidFill>
                <a:effectLst/>
                <a:uLnTx/>
                <a:uFillTx/>
                <a:latin typeface="Raleway" pitchFamily="2" charset="0"/>
                <a:ea typeface="+mn-ea"/>
                <a:cs typeface="+mn-cs"/>
              </a:rPr>
              <a:t>About the CEO Water Mandate Water Resilience Coalition</a:t>
            </a:r>
          </a:p>
          <a:p>
            <a:pPr marL="0" marR="0" lvl="0" indent="0" algn="l" defTabSz="914400" rtl="0" eaLnBrk="1" fontAlgn="auto" latinLnBrk="0" hangingPunct="1">
              <a:lnSpc>
                <a:spcPct val="150000"/>
              </a:lnSpc>
              <a:spcBef>
                <a:spcPts val="0"/>
              </a:spcBef>
              <a:spcAft>
                <a:spcPts val="15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The </a:t>
            </a:r>
            <a:r>
              <a:rPr kumimoji="0" lang="en-US" sz="1200" b="0" i="0" u="none" strike="noStrike" kern="1200" cap="none" spc="0" normalizeH="0" baseline="0" noProof="0" dirty="0">
                <a:ln>
                  <a:noFill/>
                </a:ln>
                <a:solidFill>
                  <a:prstClr val="white"/>
                </a:solidFill>
                <a:effectLst/>
                <a:uLnTx/>
                <a:uFillTx/>
                <a:latin typeface="Open Sans"/>
                <a:ea typeface="+mn-ea"/>
                <a:cs typeface="+mn-cs"/>
                <a:hlinkClick r:id="rId3">
                  <a:extLst>
                    <a:ext uri="{A12FA001-AC4F-418D-AE19-62706E023703}">
                      <ahyp:hlinkClr xmlns:ahyp="http://schemas.microsoft.com/office/drawing/2018/hyperlinkcolor" val="tx"/>
                    </a:ext>
                  </a:extLst>
                </a:hlinkClick>
              </a:rPr>
              <a:t>Water Resilience Coalition (WRC)</a:t>
            </a:r>
            <a:r>
              <a:rPr kumimoji="0" lang="en-US" sz="1200" b="0" i="0" u="none" strike="noStrike" kern="1200" cap="none" spc="0" normalizeH="0" baseline="0" noProof="0" dirty="0">
                <a:ln>
                  <a:noFill/>
                </a:ln>
                <a:solidFill>
                  <a:prstClr val="white"/>
                </a:solidFill>
                <a:effectLst/>
                <a:uLnTx/>
                <a:uFillTx/>
                <a:latin typeface="Open Sans"/>
                <a:ea typeface="+mn-ea"/>
                <a:cs typeface="+mn-cs"/>
              </a:rPr>
              <a:t> is an industry-driven, CEO-led initiative to address the global water crisis. It is an initiative of the CEO Water Mandate between the UN Global Compact and the Pacific Institute.</a:t>
            </a:r>
          </a:p>
          <a:p>
            <a:pPr marL="0" marR="0" lvl="0" indent="0" algn="l" defTabSz="914400" rtl="0" eaLnBrk="1" fontAlgn="auto" latinLnBrk="0" hangingPunct="1">
              <a:lnSpc>
                <a:spcPct val="150000"/>
              </a:lnSpc>
              <a:spcBef>
                <a:spcPts val="0"/>
              </a:spcBef>
              <a:spcAft>
                <a:spcPts val="15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WRC’s aim is to elevate action on mounting water stress and its connection to climate change to the top of the global corporate agenda.</a:t>
            </a:r>
          </a:p>
          <a:p>
            <a:pPr marL="0" marR="0" lvl="0" indent="0" algn="l" defTabSz="914400" rtl="0" eaLnBrk="1" fontAlgn="auto" latinLnBrk="0" hangingPunct="1">
              <a:lnSpc>
                <a:spcPct val="150000"/>
              </a:lnSpc>
              <a:spcBef>
                <a:spcPts val="0"/>
              </a:spcBef>
              <a:spcAft>
                <a:spcPts val="15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WRC members work to preserve the world’s freshwater resources through collective action in water-stressed basins and through ambitious, quantifiable goals.</a:t>
            </a:r>
          </a:p>
        </p:txBody>
      </p:sp>
      <p:cxnSp>
        <p:nvCxnSpPr>
          <p:cNvPr id="6" name="Rechte verbindingslijn 24">
            <a:extLst>
              <a:ext uri="{FF2B5EF4-FFF2-40B4-BE49-F238E27FC236}">
                <a16:creationId xmlns:a16="http://schemas.microsoft.com/office/drawing/2014/main" id="{5598265F-1E8E-E299-6FD7-3839A40D55F3}"/>
              </a:ext>
            </a:extLst>
          </p:cNvPr>
          <p:cNvCxnSpPr>
            <a:cxnSpLocks/>
          </p:cNvCxnSpPr>
          <p:nvPr/>
        </p:nvCxnSpPr>
        <p:spPr>
          <a:xfrm>
            <a:off x="8224231" y="1713686"/>
            <a:ext cx="0" cy="4712952"/>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8" name="Afgeronde rechthoek 27">
            <a:extLst>
              <a:ext uri="{FF2B5EF4-FFF2-40B4-BE49-F238E27FC236}">
                <a16:creationId xmlns:a16="http://schemas.microsoft.com/office/drawing/2014/main" id="{C5B24323-4FAA-EA59-F3C7-519A5C284E71}"/>
              </a:ext>
            </a:extLst>
          </p:cNvPr>
          <p:cNvSpPr/>
          <p:nvPr/>
        </p:nvSpPr>
        <p:spPr>
          <a:xfrm>
            <a:off x="8487623" y="1713686"/>
            <a:ext cx="3342143" cy="4712952"/>
          </a:xfrm>
          <a:prstGeom prst="roundRect">
            <a:avLst>
              <a:gd name="adj" fmla="val 10535"/>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err="1">
                <a:ln>
                  <a:noFill/>
                </a:ln>
                <a:solidFill>
                  <a:srgbClr val="FFA726"/>
                </a:solidFill>
                <a:effectLst/>
                <a:uLnTx/>
                <a:uFillTx/>
                <a:latin typeface="Raleway"/>
                <a:ea typeface="+mn-ea"/>
                <a:cs typeface="+mn-cs"/>
              </a:rPr>
              <a:t>Extr</a:t>
            </a:r>
            <a:r>
              <a:rPr lang="en-GB" sz="1200" b="1" dirty="0">
                <a:solidFill>
                  <a:srgbClr val="FFA726"/>
                </a:solidFill>
                <a:latin typeface="Raleway"/>
              </a:rPr>
              <a:t>a information</a:t>
            </a:r>
            <a:endParaRPr kumimoji="0" lang="en-GB" sz="1200" b="0" i="0" u="none" strike="noStrike" kern="1200" cap="none" spc="0" normalizeH="0" baseline="0" noProof="0" dirty="0">
              <a:ln>
                <a:noFill/>
              </a:ln>
              <a:solidFill>
                <a:srgbClr val="FFA726"/>
              </a:solidFill>
              <a:effectLst/>
              <a:uLnTx/>
              <a:uFillTx/>
              <a:latin typeface="Ralew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Text</a:t>
            </a:r>
          </a:p>
        </p:txBody>
      </p:sp>
    </p:spTree>
    <p:extLst>
      <p:ext uri="{BB962C8B-B14F-4D97-AF65-F5344CB8AC3E}">
        <p14:creationId xmlns:p14="http://schemas.microsoft.com/office/powerpoint/2010/main" val="36563883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Title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37">
            <a:extLst>
              <a:ext uri="{FF2B5EF4-FFF2-40B4-BE49-F238E27FC236}">
                <a16:creationId xmlns:a16="http://schemas.microsoft.com/office/drawing/2014/main" id="{ECBE6F43-3980-F97E-EE1A-1F012900AB5A}"/>
              </a:ext>
            </a:extLst>
          </p:cNvPr>
          <p:cNvSpPr txBox="1"/>
          <p:nvPr/>
        </p:nvSpPr>
        <p:spPr>
          <a:xfrm>
            <a:off x="637559" y="5165518"/>
            <a:ext cx="11216240" cy="1444346"/>
          </a:xfrm>
          <a:prstGeom prst="roundRect">
            <a:avLst>
              <a:gd name="adj" fmla="val 13935"/>
            </a:avLst>
          </a:prstGeom>
          <a:solidFill>
            <a:srgbClr val="FFFFFF"/>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srgbClr val="E3F5FF"/>
              </a:solidFill>
              <a:effectLst/>
              <a:uLnTx/>
              <a:uFillTx/>
              <a:latin typeface="Raleway" pitchFamily="2" charset="77"/>
              <a:ea typeface="+mn-ea"/>
              <a:cs typeface="+mn-cs"/>
            </a:endParaRPr>
          </a:p>
        </p:txBody>
      </p:sp>
      <p:sp>
        <p:nvSpPr>
          <p:cNvPr id="4" name="TextBox 31">
            <a:extLst>
              <a:ext uri="{FF2B5EF4-FFF2-40B4-BE49-F238E27FC236}">
                <a16:creationId xmlns:a16="http://schemas.microsoft.com/office/drawing/2014/main" id="{0A9A3F10-37C1-E976-2ED8-5F8BECF94264}"/>
              </a:ext>
            </a:extLst>
          </p:cNvPr>
          <p:cNvSpPr txBox="1"/>
          <p:nvPr/>
        </p:nvSpPr>
        <p:spPr>
          <a:xfrm>
            <a:off x="762519" y="5265980"/>
            <a:ext cx="3252313"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73E55"/>
                </a:solidFill>
                <a:effectLst/>
                <a:uLnTx/>
                <a:uFillTx/>
                <a:latin typeface="Raleway"/>
                <a:ea typeface="+mn-ea"/>
                <a:cs typeface="+mn-cs"/>
              </a:rPr>
              <a:t>Committed public funders</a:t>
            </a:r>
          </a:p>
        </p:txBody>
      </p:sp>
      <p:cxnSp>
        <p:nvCxnSpPr>
          <p:cNvPr id="5" name="Straight Connector 50">
            <a:extLst>
              <a:ext uri="{FF2B5EF4-FFF2-40B4-BE49-F238E27FC236}">
                <a16:creationId xmlns:a16="http://schemas.microsoft.com/office/drawing/2014/main" id="{698252AB-5951-A1FF-020A-59FB726EBBE3}"/>
              </a:ext>
            </a:extLst>
          </p:cNvPr>
          <p:cNvCxnSpPr>
            <a:cxnSpLocks/>
          </p:cNvCxnSpPr>
          <p:nvPr/>
        </p:nvCxnSpPr>
        <p:spPr>
          <a:xfrm>
            <a:off x="7737955" y="5322000"/>
            <a:ext cx="0" cy="1147347"/>
          </a:xfrm>
          <a:prstGeom prst="line">
            <a:avLst/>
          </a:prstGeom>
          <a:ln>
            <a:solidFill>
              <a:srgbClr val="173E55"/>
            </a:solidFill>
          </a:ln>
        </p:spPr>
        <p:style>
          <a:lnRef idx="2">
            <a:schemeClr val="accent1"/>
          </a:lnRef>
          <a:fillRef idx="0">
            <a:schemeClr val="accent1"/>
          </a:fillRef>
          <a:effectRef idx="1">
            <a:schemeClr val="accent1"/>
          </a:effectRef>
          <a:fontRef idx="minor">
            <a:schemeClr val="tx1"/>
          </a:fontRef>
        </p:style>
      </p:cxnSp>
      <p:pic>
        <p:nvPicPr>
          <p:cNvPr id="7" name="Picture 2">
            <a:extLst>
              <a:ext uri="{FF2B5EF4-FFF2-40B4-BE49-F238E27FC236}">
                <a16:creationId xmlns:a16="http://schemas.microsoft.com/office/drawing/2014/main" id="{68287A6F-A212-60C1-F861-BE93E32447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80" b="24314"/>
          <a:stretch>
            <a:fillRect/>
          </a:stretch>
        </p:blipFill>
        <p:spPr bwMode="auto">
          <a:xfrm>
            <a:off x="8128030" y="5385522"/>
            <a:ext cx="1348748" cy="4889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048E1A48-D7BC-1776-AD5D-3B5577700E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2761" y="5802449"/>
            <a:ext cx="1252361" cy="77068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a:extLst>
              <a:ext uri="{FF2B5EF4-FFF2-40B4-BE49-F238E27FC236}">
                <a16:creationId xmlns:a16="http://schemas.microsoft.com/office/drawing/2014/main" id="{016A5A01-FB2E-DB50-BAD1-91AA2229EA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0308" y="6009609"/>
            <a:ext cx="1025480" cy="32513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a:extLst>
              <a:ext uri="{FF2B5EF4-FFF2-40B4-BE49-F238E27FC236}">
                <a16:creationId xmlns:a16="http://schemas.microsoft.com/office/drawing/2014/main" id="{C952988C-C719-7502-D741-6DDE97D0CAD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5675" b="32325"/>
          <a:stretch>
            <a:fillRect/>
          </a:stretch>
        </p:blipFill>
        <p:spPr bwMode="auto">
          <a:xfrm>
            <a:off x="9631534" y="5432631"/>
            <a:ext cx="1705640" cy="40935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a:extLst>
              <a:ext uri="{FF2B5EF4-FFF2-40B4-BE49-F238E27FC236}">
                <a16:creationId xmlns:a16="http://schemas.microsoft.com/office/drawing/2014/main" id="{4A795F12-2137-AAD1-2D97-293FC0AD87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24805" y="5614316"/>
            <a:ext cx="1252349" cy="80150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descr="Government of Luxembourg | Land Portal">
            <a:extLst>
              <a:ext uri="{FF2B5EF4-FFF2-40B4-BE49-F238E27FC236}">
                <a16:creationId xmlns:a16="http://schemas.microsoft.com/office/drawing/2014/main" id="{96D78225-DFAA-1031-74BE-A6DD971D6F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6615" y="5839025"/>
            <a:ext cx="1882448" cy="48564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a:extLst>
              <a:ext uri="{FF2B5EF4-FFF2-40B4-BE49-F238E27FC236}">
                <a16:creationId xmlns:a16="http://schemas.microsoft.com/office/drawing/2014/main" id="{D55ED06D-0DEA-E88A-922F-ADD5030223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6693" y="5654292"/>
            <a:ext cx="1642359" cy="70949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a:extLst>
              <a:ext uri="{FF2B5EF4-FFF2-40B4-BE49-F238E27FC236}">
                <a16:creationId xmlns:a16="http://schemas.microsoft.com/office/drawing/2014/main" id="{6828659D-ECAD-DC10-A3F2-0A93EA5C4F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5623" y="5776264"/>
            <a:ext cx="1168919" cy="6731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0" descr="European Bank for Reconstruction and ...">
            <a:extLst>
              <a:ext uri="{FF2B5EF4-FFF2-40B4-BE49-F238E27FC236}">
                <a16:creationId xmlns:a16="http://schemas.microsoft.com/office/drawing/2014/main" id="{D81B3B22-5501-CC25-F536-B0848705707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52647" y="5215193"/>
            <a:ext cx="1438224" cy="75622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8" descr="Joint SDG Fund">
            <a:extLst>
              <a:ext uri="{FF2B5EF4-FFF2-40B4-BE49-F238E27FC236}">
                <a16:creationId xmlns:a16="http://schemas.microsoft.com/office/drawing/2014/main" id="{F924C702-43BB-7F91-2C7A-83BEAB4A77F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60858" y="6056617"/>
            <a:ext cx="1370304" cy="353427"/>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50">
            <a:extLst>
              <a:ext uri="{FF2B5EF4-FFF2-40B4-BE49-F238E27FC236}">
                <a16:creationId xmlns:a16="http://schemas.microsoft.com/office/drawing/2014/main" id="{8FD9FA02-9FF1-B128-09B6-0BC762CFB387}"/>
              </a:ext>
            </a:extLst>
          </p:cNvPr>
          <p:cNvCxnSpPr>
            <a:cxnSpLocks/>
          </p:cNvCxnSpPr>
          <p:nvPr/>
        </p:nvCxnSpPr>
        <p:spPr>
          <a:xfrm>
            <a:off x="4531459" y="5322000"/>
            <a:ext cx="0" cy="1147347"/>
          </a:xfrm>
          <a:prstGeom prst="line">
            <a:avLst/>
          </a:prstGeom>
          <a:ln>
            <a:solidFill>
              <a:srgbClr val="173E55"/>
            </a:solidFill>
          </a:ln>
        </p:spPr>
        <p:style>
          <a:lnRef idx="2">
            <a:schemeClr val="accent1"/>
          </a:lnRef>
          <a:fillRef idx="0">
            <a:schemeClr val="accent1"/>
          </a:fillRef>
          <a:effectRef idx="1">
            <a:schemeClr val="accent1"/>
          </a:effectRef>
          <a:fontRef idx="minor">
            <a:schemeClr val="tx1"/>
          </a:fontRef>
        </p:style>
      </p:cxnSp>
      <p:sp>
        <p:nvSpPr>
          <p:cNvPr id="26" name="TextBox 31">
            <a:extLst>
              <a:ext uri="{FF2B5EF4-FFF2-40B4-BE49-F238E27FC236}">
                <a16:creationId xmlns:a16="http://schemas.microsoft.com/office/drawing/2014/main" id="{97C32047-20A8-7D56-861A-7221888376F3}"/>
              </a:ext>
            </a:extLst>
          </p:cNvPr>
          <p:cNvSpPr txBox="1"/>
          <p:nvPr/>
        </p:nvSpPr>
        <p:spPr>
          <a:xfrm>
            <a:off x="4700536" y="5265980"/>
            <a:ext cx="1704337" cy="405683"/>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73E55"/>
                </a:solidFill>
                <a:effectLst/>
                <a:uLnTx/>
                <a:uFillTx/>
                <a:latin typeface="Raleway"/>
                <a:ea typeface="+mn-ea"/>
                <a:cs typeface="+mn-cs"/>
              </a:rPr>
              <a:t>Selection of interested partners</a:t>
            </a:r>
          </a:p>
        </p:txBody>
      </p:sp>
      <p:sp>
        <p:nvSpPr>
          <p:cNvPr id="27" name="TextBox 31">
            <a:extLst>
              <a:ext uri="{FF2B5EF4-FFF2-40B4-BE49-F238E27FC236}">
                <a16:creationId xmlns:a16="http://schemas.microsoft.com/office/drawing/2014/main" id="{A734F6A4-A0C8-CCF3-7272-2032F9825AA7}"/>
              </a:ext>
            </a:extLst>
          </p:cNvPr>
          <p:cNvSpPr txBox="1"/>
          <p:nvPr/>
        </p:nvSpPr>
        <p:spPr>
          <a:xfrm>
            <a:off x="7907032" y="5265980"/>
            <a:ext cx="2802614"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73E55"/>
                </a:solidFill>
                <a:effectLst/>
                <a:uLnTx/>
                <a:uFillTx/>
                <a:latin typeface="Raleway"/>
                <a:ea typeface="+mn-ea"/>
                <a:cs typeface="+mn-cs"/>
              </a:rPr>
              <a:t>Selection of corporate frontrunners </a:t>
            </a:r>
          </a:p>
        </p:txBody>
      </p:sp>
    </p:spTree>
    <p:extLst>
      <p:ext uri="{BB962C8B-B14F-4D97-AF65-F5344CB8AC3E}">
        <p14:creationId xmlns:p14="http://schemas.microsoft.com/office/powerpoint/2010/main" val="836885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Title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37">
            <a:extLst>
              <a:ext uri="{FF2B5EF4-FFF2-40B4-BE49-F238E27FC236}">
                <a16:creationId xmlns:a16="http://schemas.microsoft.com/office/drawing/2014/main" id="{ECBE6F43-3980-F97E-EE1A-1F012900AB5A}"/>
              </a:ext>
            </a:extLst>
          </p:cNvPr>
          <p:cNvSpPr txBox="1"/>
          <p:nvPr/>
        </p:nvSpPr>
        <p:spPr>
          <a:xfrm>
            <a:off x="637559" y="5165518"/>
            <a:ext cx="11216240" cy="1444346"/>
          </a:xfrm>
          <a:prstGeom prst="roundRect">
            <a:avLst>
              <a:gd name="adj" fmla="val 13935"/>
            </a:avLst>
          </a:prstGeom>
          <a:solidFill>
            <a:srgbClr val="FFFFFF"/>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200" b="1" i="0" u="none" strike="noStrike" kern="1200" cap="none" spc="0" normalizeH="0" baseline="0" noProof="0" dirty="0">
              <a:ln>
                <a:noFill/>
              </a:ln>
              <a:solidFill>
                <a:srgbClr val="E3F5FF"/>
              </a:solidFill>
              <a:effectLst/>
              <a:uLnTx/>
              <a:uFillTx/>
              <a:latin typeface="Raleway" pitchFamily="2" charset="77"/>
              <a:ea typeface="+mn-ea"/>
              <a:cs typeface="+mn-cs"/>
            </a:endParaRPr>
          </a:p>
        </p:txBody>
      </p:sp>
      <p:sp>
        <p:nvSpPr>
          <p:cNvPr id="4" name="TextBox 31">
            <a:extLst>
              <a:ext uri="{FF2B5EF4-FFF2-40B4-BE49-F238E27FC236}">
                <a16:creationId xmlns:a16="http://schemas.microsoft.com/office/drawing/2014/main" id="{0A9A3F10-37C1-E976-2ED8-5F8BECF94264}"/>
              </a:ext>
            </a:extLst>
          </p:cNvPr>
          <p:cNvSpPr txBox="1"/>
          <p:nvPr/>
        </p:nvSpPr>
        <p:spPr>
          <a:xfrm>
            <a:off x="762519" y="5265980"/>
            <a:ext cx="3252313"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73E55"/>
                </a:solidFill>
                <a:effectLst/>
                <a:uLnTx/>
                <a:uFillTx/>
                <a:latin typeface="Raleway"/>
                <a:ea typeface="+mn-ea"/>
                <a:cs typeface="+mn-cs"/>
              </a:rPr>
              <a:t>Committed public funders</a:t>
            </a:r>
          </a:p>
        </p:txBody>
      </p:sp>
      <p:cxnSp>
        <p:nvCxnSpPr>
          <p:cNvPr id="5" name="Straight Connector 50">
            <a:extLst>
              <a:ext uri="{FF2B5EF4-FFF2-40B4-BE49-F238E27FC236}">
                <a16:creationId xmlns:a16="http://schemas.microsoft.com/office/drawing/2014/main" id="{698252AB-5951-A1FF-020A-59FB726EBBE3}"/>
              </a:ext>
            </a:extLst>
          </p:cNvPr>
          <p:cNvCxnSpPr>
            <a:cxnSpLocks/>
          </p:cNvCxnSpPr>
          <p:nvPr/>
        </p:nvCxnSpPr>
        <p:spPr>
          <a:xfrm>
            <a:off x="7737955" y="5322000"/>
            <a:ext cx="0" cy="1147347"/>
          </a:xfrm>
          <a:prstGeom prst="line">
            <a:avLst/>
          </a:prstGeom>
          <a:ln>
            <a:solidFill>
              <a:srgbClr val="173E55"/>
            </a:solidFill>
          </a:ln>
        </p:spPr>
        <p:style>
          <a:lnRef idx="2">
            <a:schemeClr val="accent1"/>
          </a:lnRef>
          <a:fillRef idx="0">
            <a:schemeClr val="accent1"/>
          </a:fillRef>
          <a:effectRef idx="1">
            <a:schemeClr val="accent1"/>
          </a:effectRef>
          <a:fontRef idx="minor">
            <a:schemeClr val="tx1"/>
          </a:fontRef>
        </p:style>
      </p:cxnSp>
      <p:pic>
        <p:nvPicPr>
          <p:cNvPr id="7" name="Picture 2">
            <a:extLst>
              <a:ext uri="{FF2B5EF4-FFF2-40B4-BE49-F238E27FC236}">
                <a16:creationId xmlns:a16="http://schemas.microsoft.com/office/drawing/2014/main" id="{68287A6F-A212-60C1-F861-BE93E32447B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80" b="24314"/>
          <a:stretch>
            <a:fillRect/>
          </a:stretch>
        </p:blipFill>
        <p:spPr bwMode="auto">
          <a:xfrm>
            <a:off x="8128030" y="5385522"/>
            <a:ext cx="1348748" cy="4889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048E1A48-D7BC-1776-AD5D-3B5577700E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2761" y="5802449"/>
            <a:ext cx="1252361" cy="77068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a:extLst>
              <a:ext uri="{FF2B5EF4-FFF2-40B4-BE49-F238E27FC236}">
                <a16:creationId xmlns:a16="http://schemas.microsoft.com/office/drawing/2014/main" id="{016A5A01-FB2E-DB50-BAD1-91AA2229EA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0308" y="6009609"/>
            <a:ext cx="1025480" cy="325136"/>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a:extLst>
              <a:ext uri="{FF2B5EF4-FFF2-40B4-BE49-F238E27FC236}">
                <a16:creationId xmlns:a16="http://schemas.microsoft.com/office/drawing/2014/main" id="{C952988C-C719-7502-D741-6DDE97D0CAD3}"/>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5675" b="32325"/>
          <a:stretch>
            <a:fillRect/>
          </a:stretch>
        </p:blipFill>
        <p:spPr bwMode="auto">
          <a:xfrm>
            <a:off x="9631534" y="5432631"/>
            <a:ext cx="1705640" cy="40935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a:extLst>
              <a:ext uri="{FF2B5EF4-FFF2-40B4-BE49-F238E27FC236}">
                <a16:creationId xmlns:a16="http://schemas.microsoft.com/office/drawing/2014/main" id="{4A795F12-2137-AAD1-2D97-293FC0AD871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24805" y="5614316"/>
            <a:ext cx="1252349" cy="80150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descr="Government of Luxembourg | Land Portal">
            <a:extLst>
              <a:ext uri="{FF2B5EF4-FFF2-40B4-BE49-F238E27FC236}">
                <a16:creationId xmlns:a16="http://schemas.microsoft.com/office/drawing/2014/main" id="{96D78225-DFAA-1031-74BE-A6DD971D6FD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6615" y="5839025"/>
            <a:ext cx="1882448" cy="48564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a:extLst>
              <a:ext uri="{FF2B5EF4-FFF2-40B4-BE49-F238E27FC236}">
                <a16:creationId xmlns:a16="http://schemas.microsoft.com/office/drawing/2014/main" id="{D55ED06D-0DEA-E88A-922F-ADD5030223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6693" y="5654292"/>
            <a:ext cx="1642359" cy="70949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a:extLst>
              <a:ext uri="{FF2B5EF4-FFF2-40B4-BE49-F238E27FC236}">
                <a16:creationId xmlns:a16="http://schemas.microsoft.com/office/drawing/2014/main" id="{6828659D-ECAD-DC10-A3F2-0A93EA5C4FE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95623" y="5776264"/>
            <a:ext cx="1168919" cy="67315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0" descr="European Bank for Reconstruction and ...">
            <a:extLst>
              <a:ext uri="{FF2B5EF4-FFF2-40B4-BE49-F238E27FC236}">
                <a16:creationId xmlns:a16="http://schemas.microsoft.com/office/drawing/2014/main" id="{D81B3B22-5501-CC25-F536-B0848705707C}"/>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52647" y="5215193"/>
            <a:ext cx="1438224" cy="756227"/>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8" descr="Joint SDG Fund">
            <a:extLst>
              <a:ext uri="{FF2B5EF4-FFF2-40B4-BE49-F238E27FC236}">
                <a16:creationId xmlns:a16="http://schemas.microsoft.com/office/drawing/2014/main" id="{F924C702-43BB-7F91-2C7A-83BEAB4A77F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60858" y="6056617"/>
            <a:ext cx="1370304" cy="353427"/>
          </a:xfrm>
          <a:prstGeom prst="rect">
            <a:avLst/>
          </a:prstGeom>
          <a:noFill/>
          <a:extLst>
            <a:ext uri="{909E8E84-426E-40DD-AFC4-6F175D3DCCD1}">
              <a14:hiddenFill xmlns:a14="http://schemas.microsoft.com/office/drawing/2010/main">
                <a:solidFill>
                  <a:srgbClr val="FFFFFF"/>
                </a:solidFill>
              </a14:hiddenFill>
            </a:ext>
          </a:extLst>
        </p:spPr>
      </p:pic>
      <p:cxnSp>
        <p:nvCxnSpPr>
          <p:cNvPr id="25" name="Straight Connector 50">
            <a:extLst>
              <a:ext uri="{FF2B5EF4-FFF2-40B4-BE49-F238E27FC236}">
                <a16:creationId xmlns:a16="http://schemas.microsoft.com/office/drawing/2014/main" id="{8FD9FA02-9FF1-B128-09B6-0BC762CFB387}"/>
              </a:ext>
            </a:extLst>
          </p:cNvPr>
          <p:cNvCxnSpPr>
            <a:cxnSpLocks/>
          </p:cNvCxnSpPr>
          <p:nvPr/>
        </p:nvCxnSpPr>
        <p:spPr>
          <a:xfrm>
            <a:off x="4531459" y="5322000"/>
            <a:ext cx="0" cy="1147347"/>
          </a:xfrm>
          <a:prstGeom prst="line">
            <a:avLst/>
          </a:prstGeom>
          <a:ln>
            <a:solidFill>
              <a:srgbClr val="173E55"/>
            </a:solidFill>
          </a:ln>
        </p:spPr>
        <p:style>
          <a:lnRef idx="2">
            <a:schemeClr val="accent1"/>
          </a:lnRef>
          <a:fillRef idx="0">
            <a:schemeClr val="accent1"/>
          </a:fillRef>
          <a:effectRef idx="1">
            <a:schemeClr val="accent1"/>
          </a:effectRef>
          <a:fontRef idx="minor">
            <a:schemeClr val="tx1"/>
          </a:fontRef>
        </p:style>
      </p:cxnSp>
      <p:sp>
        <p:nvSpPr>
          <p:cNvPr id="26" name="TextBox 31">
            <a:extLst>
              <a:ext uri="{FF2B5EF4-FFF2-40B4-BE49-F238E27FC236}">
                <a16:creationId xmlns:a16="http://schemas.microsoft.com/office/drawing/2014/main" id="{97C32047-20A8-7D56-861A-7221888376F3}"/>
              </a:ext>
            </a:extLst>
          </p:cNvPr>
          <p:cNvSpPr txBox="1"/>
          <p:nvPr/>
        </p:nvSpPr>
        <p:spPr>
          <a:xfrm>
            <a:off x="4700536" y="5265980"/>
            <a:ext cx="1704337" cy="405683"/>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73E55"/>
                </a:solidFill>
                <a:effectLst/>
                <a:uLnTx/>
                <a:uFillTx/>
                <a:latin typeface="Raleway"/>
                <a:ea typeface="+mn-ea"/>
                <a:cs typeface="+mn-cs"/>
              </a:rPr>
              <a:t>Selection of interested partners</a:t>
            </a:r>
          </a:p>
        </p:txBody>
      </p:sp>
      <p:sp>
        <p:nvSpPr>
          <p:cNvPr id="27" name="TextBox 31">
            <a:extLst>
              <a:ext uri="{FF2B5EF4-FFF2-40B4-BE49-F238E27FC236}">
                <a16:creationId xmlns:a16="http://schemas.microsoft.com/office/drawing/2014/main" id="{A734F6A4-A0C8-CCF3-7272-2032F9825AA7}"/>
              </a:ext>
            </a:extLst>
          </p:cNvPr>
          <p:cNvSpPr txBox="1"/>
          <p:nvPr/>
        </p:nvSpPr>
        <p:spPr>
          <a:xfrm>
            <a:off x="7907032" y="5265980"/>
            <a:ext cx="2802614"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173E55"/>
                </a:solidFill>
                <a:effectLst/>
                <a:uLnTx/>
                <a:uFillTx/>
                <a:latin typeface="Raleway"/>
                <a:ea typeface="+mn-ea"/>
                <a:cs typeface="+mn-cs"/>
              </a:rPr>
              <a:t>Selection of corporate frontrunners </a:t>
            </a:r>
          </a:p>
        </p:txBody>
      </p:sp>
    </p:spTree>
    <p:extLst>
      <p:ext uri="{BB962C8B-B14F-4D97-AF65-F5344CB8AC3E}">
        <p14:creationId xmlns:p14="http://schemas.microsoft.com/office/powerpoint/2010/main" val="2654951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10633516" cy="688090"/>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How it works: Global Water Investment Facility</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9">
            <a:extLst>
              <a:ext uri="{FF2B5EF4-FFF2-40B4-BE49-F238E27FC236}">
                <a16:creationId xmlns:a16="http://schemas.microsoft.com/office/drawing/2014/main" id="{CBDF555D-B6BE-2428-E74A-5AC803112465}"/>
              </a:ext>
            </a:extLst>
          </p:cNvPr>
          <p:cNvSpPr txBox="1"/>
          <p:nvPr/>
        </p:nvSpPr>
        <p:spPr>
          <a:xfrm>
            <a:off x="631892" y="1357919"/>
            <a:ext cx="101214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 bespoke investment facility where the c</a:t>
            </a:r>
            <a:r>
              <a:rPr kumimoji="0" lang="en-US" sz="1400" b="1" i="0" u="none" strike="noStrike" kern="1200" cap="none" spc="0" normalizeH="0" baseline="0" noProof="0" dirty="0" err="1">
                <a:ln>
                  <a:noFill/>
                </a:ln>
                <a:solidFill>
                  <a:srgbClr val="FFA726"/>
                </a:solidFill>
                <a:effectLst/>
                <a:uLnTx/>
                <a:uFillTx/>
                <a:latin typeface="Open Sans"/>
                <a:ea typeface="+mn-ea"/>
                <a:cs typeface="+mn-cs"/>
              </a:rPr>
              <a:t>apital</a:t>
            </a:r>
            <a:r>
              <a:rPr kumimoji="0" lang="en-US" sz="1400" b="1" i="0" u="none" strike="noStrike" kern="1200" cap="none" spc="0" normalizeH="0" baseline="0" noProof="0" dirty="0">
                <a:ln>
                  <a:noFill/>
                </a:ln>
                <a:solidFill>
                  <a:srgbClr val="FFA726"/>
                </a:solidFill>
                <a:effectLst/>
                <a:uLnTx/>
                <a:uFillTx/>
                <a:latin typeface="Open Sans"/>
                <a:ea typeface="+mn-ea"/>
                <a:cs typeface="+mn-cs"/>
              </a:rPr>
              <a:t> flows from corporate investments to project realization</a:t>
            </a:r>
          </a:p>
        </p:txBody>
      </p:sp>
      <p:sp>
        <p:nvSpPr>
          <p:cNvPr id="59" name="Afgeronde rechthoek 27">
            <a:extLst>
              <a:ext uri="{FF2B5EF4-FFF2-40B4-BE49-F238E27FC236}">
                <a16:creationId xmlns:a16="http://schemas.microsoft.com/office/drawing/2014/main" id="{AC560329-6658-7AD6-A0D1-1882FBF44987}"/>
              </a:ext>
            </a:extLst>
          </p:cNvPr>
          <p:cNvSpPr/>
          <p:nvPr/>
        </p:nvSpPr>
        <p:spPr>
          <a:xfrm>
            <a:off x="722706" y="2194559"/>
            <a:ext cx="1992124" cy="3608833"/>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0" name="Afgeronde rechthoek 27">
            <a:extLst>
              <a:ext uri="{FF2B5EF4-FFF2-40B4-BE49-F238E27FC236}">
                <a16:creationId xmlns:a16="http://schemas.microsoft.com/office/drawing/2014/main" id="{860A1205-FE2B-F6CE-6626-DAB059FAC0AE}"/>
              </a:ext>
            </a:extLst>
          </p:cNvPr>
          <p:cNvSpPr/>
          <p:nvPr/>
        </p:nvSpPr>
        <p:spPr>
          <a:xfrm>
            <a:off x="3734231" y="2194559"/>
            <a:ext cx="1992124" cy="3608833"/>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1" name="Afgeronde rechthoek 27">
            <a:extLst>
              <a:ext uri="{FF2B5EF4-FFF2-40B4-BE49-F238E27FC236}">
                <a16:creationId xmlns:a16="http://schemas.microsoft.com/office/drawing/2014/main" id="{A60CBC0A-D558-7540-4991-A4CE1CA90482}"/>
              </a:ext>
            </a:extLst>
          </p:cNvPr>
          <p:cNvSpPr/>
          <p:nvPr/>
        </p:nvSpPr>
        <p:spPr>
          <a:xfrm>
            <a:off x="6745756" y="2194559"/>
            <a:ext cx="1992124" cy="3608833"/>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2" name="Afgeronde rechthoek 27">
            <a:extLst>
              <a:ext uri="{FF2B5EF4-FFF2-40B4-BE49-F238E27FC236}">
                <a16:creationId xmlns:a16="http://schemas.microsoft.com/office/drawing/2014/main" id="{CC7D6455-E2FD-51A3-AECF-ED6C3D9DDC32}"/>
              </a:ext>
            </a:extLst>
          </p:cNvPr>
          <p:cNvSpPr/>
          <p:nvPr/>
        </p:nvSpPr>
        <p:spPr>
          <a:xfrm>
            <a:off x="9757281" y="2194559"/>
            <a:ext cx="1992124" cy="3608833"/>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3" name="Tekstvak 62">
            <a:extLst>
              <a:ext uri="{FF2B5EF4-FFF2-40B4-BE49-F238E27FC236}">
                <a16:creationId xmlns:a16="http://schemas.microsoft.com/office/drawing/2014/main" id="{56200CFA-981A-1157-8335-453C923AC798}"/>
              </a:ext>
            </a:extLst>
          </p:cNvPr>
          <p:cNvSpPr txBox="1"/>
          <p:nvPr/>
        </p:nvSpPr>
        <p:spPr>
          <a:xfrm>
            <a:off x="8737880" y="3257514"/>
            <a:ext cx="1084782" cy="336887"/>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b="0" i="0" u="none" strike="noStrike" kern="1200" cap="none" spc="0" normalizeH="0" baseline="0" noProof="0" dirty="0">
                <a:ln>
                  <a:noFill/>
                </a:ln>
                <a:solidFill>
                  <a:srgbClr val="FFA726"/>
                </a:solidFill>
                <a:effectLst/>
                <a:uLnTx/>
                <a:uFillTx/>
                <a:latin typeface="Funnel Sans" pitchFamily="2" charset="0"/>
              </a:rPr>
              <a:t>Private equity</a:t>
            </a:r>
          </a:p>
        </p:txBody>
      </p:sp>
      <p:sp>
        <p:nvSpPr>
          <p:cNvPr id="64" name="Tekstvak 63">
            <a:extLst>
              <a:ext uri="{FF2B5EF4-FFF2-40B4-BE49-F238E27FC236}">
                <a16:creationId xmlns:a16="http://schemas.microsoft.com/office/drawing/2014/main" id="{CFFC5E5C-5A31-5719-6E91-313A8D682A1E}"/>
              </a:ext>
            </a:extLst>
          </p:cNvPr>
          <p:cNvSpPr txBox="1"/>
          <p:nvPr/>
        </p:nvSpPr>
        <p:spPr>
          <a:xfrm>
            <a:off x="8737880" y="4023058"/>
            <a:ext cx="1084782" cy="432850"/>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b="0" i="0" u="none" strike="noStrike" kern="1200" cap="none" spc="0" normalizeH="0" baseline="0" noProof="0">
                <a:ln>
                  <a:noFill/>
                </a:ln>
                <a:solidFill>
                  <a:srgbClr val="FFA726"/>
                </a:solidFill>
                <a:effectLst/>
                <a:uLnTx/>
                <a:uFillTx/>
                <a:latin typeface="Funnel Sans" pitchFamily="2" charset="0"/>
              </a:rPr>
              <a:t>Private debt</a:t>
            </a:r>
          </a:p>
        </p:txBody>
      </p:sp>
      <p:sp>
        <p:nvSpPr>
          <p:cNvPr id="65" name="Tekstvak 64">
            <a:extLst>
              <a:ext uri="{FF2B5EF4-FFF2-40B4-BE49-F238E27FC236}">
                <a16:creationId xmlns:a16="http://schemas.microsoft.com/office/drawing/2014/main" id="{1A09F443-AD06-2DA1-C99C-60C9FA75DE00}"/>
              </a:ext>
            </a:extLst>
          </p:cNvPr>
          <p:cNvSpPr txBox="1"/>
          <p:nvPr/>
        </p:nvSpPr>
        <p:spPr>
          <a:xfrm>
            <a:off x="5656774" y="3590211"/>
            <a:ext cx="1094362" cy="432847"/>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b="0" i="0" u="none" strike="noStrike" kern="1200" cap="none" spc="0" normalizeH="0" baseline="0" noProof="0" dirty="0">
                <a:ln>
                  <a:noFill/>
                </a:ln>
                <a:solidFill>
                  <a:srgbClr val="FFA726"/>
                </a:solidFill>
                <a:effectLst/>
                <a:uLnTx/>
                <a:uFillTx/>
                <a:latin typeface="Funnel Sans" pitchFamily="2" charset="0"/>
              </a:rPr>
              <a:t>Equity investment</a:t>
            </a:r>
          </a:p>
        </p:txBody>
      </p:sp>
      <p:cxnSp>
        <p:nvCxnSpPr>
          <p:cNvPr id="67" name="Rechte verbindingslijn 66">
            <a:extLst>
              <a:ext uri="{FF2B5EF4-FFF2-40B4-BE49-F238E27FC236}">
                <a16:creationId xmlns:a16="http://schemas.microsoft.com/office/drawing/2014/main" id="{EC06F0C6-3110-36ED-2520-ABD6E24A7226}"/>
              </a:ext>
            </a:extLst>
          </p:cNvPr>
          <p:cNvCxnSpPr>
            <a:cxnSpLocks/>
          </p:cNvCxnSpPr>
          <p:nvPr/>
        </p:nvCxnSpPr>
        <p:spPr>
          <a:xfrm flipH="1">
            <a:off x="8904679" y="3787913"/>
            <a:ext cx="751184"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68" name="Rechte verbindingslijn 67">
            <a:extLst>
              <a:ext uri="{FF2B5EF4-FFF2-40B4-BE49-F238E27FC236}">
                <a16:creationId xmlns:a16="http://schemas.microsoft.com/office/drawing/2014/main" id="{E5D82EAC-1332-2E02-6B26-B46988B5144C}"/>
              </a:ext>
            </a:extLst>
          </p:cNvPr>
          <p:cNvCxnSpPr>
            <a:cxnSpLocks/>
          </p:cNvCxnSpPr>
          <p:nvPr/>
        </p:nvCxnSpPr>
        <p:spPr>
          <a:xfrm flipH="1">
            <a:off x="5795768" y="3397538"/>
            <a:ext cx="815308"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69" name="Rechte verbindingslijn 68">
            <a:extLst>
              <a:ext uri="{FF2B5EF4-FFF2-40B4-BE49-F238E27FC236}">
                <a16:creationId xmlns:a16="http://schemas.microsoft.com/office/drawing/2014/main" id="{7864EEA3-F839-D86B-DCFD-19580CA33997}"/>
              </a:ext>
            </a:extLst>
          </p:cNvPr>
          <p:cNvCxnSpPr>
            <a:cxnSpLocks/>
          </p:cNvCxnSpPr>
          <p:nvPr/>
        </p:nvCxnSpPr>
        <p:spPr>
          <a:xfrm flipH="1">
            <a:off x="5795619" y="4266847"/>
            <a:ext cx="839801"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90" name="Tekstvak 89">
            <a:extLst>
              <a:ext uri="{FF2B5EF4-FFF2-40B4-BE49-F238E27FC236}">
                <a16:creationId xmlns:a16="http://schemas.microsoft.com/office/drawing/2014/main" id="{BD93D3DE-9898-C38E-4F69-0EF12890278D}"/>
              </a:ext>
            </a:extLst>
          </p:cNvPr>
          <p:cNvSpPr txBox="1"/>
          <p:nvPr/>
        </p:nvSpPr>
        <p:spPr>
          <a:xfrm>
            <a:off x="2714830" y="3590211"/>
            <a:ext cx="1049462" cy="432847"/>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b="0" i="0" u="none" strike="noStrike" kern="1200" cap="none" spc="0" normalizeH="0" baseline="0" noProof="0" dirty="0">
                <a:ln>
                  <a:noFill/>
                </a:ln>
                <a:solidFill>
                  <a:srgbClr val="FFA726"/>
                </a:solidFill>
                <a:effectLst/>
                <a:uLnTx/>
                <a:uFillTx/>
                <a:latin typeface="Funnel Sans" pitchFamily="2" charset="0"/>
              </a:rPr>
              <a:t>Fund participations</a:t>
            </a:r>
          </a:p>
        </p:txBody>
      </p:sp>
      <p:cxnSp>
        <p:nvCxnSpPr>
          <p:cNvPr id="91" name="Rechte verbindingslijn 90">
            <a:extLst>
              <a:ext uri="{FF2B5EF4-FFF2-40B4-BE49-F238E27FC236}">
                <a16:creationId xmlns:a16="http://schemas.microsoft.com/office/drawing/2014/main" id="{169A3AC7-C847-AAEF-86ED-29F263B31E32}"/>
              </a:ext>
            </a:extLst>
          </p:cNvPr>
          <p:cNvCxnSpPr>
            <a:cxnSpLocks/>
          </p:cNvCxnSpPr>
          <p:nvPr/>
        </p:nvCxnSpPr>
        <p:spPr>
          <a:xfrm flipH="1">
            <a:off x="2753324" y="3382711"/>
            <a:ext cx="948784"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92" name="Rechte verbindingslijn 91">
            <a:extLst>
              <a:ext uri="{FF2B5EF4-FFF2-40B4-BE49-F238E27FC236}">
                <a16:creationId xmlns:a16="http://schemas.microsoft.com/office/drawing/2014/main" id="{B1FDA31A-A3D4-4F37-1EE9-6F71D38DFF2B}"/>
              </a:ext>
            </a:extLst>
          </p:cNvPr>
          <p:cNvCxnSpPr>
            <a:cxnSpLocks/>
          </p:cNvCxnSpPr>
          <p:nvPr/>
        </p:nvCxnSpPr>
        <p:spPr>
          <a:xfrm flipH="1" flipV="1">
            <a:off x="2768160" y="4281450"/>
            <a:ext cx="896807" cy="1726"/>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93" name="Tijdelijke aanduiding voor tekst 13">
            <a:extLst>
              <a:ext uri="{FF2B5EF4-FFF2-40B4-BE49-F238E27FC236}">
                <a16:creationId xmlns:a16="http://schemas.microsoft.com/office/drawing/2014/main" id="{9BC0AF46-BCA0-E60B-D781-8640CD05C868}"/>
              </a:ext>
            </a:extLst>
          </p:cNvPr>
          <p:cNvSpPr txBox="1">
            <a:spLocks/>
          </p:cNvSpPr>
          <p:nvPr/>
        </p:nvSpPr>
        <p:spPr>
          <a:xfrm>
            <a:off x="738343" y="1851268"/>
            <a:ext cx="2008610" cy="307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200" b="1" dirty="0">
                <a:solidFill>
                  <a:srgbClr val="B7D6E1"/>
                </a:solidFill>
                <a:latin typeface="+mj-lt"/>
              </a:rPr>
              <a:t>Corporate </a:t>
            </a:r>
            <a:r>
              <a:rPr lang="nl-NL" sz="1200" b="1" dirty="0" err="1">
                <a:solidFill>
                  <a:srgbClr val="B7D6E1"/>
                </a:solidFill>
                <a:latin typeface="+mj-lt"/>
              </a:rPr>
              <a:t>Investors</a:t>
            </a:r>
            <a:endParaRPr lang="nl-NL" sz="1200" b="1" dirty="0">
              <a:solidFill>
                <a:srgbClr val="B7D6E1"/>
              </a:solidFill>
              <a:latin typeface="+mj-lt"/>
            </a:endParaRPr>
          </a:p>
        </p:txBody>
      </p:sp>
      <p:sp>
        <p:nvSpPr>
          <p:cNvPr id="94" name="Tijdelijke aanduiding voor tekst 23">
            <a:extLst>
              <a:ext uri="{FF2B5EF4-FFF2-40B4-BE49-F238E27FC236}">
                <a16:creationId xmlns:a16="http://schemas.microsoft.com/office/drawing/2014/main" id="{926AD318-FD1F-5343-2605-5479B56E3F60}"/>
              </a:ext>
            </a:extLst>
          </p:cNvPr>
          <p:cNvSpPr txBox="1">
            <a:spLocks/>
          </p:cNvSpPr>
          <p:nvPr/>
        </p:nvSpPr>
        <p:spPr>
          <a:xfrm>
            <a:off x="3734230" y="1851268"/>
            <a:ext cx="1966937" cy="3077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200" b="1" dirty="0">
                <a:solidFill>
                  <a:srgbClr val="B7D6E1"/>
                </a:solidFill>
                <a:latin typeface="+mj-lt"/>
              </a:rPr>
              <a:t>Fund management</a:t>
            </a:r>
          </a:p>
        </p:txBody>
      </p:sp>
      <p:sp>
        <p:nvSpPr>
          <p:cNvPr id="95" name="Tijdelijke aanduiding voor tekst 24">
            <a:extLst>
              <a:ext uri="{FF2B5EF4-FFF2-40B4-BE49-F238E27FC236}">
                <a16:creationId xmlns:a16="http://schemas.microsoft.com/office/drawing/2014/main" id="{294479F4-737E-BF7F-DE55-04CCD7B888E6}"/>
              </a:ext>
            </a:extLst>
          </p:cNvPr>
          <p:cNvSpPr txBox="1">
            <a:spLocks/>
          </p:cNvSpPr>
          <p:nvPr/>
        </p:nvSpPr>
        <p:spPr>
          <a:xfrm>
            <a:off x="6745755" y="1851269"/>
            <a:ext cx="1992124" cy="27547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200" b="1" dirty="0">
                <a:solidFill>
                  <a:srgbClr val="B7D6E1"/>
                </a:solidFill>
                <a:latin typeface="+mj-lt"/>
              </a:rPr>
              <a:t>Funds</a:t>
            </a:r>
          </a:p>
        </p:txBody>
      </p:sp>
      <p:sp>
        <p:nvSpPr>
          <p:cNvPr id="96" name="Tijdelijke aanduiding voor tekst 25">
            <a:extLst>
              <a:ext uri="{FF2B5EF4-FFF2-40B4-BE49-F238E27FC236}">
                <a16:creationId xmlns:a16="http://schemas.microsoft.com/office/drawing/2014/main" id="{64E99733-99D8-3C43-4820-0701E27E8315}"/>
              </a:ext>
            </a:extLst>
          </p:cNvPr>
          <p:cNvSpPr txBox="1">
            <a:spLocks/>
          </p:cNvSpPr>
          <p:nvPr/>
        </p:nvSpPr>
        <p:spPr>
          <a:xfrm>
            <a:off x="9782467" y="1851269"/>
            <a:ext cx="1966937" cy="30777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200" b="1" dirty="0">
                <a:solidFill>
                  <a:srgbClr val="B7D6E1"/>
                </a:solidFill>
                <a:latin typeface="+mj-lt"/>
              </a:rPr>
              <a:t>Private sector </a:t>
            </a:r>
            <a:r>
              <a:rPr lang="nl-NL" sz="1200" b="1" dirty="0" err="1">
                <a:solidFill>
                  <a:srgbClr val="B7D6E1"/>
                </a:solidFill>
                <a:latin typeface="+mj-lt"/>
              </a:rPr>
              <a:t>projects</a:t>
            </a:r>
            <a:r>
              <a:rPr lang="nl-NL" sz="1200" b="1" dirty="0">
                <a:solidFill>
                  <a:srgbClr val="B7D6E1"/>
                </a:solidFill>
                <a:latin typeface="+mj-lt"/>
              </a:rPr>
              <a:t> </a:t>
            </a:r>
          </a:p>
        </p:txBody>
      </p:sp>
      <p:grpSp>
        <p:nvGrpSpPr>
          <p:cNvPr id="97" name="Groep 96">
            <a:extLst>
              <a:ext uri="{FF2B5EF4-FFF2-40B4-BE49-F238E27FC236}">
                <a16:creationId xmlns:a16="http://schemas.microsoft.com/office/drawing/2014/main" id="{23CAA2EF-9010-CA04-49C3-86D7D50CF332}"/>
              </a:ext>
            </a:extLst>
          </p:cNvPr>
          <p:cNvGrpSpPr/>
          <p:nvPr/>
        </p:nvGrpSpPr>
        <p:grpSpPr>
          <a:xfrm>
            <a:off x="7017383" y="2518531"/>
            <a:ext cx="1407297" cy="298285"/>
            <a:chOff x="3933577" y="4813224"/>
            <a:chExt cx="1279451" cy="271188"/>
          </a:xfrm>
        </p:grpSpPr>
        <p:sp>
          <p:nvSpPr>
            <p:cNvPr id="98" name="Afgeronde rechthoek 9">
              <a:extLst>
                <a:ext uri="{FF2B5EF4-FFF2-40B4-BE49-F238E27FC236}">
                  <a16:creationId xmlns:a16="http://schemas.microsoft.com/office/drawing/2014/main" id="{B2342BBA-91EE-90F2-C614-931887AE357B}"/>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1</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99" name="Afbeelding 98" descr="Afbeelding met zwart, duisternis&#10;&#10;Automatisch gegenereerde beschrijving">
              <a:extLst>
                <a:ext uri="{FF2B5EF4-FFF2-40B4-BE49-F238E27FC236}">
                  <a16:creationId xmlns:a16="http://schemas.microsoft.com/office/drawing/2014/main" id="{87F54E18-60D6-A85F-CCDE-0879310C6F4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100" name="Afbeelding 99">
            <a:extLst>
              <a:ext uri="{FF2B5EF4-FFF2-40B4-BE49-F238E27FC236}">
                <a16:creationId xmlns:a16="http://schemas.microsoft.com/office/drawing/2014/main" id="{82325D60-9B9A-5B16-656C-D219D943ED00}"/>
              </a:ext>
            </a:extLst>
          </p:cNvPr>
          <p:cNvPicPr>
            <a:picLocks noChangeAspect="1"/>
          </p:cNvPicPr>
          <p:nvPr/>
        </p:nvPicPr>
        <p:blipFill>
          <a:blip r:embed="rId5"/>
          <a:stretch>
            <a:fillRect/>
          </a:stretch>
        </p:blipFill>
        <p:spPr>
          <a:xfrm>
            <a:off x="7445662" y="2383344"/>
            <a:ext cx="558760" cy="502884"/>
          </a:xfrm>
          <a:prstGeom prst="rect">
            <a:avLst/>
          </a:prstGeom>
        </p:spPr>
      </p:pic>
      <p:grpSp>
        <p:nvGrpSpPr>
          <p:cNvPr id="104" name="Groep 103">
            <a:extLst>
              <a:ext uri="{FF2B5EF4-FFF2-40B4-BE49-F238E27FC236}">
                <a16:creationId xmlns:a16="http://schemas.microsoft.com/office/drawing/2014/main" id="{C27A81D1-2392-87BB-CA46-D7851947115A}"/>
              </a:ext>
            </a:extLst>
          </p:cNvPr>
          <p:cNvGrpSpPr/>
          <p:nvPr/>
        </p:nvGrpSpPr>
        <p:grpSpPr>
          <a:xfrm>
            <a:off x="7017383" y="3371971"/>
            <a:ext cx="1407297" cy="298285"/>
            <a:chOff x="3933577" y="4813224"/>
            <a:chExt cx="1279451" cy="271188"/>
          </a:xfrm>
        </p:grpSpPr>
        <p:sp>
          <p:nvSpPr>
            <p:cNvPr id="105" name="Afgeronde rechthoek 9">
              <a:extLst>
                <a:ext uri="{FF2B5EF4-FFF2-40B4-BE49-F238E27FC236}">
                  <a16:creationId xmlns:a16="http://schemas.microsoft.com/office/drawing/2014/main" id="{4F134F19-D7DC-5327-5317-A0237D02B187}"/>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2</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106" name="Afbeelding 105" descr="Afbeelding met zwart, duisternis&#10;&#10;Automatisch gegenereerde beschrijving">
              <a:extLst>
                <a:ext uri="{FF2B5EF4-FFF2-40B4-BE49-F238E27FC236}">
                  <a16:creationId xmlns:a16="http://schemas.microsoft.com/office/drawing/2014/main" id="{3C52E12F-73EC-2D5E-9613-E3E1A51C7790}"/>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107" name="Afbeelding 106">
            <a:extLst>
              <a:ext uri="{FF2B5EF4-FFF2-40B4-BE49-F238E27FC236}">
                <a16:creationId xmlns:a16="http://schemas.microsoft.com/office/drawing/2014/main" id="{20A278DC-D879-579F-37DD-11FDF5C3EC10}"/>
              </a:ext>
            </a:extLst>
          </p:cNvPr>
          <p:cNvPicPr>
            <a:picLocks noChangeAspect="1"/>
          </p:cNvPicPr>
          <p:nvPr/>
        </p:nvPicPr>
        <p:blipFill>
          <a:blip r:embed="rId5"/>
          <a:stretch>
            <a:fillRect/>
          </a:stretch>
        </p:blipFill>
        <p:spPr>
          <a:xfrm>
            <a:off x="7445662" y="3236784"/>
            <a:ext cx="558760" cy="502884"/>
          </a:xfrm>
          <a:prstGeom prst="rect">
            <a:avLst/>
          </a:prstGeom>
        </p:spPr>
      </p:pic>
      <p:grpSp>
        <p:nvGrpSpPr>
          <p:cNvPr id="108" name="Groep 107">
            <a:extLst>
              <a:ext uri="{FF2B5EF4-FFF2-40B4-BE49-F238E27FC236}">
                <a16:creationId xmlns:a16="http://schemas.microsoft.com/office/drawing/2014/main" id="{4B6826FD-BD38-A2CD-9B99-8F5471810B11}"/>
              </a:ext>
            </a:extLst>
          </p:cNvPr>
          <p:cNvGrpSpPr/>
          <p:nvPr/>
        </p:nvGrpSpPr>
        <p:grpSpPr>
          <a:xfrm>
            <a:off x="7017383" y="4213219"/>
            <a:ext cx="1407297" cy="298285"/>
            <a:chOff x="3933577" y="4813224"/>
            <a:chExt cx="1279451" cy="271188"/>
          </a:xfrm>
        </p:grpSpPr>
        <p:sp>
          <p:nvSpPr>
            <p:cNvPr id="109" name="Afgeronde rechthoek 9">
              <a:extLst>
                <a:ext uri="{FF2B5EF4-FFF2-40B4-BE49-F238E27FC236}">
                  <a16:creationId xmlns:a16="http://schemas.microsoft.com/office/drawing/2014/main" id="{BE9D09A1-1EE7-5168-9B09-D5430A7C7E33}"/>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3</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110" name="Afbeelding 109" descr="Afbeelding met zwart, duisternis&#10;&#10;Automatisch gegenereerde beschrijving">
              <a:extLst>
                <a:ext uri="{FF2B5EF4-FFF2-40B4-BE49-F238E27FC236}">
                  <a16:creationId xmlns:a16="http://schemas.microsoft.com/office/drawing/2014/main" id="{1AD5519B-3F59-623F-4DF9-1E1651E323C9}"/>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111" name="Afbeelding 110">
            <a:extLst>
              <a:ext uri="{FF2B5EF4-FFF2-40B4-BE49-F238E27FC236}">
                <a16:creationId xmlns:a16="http://schemas.microsoft.com/office/drawing/2014/main" id="{F0260153-2A1A-612E-6A41-896E881B75A2}"/>
              </a:ext>
            </a:extLst>
          </p:cNvPr>
          <p:cNvPicPr>
            <a:picLocks noChangeAspect="1"/>
          </p:cNvPicPr>
          <p:nvPr/>
        </p:nvPicPr>
        <p:blipFill>
          <a:blip r:embed="rId5"/>
          <a:stretch>
            <a:fillRect/>
          </a:stretch>
        </p:blipFill>
        <p:spPr>
          <a:xfrm>
            <a:off x="7445662" y="4078032"/>
            <a:ext cx="558760" cy="502884"/>
          </a:xfrm>
          <a:prstGeom prst="rect">
            <a:avLst/>
          </a:prstGeom>
        </p:spPr>
      </p:pic>
      <p:grpSp>
        <p:nvGrpSpPr>
          <p:cNvPr id="112" name="Groep 111">
            <a:extLst>
              <a:ext uri="{FF2B5EF4-FFF2-40B4-BE49-F238E27FC236}">
                <a16:creationId xmlns:a16="http://schemas.microsoft.com/office/drawing/2014/main" id="{DB80AACE-35C4-2F72-5EAA-A7011AEDCC32}"/>
              </a:ext>
            </a:extLst>
          </p:cNvPr>
          <p:cNvGrpSpPr/>
          <p:nvPr/>
        </p:nvGrpSpPr>
        <p:grpSpPr>
          <a:xfrm>
            <a:off x="7017383" y="5042275"/>
            <a:ext cx="1407297" cy="298285"/>
            <a:chOff x="3933577" y="4813224"/>
            <a:chExt cx="1279451" cy="271188"/>
          </a:xfrm>
        </p:grpSpPr>
        <p:sp>
          <p:nvSpPr>
            <p:cNvPr id="113" name="Afgeronde rechthoek 9">
              <a:extLst>
                <a:ext uri="{FF2B5EF4-FFF2-40B4-BE49-F238E27FC236}">
                  <a16:creationId xmlns:a16="http://schemas.microsoft.com/office/drawing/2014/main" id="{A9AAFB18-32BC-9453-F9A0-B88722713989}"/>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4</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114" name="Afbeelding 113" descr="Afbeelding met zwart, duisternis&#10;&#10;Automatisch gegenereerde beschrijving">
              <a:extLst>
                <a:ext uri="{FF2B5EF4-FFF2-40B4-BE49-F238E27FC236}">
                  <a16:creationId xmlns:a16="http://schemas.microsoft.com/office/drawing/2014/main" id="{F0CFABF9-B4E7-3CAA-D57D-912FDB7554F6}"/>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115" name="Afbeelding 114">
            <a:extLst>
              <a:ext uri="{FF2B5EF4-FFF2-40B4-BE49-F238E27FC236}">
                <a16:creationId xmlns:a16="http://schemas.microsoft.com/office/drawing/2014/main" id="{90FE7A24-BBE6-B19B-4949-F3F31BD47349}"/>
              </a:ext>
            </a:extLst>
          </p:cNvPr>
          <p:cNvPicPr>
            <a:picLocks noChangeAspect="1"/>
          </p:cNvPicPr>
          <p:nvPr/>
        </p:nvPicPr>
        <p:blipFill>
          <a:blip r:embed="rId5"/>
          <a:stretch>
            <a:fillRect/>
          </a:stretch>
        </p:blipFill>
        <p:spPr>
          <a:xfrm>
            <a:off x="7445662" y="4907088"/>
            <a:ext cx="558760" cy="502884"/>
          </a:xfrm>
          <a:prstGeom prst="rect">
            <a:avLst/>
          </a:prstGeom>
        </p:spPr>
      </p:pic>
      <p:pic>
        <p:nvPicPr>
          <p:cNvPr id="116" name="Afbeelding 115">
            <a:extLst>
              <a:ext uri="{FF2B5EF4-FFF2-40B4-BE49-F238E27FC236}">
                <a16:creationId xmlns:a16="http://schemas.microsoft.com/office/drawing/2014/main" id="{54725317-2DE4-CD24-FF2C-588389DA670C}"/>
              </a:ext>
            </a:extLst>
          </p:cNvPr>
          <p:cNvPicPr>
            <a:picLocks noChangeAspect="1"/>
          </p:cNvPicPr>
          <p:nvPr/>
        </p:nvPicPr>
        <p:blipFill>
          <a:blip r:embed="rId6"/>
          <a:stretch>
            <a:fillRect/>
          </a:stretch>
        </p:blipFill>
        <p:spPr>
          <a:xfrm>
            <a:off x="10474690" y="2312381"/>
            <a:ext cx="669452" cy="699205"/>
          </a:xfrm>
          <a:prstGeom prst="rect">
            <a:avLst/>
          </a:prstGeom>
        </p:spPr>
      </p:pic>
      <p:pic>
        <p:nvPicPr>
          <p:cNvPr id="117" name="Afbeelding 116">
            <a:extLst>
              <a:ext uri="{FF2B5EF4-FFF2-40B4-BE49-F238E27FC236}">
                <a16:creationId xmlns:a16="http://schemas.microsoft.com/office/drawing/2014/main" id="{563F5821-819D-0523-5D1E-3FCBE0220143}"/>
              </a:ext>
            </a:extLst>
          </p:cNvPr>
          <p:cNvPicPr>
            <a:picLocks noChangeAspect="1"/>
          </p:cNvPicPr>
          <p:nvPr/>
        </p:nvPicPr>
        <p:blipFill>
          <a:blip r:embed="rId7"/>
          <a:stretch>
            <a:fillRect/>
          </a:stretch>
        </p:blipFill>
        <p:spPr>
          <a:xfrm>
            <a:off x="10463246" y="3172580"/>
            <a:ext cx="609945" cy="609945"/>
          </a:xfrm>
          <a:prstGeom prst="rect">
            <a:avLst/>
          </a:prstGeom>
        </p:spPr>
      </p:pic>
      <p:pic>
        <p:nvPicPr>
          <p:cNvPr id="118" name="Afbeelding 117">
            <a:extLst>
              <a:ext uri="{FF2B5EF4-FFF2-40B4-BE49-F238E27FC236}">
                <a16:creationId xmlns:a16="http://schemas.microsoft.com/office/drawing/2014/main" id="{9FBAF9C9-2C18-558F-CF7B-AD73B50CEC88}"/>
              </a:ext>
            </a:extLst>
          </p:cNvPr>
          <p:cNvPicPr>
            <a:picLocks noChangeAspect="1"/>
          </p:cNvPicPr>
          <p:nvPr/>
        </p:nvPicPr>
        <p:blipFill>
          <a:blip r:embed="rId8"/>
          <a:stretch>
            <a:fillRect/>
          </a:stretch>
        </p:blipFill>
        <p:spPr>
          <a:xfrm>
            <a:off x="10474690" y="3998975"/>
            <a:ext cx="580192" cy="654576"/>
          </a:xfrm>
          <a:prstGeom prst="rect">
            <a:avLst/>
          </a:prstGeom>
        </p:spPr>
      </p:pic>
      <p:pic>
        <p:nvPicPr>
          <p:cNvPr id="119" name="Afbeelding 118">
            <a:extLst>
              <a:ext uri="{FF2B5EF4-FFF2-40B4-BE49-F238E27FC236}">
                <a16:creationId xmlns:a16="http://schemas.microsoft.com/office/drawing/2014/main" id="{61500358-E50F-67CC-6497-41CA7C2A0AFB}"/>
              </a:ext>
            </a:extLst>
          </p:cNvPr>
          <p:cNvPicPr>
            <a:picLocks noChangeAspect="1"/>
          </p:cNvPicPr>
          <p:nvPr/>
        </p:nvPicPr>
        <p:blipFill>
          <a:blip r:embed="rId9"/>
          <a:stretch>
            <a:fillRect/>
          </a:stretch>
        </p:blipFill>
        <p:spPr>
          <a:xfrm>
            <a:off x="10463247" y="4866476"/>
            <a:ext cx="580192" cy="580192"/>
          </a:xfrm>
          <a:prstGeom prst="rect">
            <a:avLst/>
          </a:prstGeom>
        </p:spPr>
      </p:pic>
      <p:sp>
        <p:nvSpPr>
          <p:cNvPr id="120" name="Tijdelijke aanduiding voor tekst 21">
            <a:extLst>
              <a:ext uri="{FF2B5EF4-FFF2-40B4-BE49-F238E27FC236}">
                <a16:creationId xmlns:a16="http://schemas.microsoft.com/office/drawing/2014/main" id="{A4689BC8-E950-1AF1-2072-BFF6EC365316}"/>
              </a:ext>
            </a:extLst>
          </p:cNvPr>
          <p:cNvSpPr txBox="1">
            <a:spLocks/>
          </p:cNvSpPr>
          <p:nvPr/>
        </p:nvSpPr>
        <p:spPr>
          <a:xfrm>
            <a:off x="3897530" y="2886228"/>
            <a:ext cx="1680120" cy="2131982"/>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000" b="0" i="0" kern="1200">
                <a:solidFill>
                  <a:srgbClr val="B7D6E1"/>
                </a:solidFill>
                <a:latin typeface="Fivo Sans Med" pitchFamily="2" charset="77"/>
                <a:ea typeface="+mn-ea"/>
                <a:cs typeface="+mn-cs"/>
              </a:defRPr>
            </a:lvl1pPr>
            <a:lvl2pPr marL="277250"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2pPr>
            <a:lvl3pPr marL="554499"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3pPr>
            <a:lvl4pPr marL="831750"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4pPr>
            <a:lvl5pPr marL="1108999"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nl-NL" sz="2000" dirty="0">
                <a:solidFill>
                  <a:schemeClr val="bg1"/>
                </a:solidFill>
              </a:rPr>
              <a:t>Global </a:t>
            </a:r>
            <a:br>
              <a:rPr lang="nl-NL" sz="2000" dirty="0">
                <a:solidFill>
                  <a:schemeClr val="bg1"/>
                </a:solidFill>
              </a:rPr>
            </a:br>
            <a:r>
              <a:rPr lang="nl-NL" sz="2000" dirty="0">
                <a:solidFill>
                  <a:schemeClr val="bg1"/>
                </a:solidFill>
              </a:rPr>
              <a:t>Water Investment Facility</a:t>
            </a:r>
          </a:p>
        </p:txBody>
      </p:sp>
      <p:grpSp>
        <p:nvGrpSpPr>
          <p:cNvPr id="121" name="Groep 120">
            <a:extLst>
              <a:ext uri="{FF2B5EF4-FFF2-40B4-BE49-F238E27FC236}">
                <a16:creationId xmlns:a16="http://schemas.microsoft.com/office/drawing/2014/main" id="{92ACCE2E-C243-D86A-D7DD-854A260C7717}"/>
              </a:ext>
            </a:extLst>
          </p:cNvPr>
          <p:cNvGrpSpPr/>
          <p:nvPr/>
        </p:nvGrpSpPr>
        <p:grpSpPr>
          <a:xfrm>
            <a:off x="941061" y="2487408"/>
            <a:ext cx="1506588" cy="315448"/>
            <a:chOff x="9938447" y="2728692"/>
            <a:chExt cx="1222577" cy="255982"/>
          </a:xfrm>
        </p:grpSpPr>
        <p:pic>
          <p:nvPicPr>
            <p:cNvPr id="122" name="Afbeelding 121">
              <a:extLst>
                <a:ext uri="{FF2B5EF4-FFF2-40B4-BE49-F238E27FC236}">
                  <a16:creationId xmlns:a16="http://schemas.microsoft.com/office/drawing/2014/main" id="{2057CC37-4468-C989-8F4C-D3EA28E5A0D3}"/>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123" name="Afgeronde rechthoek 9">
              <a:extLst>
                <a:ext uri="{FF2B5EF4-FFF2-40B4-BE49-F238E27FC236}">
                  <a16:creationId xmlns:a16="http://schemas.microsoft.com/office/drawing/2014/main" id="{6BB2652A-4802-4040-5FEE-E765F9D7ABAC}"/>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1</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124" name="Afbeelding 123">
            <a:extLst>
              <a:ext uri="{FF2B5EF4-FFF2-40B4-BE49-F238E27FC236}">
                <a16:creationId xmlns:a16="http://schemas.microsoft.com/office/drawing/2014/main" id="{B7C8A0E9-BD68-BCA2-6711-92C4FC466F45}"/>
              </a:ext>
            </a:extLst>
          </p:cNvPr>
          <p:cNvPicPr>
            <a:picLocks noChangeAspect="1"/>
          </p:cNvPicPr>
          <p:nvPr/>
        </p:nvPicPr>
        <p:blipFill>
          <a:blip r:embed="rId11"/>
          <a:stretch>
            <a:fillRect/>
          </a:stretch>
        </p:blipFill>
        <p:spPr>
          <a:xfrm>
            <a:off x="1281041" y="2386005"/>
            <a:ext cx="797950" cy="662705"/>
          </a:xfrm>
          <a:prstGeom prst="rect">
            <a:avLst/>
          </a:prstGeom>
        </p:spPr>
      </p:pic>
      <p:grpSp>
        <p:nvGrpSpPr>
          <p:cNvPr id="125" name="Groep 124">
            <a:extLst>
              <a:ext uri="{FF2B5EF4-FFF2-40B4-BE49-F238E27FC236}">
                <a16:creationId xmlns:a16="http://schemas.microsoft.com/office/drawing/2014/main" id="{C187032B-0B8A-B4AD-DE2C-40D946522971}"/>
              </a:ext>
            </a:extLst>
          </p:cNvPr>
          <p:cNvGrpSpPr/>
          <p:nvPr/>
        </p:nvGrpSpPr>
        <p:grpSpPr>
          <a:xfrm>
            <a:off x="941061" y="3316464"/>
            <a:ext cx="1506588" cy="315448"/>
            <a:chOff x="9938447" y="2728692"/>
            <a:chExt cx="1222577" cy="255982"/>
          </a:xfrm>
        </p:grpSpPr>
        <p:pic>
          <p:nvPicPr>
            <p:cNvPr id="126" name="Afbeelding 125">
              <a:extLst>
                <a:ext uri="{FF2B5EF4-FFF2-40B4-BE49-F238E27FC236}">
                  <a16:creationId xmlns:a16="http://schemas.microsoft.com/office/drawing/2014/main" id="{96B6CFB2-01AE-3EC9-4EFE-E6A34D44F851}"/>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127" name="Afgeronde rechthoek 9">
              <a:extLst>
                <a:ext uri="{FF2B5EF4-FFF2-40B4-BE49-F238E27FC236}">
                  <a16:creationId xmlns:a16="http://schemas.microsoft.com/office/drawing/2014/main" id="{305CB044-A2D4-4900-EB65-7B35EF8FFD1A}"/>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2</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128" name="Afbeelding 127">
            <a:extLst>
              <a:ext uri="{FF2B5EF4-FFF2-40B4-BE49-F238E27FC236}">
                <a16:creationId xmlns:a16="http://schemas.microsoft.com/office/drawing/2014/main" id="{7FD31808-FCA5-DE85-7340-58F0DEC18930}"/>
              </a:ext>
            </a:extLst>
          </p:cNvPr>
          <p:cNvPicPr>
            <a:picLocks noChangeAspect="1"/>
          </p:cNvPicPr>
          <p:nvPr/>
        </p:nvPicPr>
        <p:blipFill>
          <a:blip r:embed="rId11"/>
          <a:stretch>
            <a:fillRect/>
          </a:stretch>
        </p:blipFill>
        <p:spPr>
          <a:xfrm>
            <a:off x="1281041" y="3215061"/>
            <a:ext cx="797950" cy="662705"/>
          </a:xfrm>
          <a:prstGeom prst="rect">
            <a:avLst/>
          </a:prstGeom>
        </p:spPr>
      </p:pic>
      <p:grpSp>
        <p:nvGrpSpPr>
          <p:cNvPr id="129" name="Groep 128">
            <a:extLst>
              <a:ext uri="{FF2B5EF4-FFF2-40B4-BE49-F238E27FC236}">
                <a16:creationId xmlns:a16="http://schemas.microsoft.com/office/drawing/2014/main" id="{06146E65-F1E0-11B0-7A68-DCBAC03BB1F5}"/>
              </a:ext>
            </a:extLst>
          </p:cNvPr>
          <p:cNvGrpSpPr/>
          <p:nvPr/>
        </p:nvGrpSpPr>
        <p:grpSpPr>
          <a:xfrm>
            <a:off x="941061" y="4182096"/>
            <a:ext cx="1506588" cy="315448"/>
            <a:chOff x="9938447" y="2728692"/>
            <a:chExt cx="1222577" cy="255982"/>
          </a:xfrm>
        </p:grpSpPr>
        <p:pic>
          <p:nvPicPr>
            <p:cNvPr id="130" name="Afbeelding 129">
              <a:extLst>
                <a:ext uri="{FF2B5EF4-FFF2-40B4-BE49-F238E27FC236}">
                  <a16:creationId xmlns:a16="http://schemas.microsoft.com/office/drawing/2014/main" id="{2364EBEB-699F-7CDC-9355-6141CEA4AA00}"/>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131" name="Afgeronde rechthoek 9">
              <a:extLst>
                <a:ext uri="{FF2B5EF4-FFF2-40B4-BE49-F238E27FC236}">
                  <a16:creationId xmlns:a16="http://schemas.microsoft.com/office/drawing/2014/main" id="{98CB9092-2129-6939-940A-95F476D65A88}"/>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3</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132" name="Afbeelding 131">
            <a:extLst>
              <a:ext uri="{FF2B5EF4-FFF2-40B4-BE49-F238E27FC236}">
                <a16:creationId xmlns:a16="http://schemas.microsoft.com/office/drawing/2014/main" id="{66F1D98F-8AC0-927D-2052-E1103D62A4DA}"/>
              </a:ext>
            </a:extLst>
          </p:cNvPr>
          <p:cNvPicPr>
            <a:picLocks noChangeAspect="1"/>
          </p:cNvPicPr>
          <p:nvPr/>
        </p:nvPicPr>
        <p:blipFill>
          <a:blip r:embed="rId11"/>
          <a:stretch>
            <a:fillRect/>
          </a:stretch>
        </p:blipFill>
        <p:spPr>
          <a:xfrm>
            <a:off x="1281041" y="4080693"/>
            <a:ext cx="797950" cy="662705"/>
          </a:xfrm>
          <a:prstGeom prst="rect">
            <a:avLst/>
          </a:prstGeom>
        </p:spPr>
      </p:pic>
      <p:grpSp>
        <p:nvGrpSpPr>
          <p:cNvPr id="136" name="Groep 135">
            <a:extLst>
              <a:ext uri="{FF2B5EF4-FFF2-40B4-BE49-F238E27FC236}">
                <a16:creationId xmlns:a16="http://schemas.microsoft.com/office/drawing/2014/main" id="{45A94AC6-4595-F6AE-C928-45FDFB6B79C4}"/>
              </a:ext>
            </a:extLst>
          </p:cNvPr>
          <p:cNvGrpSpPr/>
          <p:nvPr/>
        </p:nvGrpSpPr>
        <p:grpSpPr>
          <a:xfrm>
            <a:off x="941061" y="4962384"/>
            <a:ext cx="1506588" cy="315448"/>
            <a:chOff x="9938447" y="2728692"/>
            <a:chExt cx="1222577" cy="255982"/>
          </a:xfrm>
        </p:grpSpPr>
        <p:pic>
          <p:nvPicPr>
            <p:cNvPr id="137" name="Afbeelding 136">
              <a:extLst>
                <a:ext uri="{FF2B5EF4-FFF2-40B4-BE49-F238E27FC236}">
                  <a16:creationId xmlns:a16="http://schemas.microsoft.com/office/drawing/2014/main" id="{865E66BB-86C3-CBB2-4EFC-1783999D89CC}"/>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138" name="Afgeronde rechthoek 9">
              <a:extLst>
                <a:ext uri="{FF2B5EF4-FFF2-40B4-BE49-F238E27FC236}">
                  <a16:creationId xmlns:a16="http://schemas.microsoft.com/office/drawing/2014/main" id="{264F06F3-2F44-5CED-F67E-4016D20B2771}"/>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4</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139" name="Afbeelding 138">
            <a:extLst>
              <a:ext uri="{FF2B5EF4-FFF2-40B4-BE49-F238E27FC236}">
                <a16:creationId xmlns:a16="http://schemas.microsoft.com/office/drawing/2014/main" id="{5527B954-358D-E594-C429-198E11B39BE7}"/>
              </a:ext>
            </a:extLst>
          </p:cNvPr>
          <p:cNvPicPr>
            <a:picLocks noChangeAspect="1"/>
          </p:cNvPicPr>
          <p:nvPr/>
        </p:nvPicPr>
        <p:blipFill>
          <a:blip r:embed="rId11"/>
          <a:stretch>
            <a:fillRect/>
          </a:stretch>
        </p:blipFill>
        <p:spPr>
          <a:xfrm>
            <a:off x="1281041" y="4860981"/>
            <a:ext cx="797950" cy="662705"/>
          </a:xfrm>
          <a:prstGeom prst="rect">
            <a:avLst/>
          </a:prstGeom>
        </p:spPr>
      </p:pic>
      <p:sp>
        <p:nvSpPr>
          <p:cNvPr id="140" name="TextBox 37">
            <a:extLst>
              <a:ext uri="{FF2B5EF4-FFF2-40B4-BE49-F238E27FC236}">
                <a16:creationId xmlns:a16="http://schemas.microsoft.com/office/drawing/2014/main" id="{ECBBC731-478C-638A-BE2D-71080D854673}"/>
              </a:ext>
            </a:extLst>
          </p:cNvPr>
          <p:cNvSpPr txBox="1"/>
          <p:nvPr/>
        </p:nvSpPr>
        <p:spPr>
          <a:xfrm>
            <a:off x="722704" y="6026438"/>
            <a:ext cx="11026699" cy="565763"/>
          </a:xfrm>
          <a:prstGeom prst="roundRect">
            <a:avLst>
              <a:gd name="adj" fmla="val 26720"/>
            </a:avLst>
          </a:prstGeom>
          <a:solidFill>
            <a:srgbClr val="F3F1ED"/>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Tx/>
              <a:buFontTx/>
              <a:buNone/>
              <a:tabLst/>
              <a:defRPr/>
            </a:pPr>
            <a:r>
              <a:rPr kumimoji="0" lang="en-US" sz="1400" b="1" i="0" u="none" strike="noStrike" kern="1200" cap="none" spc="0" normalizeH="0" baseline="0" noProof="0" dirty="0">
                <a:ln>
                  <a:noFill/>
                </a:ln>
                <a:solidFill>
                  <a:srgbClr val="FFA726"/>
                </a:solidFill>
                <a:effectLst/>
                <a:uLnTx/>
                <a:uFillTx/>
                <a:latin typeface="Open Sans"/>
                <a:ea typeface="Open Sans"/>
                <a:cs typeface="Open Sans"/>
              </a:rPr>
              <a:t>Reduced water risks within assets, companies and their value chains. </a:t>
            </a:r>
          </a:p>
        </p:txBody>
      </p:sp>
    </p:spTree>
    <p:extLst>
      <p:ext uri="{BB962C8B-B14F-4D97-AF65-F5344CB8AC3E}">
        <p14:creationId xmlns:p14="http://schemas.microsoft.com/office/powerpoint/2010/main" val="26199507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Key benefits</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kstvak 2">
            <a:extLst>
              <a:ext uri="{FF2B5EF4-FFF2-40B4-BE49-F238E27FC236}">
                <a16:creationId xmlns:a16="http://schemas.microsoft.com/office/drawing/2014/main" id="{E056F0D9-1E37-AD1F-023A-48783D787672}"/>
              </a:ext>
            </a:extLst>
          </p:cNvPr>
          <p:cNvSpPr txBox="1"/>
          <p:nvPr/>
        </p:nvSpPr>
        <p:spPr>
          <a:xfrm>
            <a:off x="560834" y="1746526"/>
            <a:ext cx="6458856" cy="360502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Impact opportunities </a:t>
            </a:r>
            <a:r>
              <a:rPr kumimoji="0" lang="en-US" sz="1400" b="0" i="0" u="none" strike="noStrike" kern="1200" cap="none" spc="0" normalizeH="0" baseline="0" noProof="0" dirty="0">
                <a:ln>
                  <a:noFill/>
                </a:ln>
                <a:solidFill>
                  <a:prstClr val="white"/>
                </a:solidFill>
                <a:effectLst/>
                <a:uLnTx/>
                <a:uFillTx/>
                <a:latin typeface="Open Sans"/>
                <a:ea typeface="+mn-ea"/>
                <a:cs typeface="+mn-cs"/>
              </a:rPr>
              <a:t>in value chain and at end-user level, beyond direct operations.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Portfolio diversification </a:t>
            </a:r>
            <a:r>
              <a:rPr kumimoji="0" lang="en-US" sz="1400" b="0" i="0" u="none" strike="noStrike" kern="1200" cap="none" spc="0" normalizeH="0" baseline="0" noProof="0" dirty="0">
                <a:ln>
                  <a:noFill/>
                </a:ln>
                <a:solidFill>
                  <a:prstClr val="white"/>
                </a:solidFill>
                <a:effectLst/>
                <a:uLnTx/>
                <a:uFillTx/>
                <a:latin typeface="Open Sans"/>
                <a:ea typeface="+mn-ea"/>
                <a:cs typeface="+mn-cs"/>
              </a:rPr>
              <a:t>across geographies, sectors and projects.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prstClr val="white"/>
                </a:solidFill>
                <a:effectLst/>
                <a:uLnTx/>
                <a:uFillTx/>
                <a:latin typeface="Open Sans"/>
                <a:ea typeface="+mn-ea"/>
                <a:cs typeface="+mn-cs"/>
              </a:rPr>
              <a:t>Access to key strategic partners and networks with </a:t>
            </a:r>
            <a:r>
              <a:rPr kumimoji="0" lang="en-US" sz="1400" b="1" i="0" u="none" strike="noStrike" kern="1200" cap="none" spc="0" normalizeH="0" baseline="0" noProof="0" dirty="0">
                <a:ln>
                  <a:noFill/>
                </a:ln>
                <a:solidFill>
                  <a:srgbClr val="FFA726"/>
                </a:solidFill>
                <a:effectLst/>
                <a:uLnTx/>
                <a:uFillTx/>
                <a:latin typeface="Open Sans"/>
                <a:ea typeface="+mn-ea"/>
                <a:cs typeface="+mn-cs"/>
              </a:rPr>
              <a:t>blended finance opportunities </a:t>
            </a:r>
            <a:r>
              <a:rPr kumimoji="0" lang="en-US" sz="1400" b="0" i="0" u="none" strike="noStrike" kern="1200" cap="none" spc="0" normalizeH="0" baseline="0" noProof="0" dirty="0">
                <a:ln>
                  <a:noFill/>
                </a:ln>
                <a:solidFill>
                  <a:prstClr val="white"/>
                </a:solidFill>
                <a:effectLst/>
                <a:uLnTx/>
                <a:uFillTx/>
                <a:latin typeface="Open Sans"/>
                <a:ea typeface="+mn-ea"/>
                <a:cs typeface="+mn-cs"/>
              </a:rPr>
              <a:t>including de-risking lowering the cost of private capital.</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Predictable returns </a:t>
            </a:r>
            <a:r>
              <a:rPr kumimoji="0" lang="en-US" sz="1400" b="0" i="0" u="none" strike="noStrike" kern="1200" cap="none" spc="0" normalizeH="0" baseline="0" noProof="0" dirty="0">
                <a:ln>
                  <a:noFill/>
                </a:ln>
                <a:solidFill>
                  <a:prstClr val="white"/>
                </a:solidFill>
                <a:effectLst/>
                <a:uLnTx/>
                <a:uFillTx/>
                <a:latin typeface="Open Sans"/>
                <a:ea typeface="+mn-ea"/>
                <a:cs typeface="+mn-cs"/>
              </a:rPr>
              <a:t>and active access to and management of assets.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A systemic approach to transform the water financing sector.</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8" name="Afgeronde rechthoek 27">
            <a:extLst>
              <a:ext uri="{FF2B5EF4-FFF2-40B4-BE49-F238E27FC236}">
                <a16:creationId xmlns:a16="http://schemas.microsoft.com/office/drawing/2014/main" id="{C5B24323-4FAA-EA59-F3C7-519A5C284E71}"/>
              </a:ext>
            </a:extLst>
          </p:cNvPr>
          <p:cNvSpPr/>
          <p:nvPr/>
        </p:nvSpPr>
        <p:spPr>
          <a:xfrm>
            <a:off x="8487623" y="1450476"/>
            <a:ext cx="3342143" cy="4712952"/>
          </a:xfrm>
          <a:prstGeom prst="roundRect">
            <a:avLst>
              <a:gd name="adj" fmla="val 1053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2" name="Picture 4" descr="Dutch Ministry of Foreign Affairs – NWGN">
            <a:extLst>
              <a:ext uri="{FF2B5EF4-FFF2-40B4-BE49-F238E27FC236}">
                <a16:creationId xmlns:a16="http://schemas.microsoft.com/office/drawing/2014/main" id="{1EEA0979-C213-7A39-BBB7-C7056DC68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3718" y="2786304"/>
            <a:ext cx="2663300" cy="10206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2" descr="Government of Luxembourg | Land Portal">
            <a:extLst>
              <a:ext uri="{FF2B5EF4-FFF2-40B4-BE49-F238E27FC236}">
                <a16:creationId xmlns:a16="http://schemas.microsoft.com/office/drawing/2014/main" id="{8B95338F-6BBC-5BE4-5CC7-1D9B598F5D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8408" y="4159027"/>
            <a:ext cx="2988328" cy="770945"/>
          </a:xfrm>
          <a:prstGeom prst="rect">
            <a:avLst/>
          </a:prstGeom>
          <a:noFill/>
          <a:extLst>
            <a:ext uri="{909E8E84-426E-40DD-AFC4-6F175D3DCCD1}">
              <a14:hiddenFill xmlns:a14="http://schemas.microsoft.com/office/drawing/2010/main">
                <a:solidFill>
                  <a:srgbClr val="FFFFFF"/>
                </a:solidFill>
              </a14:hiddenFill>
            </a:ext>
          </a:extLst>
        </p:spPr>
      </p:pic>
      <p:sp>
        <p:nvSpPr>
          <p:cNvPr id="7" name="Tekstvak 6">
            <a:extLst>
              <a:ext uri="{FF2B5EF4-FFF2-40B4-BE49-F238E27FC236}">
                <a16:creationId xmlns:a16="http://schemas.microsoft.com/office/drawing/2014/main" id="{9EB50A7E-E9A3-B663-2FE8-5F94B8D20E87}"/>
              </a:ext>
            </a:extLst>
          </p:cNvPr>
          <p:cNvSpPr txBox="1"/>
          <p:nvPr/>
        </p:nvSpPr>
        <p:spPr>
          <a:xfrm>
            <a:off x="8638736" y="1979295"/>
            <a:ext cx="2988328" cy="369332"/>
          </a:xfrm>
          <a:prstGeom prst="rect">
            <a:avLst/>
          </a:prstGeom>
          <a:noFill/>
        </p:spPr>
        <p:txBody>
          <a:bodyPr wrap="square">
            <a:spAutoFit/>
          </a:bodyPr>
          <a:lstStyle/>
          <a:p>
            <a:r>
              <a:rPr kumimoji="0" lang="en-US" sz="1800" b="0" i="0" u="none" strike="noStrike" kern="1200" cap="none" spc="0" normalizeH="0" baseline="0" noProof="0" dirty="0">
                <a:ln>
                  <a:noFill/>
                </a:ln>
                <a:solidFill>
                  <a:srgbClr val="173E55"/>
                </a:solidFill>
                <a:effectLst/>
                <a:uLnTx/>
                <a:uFillTx/>
                <a:latin typeface="Open Sans"/>
                <a:ea typeface="+mn-ea"/>
                <a:cs typeface="+mn-cs"/>
              </a:rPr>
              <a:t>Public sector support</a:t>
            </a:r>
          </a:p>
        </p:txBody>
      </p:sp>
    </p:spTree>
    <p:extLst>
      <p:ext uri="{BB962C8B-B14F-4D97-AF65-F5344CB8AC3E}">
        <p14:creationId xmlns:p14="http://schemas.microsoft.com/office/powerpoint/2010/main" val="25141540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Key benefits</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kstvak 2">
            <a:extLst>
              <a:ext uri="{FF2B5EF4-FFF2-40B4-BE49-F238E27FC236}">
                <a16:creationId xmlns:a16="http://schemas.microsoft.com/office/drawing/2014/main" id="{E056F0D9-1E37-AD1F-023A-48783D787672}"/>
              </a:ext>
            </a:extLst>
          </p:cNvPr>
          <p:cNvSpPr txBox="1"/>
          <p:nvPr/>
        </p:nvSpPr>
        <p:spPr>
          <a:xfrm>
            <a:off x="560834" y="1746526"/>
            <a:ext cx="6458856" cy="360502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Impact opportunities </a:t>
            </a:r>
            <a:r>
              <a:rPr kumimoji="0" lang="en-US" sz="1400" b="0" i="0" u="none" strike="noStrike" kern="1200" cap="none" spc="0" normalizeH="0" baseline="0" noProof="0" dirty="0">
                <a:ln>
                  <a:noFill/>
                </a:ln>
                <a:solidFill>
                  <a:srgbClr val="173E55"/>
                </a:solidFill>
                <a:effectLst/>
                <a:uLnTx/>
                <a:uFillTx/>
                <a:latin typeface="Open Sans"/>
                <a:ea typeface="+mn-ea"/>
                <a:cs typeface="+mn-cs"/>
              </a:rPr>
              <a:t>in value chain and at end-user level, beyond direct operations.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Portfolio diversification </a:t>
            </a:r>
            <a:r>
              <a:rPr kumimoji="0" lang="en-US" sz="1400" b="0" i="0" u="none" strike="noStrike" kern="1200" cap="none" spc="0" normalizeH="0" baseline="0" noProof="0" dirty="0">
                <a:ln>
                  <a:noFill/>
                </a:ln>
                <a:solidFill>
                  <a:srgbClr val="173E55"/>
                </a:solidFill>
                <a:effectLst/>
                <a:uLnTx/>
                <a:uFillTx/>
                <a:latin typeface="Open Sans"/>
                <a:ea typeface="+mn-ea"/>
                <a:cs typeface="+mn-cs"/>
              </a:rPr>
              <a:t>across geographies, sectors and projects.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73E55"/>
                </a:solidFill>
                <a:effectLst/>
                <a:uLnTx/>
                <a:uFillTx/>
                <a:latin typeface="Open Sans"/>
                <a:ea typeface="+mn-ea"/>
                <a:cs typeface="+mn-cs"/>
              </a:rPr>
              <a:t>Access to key strategic partners and networks with </a:t>
            </a:r>
            <a:r>
              <a:rPr kumimoji="0" lang="en-US" sz="1400" b="1" i="0" u="none" strike="noStrike" kern="1200" cap="none" spc="0" normalizeH="0" baseline="0" noProof="0" dirty="0">
                <a:ln>
                  <a:noFill/>
                </a:ln>
                <a:solidFill>
                  <a:srgbClr val="FFA726"/>
                </a:solidFill>
                <a:effectLst/>
                <a:uLnTx/>
                <a:uFillTx/>
                <a:latin typeface="Open Sans"/>
                <a:ea typeface="+mn-ea"/>
                <a:cs typeface="+mn-cs"/>
              </a:rPr>
              <a:t>blended finance opportunities </a:t>
            </a:r>
            <a:r>
              <a:rPr kumimoji="0" lang="en-US" sz="1400" b="0" i="0" u="none" strike="noStrike" kern="1200" cap="none" spc="0" normalizeH="0" baseline="0" noProof="0" dirty="0">
                <a:ln>
                  <a:noFill/>
                </a:ln>
                <a:solidFill>
                  <a:srgbClr val="173E55"/>
                </a:solidFill>
                <a:effectLst/>
                <a:uLnTx/>
                <a:uFillTx/>
                <a:latin typeface="Open Sans"/>
                <a:ea typeface="+mn-ea"/>
                <a:cs typeface="+mn-cs"/>
              </a:rPr>
              <a:t>including de-risking lowering the cost of private capital.</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Predictable returns </a:t>
            </a:r>
            <a:r>
              <a:rPr kumimoji="0" lang="en-US" sz="1400" b="0" i="0" u="none" strike="noStrike" kern="1200" cap="none" spc="0" normalizeH="0" baseline="0" noProof="0" dirty="0">
                <a:ln>
                  <a:noFill/>
                </a:ln>
                <a:solidFill>
                  <a:srgbClr val="173E55"/>
                </a:solidFill>
                <a:effectLst/>
                <a:uLnTx/>
                <a:uFillTx/>
                <a:latin typeface="Open Sans"/>
                <a:ea typeface="+mn-ea"/>
                <a:cs typeface="+mn-cs"/>
              </a:rPr>
              <a:t>and active access to and management of assets.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FFA726"/>
                </a:solidFill>
                <a:effectLst/>
                <a:uLnTx/>
                <a:uFillTx/>
                <a:latin typeface="Open Sans"/>
                <a:ea typeface="+mn-ea"/>
                <a:cs typeface="+mn-cs"/>
              </a:rPr>
              <a:t>A systemic approach to transform the water financing sector.</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8" name="Afgeronde rechthoek 27">
            <a:extLst>
              <a:ext uri="{FF2B5EF4-FFF2-40B4-BE49-F238E27FC236}">
                <a16:creationId xmlns:a16="http://schemas.microsoft.com/office/drawing/2014/main" id="{C5B24323-4FAA-EA59-F3C7-519A5C284E71}"/>
              </a:ext>
            </a:extLst>
          </p:cNvPr>
          <p:cNvSpPr/>
          <p:nvPr/>
        </p:nvSpPr>
        <p:spPr>
          <a:xfrm>
            <a:off x="8487623" y="1450476"/>
            <a:ext cx="3342143" cy="4712952"/>
          </a:xfrm>
          <a:prstGeom prst="roundRect">
            <a:avLst>
              <a:gd name="adj" fmla="val 1053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2" name="Picture 4" descr="Dutch Ministry of Foreign Affairs – NWGN">
            <a:extLst>
              <a:ext uri="{FF2B5EF4-FFF2-40B4-BE49-F238E27FC236}">
                <a16:creationId xmlns:a16="http://schemas.microsoft.com/office/drawing/2014/main" id="{1EEA0979-C213-7A39-BBB7-C7056DC68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3718" y="2786304"/>
            <a:ext cx="2663300" cy="10206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2" descr="Government of Luxembourg | Land Portal">
            <a:extLst>
              <a:ext uri="{FF2B5EF4-FFF2-40B4-BE49-F238E27FC236}">
                <a16:creationId xmlns:a16="http://schemas.microsoft.com/office/drawing/2014/main" id="{8B95338F-6BBC-5BE4-5CC7-1D9B598F5D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8408" y="4159027"/>
            <a:ext cx="2988328" cy="770945"/>
          </a:xfrm>
          <a:prstGeom prst="rect">
            <a:avLst/>
          </a:prstGeom>
          <a:noFill/>
          <a:extLst>
            <a:ext uri="{909E8E84-426E-40DD-AFC4-6F175D3DCCD1}">
              <a14:hiddenFill xmlns:a14="http://schemas.microsoft.com/office/drawing/2010/main">
                <a:solidFill>
                  <a:srgbClr val="FFFFFF"/>
                </a:solidFill>
              </a14:hiddenFill>
            </a:ext>
          </a:extLst>
        </p:spPr>
      </p:pic>
      <p:sp>
        <p:nvSpPr>
          <p:cNvPr id="7" name="Tekstvak 6">
            <a:extLst>
              <a:ext uri="{FF2B5EF4-FFF2-40B4-BE49-F238E27FC236}">
                <a16:creationId xmlns:a16="http://schemas.microsoft.com/office/drawing/2014/main" id="{9EB50A7E-E9A3-B663-2FE8-5F94B8D20E87}"/>
              </a:ext>
            </a:extLst>
          </p:cNvPr>
          <p:cNvSpPr txBox="1"/>
          <p:nvPr/>
        </p:nvSpPr>
        <p:spPr>
          <a:xfrm>
            <a:off x="8638736" y="1979295"/>
            <a:ext cx="2988328" cy="369332"/>
          </a:xfrm>
          <a:prstGeom prst="rect">
            <a:avLst/>
          </a:prstGeom>
          <a:noFill/>
        </p:spPr>
        <p:txBody>
          <a:bodyPr wrap="square">
            <a:spAutoFit/>
          </a:bodyPr>
          <a:lstStyle/>
          <a:p>
            <a:r>
              <a:rPr kumimoji="0" lang="en-US" sz="1800" b="0" i="0" u="none" strike="noStrike" kern="1200" cap="none" spc="0" normalizeH="0" baseline="0" noProof="0" dirty="0">
                <a:ln>
                  <a:noFill/>
                </a:ln>
                <a:solidFill>
                  <a:srgbClr val="173E55"/>
                </a:solidFill>
                <a:effectLst/>
                <a:uLnTx/>
                <a:uFillTx/>
                <a:latin typeface="Open Sans"/>
                <a:ea typeface="+mn-ea"/>
                <a:cs typeface="+mn-cs"/>
              </a:rPr>
              <a:t>Public sector support</a:t>
            </a:r>
          </a:p>
        </p:txBody>
      </p:sp>
    </p:spTree>
    <p:extLst>
      <p:ext uri="{BB962C8B-B14F-4D97-AF65-F5344CB8AC3E}">
        <p14:creationId xmlns:p14="http://schemas.microsoft.com/office/powerpoint/2010/main" val="35933964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B7D6E1"/>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Key benefits</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kstvak 2">
            <a:extLst>
              <a:ext uri="{FF2B5EF4-FFF2-40B4-BE49-F238E27FC236}">
                <a16:creationId xmlns:a16="http://schemas.microsoft.com/office/drawing/2014/main" id="{E056F0D9-1E37-AD1F-023A-48783D787672}"/>
              </a:ext>
            </a:extLst>
          </p:cNvPr>
          <p:cNvSpPr txBox="1"/>
          <p:nvPr/>
        </p:nvSpPr>
        <p:spPr>
          <a:xfrm>
            <a:off x="560834" y="1746526"/>
            <a:ext cx="6458856" cy="3605026"/>
          </a:xfrm>
          <a:prstGeom prst="rect">
            <a:avLst/>
          </a:prstGeom>
          <a:noFill/>
        </p:spPr>
        <p:txBody>
          <a:bodyPr wrap="square">
            <a:spAutoFit/>
          </a:bodyPr>
          <a:lstStyle/>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173E55"/>
                </a:solidFill>
                <a:effectLst/>
                <a:uLnTx/>
                <a:uFillTx/>
                <a:latin typeface="Open Sans"/>
                <a:ea typeface="+mn-ea"/>
                <a:cs typeface="+mn-cs"/>
              </a:rPr>
              <a:t>Impact opportunities </a:t>
            </a:r>
            <a:r>
              <a:rPr kumimoji="0" lang="en-US" sz="1400" b="0" i="0" u="none" strike="noStrike" kern="1200" cap="none" spc="0" normalizeH="0" baseline="0" noProof="0" dirty="0">
                <a:ln>
                  <a:noFill/>
                </a:ln>
                <a:solidFill>
                  <a:srgbClr val="173E55"/>
                </a:solidFill>
                <a:effectLst/>
                <a:uLnTx/>
                <a:uFillTx/>
                <a:latin typeface="Open Sans"/>
                <a:ea typeface="+mn-ea"/>
                <a:cs typeface="+mn-cs"/>
              </a:rPr>
              <a:t>in value chain and at end-user level, beyond direct operations.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173E55"/>
                </a:solidFill>
                <a:effectLst/>
                <a:uLnTx/>
                <a:uFillTx/>
                <a:latin typeface="Open Sans"/>
                <a:ea typeface="+mn-ea"/>
                <a:cs typeface="+mn-cs"/>
              </a:rPr>
              <a:t>Portfolio diversification </a:t>
            </a:r>
            <a:r>
              <a:rPr kumimoji="0" lang="en-US" sz="1400" b="0" i="0" u="none" strike="noStrike" kern="1200" cap="none" spc="0" normalizeH="0" baseline="0" noProof="0" dirty="0">
                <a:ln>
                  <a:noFill/>
                </a:ln>
                <a:solidFill>
                  <a:srgbClr val="173E55"/>
                </a:solidFill>
                <a:effectLst/>
                <a:uLnTx/>
                <a:uFillTx/>
                <a:latin typeface="Open Sans"/>
                <a:ea typeface="+mn-ea"/>
                <a:cs typeface="+mn-cs"/>
              </a:rPr>
              <a:t>across geographies, sectors and projects.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73E55"/>
                </a:solidFill>
                <a:effectLst/>
                <a:uLnTx/>
                <a:uFillTx/>
                <a:latin typeface="Open Sans"/>
                <a:ea typeface="+mn-ea"/>
                <a:cs typeface="+mn-cs"/>
              </a:rPr>
              <a:t>Access to key strategic partners and networks with </a:t>
            </a:r>
            <a:r>
              <a:rPr kumimoji="0" lang="en-US" sz="1400" b="1" i="0" u="none" strike="noStrike" kern="1200" cap="none" spc="0" normalizeH="0" baseline="0" noProof="0" dirty="0">
                <a:ln>
                  <a:noFill/>
                </a:ln>
                <a:solidFill>
                  <a:srgbClr val="173E55"/>
                </a:solidFill>
                <a:effectLst/>
                <a:uLnTx/>
                <a:uFillTx/>
                <a:latin typeface="Open Sans"/>
                <a:ea typeface="+mn-ea"/>
                <a:cs typeface="+mn-cs"/>
              </a:rPr>
              <a:t>blended finance opportunities </a:t>
            </a:r>
            <a:r>
              <a:rPr kumimoji="0" lang="en-US" sz="1400" b="0" i="0" u="none" strike="noStrike" kern="1200" cap="none" spc="0" normalizeH="0" baseline="0" noProof="0" dirty="0">
                <a:ln>
                  <a:noFill/>
                </a:ln>
                <a:solidFill>
                  <a:srgbClr val="173E55"/>
                </a:solidFill>
                <a:effectLst/>
                <a:uLnTx/>
                <a:uFillTx/>
                <a:latin typeface="Open Sans"/>
                <a:ea typeface="+mn-ea"/>
                <a:cs typeface="+mn-cs"/>
              </a:rPr>
              <a:t>including de-risking lowering the cost of private capital.</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173E55"/>
                </a:solidFill>
                <a:effectLst/>
                <a:uLnTx/>
                <a:uFillTx/>
                <a:latin typeface="Open Sans"/>
                <a:ea typeface="+mn-ea"/>
                <a:cs typeface="+mn-cs"/>
              </a:rPr>
              <a:t>Predictable returns </a:t>
            </a:r>
            <a:r>
              <a:rPr kumimoji="0" lang="en-US" sz="1400" b="0" i="0" u="none" strike="noStrike" kern="1200" cap="none" spc="0" normalizeH="0" baseline="0" noProof="0" dirty="0">
                <a:ln>
                  <a:noFill/>
                </a:ln>
                <a:solidFill>
                  <a:srgbClr val="173E55"/>
                </a:solidFill>
                <a:effectLst/>
                <a:uLnTx/>
                <a:uFillTx/>
                <a:latin typeface="Open Sans"/>
                <a:ea typeface="+mn-ea"/>
                <a:cs typeface="+mn-cs"/>
              </a:rPr>
              <a:t>and active access to and management of assets.</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r>
              <a:rPr kumimoji="0" lang="en-US" sz="1400" b="1" i="0" u="none" strike="noStrike" kern="1200" cap="none" spc="0" normalizeH="0" baseline="0" noProof="0" dirty="0">
                <a:ln>
                  <a:noFill/>
                </a:ln>
                <a:solidFill>
                  <a:srgbClr val="173E55"/>
                </a:solidFill>
                <a:effectLst/>
                <a:uLnTx/>
                <a:uFillTx/>
                <a:latin typeface="Open Sans"/>
                <a:ea typeface="+mn-ea"/>
                <a:cs typeface="+mn-cs"/>
              </a:rPr>
              <a:t>A systemic approach to transform the water financing sector.</a:t>
            </a:r>
          </a:p>
          <a:p>
            <a:pPr marL="285750" marR="0" lvl="0" indent="-285750" algn="l" defTabSz="914400" rtl="0" eaLnBrk="1" fontAlgn="auto" latinLnBrk="0" hangingPunct="1">
              <a:lnSpc>
                <a:spcPct val="150000"/>
              </a:lnSpc>
              <a:spcBef>
                <a:spcPts val="0"/>
              </a:spcBef>
              <a:spcAft>
                <a:spcPts val="150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173E55"/>
              </a:solidFill>
              <a:effectLst/>
              <a:uLnTx/>
              <a:uFillTx/>
              <a:latin typeface="Open Sans"/>
              <a:ea typeface="+mn-ea"/>
              <a:cs typeface="+mn-cs"/>
            </a:endParaRPr>
          </a:p>
        </p:txBody>
      </p:sp>
      <p:sp>
        <p:nvSpPr>
          <p:cNvPr id="8" name="Afgeronde rechthoek 27">
            <a:extLst>
              <a:ext uri="{FF2B5EF4-FFF2-40B4-BE49-F238E27FC236}">
                <a16:creationId xmlns:a16="http://schemas.microsoft.com/office/drawing/2014/main" id="{C5B24323-4FAA-EA59-F3C7-519A5C284E71}"/>
              </a:ext>
            </a:extLst>
          </p:cNvPr>
          <p:cNvSpPr/>
          <p:nvPr/>
        </p:nvSpPr>
        <p:spPr>
          <a:xfrm>
            <a:off x="8487623" y="1450476"/>
            <a:ext cx="3342143" cy="4712952"/>
          </a:xfrm>
          <a:prstGeom prst="roundRect">
            <a:avLst>
              <a:gd name="adj" fmla="val 10535"/>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2" name="Picture 4" descr="Dutch Ministry of Foreign Affairs – NWGN">
            <a:extLst>
              <a:ext uri="{FF2B5EF4-FFF2-40B4-BE49-F238E27FC236}">
                <a16:creationId xmlns:a16="http://schemas.microsoft.com/office/drawing/2014/main" id="{1EEA0979-C213-7A39-BBB7-C7056DC683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03718" y="2786304"/>
            <a:ext cx="2663300" cy="1020648"/>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2" descr="Government of Luxembourg | Land Portal">
            <a:extLst>
              <a:ext uri="{FF2B5EF4-FFF2-40B4-BE49-F238E27FC236}">
                <a16:creationId xmlns:a16="http://schemas.microsoft.com/office/drawing/2014/main" id="{8B95338F-6BBC-5BE4-5CC7-1D9B598F5D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8408" y="4159027"/>
            <a:ext cx="2988328" cy="770945"/>
          </a:xfrm>
          <a:prstGeom prst="rect">
            <a:avLst/>
          </a:prstGeom>
          <a:noFill/>
          <a:extLst>
            <a:ext uri="{909E8E84-426E-40DD-AFC4-6F175D3DCCD1}">
              <a14:hiddenFill xmlns:a14="http://schemas.microsoft.com/office/drawing/2010/main">
                <a:solidFill>
                  <a:srgbClr val="FFFFFF"/>
                </a:solidFill>
              </a14:hiddenFill>
            </a:ext>
          </a:extLst>
        </p:spPr>
      </p:pic>
      <p:sp>
        <p:nvSpPr>
          <p:cNvPr id="7" name="Tekstvak 6">
            <a:extLst>
              <a:ext uri="{FF2B5EF4-FFF2-40B4-BE49-F238E27FC236}">
                <a16:creationId xmlns:a16="http://schemas.microsoft.com/office/drawing/2014/main" id="{9EB50A7E-E9A3-B663-2FE8-5F94B8D20E87}"/>
              </a:ext>
            </a:extLst>
          </p:cNvPr>
          <p:cNvSpPr txBox="1"/>
          <p:nvPr/>
        </p:nvSpPr>
        <p:spPr>
          <a:xfrm>
            <a:off x="8638736" y="1979295"/>
            <a:ext cx="2988328" cy="369332"/>
          </a:xfrm>
          <a:prstGeom prst="rect">
            <a:avLst/>
          </a:prstGeom>
          <a:noFill/>
        </p:spPr>
        <p:txBody>
          <a:bodyPr wrap="square">
            <a:spAutoFit/>
          </a:bodyPr>
          <a:lstStyle/>
          <a:p>
            <a:r>
              <a:rPr kumimoji="0" lang="en-US" sz="1800" b="0" i="0" u="none" strike="noStrike" kern="1200" cap="none" spc="0" normalizeH="0" baseline="0" noProof="0" dirty="0">
                <a:ln>
                  <a:noFill/>
                </a:ln>
                <a:solidFill>
                  <a:srgbClr val="173E55"/>
                </a:solidFill>
                <a:effectLst/>
                <a:uLnTx/>
                <a:uFillTx/>
                <a:latin typeface="Open Sans"/>
                <a:ea typeface="+mn-ea"/>
                <a:cs typeface="+mn-cs"/>
              </a:rPr>
              <a:t>Public sector support</a:t>
            </a:r>
          </a:p>
        </p:txBody>
      </p:sp>
    </p:spTree>
    <p:extLst>
      <p:ext uri="{BB962C8B-B14F-4D97-AF65-F5344CB8AC3E}">
        <p14:creationId xmlns:p14="http://schemas.microsoft.com/office/powerpoint/2010/main" val="16867554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Investing at Scale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Rechthoek 4">
            <a:extLst>
              <a:ext uri="{FF2B5EF4-FFF2-40B4-BE49-F238E27FC236}">
                <a16:creationId xmlns:a16="http://schemas.microsoft.com/office/drawing/2014/main" id="{48C9B50B-DCA8-9D65-F5B1-065455079633}"/>
              </a:ext>
            </a:extLst>
          </p:cNvPr>
          <p:cNvSpPr/>
          <p:nvPr/>
        </p:nvSpPr>
        <p:spPr>
          <a:xfrm>
            <a:off x="9574246" y="1522982"/>
            <a:ext cx="1282855" cy="4512022"/>
          </a:xfrm>
          <a:prstGeom prst="rect">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Funnel Sans" pitchFamily="2" charset="0"/>
            </a:endParaRPr>
          </a:p>
        </p:txBody>
      </p:sp>
      <p:graphicFrame>
        <p:nvGraphicFramePr>
          <p:cNvPr id="6" name="Chart 5">
            <a:extLst>
              <a:ext uri="{FF2B5EF4-FFF2-40B4-BE49-F238E27FC236}">
                <a16:creationId xmlns:a16="http://schemas.microsoft.com/office/drawing/2014/main" id="{7FCF6F8E-EDF2-0055-5291-4965649A2D0D}"/>
              </a:ext>
            </a:extLst>
          </p:cNvPr>
          <p:cNvGraphicFramePr>
            <a:graphicFrameLocks/>
          </p:cNvGraphicFramePr>
          <p:nvPr>
            <p:extLst>
              <p:ext uri="{D42A27DB-BD31-4B8C-83A1-F6EECF244321}">
                <p14:modId xmlns:p14="http://schemas.microsoft.com/office/powerpoint/2010/main" val="983298940"/>
              </p:ext>
            </p:extLst>
          </p:nvPr>
        </p:nvGraphicFramePr>
        <p:xfrm>
          <a:off x="1671873" y="1172730"/>
          <a:ext cx="9115277" cy="389804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9">
            <a:extLst>
              <a:ext uri="{FF2B5EF4-FFF2-40B4-BE49-F238E27FC236}">
                <a16:creationId xmlns:a16="http://schemas.microsoft.com/office/drawing/2014/main" id="{4CBD5678-63F8-9898-7063-B9B8682637CB}"/>
              </a:ext>
            </a:extLst>
          </p:cNvPr>
          <p:cNvSpPr txBox="1"/>
          <p:nvPr/>
        </p:nvSpPr>
        <p:spPr>
          <a:xfrm>
            <a:off x="846442" y="3679038"/>
            <a:ext cx="2178110"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B7D6E1"/>
                </a:solidFill>
                <a:effectLst/>
                <a:uLnTx/>
                <a:uFillTx/>
                <a:latin typeface="Funnel Sans" pitchFamily="2" charset="0"/>
              </a:rPr>
              <a:t>Annual collective</a:t>
            </a:r>
          </a:p>
        </p:txBody>
      </p:sp>
      <p:sp>
        <p:nvSpPr>
          <p:cNvPr id="17" name="TextBox 9">
            <a:extLst>
              <a:ext uri="{FF2B5EF4-FFF2-40B4-BE49-F238E27FC236}">
                <a16:creationId xmlns:a16="http://schemas.microsoft.com/office/drawing/2014/main" id="{00D026B4-6687-4F85-9F65-365CF2B5D310}"/>
              </a:ext>
            </a:extLst>
          </p:cNvPr>
          <p:cNvSpPr txBox="1"/>
          <p:nvPr/>
        </p:nvSpPr>
        <p:spPr>
          <a:xfrm>
            <a:off x="846442" y="4017366"/>
            <a:ext cx="2178110"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Funnel Sans" pitchFamily="2" charset="0"/>
              </a:rPr>
              <a:t>Investment target ($M)</a:t>
            </a:r>
          </a:p>
        </p:txBody>
      </p:sp>
      <p:sp>
        <p:nvSpPr>
          <p:cNvPr id="18" name="TextBox 29">
            <a:extLst>
              <a:ext uri="{FF2B5EF4-FFF2-40B4-BE49-F238E27FC236}">
                <a16:creationId xmlns:a16="http://schemas.microsoft.com/office/drawing/2014/main" id="{BAC513B3-CD01-1DAC-50A2-BC2A4EFD399B}"/>
              </a:ext>
            </a:extLst>
          </p:cNvPr>
          <p:cNvSpPr txBox="1"/>
          <p:nvPr/>
        </p:nvSpPr>
        <p:spPr>
          <a:xfrm>
            <a:off x="607508" y="1357919"/>
            <a:ext cx="101214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Corporate investments in a risk-sharing structure  </a:t>
            </a:r>
          </a:p>
        </p:txBody>
      </p:sp>
      <p:graphicFrame>
        <p:nvGraphicFramePr>
          <p:cNvPr id="19" name="Table 6">
            <a:extLst>
              <a:ext uri="{FF2B5EF4-FFF2-40B4-BE49-F238E27FC236}">
                <a16:creationId xmlns:a16="http://schemas.microsoft.com/office/drawing/2014/main" id="{98671034-0255-9B24-F3B6-36C0CC96366B}"/>
              </a:ext>
            </a:extLst>
          </p:cNvPr>
          <p:cNvGraphicFramePr>
            <a:graphicFrameLocks/>
          </p:cNvGraphicFramePr>
          <p:nvPr>
            <p:extLst>
              <p:ext uri="{D42A27DB-BD31-4B8C-83A1-F6EECF244321}">
                <p14:modId xmlns:p14="http://schemas.microsoft.com/office/powerpoint/2010/main" val="1610223424"/>
              </p:ext>
            </p:extLst>
          </p:nvPr>
        </p:nvGraphicFramePr>
        <p:xfrm>
          <a:off x="550557" y="4942237"/>
          <a:ext cx="10248507" cy="1216080"/>
        </p:xfrm>
        <a:graphic>
          <a:graphicData uri="http://schemas.openxmlformats.org/drawingml/2006/table">
            <a:tbl>
              <a:tblPr>
                <a:tableStyleId>{5C22544A-7EE6-4342-B048-85BDC9FD1C3A}</a:tableStyleId>
              </a:tblPr>
              <a:tblGrid>
                <a:gridCol w="2485251">
                  <a:extLst>
                    <a:ext uri="{9D8B030D-6E8A-4147-A177-3AD203B41FA5}">
                      <a16:colId xmlns:a16="http://schemas.microsoft.com/office/drawing/2014/main" val="772321764"/>
                    </a:ext>
                  </a:extLst>
                </a:gridCol>
                <a:gridCol w="1271016">
                  <a:extLst>
                    <a:ext uri="{9D8B030D-6E8A-4147-A177-3AD203B41FA5}">
                      <a16:colId xmlns:a16="http://schemas.microsoft.com/office/drawing/2014/main" val="2494243951"/>
                    </a:ext>
                  </a:extLst>
                </a:gridCol>
                <a:gridCol w="1371600">
                  <a:extLst>
                    <a:ext uri="{9D8B030D-6E8A-4147-A177-3AD203B41FA5}">
                      <a16:colId xmlns:a16="http://schemas.microsoft.com/office/drawing/2014/main" val="903143788"/>
                    </a:ext>
                  </a:extLst>
                </a:gridCol>
                <a:gridCol w="1261872">
                  <a:extLst>
                    <a:ext uri="{9D8B030D-6E8A-4147-A177-3AD203B41FA5}">
                      <a16:colId xmlns:a16="http://schemas.microsoft.com/office/drawing/2014/main" val="2829040459"/>
                    </a:ext>
                  </a:extLst>
                </a:gridCol>
                <a:gridCol w="1335024">
                  <a:extLst>
                    <a:ext uri="{9D8B030D-6E8A-4147-A177-3AD203B41FA5}">
                      <a16:colId xmlns:a16="http://schemas.microsoft.com/office/drawing/2014/main" val="1205699587"/>
                    </a:ext>
                  </a:extLst>
                </a:gridCol>
                <a:gridCol w="1289304">
                  <a:extLst>
                    <a:ext uri="{9D8B030D-6E8A-4147-A177-3AD203B41FA5}">
                      <a16:colId xmlns:a16="http://schemas.microsoft.com/office/drawing/2014/main" val="1707655962"/>
                    </a:ext>
                  </a:extLst>
                </a:gridCol>
                <a:gridCol w="1234440">
                  <a:extLst>
                    <a:ext uri="{9D8B030D-6E8A-4147-A177-3AD203B41FA5}">
                      <a16:colId xmlns:a16="http://schemas.microsoft.com/office/drawing/2014/main" val="2571373685"/>
                    </a:ext>
                  </a:extLst>
                </a:gridCol>
              </a:tblGrid>
              <a:tr h="370840">
                <a:tc>
                  <a:txBody>
                    <a:bodyPr/>
                    <a:lstStyle/>
                    <a:p>
                      <a:pPr algn="r"/>
                      <a:r>
                        <a:rPr lang="en-GB" sz="1400" b="0" dirty="0">
                          <a:solidFill>
                            <a:srgbClr val="B7D6E1"/>
                          </a:solidFill>
                          <a:latin typeface="Raleway"/>
                        </a:rPr>
                        <a:t>Corporate Engagement (#)</a:t>
                      </a:r>
                    </a:p>
                  </a:txBody>
                  <a:tcPr marT="144000" marB="14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15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20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35</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a:solidFill>
                            <a:srgbClr val="B7D6E1"/>
                          </a:solidFill>
                          <a:latin typeface="Open Sans"/>
                          <a:ea typeface="Open Sans"/>
                          <a:cs typeface="Open Sans"/>
                        </a:rPr>
                        <a:t>50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1A353E"/>
                          </a:solidFill>
                          <a:latin typeface="Open Sans"/>
                          <a:ea typeface="Open Sans"/>
                          <a:cs typeface="Open Sans"/>
                        </a:rPr>
                        <a:t>50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34661"/>
                  </a:ext>
                </a:extLst>
              </a:tr>
              <a:tr h="370840">
                <a:tc>
                  <a:txBody>
                    <a:bodyPr/>
                    <a:lstStyle/>
                    <a:p>
                      <a:pPr algn="r"/>
                      <a:r>
                        <a:rPr lang="en-GB" sz="1400" b="0" dirty="0">
                          <a:solidFill>
                            <a:srgbClr val="B7D6E1"/>
                          </a:solidFill>
                          <a:latin typeface="Raleway"/>
                        </a:rPr>
                        <a:t> Avg. investment per corporate</a:t>
                      </a:r>
                    </a:p>
                  </a:txBody>
                  <a:tcPr marT="144000" marB="14400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a:solidFill>
                            <a:srgbClr val="B7D6E1"/>
                          </a:solidFill>
                          <a:latin typeface="Open Sans"/>
                          <a:ea typeface="Open Sans"/>
                          <a:cs typeface="Open Sans"/>
                        </a:rPr>
                        <a:t>16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12.7</a:t>
                      </a:r>
                      <a:endParaRPr lang="en-GB" sz="1400" b="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12.5</a:t>
                      </a:r>
                      <a:endParaRPr lang="en-GB" sz="1400" b="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11.4</a:t>
                      </a:r>
                      <a:endParaRPr lang="en-GB" sz="1400" b="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B7D6E1"/>
                          </a:solidFill>
                          <a:latin typeface="Open Sans"/>
                          <a:ea typeface="Open Sans"/>
                          <a:cs typeface="Open Sans"/>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1400" b="0" dirty="0">
                          <a:solidFill>
                            <a:srgbClr val="1A353E"/>
                          </a:solidFill>
                          <a:latin typeface="Open Sans"/>
                          <a:ea typeface="Open Sans"/>
                          <a:cs typeface="Open Sans"/>
                        </a:rPr>
                        <a:t>10</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2605035"/>
                  </a:ext>
                </a:extLst>
              </a:tr>
            </a:tbl>
          </a:graphicData>
        </a:graphic>
      </p:graphicFrame>
      <p:sp>
        <p:nvSpPr>
          <p:cNvPr id="21" name="TextBox 37">
            <a:extLst>
              <a:ext uri="{FF2B5EF4-FFF2-40B4-BE49-F238E27FC236}">
                <a16:creationId xmlns:a16="http://schemas.microsoft.com/office/drawing/2014/main" id="{3898BD32-7437-04BE-BC5A-3459516FE4A9}"/>
              </a:ext>
            </a:extLst>
          </p:cNvPr>
          <p:cNvSpPr txBox="1"/>
          <p:nvPr/>
        </p:nvSpPr>
        <p:spPr>
          <a:xfrm>
            <a:off x="687740" y="1806034"/>
            <a:ext cx="4944963" cy="1484510"/>
          </a:xfrm>
          <a:prstGeom prst="roundRect">
            <a:avLst>
              <a:gd name="adj" fmla="val 15443"/>
            </a:avLst>
          </a:prstGeom>
          <a:solidFill>
            <a:srgbClr val="004D7A"/>
          </a:solidFill>
        </p:spPr>
        <p:txBody>
          <a:bodyPr wrap="square" lIns="216000" tIns="216000" rIns="216000" bIns="216000" numCol="1" spcCol="108000" rtlCol="0" anchor="ctr" anchorCtr="0">
            <a:noAutofit/>
          </a:bodyPr>
          <a:lstStyle/>
          <a:p>
            <a:pPr marL="0" marR="0" lvl="0" indent="0" defTabSz="914400" rtl="0" eaLnBrk="1" fontAlgn="auto"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B703"/>
                </a:solidFill>
                <a:effectLst/>
                <a:uLnTx/>
                <a:uFillTx/>
                <a:latin typeface="Raleway"/>
                <a:ea typeface="+mn-ea"/>
                <a:cs typeface="+mn-cs"/>
              </a:rPr>
              <a:t>Pathway to achieving the </a:t>
            </a:r>
            <a:r>
              <a:rPr kumimoji="0" lang="en-GB" sz="1200" b="1" i="0" u="none" strike="noStrike" kern="1200" cap="none" spc="0" normalizeH="0" baseline="0" noProof="0" dirty="0">
                <a:ln>
                  <a:noFill/>
                </a:ln>
                <a:solidFill>
                  <a:srgbClr val="FFC000"/>
                </a:solidFill>
                <a:effectLst/>
                <a:uLnTx/>
                <a:uFillTx/>
                <a:latin typeface="Raleway"/>
                <a:ea typeface="+mn-ea"/>
                <a:cs typeface="+mn-cs"/>
              </a:rPr>
              <a:t>overall $2B investment target</a:t>
            </a:r>
          </a:p>
          <a:p>
            <a:pPr marL="0" marR="0" lvl="0" indent="0" defTabSz="914400" rtl="0" eaLnBrk="1" fontAlgn="auto" latinLnBrk="0" hangingPunct="1">
              <a:lnSpc>
                <a:spcPct val="116000"/>
              </a:lnSpc>
              <a:spcBef>
                <a:spcPts val="0"/>
              </a:spcBef>
              <a:spcAft>
                <a:spcPts val="80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The overall goal of the Global Water Investment Facility is to invest </a:t>
            </a:r>
            <a:r>
              <a:rPr kumimoji="0" lang="en-US" sz="120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USD 2 billion in water and sanitation management reaching 100 million people by 2027 and 300 million people by 2030.</a:t>
            </a:r>
          </a:p>
        </p:txBody>
      </p:sp>
      <p:sp>
        <p:nvSpPr>
          <p:cNvPr id="23" name="Tekstvak 22">
            <a:extLst>
              <a:ext uri="{FF2B5EF4-FFF2-40B4-BE49-F238E27FC236}">
                <a16:creationId xmlns:a16="http://schemas.microsoft.com/office/drawing/2014/main" id="{19DCC871-0C45-DB53-C466-109878E43778}"/>
              </a:ext>
            </a:extLst>
          </p:cNvPr>
          <p:cNvSpPr txBox="1"/>
          <p:nvPr/>
        </p:nvSpPr>
        <p:spPr>
          <a:xfrm>
            <a:off x="722705" y="6197753"/>
            <a:ext cx="6096000" cy="415498"/>
          </a:xfrm>
          <a:prstGeom prst="rect">
            <a:avLst/>
          </a:prstGeom>
          <a:noFill/>
        </p:spPr>
        <p:txBody>
          <a:bodyPr wrap="square">
            <a:spAutoFit/>
          </a:bodyPr>
          <a:lstStyle/>
          <a:p>
            <a:r>
              <a:rPr kumimoji="0" lang="en-US" sz="105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1 NOTE: </a:t>
            </a:r>
            <a:br>
              <a:rPr kumimoji="0" lang="en-US" sz="105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br>
            <a:r>
              <a:rPr kumimoji="0" lang="en-US" sz="105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 </a:t>
            </a:r>
            <a:endParaRPr lang="nl-NL" sz="1050" dirty="0"/>
          </a:p>
        </p:txBody>
      </p:sp>
    </p:spTree>
    <p:extLst>
      <p:ext uri="{BB962C8B-B14F-4D97-AF65-F5344CB8AC3E}">
        <p14:creationId xmlns:p14="http://schemas.microsoft.com/office/powerpoint/2010/main" val="25156068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10633516" cy="688090"/>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How it works: Global Water Investment Facility</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29">
            <a:extLst>
              <a:ext uri="{FF2B5EF4-FFF2-40B4-BE49-F238E27FC236}">
                <a16:creationId xmlns:a16="http://schemas.microsoft.com/office/drawing/2014/main" id="{CBDF555D-B6BE-2428-E74A-5AC803112465}"/>
              </a:ext>
            </a:extLst>
          </p:cNvPr>
          <p:cNvSpPr txBox="1"/>
          <p:nvPr/>
        </p:nvSpPr>
        <p:spPr>
          <a:xfrm>
            <a:off x="631892" y="1357919"/>
            <a:ext cx="101214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 bespoke investment facility where the capital flows from corporate investments to project realization</a:t>
            </a:r>
          </a:p>
        </p:txBody>
      </p:sp>
      <p:sp>
        <p:nvSpPr>
          <p:cNvPr id="59" name="Afgeronde rechthoek 27">
            <a:extLst>
              <a:ext uri="{FF2B5EF4-FFF2-40B4-BE49-F238E27FC236}">
                <a16:creationId xmlns:a16="http://schemas.microsoft.com/office/drawing/2014/main" id="{AC560329-6658-7AD6-A0D1-1882FBF44987}"/>
              </a:ext>
            </a:extLst>
          </p:cNvPr>
          <p:cNvSpPr/>
          <p:nvPr/>
        </p:nvSpPr>
        <p:spPr>
          <a:xfrm>
            <a:off x="722707" y="3664446"/>
            <a:ext cx="1549676" cy="2242854"/>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0" name="Afgeronde rechthoek 27">
            <a:extLst>
              <a:ext uri="{FF2B5EF4-FFF2-40B4-BE49-F238E27FC236}">
                <a16:creationId xmlns:a16="http://schemas.microsoft.com/office/drawing/2014/main" id="{860A1205-FE2B-F6CE-6626-DAB059FAC0AE}"/>
              </a:ext>
            </a:extLst>
          </p:cNvPr>
          <p:cNvSpPr/>
          <p:nvPr/>
        </p:nvSpPr>
        <p:spPr>
          <a:xfrm>
            <a:off x="3079252" y="3664446"/>
            <a:ext cx="1549676" cy="2242854"/>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1" name="Afgeronde rechthoek 27">
            <a:extLst>
              <a:ext uri="{FF2B5EF4-FFF2-40B4-BE49-F238E27FC236}">
                <a16:creationId xmlns:a16="http://schemas.microsoft.com/office/drawing/2014/main" id="{A60CBC0A-D558-7540-4991-A4CE1CA90482}"/>
              </a:ext>
            </a:extLst>
          </p:cNvPr>
          <p:cNvSpPr/>
          <p:nvPr/>
        </p:nvSpPr>
        <p:spPr>
          <a:xfrm>
            <a:off x="5355670" y="3664446"/>
            <a:ext cx="1549676" cy="2242854"/>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2" name="Afgeronde rechthoek 27">
            <a:extLst>
              <a:ext uri="{FF2B5EF4-FFF2-40B4-BE49-F238E27FC236}">
                <a16:creationId xmlns:a16="http://schemas.microsoft.com/office/drawing/2014/main" id="{CC7D6455-E2FD-51A3-AECF-ED6C3D9DDC32}"/>
              </a:ext>
            </a:extLst>
          </p:cNvPr>
          <p:cNvSpPr/>
          <p:nvPr/>
        </p:nvSpPr>
        <p:spPr>
          <a:xfrm>
            <a:off x="7793644" y="3664446"/>
            <a:ext cx="1549676" cy="2242854"/>
          </a:xfrm>
          <a:prstGeom prst="roundRect">
            <a:avLst>
              <a:gd name="adj" fmla="val 10535"/>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3" name="Tekstvak 62">
            <a:extLst>
              <a:ext uri="{FF2B5EF4-FFF2-40B4-BE49-F238E27FC236}">
                <a16:creationId xmlns:a16="http://schemas.microsoft.com/office/drawing/2014/main" id="{56200CFA-981A-1157-8335-453C923AC798}"/>
              </a:ext>
            </a:extLst>
          </p:cNvPr>
          <p:cNvSpPr txBox="1"/>
          <p:nvPr/>
        </p:nvSpPr>
        <p:spPr>
          <a:xfrm>
            <a:off x="6881730" y="3869349"/>
            <a:ext cx="938886" cy="291578"/>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900" b="0" i="0" u="none" strike="noStrike" kern="1200" cap="none" spc="0" normalizeH="0" baseline="0" noProof="0" dirty="0">
                <a:ln>
                  <a:noFill/>
                </a:ln>
                <a:solidFill>
                  <a:srgbClr val="FFA726"/>
                </a:solidFill>
                <a:effectLst/>
                <a:uLnTx/>
                <a:uFillTx/>
                <a:latin typeface="Funnel Sans" pitchFamily="2" charset="0"/>
              </a:rPr>
              <a:t>Private equity</a:t>
            </a:r>
          </a:p>
        </p:txBody>
      </p:sp>
      <p:sp>
        <p:nvSpPr>
          <p:cNvPr id="64" name="Tekstvak 63">
            <a:extLst>
              <a:ext uri="{FF2B5EF4-FFF2-40B4-BE49-F238E27FC236}">
                <a16:creationId xmlns:a16="http://schemas.microsoft.com/office/drawing/2014/main" id="{CFFC5E5C-5A31-5719-6E91-313A8D682A1E}"/>
              </a:ext>
            </a:extLst>
          </p:cNvPr>
          <p:cNvSpPr txBox="1"/>
          <p:nvPr/>
        </p:nvSpPr>
        <p:spPr>
          <a:xfrm>
            <a:off x="6881730" y="4539054"/>
            <a:ext cx="938886" cy="374635"/>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900" b="0" i="0" u="none" strike="noStrike" kern="1200" cap="none" spc="0" normalizeH="0" baseline="0" noProof="0" dirty="0">
                <a:ln>
                  <a:noFill/>
                </a:ln>
                <a:solidFill>
                  <a:srgbClr val="FFA726"/>
                </a:solidFill>
                <a:effectLst/>
                <a:uLnTx/>
                <a:uFillTx/>
                <a:latin typeface="Funnel Sans" pitchFamily="2" charset="0"/>
              </a:rPr>
              <a:t>Private debt</a:t>
            </a:r>
          </a:p>
        </p:txBody>
      </p:sp>
      <p:sp>
        <p:nvSpPr>
          <p:cNvPr id="65" name="Tekstvak 64">
            <a:extLst>
              <a:ext uri="{FF2B5EF4-FFF2-40B4-BE49-F238E27FC236}">
                <a16:creationId xmlns:a16="http://schemas.microsoft.com/office/drawing/2014/main" id="{1A09F443-AD06-2DA1-C99C-60C9FA75DE00}"/>
              </a:ext>
            </a:extLst>
          </p:cNvPr>
          <p:cNvSpPr txBox="1"/>
          <p:nvPr/>
        </p:nvSpPr>
        <p:spPr>
          <a:xfrm>
            <a:off x="4526209" y="4412585"/>
            <a:ext cx="947178" cy="374632"/>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900" b="0" i="0" u="none" strike="noStrike" kern="1200" cap="none" spc="0" normalizeH="0" baseline="0" noProof="0" dirty="0">
                <a:ln>
                  <a:noFill/>
                </a:ln>
                <a:solidFill>
                  <a:srgbClr val="FFA726"/>
                </a:solidFill>
                <a:effectLst/>
                <a:uLnTx/>
                <a:uFillTx/>
                <a:latin typeface="Funnel Sans" pitchFamily="2" charset="0"/>
              </a:rPr>
              <a:t>Equity investment</a:t>
            </a:r>
          </a:p>
        </p:txBody>
      </p:sp>
      <p:cxnSp>
        <p:nvCxnSpPr>
          <p:cNvPr id="68" name="Rechte verbindingslijn 67">
            <a:extLst>
              <a:ext uri="{FF2B5EF4-FFF2-40B4-BE49-F238E27FC236}">
                <a16:creationId xmlns:a16="http://schemas.microsoft.com/office/drawing/2014/main" id="{E5D82EAC-1332-2E02-6B26-B46988B5144C}"/>
              </a:ext>
            </a:extLst>
          </p:cNvPr>
          <p:cNvCxnSpPr>
            <a:cxnSpLocks/>
          </p:cNvCxnSpPr>
          <p:nvPr/>
        </p:nvCxnSpPr>
        <p:spPr>
          <a:xfrm flipH="1">
            <a:off x="4742994" y="4282728"/>
            <a:ext cx="513607"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90" name="Tekstvak 89">
            <a:extLst>
              <a:ext uri="{FF2B5EF4-FFF2-40B4-BE49-F238E27FC236}">
                <a16:creationId xmlns:a16="http://schemas.microsoft.com/office/drawing/2014/main" id="{BD93D3DE-9898-C38E-4F69-0EF12890278D}"/>
              </a:ext>
            </a:extLst>
          </p:cNvPr>
          <p:cNvSpPr txBox="1"/>
          <p:nvPr/>
        </p:nvSpPr>
        <p:spPr>
          <a:xfrm>
            <a:off x="2226560" y="4412585"/>
            <a:ext cx="917710" cy="374632"/>
          </a:xfrm>
          <a:prstGeom prst="rect">
            <a:avLst/>
          </a:prstGeom>
          <a:noFill/>
          <a:ln>
            <a:noFill/>
          </a:ln>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900" b="0" i="0" u="none" strike="noStrike" kern="1200" cap="none" spc="0" normalizeH="0" baseline="0" noProof="0" dirty="0">
                <a:ln>
                  <a:noFill/>
                </a:ln>
                <a:solidFill>
                  <a:srgbClr val="FFA726"/>
                </a:solidFill>
                <a:effectLst/>
                <a:uLnTx/>
                <a:uFillTx/>
                <a:latin typeface="Funnel Sans" pitchFamily="2" charset="0"/>
              </a:rPr>
              <a:t>Fund participations</a:t>
            </a:r>
          </a:p>
        </p:txBody>
      </p:sp>
      <p:sp>
        <p:nvSpPr>
          <p:cNvPr id="93" name="Tijdelijke aanduiding voor tekst 13">
            <a:extLst>
              <a:ext uri="{FF2B5EF4-FFF2-40B4-BE49-F238E27FC236}">
                <a16:creationId xmlns:a16="http://schemas.microsoft.com/office/drawing/2014/main" id="{9BC0AF46-BCA0-E60B-D781-8640CD05C868}"/>
              </a:ext>
            </a:extLst>
          </p:cNvPr>
          <p:cNvSpPr txBox="1">
            <a:spLocks/>
          </p:cNvSpPr>
          <p:nvPr/>
        </p:nvSpPr>
        <p:spPr>
          <a:xfrm>
            <a:off x="738344" y="3382163"/>
            <a:ext cx="1524258" cy="26638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050" b="1" dirty="0">
                <a:solidFill>
                  <a:srgbClr val="B7D6E1"/>
                </a:solidFill>
                <a:latin typeface="+mj-lt"/>
              </a:rPr>
              <a:t>Corporate </a:t>
            </a:r>
            <a:r>
              <a:rPr lang="nl-NL" sz="1050" b="1" dirty="0" err="1">
                <a:solidFill>
                  <a:srgbClr val="B7D6E1"/>
                </a:solidFill>
                <a:latin typeface="+mj-lt"/>
              </a:rPr>
              <a:t>Investors</a:t>
            </a:r>
            <a:endParaRPr lang="nl-NL" sz="1050" b="1" dirty="0">
              <a:solidFill>
                <a:srgbClr val="B7D6E1"/>
              </a:solidFill>
              <a:latin typeface="+mj-lt"/>
            </a:endParaRPr>
          </a:p>
        </p:txBody>
      </p:sp>
      <p:sp>
        <p:nvSpPr>
          <p:cNvPr id="94" name="Tijdelijke aanduiding voor tekst 23">
            <a:extLst>
              <a:ext uri="{FF2B5EF4-FFF2-40B4-BE49-F238E27FC236}">
                <a16:creationId xmlns:a16="http://schemas.microsoft.com/office/drawing/2014/main" id="{926AD318-FD1F-5343-2605-5479B56E3F60}"/>
              </a:ext>
            </a:extLst>
          </p:cNvPr>
          <p:cNvSpPr txBox="1">
            <a:spLocks/>
          </p:cNvSpPr>
          <p:nvPr/>
        </p:nvSpPr>
        <p:spPr>
          <a:xfrm>
            <a:off x="2994784" y="3360897"/>
            <a:ext cx="1702397" cy="26638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050" b="1" dirty="0">
                <a:solidFill>
                  <a:srgbClr val="B7D6E1"/>
                </a:solidFill>
                <a:latin typeface="+mj-lt"/>
              </a:rPr>
              <a:t>Fund management</a:t>
            </a:r>
          </a:p>
        </p:txBody>
      </p:sp>
      <p:sp>
        <p:nvSpPr>
          <p:cNvPr id="95" name="Tijdelijke aanduiding voor tekst 24">
            <a:extLst>
              <a:ext uri="{FF2B5EF4-FFF2-40B4-BE49-F238E27FC236}">
                <a16:creationId xmlns:a16="http://schemas.microsoft.com/office/drawing/2014/main" id="{294479F4-737E-BF7F-DE55-04CCD7B888E6}"/>
              </a:ext>
            </a:extLst>
          </p:cNvPr>
          <p:cNvSpPr txBox="1">
            <a:spLocks/>
          </p:cNvSpPr>
          <p:nvPr/>
        </p:nvSpPr>
        <p:spPr>
          <a:xfrm>
            <a:off x="5232098" y="3356554"/>
            <a:ext cx="1724197" cy="23842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050" b="1" dirty="0">
                <a:solidFill>
                  <a:srgbClr val="B7D6E1"/>
                </a:solidFill>
                <a:latin typeface="+mj-lt"/>
              </a:rPr>
              <a:t>Funds</a:t>
            </a:r>
          </a:p>
        </p:txBody>
      </p:sp>
      <p:sp>
        <p:nvSpPr>
          <p:cNvPr id="96" name="Tijdelijke aanduiding voor tekst 25">
            <a:extLst>
              <a:ext uri="{FF2B5EF4-FFF2-40B4-BE49-F238E27FC236}">
                <a16:creationId xmlns:a16="http://schemas.microsoft.com/office/drawing/2014/main" id="{64E99733-99D8-3C43-4820-0701E27E8315}"/>
              </a:ext>
            </a:extLst>
          </p:cNvPr>
          <p:cNvSpPr txBox="1">
            <a:spLocks/>
          </p:cNvSpPr>
          <p:nvPr/>
        </p:nvSpPr>
        <p:spPr>
          <a:xfrm>
            <a:off x="7749065" y="3360898"/>
            <a:ext cx="1702397" cy="266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050" b="1" dirty="0">
                <a:solidFill>
                  <a:srgbClr val="B7D6E1"/>
                </a:solidFill>
                <a:latin typeface="+mj-lt"/>
              </a:rPr>
              <a:t>Private sector </a:t>
            </a:r>
            <a:r>
              <a:rPr lang="nl-NL" sz="1050" b="1" dirty="0" err="1">
                <a:solidFill>
                  <a:srgbClr val="B7D6E1"/>
                </a:solidFill>
                <a:latin typeface="+mj-lt"/>
              </a:rPr>
              <a:t>projects</a:t>
            </a:r>
            <a:r>
              <a:rPr lang="nl-NL" sz="1050" b="1" dirty="0">
                <a:solidFill>
                  <a:srgbClr val="B7D6E1"/>
                </a:solidFill>
                <a:latin typeface="+mj-lt"/>
              </a:rPr>
              <a:t> </a:t>
            </a:r>
          </a:p>
        </p:txBody>
      </p:sp>
      <p:grpSp>
        <p:nvGrpSpPr>
          <p:cNvPr id="97" name="Groep 96">
            <a:extLst>
              <a:ext uri="{FF2B5EF4-FFF2-40B4-BE49-F238E27FC236}">
                <a16:creationId xmlns:a16="http://schemas.microsoft.com/office/drawing/2014/main" id="{23CAA2EF-9010-CA04-49C3-86D7D50CF332}"/>
              </a:ext>
            </a:extLst>
          </p:cNvPr>
          <p:cNvGrpSpPr/>
          <p:nvPr/>
        </p:nvGrpSpPr>
        <p:grpSpPr>
          <a:xfrm>
            <a:off x="5619320" y="3887637"/>
            <a:ext cx="993032" cy="210479"/>
            <a:chOff x="3933577" y="4813224"/>
            <a:chExt cx="1279451" cy="271188"/>
          </a:xfrm>
        </p:grpSpPr>
        <p:sp>
          <p:nvSpPr>
            <p:cNvPr id="98" name="Afgeronde rechthoek 9">
              <a:extLst>
                <a:ext uri="{FF2B5EF4-FFF2-40B4-BE49-F238E27FC236}">
                  <a16:creationId xmlns:a16="http://schemas.microsoft.com/office/drawing/2014/main" id="{B2342BBA-91EE-90F2-C614-931887AE357B}"/>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1</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99" name="Afbeelding 98" descr="Afbeelding met zwart, duisternis&#10;&#10;Automatisch gegenereerde beschrijving">
              <a:extLst>
                <a:ext uri="{FF2B5EF4-FFF2-40B4-BE49-F238E27FC236}">
                  <a16:creationId xmlns:a16="http://schemas.microsoft.com/office/drawing/2014/main" id="{87F54E18-60D6-A85F-CCDE-0879310C6F4B}"/>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100" name="Afbeelding 99">
            <a:extLst>
              <a:ext uri="{FF2B5EF4-FFF2-40B4-BE49-F238E27FC236}">
                <a16:creationId xmlns:a16="http://schemas.microsoft.com/office/drawing/2014/main" id="{82325D60-9B9A-5B16-656C-D219D943ED00}"/>
              </a:ext>
            </a:extLst>
          </p:cNvPr>
          <p:cNvPicPr>
            <a:picLocks noChangeAspect="1"/>
          </p:cNvPicPr>
          <p:nvPr/>
        </p:nvPicPr>
        <p:blipFill>
          <a:blip r:embed="rId5"/>
          <a:stretch>
            <a:fillRect/>
          </a:stretch>
        </p:blipFill>
        <p:spPr>
          <a:xfrm>
            <a:off x="5920002" y="3812678"/>
            <a:ext cx="394278" cy="354850"/>
          </a:xfrm>
          <a:prstGeom prst="rect">
            <a:avLst/>
          </a:prstGeom>
        </p:spPr>
      </p:pic>
      <p:pic>
        <p:nvPicPr>
          <p:cNvPr id="116" name="Afbeelding 115">
            <a:extLst>
              <a:ext uri="{FF2B5EF4-FFF2-40B4-BE49-F238E27FC236}">
                <a16:creationId xmlns:a16="http://schemas.microsoft.com/office/drawing/2014/main" id="{54725317-2DE4-CD24-FF2C-588389DA670C}"/>
              </a:ext>
            </a:extLst>
          </p:cNvPr>
          <p:cNvPicPr>
            <a:picLocks noChangeAspect="1"/>
          </p:cNvPicPr>
          <p:nvPr/>
        </p:nvPicPr>
        <p:blipFill>
          <a:blip r:embed="rId6"/>
          <a:stretch>
            <a:fillRect/>
          </a:stretch>
        </p:blipFill>
        <p:spPr>
          <a:xfrm>
            <a:off x="8405487" y="3790990"/>
            <a:ext cx="389840" cy="407166"/>
          </a:xfrm>
          <a:prstGeom prst="rect">
            <a:avLst/>
          </a:prstGeom>
        </p:spPr>
      </p:pic>
      <p:pic>
        <p:nvPicPr>
          <p:cNvPr id="117" name="Afbeelding 116">
            <a:extLst>
              <a:ext uri="{FF2B5EF4-FFF2-40B4-BE49-F238E27FC236}">
                <a16:creationId xmlns:a16="http://schemas.microsoft.com/office/drawing/2014/main" id="{563F5821-819D-0523-5D1E-3FCBE0220143}"/>
              </a:ext>
            </a:extLst>
          </p:cNvPr>
          <p:cNvPicPr>
            <a:picLocks noChangeAspect="1"/>
          </p:cNvPicPr>
          <p:nvPr/>
        </p:nvPicPr>
        <p:blipFill>
          <a:blip r:embed="rId7"/>
          <a:stretch>
            <a:fillRect/>
          </a:stretch>
        </p:blipFill>
        <p:spPr>
          <a:xfrm>
            <a:off x="8394042" y="4368863"/>
            <a:ext cx="355187" cy="355187"/>
          </a:xfrm>
          <a:prstGeom prst="rect">
            <a:avLst/>
          </a:prstGeom>
        </p:spPr>
      </p:pic>
      <p:pic>
        <p:nvPicPr>
          <p:cNvPr id="118" name="Afbeelding 117">
            <a:extLst>
              <a:ext uri="{FF2B5EF4-FFF2-40B4-BE49-F238E27FC236}">
                <a16:creationId xmlns:a16="http://schemas.microsoft.com/office/drawing/2014/main" id="{9FBAF9C9-2C18-558F-CF7B-AD73B50CEC88}"/>
              </a:ext>
            </a:extLst>
          </p:cNvPr>
          <p:cNvPicPr>
            <a:picLocks noChangeAspect="1"/>
          </p:cNvPicPr>
          <p:nvPr/>
        </p:nvPicPr>
        <p:blipFill>
          <a:blip r:embed="rId8"/>
          <a:stretch>
            <a:fillRect/>
          </a:stretch>
        </p:blipFill>
        <p:spPr>
          <a:xfrm>
            <a:off x="8405487" y="4913689"/>
            <a:ext cx="337862" cy="381178"/>
          </a:xfrm>
          <a:prstGeom prst="rect">
            <a:avLst/>
          </a:prstGeom>
        </p:spPr>
      </p:pic>
      <p:pic>
        <p:nvPicPr>
          <p:cNvPr id="119" name="Afbeelding 118">
            <a:extLst>
              <a:ext uri="{FF2B5EF4-FFF2-40B4-BE49-F238E27FC236}">
                <a16:creationId xmlns:a16="http://schemas.microsoft.com/office/drawing/2014/main" id="{61500358-E50F-67CC-6497-41CA7C2A0AFB}"/>
              </a:ext>
            </a:extLst>
          </p:cNvPr>
          <p:cNvPicPr>
            <a:picLocks noChangeAspect="1"/>
          </p:cNvPicPr>
          <p:nvPr/>
        </p:nvPicPr>
        <p:blipFill>
          <a:blip r:embed="rId9"/>
          <a:stretch>
            <a:fillRect/>
          </a:stretch>
        </p:blipFill>
        <p:spPr>
          <a:xfrm>
            <a:off x="8394044" y="5405763"/>
            <a:ext cx="337862" cy="337862"/>
          </a:xfrm>
          <a:prstGeom prst="rect">
            <a:avLst/>
          </a:prstGeom>
        </p:spPr>
      </p:pic>
      <p:sp>
        <p:nvSpPr>
          <p:cNvPr id="120" name="Tijdelijke aanduiding voor tekst 21">
            <a:extLst>
              <a:ext uri="{FF2B5EF4-FFF2-40B4-BE49-F238E27FC236}">
                <a16:creationId xmlns:a16="http://schemas.microsoft.com/office/drawing/2014/main" id="{A4689BC8-E950-1AF1-2072-BFF6EC365316}"/>
              </a:ext>
            </a:extLst>
          </p:cNvPr>
          <p:cNvSpPr txBox="1">
            <a:spLocks/>
          </p:cNvSpPr>
          <p:nvPr/>
        </p:nvSpPr>
        <p:spPr>
          <a:xfrm>
            <a:off x="3071145" y="3838338"/>
            <a:ext cx="1549676" cy="1845245"/>
          </a:xfrm>
          <a:prstGeom prst="rect">
            <a:avLst/>
          </a:prstGeom>
        </p:spPr>
        <p:txBody>
          <a:bodyPr anchor="ctr"/>
          <a:lstStyle>
            <a:lvl1pPr marL="0" indent="0" algn="l" defTabSz="914400" rtl="0" eaLnBrk="1" latinLnBrk="0" hangingPunct="1">
              <a:lnSpc>
                <a:spcPct val="90000"/>
              </a:lnSpc>
              <a:spcBef>
                <a:spcPts val="1000"/>
              </a:spcBef>
              <a:buFont typeface="Arial" panose="020B0604020202020204" pitchFamily="34" charset="0"/>
              <a:buNone/>
              <a:defRPr sz="3000" b="0" i="0" kern="1200">
                <a:solidFill>
                  <a:srgbClr val="B7D6E1"/>
                </a:solidFill>
                <a:latin typeface="Fivo Sans Med" pitchFamily="2" charset="77"/>
                <a:ea typeface="+mn-ea"/>
                <a:cs typeface="+mn-cs"/>
              </a:defRPr>
            </a:lvl1pPr>
            <a:lvl2pPr marL="277250"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2pPr>
            <a:lvl3pPr marL="554499"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3pPr>
            <a:lvl4pPr marL="831750"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4pPr>
            <a:lvl5pPr marL="1108999" indent="0" algn="l" defTabSz="914400" rtl="0" eaLnBrk="1" latinLnBrk="0" hangingPunct="1">
              <a:lnSpc>
                <a:spcPct val="90000"/>
              </a:lnSpc>
              <a:spcBef>
                <a:spcPts val="500"/>
              </a:spcBef>
              <a:buFont typeface="Arial" panose="020B0604020202020204" pitchFamily="34" charset="0"/>
              <a:buNone/>
              <a:defRPr sz="5003" b="0" kern="1200">
                <a:solidFill>
                  <a:schemeClr val="bg1"/>
                </a:solidFill>
                <a:latin typeface="Space Grotesk SemiBold"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nl-NL" sz="1800" dirty="0">
                <a:solidFill>
                  <a:schemeClr val="bg1"/>
                </a:solidFill>
              </a:rPr>
              <a:t>Global </a:t>
            </a:r>
            <a:br>
              <a:rPr lang="nl-NL" sz="1800" dirty="0">
                <a:solidFill>
                  <a:schemeClr val="bg1"/>
                </a:solidFill>
              </a:rPr>
            </a:br>
            <a:r>
              <a:rPr lang="nl-NL" sz="1800" dirty="0">
                <a:solidFill>
                  <a:schemeClr val="bg1"/>
                </a:solidFill>
              </a:rPr>
              <a:t>Water Investment Facility</a:t>
            </a:r>
          </a:p>
        </p:txBody>
      </p:sp>
      <p:grpSp>
        <p:nvGrpSpPr>
          <p:cNvPr id="121" name="Groep 120">
            <a:extLst>
              <a:ext uri="{FF2B5EF4-FFF2-40B4-BE49-F238E27FC236}">
                <a16:creationId xmlns:a16="http://schemas.microsoft.com/office/drawing/2014/main" id="{92ACCE2E-C243-D86A-D7DD-854A260C7717}"/>
              </a:ext>
            </a:extLst>
          </p:cNvPr>
          <p:cNvGrpSpPr/>
          <p:nvPr/>
        </p:nvGrpSpPr>
        <p:grpSpPr>
          <a:xfrm>
            <a:off x="975536" y="3899438"/>
            <a:ext cx="1047229" cy="219268"/>
            <a:chOff x="9938447" y="2728692"/>
            <a:chExt cx="1222577" cy="255982"/>
          </a:xfrm>
        </p:grpSpPr>
        <p:pic>
          <p:nvPicPr>
            <p:cNvPr id="122" name="Afbeelding 121">
              <a:extLst>
                <a:ext uri="{FF2B5EF4-FFF2-40B4-BE49-F238E27FC236}">
                  <a16:creationId xmlns:a16="http://schemas.microsoft.com/office/drawing/2014/main" id="{2057CC37-4468-C989-8F4C-D3EA28E5A0D3}"/>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123" name="Afgeronde rechthoek 9">
              <a:extLst>
                <a:ext uri="{FF2B5EF4-FFF2-40B4-BE49-F238E27FC236}">
                  <a16:creationId xmlns:a16="http://schemas.microsoft.com/office/drawing/2014/main" id="{6BB2652A-4802-4040-5FEE-E765F9D7ABAC}"/>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1</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124" name="Afbeelding 123">
            <a:extLst>
              <a:ext uri="{FF2B5EF4-FFF2-40B4-BE49-F238E27FC236}">
                <a16:creationId xmlns:a16="http://schemas.microsoft.com/office/drawing/2014/main" id="{B7C8A0E9-BD68-BCA2-6711-92C4FC466F45}"/>
              </a:ext>
            </a:extLst>
          </p:cNvPr>
          <p:cNvPicPr>
            <a:picLocks noChangeAspect="1"/>
          </p:cNvPicPr>
          <p:nvPr/>
        </p:nvPicPr>
        <p:blipFill>
          <a:blip r:embed="rId11"/>
          <a:stretch>
            <a:fillRect/>
          </a:stretch>
        </p:blipFill>
        <p:spPr>
          <a:xfrm>
            <a:off x="1208272" y="3788942"/>
            <a:ext cx="554655" cy="460647"/>
          </a:xfrm>
          <a:prstGeom prst="rect">
            <a:avLst/>
          </a:prstGeom>
        </p:spPr>
      </p:pic>
      <p:sp>
        <p:nvSpPr>
          <p:cNvPr id="140" name="TextBox 37">
            <a:extLst>
              <a:ext uri="{FF2B5EF4-FFF2-40B4-BE49-F238E27FC236}">
                <a16:creationId xmlns:a16="http://schemas.microsoft.com/office/drawing/2014/main" id="{ECBBC731-478C-638A-BE2D-71080D854673}"/>
              </a:ext>
            </a:extLst>
          </p:cNvPr>
          <p:cNvSpPr txBox="1"/>
          <p:nvPr/>
        </p:nvSpPr>
        <p:spPr>
          <a:xfrm>
            <a:off x="722705" y="6102529"/>
            <a:ext cx="8840072" cy="489672"/>
          </a:xfrm>
          <a:prstGeom prst="roundRect">
            <a:avLst>
              <a:gd name="adj" fmla="val 26720"/>
            </a:avLst>
          </a:prstGeom>
          <a:solidFill>
            <a:srgbClr val="004D7A"/>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
                <a:prstClr val="white"/>
              </a:buClr>
              <a:buSzTx/>
              <a:buFontTx/>
              <a:buNone/>
              <a:tabLst/>
              <a:defRPr/>
            </a:pPr>
            <a:r>
              <a:rPr kumimoji="0" lang="en-US" sz="1400" b="1" i="0" u="none" strike="noStrike" kern="1200" cap="none" spc="0" normalizeH="0" baseline="0" noProof="0" dirty="0">
                <a:ln>
                  <a:noFill/>
                </a:ln>
                <a:solidFill>
                  <a:srgbClr val="FFA726"/>
                </a:solidFill>
                <a:effectLst/>
                <a:uLnTx/>
                <a:uFillTx/>
                <a:latin typeface="Open Sans"/>
                <a:ea typeface="Open Sans"/>
                <a:cs typeface="Open Sans"/>
              </a:rPr>
              <a:t>Reduced water risks within assets, companies and their value chains. </a:t>
            </a:r>
          </a:p>
        </p:txBody>
      </p:sp>
      <p:cxnSp>
        <p:nvCxnSpPr>
          <p:cNvPr id="28" name="Rechte verbindingslijn 27">
            <a:extLst>
              <a:ext uri="{FF2B5EF4-FFF2-40B4-BE49-F238E27FC236}">
                <a16:creationId xmlns:a16="http://schemas.microsoft.com/office/drawing/2014/main" id="{FB349601-A40C-56C7-2924-CBA9E27A744A}"/>
              </a:ext>
            </a:extLst>
          </p:cNvPr>
          <p:cNvCxnSpPr>
            <a:cxnSpLocks/>
          </p:cNvCxnSpPr>
          <p:nvPr/>
        </p:nvCxnSpPr>
        <p:spPr>
          <a:xfrm flipH="1">
            <a:off x="2410352" y="4282728"/>
            <a:ext cx="513607"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cxnSp>
        <p:nvCxnSpPr>
          <p:cNvPr id="31" name="Rechte verbindingslijn 30">
            <a:extLst>
              <a:ext uri="{FF2B5EF4-FFF2-40B4-BE49-F238E27FC236}">
                <a16:creationId xmlns:a16="http://schemas.microsoft.com/office/drawing/2014/main" id="{379D5FA1-30ED-B4BE-3597-1780F37BB135}"/>
              </a:ext>
            </a:extLst>
          </p:cNvPr>
          <p:cNvCxnSpPr>
            <a:cxnSpLocks/>
          </p:cNvCxnSpPr>
          <p:nvPr/>
        </p:nvCxnSpPr>
        <p:spPr>
          <a:xfrm flipH="1">
            <a:off x="7130642" y="4282728"/>
            <a:ext cx="513607" cy="0"/>
          </a:xfrm>
          <a:prstGeom prst="line">
            <a:avLst/>
          </a:prstGeom>
          <a:ln cap="rnd">
            <a:solidFill>
              <a:srgbClr val="FFA726"/>
            </a:solidFill>
            <a:headEnd type="arrow"/>
            <a:tailEnd type="none"/>
          </a:ln>
        </p:spPr>
        <p:style>
          <a:lnRef idx="2">
            <a:schemeClr val="accent1"/>
          </a:lnRef>
          <a:fillRef idx="0">
            <a:schemeClr val="accent1"/>
          </a:fillRef>
          <a:effectRef idx="1">
            <a:schemeClr val="accent1"/>
          </a:effectRef>
          <a:fontRef idx="minor">
            <a:schemeClr val="tx1"/>
          </a:fontRef>
        </p:style>
      </p:cxnSp>
      <p:sp>
        <p:nvSpPr>
          <p:cNvPr id="33" name="Tekstvak 32">
            <a:extLst>
              <a:ext uri="{FF2B5EF4-FFF2-40B4-BE49-F238E27FC236}">
                <a16:creationId xmlns:a16="http://schemas.microsoft.com/office/drawing/2014/main" id="{D3170050-BD63-4381-E8EF-212BE55AF161}"/>
              </a:ext>
            </a:extLst>
          </p:cNvPr>
          <p:cNvSpPr txBox="1"/>
          <p:nvPr/>
        </p:nvSpPr>
        <p:spPr>
          <a:xfrm>
            <a:off x="593590" y="2084214"/>
            <a:ext cx="1702397" cy="6001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prstClr val="white"/>
                </a:solidFill>
                <a:effectLst/>
                <a:uLnTx/>
                <a:uFillTx/>
                <a:latin typeface="Open Sans"/>
                <a:ea typeface="+mn-ea"/>
                <a:cs typeface="+mn-cs"/>
              </a:rPr>
              <a:t>Corporate investors invest capital from their balance sheets … </a:t>
            </a:r>
            <a:endParaRPr kumimoji="0" lang="en-GB" sz="1100" i="0" u="none" strike="noStrike" kern="1200" cap="none" spc="0" normalizeH="0" baseline="0" noProof="0" dirty="0">
              <a:ln>
                <a:noFill/>
              </a:ln>
              <a:solidFill>
                <a:prstClr val="white"/>
              </a:solidFill>
              <a:effectLst/>
              <a:uLnTx/>
              <a:uFillTx/>
              <a:latin typeface="Open Sans"/>
              <a:ea typeface="+mn-ea"/>
              <a:cs typeface="+mn-cs"/>
            </a:endParaRPr>
          </a:p>
        </p:txBody>
      </p:sp>
      <p:sp>
        <p:nvSpPr>
          <p:cNvPr id="34" name="Afgeronde rechthoek 9">
            <a:extLst>
              <a:ext uri="{FF2B5EF4-FFF2-40B4-BE49-F238E27FC236}">
                <a16:creationId xmlns:a16="http://schemas.microsoft.com/office/drawing/2014/main" id="{9A4B931F-BB2D-034E-2A04-03835CB821E9}"/>
              </a:ext>
            </a:extLst>
          </p:cNvPr>
          <p:cNvSpPr>
            <a:spLocks noChangeAspect="1"/>
          </p:cNvSpPr>
          <p:nvPr/>
        </p:nvSpPr>
        <p:spPr>
          <a:xfrm>
            <a:off x="1280954" y="1756499"/>
            <a:ext cx="272477" cy="288000"/>
          </a:xfrm>
          <a:prstGeom prst="roundRect">
            <a:avLst>
              <a:gd name="adj" fmla="val 50000"/>
            </a:avLst>
          </a:prstGeom>
          <a:no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lvl="0">
              <a:defRPr lang="en-US"/>
            </a:defPPr>
            <a:lvl1pPr marL="0" lvl="1" algn="l" defTabSz="914400" rtl="0" eaLnBrk="1" latinLnBrk="0" hangingPunct="1">
              <a:defRPr sz="1800" kern="1200">
                <a:solidFill>
                  <a:sysClr val="window" lastClr="FFFFFF"/>
                </a:solidFill>
                <a:latin typeface="Open Sans"/>
              </a:defRPr>
            </a:lvl1pPr>
            <a:lvl2pPr marL="457200" lvl="2" algn="l" defTabSz="914400" rtl="0" eaLnBrk="1" latinLnBrk="0" hangingPunct="1">
              <a:defRPr sz="1800" kern="1200">
                <a:solidFill>
                  <a:sysClr val="window" lastClr="FFFFFF"/>
                </a:solidFill>
                <a:latin typeface="Open Sans"/>
              </a:defRPr>
            </a:lvl2pPr>
            <a:lvl3pPr marL="914400" lvl="3" algn="l" defTabSz="914400" rtl="0" eaLnBrk="1" latinLnBrk="0" hangingPunct="1">
              <a:defRPr sz="1800" kern="1200">
                <a:solidFill>
                  <a:sysClr val="window" lastClr="FFFFFF"/>
                </a:solidFill>
                <a:latin typeface="Open Sans"/>
              </a:defRPr>
            </a:lvl3pPr>
            <a:lvl4pPr marL="1371600" lvl="4" algn="l" defTabSz="914400" rtl="0" eaLnBrk="1" latinLnBrk="0" hangingPunct="1">
              <a:defRPr sz="1800" kern="1200">
                <a:solidFill>
                  <a:sysClr val="window" lastClr="FFFFFF"/>
                </a:solidFill>
                <a:latin typeface="Open Sans"/>
              </a:defRPr>
            </a:lvl4pPr>
            <a:lvl5pPr marL="1828800" algn="l" defTabSz="914400" rtl="0" eaLnBrk="1" latinLnBrk="0" hangingPunct="1">
              <a:defRPr sz="1800" kern="1200">
                <a:solidFill>
                  <a:sysClr val="window" lastClr="FFFFFF"/>
                </a:solidFill>
                <a:latin typeface="Open Sans"/>
              </a:defRPr>
            </a:lvl5pPr>
            <a:lvl6pPr marL="2286000" algn="l" defTabSz="914400" rtl="0" eaLnBrk="1" latinLnBrk="0" hangingPunct="1">
              <a:defRPr sz="1800" kern="1200">
                <a:solidFill>
                  <a:sysClr val="window" lastClr="FFFFFF"/>
                </a:solidFill>
                <a:latin typeface="Open Sans"/>
              </a:defRPr>
            </a:lvl6pPr>
            <a:lvl7pPr marL="2743200" algn="l" defTabSz="914400" rtl="0" eaLnBrk="1" latinLnBrk="0" hangingPunct="1">
              <a:defRPr sz="1800" kern="1200">
                <a:solidFill>
                  <a:sysClr val="window" lastClr="FFFFFF"/>
                </a:solidFill>
                <a:latin typeface="Open Sans"/>
              </a:defRPr>
            </a:lvl7pPr>
            <a:lvl8pPr marL="3200400" algn="l" defTabSz="914400" rtl="0" eaLnBrk="1" latinLnBrk="0" hangingPunct="1">
              <a:defRPr sz="1800" kern="1200">
                <a:solidFill>
                  <a:sysClr val="window" lastClr="FFFFFF"/>
                </a:solidFill>
                <a:latin typeface="Open Sans"/>
              </a:defRPr>
            </a:lvl8pPr>
            <a:lvl9pPr marL="3657600" algn="l" defTabSz="914400" rtl="0" eaLnBrk="1" latinLnBrk="0" hangingPunct="1">
              <a:defRPr sz="1800" kern="1200">
                <a:solidFill>
                  <a:sysClr val="window" lastClr="FFFFFF"/>
                </a:solidFill>
                <a:latin typeface="Open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Raleway SemiBold" pitchFamily="2" charset="77"/>
                <a:ea typeface="+mn-ea"/>
                <a:cs typeface="+mn-cs"/>
              </a:rPr>
              <a:t>1</a:t>
            </a:r>
            <a:endParaRPr kumimoji="0" lang="nl-NL" sz="1100" b="1" i="0" u="none" strike="noStrike" kern="1200" cap="none" spc="0" normalizeH="0" baseline="0" noProof="0">
              <a:ln>
                <a:noFill/>
              </a:ln>
              <a:solidFill>
                <a:prstClr val="white"/>
              </a:solidFill>
              <a:effectLst/>
              <a:uLnTx/>
              <a:uFillTx/>
              <a:latin typeface="Raleway SemiBold" pitchFamily="2" charset="77"/>
              <a:ea typeface="+mn-ea"/>
              <a:cs typeface="+mn-cs"/>
            </a:endParaRPr>
          </a:p>
        </p:txBody>
      </p:sp>
      <p:sp>
        <p:nvSpPr>
          <p:cNvPr id="35" name="Afgeronde rechthoek 9">
            <a:extLst>
              <a:ext uri="{FF2B5EF4-FFF2-40B4-BE49-F238E27FC236}">
                <a16:creationId xmlns:a16="http://schemas.microsoft.com/office/drawing/2014/main" id="{2E82B75E-263F-F1C7-407E-DDE5D8587D2E}"/>
              </a:ext>
            </a:extLst>
          </p:cNvPr>
          <p:cNvSpPr>
            <a:spLocks noChangeAspect="1"/>
          </p:cNvSpPr>
          <p:nvPr/>
        </p:nvSpPr>
        <p:spPr>
          <a:xfrm>
            <a:off x="3705659" y="1756499"/>
            <a:ext cx="272477" cy="288000"/>
          </a:xfrm>
          <a:prstGeom prst="roundRect">
            <a:avLst>
              <a:gd name="adj" fmla="val 50000"/>
            </a:avLst>
          </a:prstGeom>
          <a:no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lvl="0">
              <a:defRPr lang="en-US"/>
            </a:defPPr>
            <a:lvl1pPr marL="0" lvl="1" algn="l" defTabSz="914400" rtl="0" eaLnBrk="1" latinLnBrk="0" hangingPunct="1">
              <a:defRPr sz="1800" kern="1200">
                <a:solidFill>
                  <a:sysClr val="window" lastClr="FFFFFF"/>
                </a:solidFill>
                <a:latin typeface="Open Sans"/>
              </a:defRPr>
            </a:lvl1pPr>
            <a:lvl2pPr marL="457200" lvl="2" algn="l" defTabSz="914400" rtl="0" eaLnBrk="1" latinLnBrk="0" hangingPunct="1">
              <a:defRPr sz="1800" kern="1200">
                <a:solidFill>
                  <a:sysClr val="window" lastClr="FFFFFF"/>
                </a:solidFill>
                <a:latin typeface="Open Sans"/>
              </a:defRPr>
            </a:lvl2pPr>
            <a:lvl3pPr marL="914400" lvl="3" algn="l" defTabSz="914400" rtl="0" eaLnBrk="1" latinLnBrk="0" hangingPunct="1">
              <a:defRPr sz="1800" kern="1200">
                <a:solidFill>
                  <a:sysClr val="window" lastClr="FFFFFF"/>
                </a:solidFill>
                <a:latin typeface="Open Sans"/>
              </a:defRPr>
            </a:lvl3pPr>
            <a:lvl4pPr marL="1371600" lvl="4" algn="l" defTabSz="914400" rtl="0" eaLnBrk="1" latinLnBrk="0" hangingPunct="1">
              <a:defRPr sz="1800" kern="1200">
                <a:solidFill>
                  <a:sysClr val="window" lastClr="FFFFFF"/>
                </a:solidFill>
                <a:latin typeface="Open Sans"/>
              </a:defRPr>
            </a:lvl4pPr>
            <a:lvl5pPr marL="1828800" algn="l" defTabSz="914400" rtl="0" eaLnBrk="1" latinLnBrk="0" hangingPunct="1">
              <a:defRPr sz="1800" kern="1200">
                <a:solidFill>
                  <a:sysClr val="window" lastClr="FFFFFF"/>
                </a:solidFill>
                <a:latin typeface="Open Sans"/>
              </a:defRPr>
            </a:lvl5pPr>
            <a:lvl6pPr marL="2286000" algn="l" defTabSz="914400" rtl="0" eaLnBrk="1" latinLnBrk="0" hangingPunct="1">
              <a:defRPr sz="1800" kern="1200">
                <a:solidFill>
                  <a:sysClr val="window" lastClr="FFFFFF"/>
                </a:solidFill>
                <a:latin typeface="Open Sans"/>
              </a:defRPr>
            </a:lvl6pPr>
            <a:lvl7pPr marL="2743200" algn="l" defTabSz="914400" rtl="0" eaLnBrk="1" latinLnBrk="0" hangingPunct="1">
              <a:defRPr sz="1800" kern="1200">
                <a:solidFill>
                  <a:sysClr val="window" lastClr="FFFFFF"/>
                </a:solidFill>
                <a:latin typeface="Open Sans"/>
              </a:defRPr>
            </a:lvl7pPr>
            <a:lvl8pPr marL="3200400" algn="l" defTabSz="914400" rtl="0" eaLnBrk="1" latinLnBrk="0" hangingPunct="1">
              <a:defRPr sz="1800" kern="1200">
                <a:solidFill>
                  <a:sysClr val="window" lastClr="FFFFFF"/>
                </a:solidFill>
                <a:latin typeface="Open Sans"/>
              </a:defRPr>
            </a:lvl8pPr>
            <a:lvl9pPr marL="3657600" algn="l" defTabSz="914400" rtl="0" eaLnBrk="1" latinLnBrk="0" hangingPunct="1">
              <a:defRPr sz="1800" kern="1200">
                <a:solidFill>
                  <a:sysClr val="window" lastClr="FFFFFF"/>
                </a:solidFill>
                <a:latin typeface="Open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Raleway SemiBold" pitchFamily="2" charset="77"/>
                <a:ea typeface="+mn-ea"/>
                <a:cs typeface="+mn-cs"/>
              </a:rPr>
              <a:t>2</a:t>
            </a:r>
            <a:endParaRPr kumimoji="0" lang="nl-NL" sz="1100" b="1" i="0" u="none" strike="noStrike" kern="1200" cap="none" spc="0" normalizeH="0" baseline="0" noProof="0" dirty="0">
              <a:ln>
                <a:noFill/>
              </a:ln>
              <a:solidFill>
                <a:prstClr val="white"/>
              </a:solidFill>
              <a:effectLst/>
              <a:uLnTx/>
              <a:uFillTx/>
              <a:latin typeface="Raleway SemiBold" pitchFamily="2" charset="77"/>
              <a:ea typeface="+mn-ea"/>
              <a:cs typeface="+mn-cs"/>
            </a:endParaRPr>
          </a:p>
        </p:txBody>
      </p:sp>
      <p:sp>
        <p:nvSpPr>
          <p:cNvPr id="36" name="Afgeronde rechthoek 9">
            <a:extLst>
              <a:ext uri="{FF2B5EF4-FFF2-40B4-BE49-F238E27FC236}">
                <a16:creationId xmlns:a16="http://schemas.microsoft.com/office/drawing/2014/main" id="{DBA24286-7E8E-F7C5-0ECB-D45285448208}"/>
              </a:ext>
            </a:extLst>
          </p:cNvPr>
          <p:cNvSpPr>
            <a:spLocks noChangeAspect="1"/>
          </p:cNvSpPr>
          <p:nvPr/>
        </p:nvSpPr>
        <p:spPr>
          <a:xfrm>
            <a:off x="6016749" y="1756499"/>
            <a:ext cx="272477" cy="288000"/>
          </a:xfrm>
          <a:prstGeom prst="roundRect">
            <a:avLst>
              <a:gd name="adj" fmla="val 50000"/>
            </a:avLst>
          </a:prstGeom>
          <a:no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lvl="0">
              <a:defRPr lang="en-US"/>
            </a:defPPr>
            <a:lvl1pPr marL="0" lvl="1" algn="l" defTabSz="914400" rtl="0" eaLnBrk="1" latinLnBrk="0" hangingPunct="1">
              <a:defRPr sz="1800" kern="1200">
                <a:solidFill>
                  <a:sysClr val="window" lastClr="FFFFFF"/>
                </a:solidFill>
                <a:latin typeface="Open Sans"/>
              </a:defRPr>
            </a:lvl1pPr>
            <a:lvl2pPr marL="457200" lvl="2" algn="l" defTabSz="914400" rtl="0" eaLnBrk="1" latinLnBrk="0" hangingPunct="1">
              <a:defRPr sz="1800" kern="1200">
                <a:solidFill>
                  <a:sysClr val="window" lastClr="FFFFFF"/>
                </a:solidFill>
                <a:latin typeface="Open Sans"/>
              </a:defRPr>
            </a:lvl2pPr>
            <a:lvl3pPr marL="914400" lvl="3" algn="l" defTabSz="914400" rtl="0" eaLnBrk="1" latinLnBrk="0" hangingPunct="1">
              <a:defRPr sz="1800" kern="1200">
                <a:solidFill>
                  <a:sysClr val="window" lastClr="FFFFFF"/>
                </a:solidFill>
                <a:latin typeface="Open Sans"/>
              </a:defRPr>
            </a:lvl3pPr>
            <a:lvl4pPr marL="1371600" lvl="4" algn="l" defTabSz="914400" rtl="0" eaLnBrk="1" latinLnBrk="0" hangingPunct="1">
              <a:defRPr sz="1800" kern="1200">
                <a:solidFill>
                  <a:sysClr val="window" lastClr="FFFFFF"/>
                </a:solidFill>
                <a:latin typeface="Open Sans"/>
              </a:defRPr>
            </a:lvl4pPr>
            <a:lvl5pPr marL="1828800" algn="l" defTabSz="914400" rtl="0" eaLnBrk="1" latinLnBrk="0" hangingPunct="1">
              <a:defRPr sz="1800" kern="1200">
                <a:solidFill>
                  <a:sysClr val="window" lastClr="FFFFFF"/>
                </a:solidFill>
                <a:latin typeface="Open Sans"/>
              </a:defRPr>
            </a:lvl5pPr>
            <a:lvl6pPr marL="2286000" algn="l" defTabSz="914400" rtl="0" eaLnBrk="1" latinLnBrk="0" hangingPunct="1">
              <a:defRPr sz="1800" kern="1200">
                <a:solidFill>
                  <a:sysClr val="window" lastClr="FFFFFF"/>
                </a:solidFill>
                <a:latin typeface="Open Sans"/>
              </a:defRPr>
            </a:lvl6pPr>
            <a:lvl7pPr marL="2743200" algn="l" defTabSz="914400" rtl="0" eaLnBrk="1" latinLnBrk="0" hangingPunct="1">
              <a:defRPr sz="1800" kern="1200">
                <a:solidFill>
                  <a:sysClr val="window" lastClr="FFFFFF"/>
                </a:solidFill>
                <a:latin typeface="Open Sans"/>
              </a:defRPr>
            </a:lvl7pPr>
            <a:lvl8pPr marL="3200400" algn="l" defTabSz="914400" rtl="0" eaLnBrk="1" latinLnBrk="0" hangingPunct="1">
              <a:defRPr sz="1800" kern="1200">
                <a:solidFill>
                  <a:sysClr val="window" lastClr="FFFFFF"/>
                </a:solidFill>
                <a:latin typeface="Open Sans"/>
              </a:defRPr>
            </a:lvl8pPr>
            <a:lvl9pPr marL="3657600" algn="l" defTabSz="914400" rtl="0" eaLnBrk="1" latinLnBrk="0" hangingPunct="1">
              <a:defRPr sz="1800" kern="1200">
                <a:solidFill>
                  <a:sysClr val="window" lastClr="FFFFFF"/>
                </a:solidFill>
                <a:latin typeface="Open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Raleway SemiBold" pitchFamily="2" charset="77"/>
                <a:ea typeface="+mn-ea"/>
                <a:cs typeface="+mn-cs"/>
              </a:rPr>
              <a:t>3</a:t>
            </a:r>
            <a:endParaRPr kumimoji="0" lang="nl-NL" sz="1100" b="1" i="0" u="none" strike="noStrike" kern="1200" cap="none" spc="0" normalizeH="0" baseline="0" noProof="0" dirty="0">
              <a:ln>
                <a:noFill/>
              </a:ln>
              <a:solidFill>
                <a:prstClr val="white"/>
              </a:solidFill>
              <a:effectLst/>
              <a:uLnTx/>
              <a:uFillTx/>
              <a:latin typeface="Raleway SemiBold" pitchFamily="2" charset="77"/>
              <a:ea typeface="+mn-ea"/>
              <a:cs typeface="+mn-cs"/>
            </a:endParaRPr>
          </a:p>
        </p:txBody>
      </p:sp>
      <p:sp>
        <p:nvSpPr>
          <p:cNvPr id="37" name="Afgeronde rechthoek 9">
            <a:extLst>
              <a:ext uri="{FF2B5EF4-FFF2-40B4-BE49-F238E27FC236}">
                <a16:creationId xmlns:a16="http://schemas.microsoft.com/office/drawing/2014/main" id="{C4296C28-B511-3745-7A32-F0CE265A1175}"/>
              </a:ext>
            </a:extLst>
          </p:cNvPr>
          <p:cNvSpPr>
            <a:spLocks noChangeAspect="1"/>
          </p:cNvSpPr>
          <p:nvPr/>
        </p:nvSpPr>
        <p:spPr>
          <a:xfrm>
            <a:off x="8145827" y="1756499"/>
            <a:ext cx="272477" cy="288000"/>
          </a:xfrm>
          <a:prstGeom prst="roundRect">
            <a:avLst>
              <a:gd name="adj" fmla="val 50000"/>
            </a:avLst>
          </a:prstGeom>
          <a:noFill/>
          <a:ln w="19050" cap="flat" cmpd="sng" algn="ctr">
            <a:solidFill>
              <a:srgbClr val="FFFFFF"/>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lvl="0">
              <a:defRPr lang="en-US"/>
            </a:defPPr>
            <a:lvl1pPr marL="0" lvl="1" algn="l" defTabSz="914400" rtl="0" eaLnBrk="1" latinLnBrk="0" hangingPunct="1">
              <a:defRPr sz="1800" kern="1200">
                <a:solidFill>
                  <a:sysClr val="window" lastClr="FFFFFF"/>
                </a:solidFill>
                <a:latin typeface="Open Sans"/>
              </a:defRPr>
            </a:lvl1pPr>
            <a:lvl2pPr marL="457200" lvl="2" algn="l" defTabSz="914400" rtl="0" eaLnBrk="1" latinLnBrk="0" hangingPunct="1">
              <a:defRPr sz="1800" kern="1200">
                <a:solidFill>
                  <a:sysClr val="window" lastClr="FFFFFF"/>
                </a:solidFill>
                <a:latin typeface="Open Sans"/>
              </a:defRPr>
            </a:lvl2pPr>
            <a:lvl3pPr marL="914400" lvl="3" algn="l" defTabSz="914400" rtl="0" eaLnBrk="1" latinLnBrk="0" hangingPunct="1">
              <a:defRPr sz="1800" kern="1200">
                <a:solidFill>
                  <a:sysClr val="window" lastClr="FFFFFF"/>
                </a:solidFill>
                <a:latin typeface="Open Sans"/>
              </a:defRPr>
            </a:lvl3pPr>
            <a:lvl4pPr marL="1371600" lvl="4" algn="l" defTabSz="914400" rtl="0" eaLnBrk="1" latinLnBrk="0" hangingPunct="1">
              <a:defRPr sz="1800" kern="1200">
                <a:solidFill>
                  <a:sysClr val="window" lastClr="FFFFFF"/>
                </a:solidFill>
                <a:latin typeface="Open Sans"/>
              </a:defRPr>
            </a:lvl4pPr>
            <a:lvl5pPr marL="1828800" algn="l" defTabSz="914400" rtl="0" eaLnBrk="1" latinLnBrk="0" hangingPunct="1">
              <a:defRPr sz="1800" kern="1200">
                <a:solidFill>
                  <a:sysClr val="window" lastClr="FFFFFF"/>
                </a:solidFill>
                <a:latin typeface="Open Sans"/>
              </a:defRPr>
            </a:lvl5pPr>
            <a:lvl6pPr marL="2286000" algn="l" defTabSz="914400" rtl="0" eaLnBrk="1" latinLnBrk="0" hangingPunct="1">
              <a:defRPr sz="1800" kern="1200">
                <a:solidFill>
                  <a:sysClr val="window" lastClr="FFFFFF"/>
                </a:solidFill>
                <a:latin typeface="Open Sans"/>
              </a:defRPr>
            </a:lvl6pPr>
            <a:lvl7pPr marL="2743200" algn="l" defTabSz="914400" rtl="0" eaLnBrk="1" latinLnBrk="0" hangingPunct="1">
              <a:defRPr sz="1800" kern="1200">
                <a:solidFill>
                  <a:sysClr val="window" lastClr="FFFFFF"/>
                </a:solidFill>
                <a:latin typeface="Open Sans"/>
              </a:defRPr>
            </a:lvl7pPr>
            <a:lvl8pPr marL="3200400" algn="l" defTabSz="914400" rtl="0" eaLnBrk="1" latinLnBrk="0" hangingPunct="1">
              <a:defRPr sz="1800" kern="1200">
                <a:solidFill>
                  <a:sysClr val="window" lastClr="FFFFFF"/>
                </a:solidFill>
                <a:latin typeface="Open Sans"/>
              </a:defRPr>
            </a:lvl8pPr>
            <a:lvl9pPr marL="3657600" algn="l" defTabSz="914400" rtl="0" eaLnBrk="1" latinLnBrk="0" hangingPunct="1">
              <a:defRPr sz="1800" kern="1200">
                <a:solidFill>
                  <a:sysClr val="window" lastClr="FFFFFF"/>
                </a:solidFill>
                <a:latin typeface="Open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Raleway SemiBold" pitchFamily="2" charset="77"/>
                <a:ea typeface="+mn-ea"/>
                <a:cs typeface="+mn-cs"/>
              </a:rPr>
              <a:t>4</a:t>
            </a:r>
            <a:endParaRPr kumimoji="0" lang="nl-NL" sz="1100" b="1" i="0" u="none" strike="noStrike" kern="1200" cap="none" spc="0" normalizeH="0" baseline="0" noProof="0">
              <a:ln>
                <a:noFill/>
              </a:ln>
              <a:solidFill>
                <a:prstClr val="white"/>
              </a:solidFill>
              <a:effectLst/>
              <a:uLnTx/>
              <a:uFillTx/>
              <a:latin typeface="Raleway SemiBold" pitchFamily="2" charset="77"/>
              <a:ea typeface="+mn-ea"/>
              <a:cs typeface="+mn-cs"/>
            </a:endParaRPr>
          </a:p>
        </p:txBody>
      </p:sp>
      <p:sp>
        <p:nvSpPr>
          <p:cNvPr id="38" name="Tekstvak 37">
            <a:extLst>
              <a:ext uri="{FF2B5EF4-FFF2-40B4-BE49-F238E27FC236}">
                <a16:creationId xmlns:a16="http://schemas.microsoft.com/office/drawing/2014/main" id="{0AEE5206-FED8-9B50-7375-AFE1C09D532B}"/>
              </a:ext>
            </a:extLst>
          </p:cNvPr>
          <p:cNvSpPr txBox="1"/>
          <p:nvPr/>
        </p:nvSpPr>
        <p:spPr>
          <a:xfrm>
            <a:off x="2558409" y="2084214"/>
            <a:ext cx="2523670" cy="76944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prstClr val="white"/>
                </a:solidFill>
                <a:effectLst/>
                <a:uLnTx/>
                <a:uFillTx/>
                <a:latin typeface="Open Sans"/>
                <a:ea typeface="+mn-ea"/>
                <a:cs typeface="+mn-cs"/>
              </a:rPr>
              <a:t>… into the Global Water Investment Facility that manages the deployment of the investments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0" i="0" u="none" strike="noStrike" kern="1200" cap="none" spc="0" normalizeH="0" baseline="0" noProof="0" dirty="0">
              <a:ln>
                <a:noFill/>
              </a:ln>
              <a:solidFill>
                <a:prstClr val="white"/>
              </a:solidFill>
              <a:effectLst/>
              <a:uLnTx/>
              <a:uFillTx/>
              <a:latin typeface="Open Sans"/>
              <a:ea typeface="+mn-ea"/>
              <a:cs typeface="+mn-cs"/>
            </a:endParaRPr>
          </a:p>
        </p:txBody>
      </p:sp>
      <p:sp>
        <p:nvSpPr>
          <p:cNvPr id="39" name="Tekstvak 38">
            <a:extLst>
              <a:ext uri="{FF2B5EF4-FFF2-40B4-BE49-F238E27FC236}">
                <a16:creationId xmlns:a16="http://schemas.microsoft.com/office/drawing/2014/main" id="{AF8AA69B-CDB4-9D7F-AA99-7070353759B7}"/>
              </a:ext>
            </a:extLst>
          </p:cNvPr>
          <p:cNvSpPr txBox="1"/>
          <p:nvPr/>
        </p:nvSpPr>
        <p:spPr>
          <a:xfrm>
            <a:off x="5256037" y="2084214"/>
            <a:ext cx="1804690" cy="60016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prstClr val="white"/>
                </a:solidFill>
                <a:effectLst/>
                <a:uLnTx/>
                <a:uFillTx/>
                <a:latin typeface="Open Sans"/>
                <a:ea typeface="+mn-ea"/>
                <a:cs typeface="+mn-cs"/>
              </a:rPr>
              <a:t>… into pre-screened funds that are aligned with the WRC mission …</a:t>
            </a:r>
          </a:p>
        </p:txBody>
      </p:sp>
      <p:sp>
        <p:nvSpPr>
          <p:cNvPr id="40" name="Tekstvak 39">
            <a:extLst>
              <a:ext uri="{FF2B5EF4-FFF2-40B4-BE49-F238E27FC236}">
                <a16:creationId xmlns:a16="http://schemas.microsoft.com/office/drawing/2014/main" id="{0FEC1329-2266-E4D8-F37C-4101CD7E654E}"/>
              </a:ext>
            </a:extLst>
          </p:cNvPr>
          <p:cNvSpPr txBox="1"/>
          <p:nvPr/>
        </p:nvSpPr>
        <p:spPr>
          <a:xfrm>
            <a:off x="7055383" y="2084214"/>
            <a:ext cx="2565316" cy="93871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prstClr val="white"/>
                </a:solidFill>
                <a:effectLst/>
                <a:uLnTx/>
                <a:uFillTx/>
                <a:latin typeface="Open Sans"/>
                <a:ea typeface="+mn-ea"/>
                <a:cs typeface="+mn-cs"/>
              </a:rPr>
              <a:t>… supporting private sector projects focus on water infrastructure, natural capital, financial institutions (WASH portfolios), enterprises and ventures.</a:t>
            </a:r>
          </a:p>
        </p:txBody>
      </p:sp>
      <p:grpSp>
        <p:nvGrpSpPr>
          <p:cNvPr id="41" name="Groep 40">
            <a:extLst>
              <a:ext uri="{FF2B5EF4-FFF2-40B4-BE49-F238E27FC236}">
                <a16:creationId xmlns:a16="http://schemas.microsoft.com/office/drawing/2014/main" id="{B854E1E8-D05B-A48A-F960-1626409C9D43}"/>
              </a:ext>
            </a:extLst>
          </p:cNvPr>
          <p:cNvGrpSpPr/>
          <p:nvPr/>
        </p:nvGrpSpPr>
        <p:grpSpPr>
          <a:xfrm>
            <a:off x="5619320" y="4440530"/>
            <a:ext cx="993032" cy="210479"/>
            <a:chOff x="3933577" y="4813224"/>
            <a:chExt cx="1279451" cy="271188"/>
          </a:xfrm>
        </p:grpSpPr>
        <p:sp>
          <p:nvSpPr>
            <p:cNvPr id="42" name="Afgeronde rechthoek 9">
              <a:extLst>
                <a:ext uri="{FF2B5EF4-FFF2-40B4-BE49-F238E27FC236}">
                  <a16:creationId xmlns:a16="http://schemas.microsoft.com/office/drawing/2014/main" id="{6699047F-4E8C-43A6-1DCC-7D8985413087}"/>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2</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43" name="Afbeelding 42" descr="Afbeelding met zwart, duisternis&#10;&#10;Automatisch gegenereerde beschrijving">
              <a:extLst>
                <a:ext uri="{FF2B5EF4-FFF2-40B4-BE49-F238E27FC236}">
                  <a16:creationId xmlns:a16="http://schemas.microsoft.com/office/drawing/2014/main" id="{50FA4A2C-1000-AF45-AF66-62AB893C26AA}"/>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44" name="Afbeelding 43">
            <a:extLst>
              <a:ext uri="{FF2B5EF4-FFF2-40B4-BE49-F238E27FC236}">
                <a16:creationId xmlns:a16="http://schemas.microsoft.com/office/drawing/2014/main" id="{FDEBCCA3-7E03-2BC1-196A-65424828CA36}"/>
              </a:ext>
            </a:extLst>
          </p:cNvPr>
          <p:cNvPicPr>
            <a:picLocks noChangeAspect="1"/>
          </p:cNvPicPr>
          <p:nvPr/>
        </p:nvPicPr>
        <p:blipFill>
          <a:blip r:embed="rId5"/>
          <a:stretch>
            <a:fillRect/>
          </a:stretch>
        </p:blipFill>
        <p:spPr>
          <a:xfrm>
            <a:off x="5920002" y="4365571"/>
            <a:ext cx="394278" cy="354850"/>
          </a:xfrm>
          <a:prstGeom prst="rect">
            <a:avLst/>
          </a:prstGeom>
        </p:spPr>
      </p:pic>
      <p:grpSp>
        <p:nvGrpSpPr>
          <p:cNvPr id="45" name="Groep 44">
            <a:extLst>
              <a:ext uri="{FF2B5EF4-FFF2-40B4-BE49-F238E27FC236}">
                <a16:creationId xmlns:a16="http://schemas.microsoft.com/office/drawing/2014/main" id="{89CE1873-C037-0EFA-EC6D-319E629C5E05}"/>
              </a:ext>
            </a:extLst>
          </p:cNvPr>
          <p:cNvGrpSpPr/>
          <p:nvPr/>
        </p:nvGrpSpPr>
        <p:grpSpPr>
          <a:xfrm>
            <a:off x="5619320" y="4972158"/>
            <a:ext cx="993032" cy="210479"/>
            <a:chOff x="3933577" y="4813224"/>
            <a:chExt cx="1279451" cy="271188"/>
          </a:xfrm>
        </p:grpSpPr>
        <p:sp>
          <p:nvSpPr>
            <p:cNvPr id="46" name="Afgeronde rechthoek 9">
              <a:extLst>
                <a:ext uri="{FF2B5EF4-FFF2-40B4-BE49-F238E27FC236}">
                  <a16:creationId xmlns:a16="http://schemas.microsoft.com/office/drawing/2014/main" id="{AD41234B-CCF5-13AA-4620-4A7B38B6344C}"/>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3</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47" name="Afbeelding 46" descr="Afbeelding met zwart, duisternis&#10;&#10;Automatisch gegenereerde beschrijving">
              <a:extLst>
                <a:ext uri="{FF2B5EF4-FFF2-40B4-BE49-F238E27FC236}">
                  <a16:creationId xmlns:a16="http://schemas.microsoft.com/office/drawing/2014/main" id="{A66B4385-25D6-08D1-DE41-1C453F9C03C4}"/>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48" name="Afbeelding 47">
            <a:extLst>
              <a:ext uri="{FF2B5EF4-FFF2-40B4-BE49-F238E27FC236}">
                <a16:creationId xmlns:a16="http://schemas.microsoft.com/office/drawing/2014/main" id="{828627B6-8597-306A-D06A-D6B396FEC4EB}"/>
              </a:ext>
            </a:extLst>
          </p:cNvPr>
          <p:cNvPicPr>
            <a:picLocks noChangeAspect="1"/>
          </p:cNvPicPr>
          <p:nvPr/>
        </p:nvPicPr>
        <p:blipFill>
          <a:blip r:embed="rId5"/>
          <a:stretch>
            <a:fillRect/>
          </a:stretch>
        </p:blipFill>
        <p:spPr>
          <a:xfrm>
            <a:off x="5920002" y="4897199"/>
            <a:ext cx="394278" cy="354850"/>
          </a:xfrm>
          <a:prstGeom prst="rect">
            <a:avLst/>
          </a:prstGeom>
        </p:spPr>
      </p:pic>
      <p:grpSp>
        <p:nvGrpSpPr>
          <p:cNvPr id="49" name="Groep 48">
            <a:extLst>
              <a:ext uri="{FF2B5EF4-FFF2-40B4-BE49-F238E27FC236}">
                <a16:creationId xmlns:a16="http://schemas.microsoft.com/office/drawing/2014/main" id="{9841F7DD-DE1F-8375-7037-16B9F23D310B}"/>
              </a:ext>
            </a:extLst>
          </p:cNvPr>
          <p:cNvGrpSpPr/>
          <p:nvPr/>
        </p:nvGrpSpPr>
        <p:grpSpPr>
          <a:xfrm>
            <a:off x="5619320" y="5461256"/>
            <a:ext cx="993032" cy="210479"/>
            <a:chOff x="3933577" y="4813224"/>
            <a:chExt cx="1279451" cy="271188"/>
          </a:xfrm>
        </p:grpSpPr>
        <p:sp>
          <p:nvSpPr>
            <p:cNvPr id="50" name="Afgeronde rechthoek 9">
              <a:extLst>
                <a:ext uri="{FF2B5EF4-FFF2-40B4-BE49-F238E27FC236}">
                  <a16:creationId xmlns:a16="http://schemas.microsoft.com/office/drawing/2014/main" id="{0DC1CF45-40B3-5FF2-5D7C-2E84B5544620}"/>
                </a:ext>
              </a:extLst>
            </p:cNvPr>
            <p:cNvSpPr/>
            <p:nvPr/>
          </p:nvSpPr>
          <p:spPr>
            <a:xfrm>
              <a:off x="3933577" y="4828429"/>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4</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pic>
          <p:nvPicPr>
            <p:cNvPr id="51" name="Afbeelding 50" descr="Afbeelding met zwart, duisternis&#10;&#10;Automatisch gegenereerde beschrijving">
              <a:extLst>
                <a:ext uri="{FF2B5EF4-FFF2-40B4-BE49-F238E27FC236}">
                  <a16:creationId xmlns:a16="http://schemas.microsoft.com/office/drawing/2014/main" id="{ACCF2C1E-B503-D9AA-BCFE-6328532B7F6C}"/>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941840" y="4813224"/>
              <a:ext cx="271188" cy="271188"/>
            </a:xfrm>
            <a:prstGeom prst="rect">
              <a:avLst/>
            </a:prstGeom>
          </p:spPr>
        </p:pic>
      </p:grpSp>
      <p:pic>
        <p:nvPicPr>
          <p:cNvPr id="52" name="Afbeelding 51">
            <a:extLst>
              <a:ext uri="{FF2B5EF4-FFF2-40B4-BE49-F238E27FC236}">
                <a16:creationId xmlns:a16="http://schemas.microsoft.com/office/drawing/2014/main" id="{36B51A0F-3A8E-03F1-1F44-6AC05F099C09}"/>
              </a:ext>
            </a:extLst>
          </p:cNvPr>
          <p:cNvPicPr>
            <a:picLocks noChangeAspect="1"/>
          </p:cNvPicPr>
          <p:nvPr/>
        </p:nvPicPr>
        <p:blipFill>
          <a:blip r:embed="rId5"/>
          <a:stretch>
            <a:fillRect/>
          </a:stretch>
        </p:blipFill>
        <p:spPr>
          <a:xfrm>
            <a:off x="5920002" y="5386297"/>
            <a:ext cx="394278" cy="354850"/>
          </a:xfrm>
          <a:prstGeom prst="rect">
            <a:avLst/>
          </a:prstGeom>
        </p:spPr>
      </p:pic>
      <p:grpSp>
        <p:nvGrpSpPr>
          <p:cNvPr id="53" name="Groep 52">
            <a:extLst>
              <a:ext uri="{FF2B5EF4-FFF2-40B4-BE49-F238E27FC236}">
                <a16:creationId xmlns:a16="http://schemas.microsoft.com/office/drawing/2014/main" id="{A0E8DE50-5981-3118-7DD7-27E4FCB84749}"/>
              </a:ext>
            </a:extLst>
          </p:cNvPr>
          <p:cNvGrpSpPr/>
          <p:nvPr/>
        </p:nvGrpSpPr>
        <p:grpSpPr>
          <a:xfrm>
            <a:off x="975536" y="4388536"/>
            <a:ext cx="1047229" cy="219268"/>
            <a:chOff x="9938447" y="2728692"/>
            <a:chExt cx="1222577" cy="255982"/>
          </a:xfrm>
        </p:grpSpPr>
        <p:pic>
          <p:nvPicPr>
            <p:cNvPr id="54" name="Afbeelding 53">
              <a:extLst>
                <a:ext uri="{FF2B5EF4-FFF2-40B4-BE49-F238E27FC236}">
                  <a16:creationId xmlns:a16="http://schemas.microsoft.com/office/drawing/2014/main" id="{75AF4991-791D-BA69-ADC2-1C5BB6EC7BC9}"/>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55" name="Afgeronde rechthoek 9">
              <a:extLst>
                <a:ext uri="{FF2B5EF4-FFF2-40B4-BE49-F238E27FC236}">
                  <a16:creationId xmlns:a16="http://schemas.microsoft.com/office/drawing/2014/main" id="{378B9FED-FC39-22EC-BBD7-19434E41E684}"/>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2</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56" name="Afbeelding 55">
            <a:extLst>
              <a:ext uri="{FF2B5EF4-FFF2-40B4-BE49-F238E27FC236}">
                <a16:creationId xmlns:a16="http://schemas.microsoft.com/office/drawing/2014/main" id="{82E8C4D4-1C34-9214-86E5-4039D3878EAF}"/>
              </a:ext>
            </a:extLst>
          </p:cNvPr>
          <p:cNvPicPr>
            <a:picLocks noChangeAspect="1"/>
          </p:cNvPicPr>
          <p:nvPr/>
        </p:nvPicPr>
        <p:blipFill>
          <a:blip r:embed="rId11"/>
          <a:stretch>
            <a:fillRect/>
          </a:stretch>
        </p:blipFill>
        <p:spPr>
          <a:xfrm>
            <a:off x="1208272" y="4278040"/>
            <a:ext cx="554655" cy="460647"/>
          </a:xfrm>
          <a:prstGeom prst="rect">
            <a:avLst/>
          </a:prstGeom>
        </p:spPr>
      </p:pic>
      <p:grpSp>
        <p:nvGrpSpPr>
          <p:cNvPr id="57" name="Groep 56">
            <a:extLst>
              <a:ext uri="{FF2B5EF4-FFF2-40B4-BE49-F238E27FC236}">
                <a16:creationId xmlns:a16="http://schemas.microsoft.com/office/drawing/2014/main" id="{BECE2173-7482-CC5A-1C30-4546D4B08B1F}"/>
              </a:ext>
            </a:extLst>
          </p:cNvPr>
          <p:cNvGrpSpPr/>
          <p:nvPr/>
        </p:nvGrpSpPr>
        <p:grpSpPr>
          <a:xfrm>
            <a:off x="975536" y="4898899"/>
            <a:ext cx="1047229" cy="219268"/>
            <a:chOff x="9938447" y="2728692"/>
            <a:chExt cx="1222577" cy="255982"/>
          </a:xfrm>
        </p:grpSpPr>
        <p:pic>
          <p:nvPicPr>
            <p:cNvPr id="58" name="Afbeelding 57">
              <a:extLst>
                <a:ext uri="{FF2B5EF4-FFF2-40B4-BE49-F238E27FC236}">
                  <a16:creationId xmlns:a16="http://schemas.microsoft.com/office/drawing/2014/main" id="{14533A2A-7F79-223F-4BF2-CCF387F026FF}"/>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66" name="Afgeronde rechthoek 9">
              <a:extLst>
                <a:ext uri="{FF2B5EF4-FFF2-40B4-BE49-F238E27FC236}">
                  <a16:creationId xmlns:a16="http://schemas.microsoft.com/office/drawing/2014/main" id="{04EDBAA2-64AB-6513-CB4C-9153B6DC7C2E}"/>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3</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70" name="Afbeelding 69">
            <a:extLst>
              <a:ext uri="{FF2B5EF4-FFF2-40B4-BE49-F238E27FC236}">
                <a16:creationId xmlns:a16="http://schemas.microsoft.com/office/drawing/2014/main" id="{758E8F32-702C-D00B-140B-7400DC647C56}"/>
              </a:ext>
            </a:extLst>
          </p:cNvPr>
          <p:cNvPicPr>
            <a:picLocks noChangeAspect="1"/>
          </p:cNvPicPr>
          <p:nvPr/>
        </p:nvPicPr>
        <p:blipFill>
          <a:blip r:embed="rId11"/>
          <a:stretch>
            <a:fillRect/>
          </a:stretch>
        </p:blipFill>
        <p:spPr>
          <a:xfrm>
            <a:off x="1208272" y="4788403"/>
            <a:ext cx="554655" cy="460647"/>
          </a:xfrm>
          <a:prstGeom prst="rect">
            <a:avLst/>
          </a:prstGeom>
        </p:spPr>
      </p:pic>
      <p:grpSp>
        <p:nvGrpSpPr>
          <p:cNvPr id="71" name="Groep 70">
            <a:extLst>
              <a:ext uri="{FF2B5EF4-FFF2-40B4-BE49-F238E27FC236}">
                <a16:creationId xmlns:a16="http://schemas.microsoft.com/office/drawing/2014/main" id="{0F2D8D50-5BFF-6928-4C30-558526457A4F}"/>
              </a:ext>
            </a:extLst>
          </p:cNvPr>
          <p:cNvGrpSpPr/>
          <p:nvPr/>
        </p:nvGrpSpPr>
        <p:grpSpPr>
          <a:xfrm>
            <a:off x="975536" y="5419894"/>
            <a:ext cx="1047229" cy="219268"/>
            <a:chOff x="9938447" y="2728692"/>
            <a:chExt cx="1222577" cy="255982"/>
          </a:xfrm>
        </p:grpSpPr>
        <p:pic>
          <p:nvPicPr>
            <p:cNvPr id="72" name="Afbeelding 71">
              <a:extLst>
                <a:ext uri="{FF2B5EF4-FFF2-40B4-BE49-F238E27FC236}">
                  <a16:creationId xmlns:a16="http://schemas.microsoft.com/office/drawing/2014/main" id="{60DA53D3-CE3C-AEBB-BAA6-936A7B83721F}"/>
                </a:ext>
              </a:extLst>
            </p:cNvPr>
            <p:cNvPicPr>
              <a:picLocks noChangeAspect="1"/>
            </p:cNvPicPr>
            <p:nvPr/>
          </p:nvPicPr>
          <p:blipFill>
            <a:blip r:embed="rId10">
              <a:lum bright="100000"/>
            </a:blip>
            <a:stretch>
              <a:fillRect/>
            </a:stretch>
          </p:blipFill>
          <p:spPr>
            <a:xfrm>
              <a:off x="10905042" y="2728692"/>
              <a:ext cx="255982" cy="255982"/>
            </a:xfrm>
            <a:prstGeom prst="rect">
              <a:avLst/>
            </a:prstGeom>
          </p:spPr>
        </p:pic>
        <p:sp>
          <p:nvSpPr>
            <p:cNvPr id="73" name="Afgeronde rechthoek 9">
              <a:extLst>
                <a:ext uri="{FF2B5EF4-FFF2-40B4-BE49-F238E27FC236}">
                  <a16:creationId xmlns:a16="http://schemas.microsoft.com/office/drawing/2014/main" id="{357F8417-B420-A3F8-A500-7BBC5724452F}"/>
                </a:ext>
              </a:extLst>
            </p:cNvPr>
            <p:cNvSpPr/>
            <p:nvPr/>
          </p:nvSpPr>
          <p:spPr>
            <a:xfrm>
              <a:off x="9938447" y="2728692"/>
              <a:ext cx="229959" cy="243291"/>
            </a:xfrm>
            <a:prstGeom prst="roundRect">
              <a:avLst>
                <a:gd name="adj" fmla="val 50000"/>
              </a:avLst>
            </a:prstGeom>
            <a:solidFill>
              <a:srgbClr val="1A353E"/>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dirty="0">
                  <a:ln>
                    <a:noFill/>
                  </a:ln>
                  <a:solidFill>
                    <a:prstClr val="white"/>
                  </a:solidFill>
                  <a:effectLst/>
                  <a:uLnTx/>
                  <a:uFillTx/>
                  <a:latin typeface="Funnel Sans" pitchFamily="2" charset="0"/>
                </a:rPr>
                <a:t>4</a:t>
              </a:r>
              <a:endParaRPr kumimoji="0" lang="nl-NL" sz="1100" b="1" i="0" u="none" strike="noStrike" kern="1200" cap="none" spc="0" normalizeH="0" baseline="0" noProof="0" dirty="0">
                <a:ln>
                  <a:noFill/>
                </a:ln>
                <a:solidFill>
                  <a:prstClr val="white"/>
                </a:solidFill>
                <a:effectLst/>
                <a:uLnTx/>
                <a:uFillTx/>
                <a:latin typeface="Funnel Sans" pitchFamily="2" charset="0"/>
              </a:endParaRPr>
            </a:p>
          </p:txBody>
        </p:sp>
      </p:grpSp>
      <p:pic>
        <p:nvPicPr>
          <p:cNvPr id="74" name="Afbeelding 73">
            <a:extLst>
              <a:ext uri="{FF2B5EF4-FFF2-40B4-BE49-F238E27FC236}">
                <a16:creationId xmlns:a16="http://schemas.microsoft.com/office/drawing/2014/main" id="{F111A216-7050-E515-1FFE-4808B0830161}"/>
              </a:ext>
            </a:extLst>
          </p:cNvPr>
          <p:cNvPicPr>
            <a:picLocks noChangeAspect="1"/>
          </p:cNvPicPr>
          <p:nvPr/>
        </p:nvPicPr>
        <p:blipFill>
          <a:blip r:embed="rId11"/>
          <a:stretch>
            <a:fillRect/>
          </a:stretch>
        </p:blipFill>
        <p:spPr>
          <a:xfrm>
            <a:off x="1208272" y="5309398"/>
            <a:ext cx="554655" cy="460647"/>
          </a:xfrm>
          <a:prstGeom prst="rect">
            <a:avLst/>
          </a:prstGeom>
        </p:spPr>
      </p:pic>
      <p:sp>
        <p:nvSpPr>
          <p:cNvPr id="75" name="TextBox 37">
            <a:extLst>
              <a:ext uri="{FF2B5EF4-FFF2-40B4-BE49-F238E27FC236}">
                <a16:creationId xmlns:a16="http://schemas.microsoft.com/office/drawing/2014/main" id="{E554D745-3E47-336F-1C3A-147BDA0B083F}"/>
              </a:ext>
            </a:extLst>
          </p:cNvPr>
          <p:cNvSpPr txBox="1"/>
          <p:nvPr/>
        </p:nvSpPr>
        <p:spPr>
          <a:xfrm>
            <a:off x="9775881" y="1756500"/>
            <a:ext cx="2147895" cy="4835702"/>
          </a:xfrm>
          <a:prstGeom prst="roundRect">
            <a:avLst>
              <a:gd name="adj" fmla="val 9030"/>
            </a:avLst>
          </a:prstGeom>
          <a:solidFill>
            <a:srgbClr val="F3F1ED"/>
          </a:solidFill>
        </p:spPr>
        <p:txBody>
          <a:bodyPr wrap="square" lIns="72000" rIns="72000" bIns="108000" numCol="1" spcCol="108000" rtlCol="0" anchor="ctr" anchorCtr="0">
            <a:noAutofit/>
          </a:bodyPr>
          <a:lstStyle/>
          <a:p>
            <a:pPr marL="0" marR="0" lvl="0" indent="0" algn="l" defTabSz="914400" rtl="0" eaLnBrk="1" fontAlgn="auto" latinLnBrk="0" hangingPunct="1">
              <a:lnSpc>
                <a:spcPct val="100000"/>
              </a:lnSpc>
              <a:spcBef>
                <a:spcPts val="0"/>
              </a:spcBef>
              <a:spcAft>
                <a:spcPts val="1500"/>
              </a:spcAft>
              <a:buClrTx/>
              <a:buSzTx/>
              <a:buFontTx/>
              <a:buNone/>
              <a:tabLst/>
              <a:defRPr/>
            </a:pPr>
            <a:r>
              <a:rPr kumimoji="0" lang="en-US" sz="1200" b="1" i="0" u="none" strike="noStrike" kern="1200" cap="none" spc="0" normalizeH="0" baseline="0" noProof="0" dirty="0">
                <a:ln>
                  <a:noFill/>
                </a:ln>
                <a:solidFill>
                  <a:srgbClr val="004088"/>
                </a:solidFill>
                <a:effectLst/>
                <a:uLnTx/>
                <a:uFillTx/>
                <a:ea typeface="+mn-ea"/>
                <a:cs typeface="+mn-cs"/>
              </a:rPr>
              <a:t>Key BENEFITS of </a:t>
            </a:r>
            <a:br>
              <a:rPr kumimoji="0" lang="en-US" sz="1200" b="1" i="0" u="none" strike="noStrike" kern="1200" cap="none" spc="0" normalizeH="0" baseline="0" noProof="0" dirty="0">
                <a:ln>
                  <a:noFill/>
                </a:ln>
                <a:solidFill>
                  <a:srgbClr val="004088"/>
                </a:solidFill>
                <a:effectLst/>
                <a:uLnTx/>
                <a:uFillTx/>
                <a:ea typeface="+mn-ea"/>
                <a:cs typeface="+mn-cs"/>
              </a:rPr>
            </a:br>
            <a:r>
              <a:rPr kumimoji="0" lang="en-US" sz="1200" b="1" i="0" u="none" strike="noStrike" kern="1200" cap="none" spc="0" normalizeH="0" baseline="0" noProof="0" dirty="0">
                <a:ln>
                  <a:noFill/>
                </a:ln>
                <a:solidFill>
                  <a:srgbClr val="004088"/>
                </a:solidFill>
                <a:effectLst/>
                <a:uLnTx/>
                <a:uFillTx/>
                <a:ea typeface="+mn-ea"/>
                <a:cs typeface="+mn-cs"/>
              </a:rPr>
              <a:t>this structure</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088"/>
                </a:solidFill>
                <a:effectLst/>
                <a:uLnTx/>
                <a:uFillTx/>
                <a:ea typeface="+mn-ea"/>
                <a:cs typeface="+mn-cs"/>
              </a:rPr>
              <a:t>Broad geographic reach.</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088"/>
                </a:solidFill>
                <a:effectLst/>
                <a:uLnTx/>
                <a:uFillTx/>
                <a:ea typeface="+mn-ea"/>
                <a:cs typeface="+mn-cs"/>
              </a:rPr>
              <a:t>Impact opportunities in the value chain and at end-user level, in addition to direct operations.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088"/>
                </a:solidFill>
                <a:effectLst/>
                <a:uLnTx/>
                <a:uFillTx/>
                <a:ea typeface="+mn-ea"/>
                <a:cs typeface="+mn-cs"/>
              </a:rPr>
              <a:t>Access to key strategic partners and networks with blended finance opportunities including de-risking to lower the cost of private capital.</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088"/>
                </a:solidFill>
                <a:effectLst/>
                <a:uLnTx/>
                <a:uFillTx/>
                <a:ea typeface="+mn-ea"/>
                <a:cs typeface="+mn-cs"/>
              </a:rPr>
              <a:t>Investment return opportunities and active access to and management of assets.</a:t>
            </a:r>
          </a:p>
          <a:p>
            <a:pPr marL="171450" marR="0" lvl="0" indent="-171450" algn="l" defTabSz="914400" rtl="0" eaLnBrk="1" fontAlgn="auto" latinLnBrk="0" hangingPunct="1">
              <a:lnSpc>
                <a:spcPct val="100000"/>
              </a:lnSpc>
              <a:spcBef>
                <a:spcPts val="0"/>
              </a:spcBef>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088"/>
                </a:solidFill>
                <a:effectLst/>
                <a:uLnTx/>
                <a:uFillTx/>
                <a:ea typeface="+mn-ea"/>
                <a:cs typeface="+mn-cs"/>
              </a:rPr>
              <a:t>Contributes to a systemic approach to transform the water financing sector.</a:t>
            </a:r>
          </a:p>
        </p:txBody>
      </p:sp>
    </p:spTree>
    <p:extLst>
      <p:ext uri="{BB962C8B-B14F-4D97-AF65-F5344CB8AC3E}">
        <p14:creationId xmlns:p14="http://schemas.microsoft.com/office/powerpoint/2010/main" val="2263190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From Concept to Action</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29">
            <a:extLst>
              <a:ext uri="{FF2B5EF4-FFF2-40B4-BE49-F238E27FC236}">
                <a16:creationId xmlns:a16="http://schemas.microsoft.com/office/drawing/2014/main" id="{76DC1B37-E27E-32C0-E935-B0437B9BD8B7}"/>
              </a:ext>
            </a:extLst>
          </p:cNvPr>
          <p:cNvSpPr txBox="1"/>
          <p:nvPr/>
        </p:nvSpPr>
        <p:spPr>
          <a:xfrm>
            <a:off x="631892" y="1357919"/>
            <a:ext cx="101214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Pathway to achieving the overall USD 2 billion investment target – immediate next steps</a:t>
            </a:r>
          </a:p>
        </p:txBody>
      </p:sp>
      <p:sp>
        <p:nvSpPr>
          <p:cNvPr id="9" name="TextBox 1">
            <a:extLst>
              <a:ext uri="{FF2B5EF4-FFF2-40B4-BE49-F238E27FC236}">
                <a16:creationId xmlns:a16="http://schemas.microsoft.com/office/drawing/2014/main" id="{58CAB6CE-B0CB-1025-2F2F-426364FA41F7}"/>
              </a:ext>
            </a:extLst>
          </p:cNvPr>
          <p:cNvSpPr txBox="1"/>
          <p:nvPr/>
        </p:nvSpPr>
        <p:spPr>
          <a:xfrm>
            <a:off x="619700" y="1920564"/>
            <a:ext cx="5880905" cy="4708981"/>
          </a:xfrm>
          <a:prstGeom prst="rect">
            <a:avLst/>
          </a:prstGeom>
          <a:noFill/>
        </p:spPr>
        <p:txBody>
          <a:bodyPr wrap="square">
            <a:spAutoFit/>
          </a:bodyPr>
          <a:lstStyle/>
          <a:p>
            <a:pPr>
              <a:lnSpc>
                <a:spcPct val="150000"/>
              </a:lnSpc>
              <a:defRPr/>
            </a:pPr>
            <a:r>
              <a:rPr kumimoji="0" lang="en-US" sz="1200" b="1" i="0" u="none" strike="noStrike" kern="1200" cap="none" spc="0" normalizeH="0" baseline="0" noProof="0" dirty="0">
                <a:ln>
                  <a:noFill/>
                </a:ln>
                <a:solidFill>
                  <a:srgbClr val="FFFFFF"/>
                </a:solidFill>
                <a:effectLst/>
                <a:uLnTx/>
                <a:uFillTx/>
                <a:latin typeface="Open Sans"/>
                <a:ea typeface="Open Sans"/>
                <a:cs typeface="Open Sans"/>
              </a:rPr>
              <a:t>Goal: USD 2B invested by 2030 across 100 priority basins.</a:t>
            </a:r>
            <a:endParaRPr kumimoji="0" lang="en-GB" sz="1200" b="1" i="0" u="none" strike="noStrike" kern="1200" cap="none" spc="0" normalizeH="0" baseline="0" noProof="0" dirty="0">
              <a:ln>
                <a:noFill/>
              </a:ln>
              <a:solidFill>
                <a:srgbClr val="FFFFFF"/>
              </a:solidFill>
              <a:effectLst/>
              <a:uLnTx/>
              <a:uFillTx/>
              <a:latin typeface="Raleway" pitchFamily="2" charset="77"/>
              <a:ea typeface="+mn-ea"/>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B7D6E1"/>
                </a:solidFill>
                <a:effectLst/>
                <a:uLnTx/>
                <a:uFillTx/>
                <a:latin typeface="Raleway" pitchFamily="2" charset="77"/>
                <a:ea typeface="+mn-ea"/>
                <a:cs typeface="+mn-cs"/>
              </a:rPr>
              <a:t>Corporate Investors: </a:t>
            </a:r>
            <a:r>
              <a:rPr kumimoji="0" lang="en-GB" sz="1200" b="0" i="0" u="none" strike="noStrike" kern="1200" cap="none" spc="0" normalizeH="0" baseline="0" noProof="0" dirty="0">
                <a:ln>
                  <a:noFill/>
                </a:ln>
                <a:solidFill>
                  <a:prstClr val="white"/>
                </a:solidFill>
                <a:effectLst/>
                <a:uLnTx/>
                <a:uFillTx/>
                <a:latin typeface="Raleway" pitchFamily="2" charset="77"/>
                <a:ea typeface="+mn-ea"/>
                <a:cs typeface="+mn-cs"/>
              </a:rPr>
              <a:t>Two WRC co-chairs each invest USD 50 million in the Global Water Investment Facility by December 2026. Six corporate frontrunner follow with investments of USD 12.5 million per corporate. At WEF 2027 a pledge of USD 175 million in the Global Corporate Investment Facility is announced.</a:t>
            </a:r>
            <a:r>
              <a:rPr kumimoji="0" lang="en-GB" sz="1200" b="1" i="0" u="none" strike="noStrike" kern="1200" cap="none" spc="0" normalizeH="0" baseline="0" noProof="0" dirty="0">
                <a:ln>
                  <a:noFill/>
                </a:ln>
                <a:solidFill>
                  <a:prstClr val="white"/>
                </a:solidFill>
                <a:effectLst/>
                <a:uLnTx/>
                <a:uFillTx/>
                <a:latin typeface="Raleway" pitchFamily="2" charset="77"/>
                <a:ea typeface="+mn-ea"/>
                <a:cs typeface="+mn-cs"/>
              </a:rPr>
              <a:t>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B7D6E1"/>
                </a:solidFill>
                <a:effectLst/>
                <a:uLnTx/>
                <a:uFillTx/>
                <a:latin typeface="Raleway" pitchFamily="2" charset="77"/>
                <a:ea typeface="+mn-ea"/>
                <a:cs typeface="+mn-cs"/>
              </a:rPr>
              <a:t>Global Water Investment Facility: </a:t>
            </a:r>
            <a:r>
              <a:rPr kumimoji="0" lang="en-US" sz="1200" b="0" i="0" u="none" strike="noStrike" kern="1200" cap="none" spc="0" normalizeH="0" baseline="0" noProof="0" dirty="0">
                <a:ln>
                  <a:noFill/>
                </a:ln>
                <a:solidFill>
                  <a:prstClr val="white"/>
                </a:solidFill>
                <a:effectLst/>
                <a:uLnTx/>
                <a:uFillTx/>
                <a:latin typeface="Raleway" pitchFamily="2" charset="77"/>
                <a:ea typeface="+mn-ea"/>
                <a:cs typeface="+mn-cs"/>
              </a:rPr>
              <a:t>Target first close of </a:t>
            </a:r>
            <a:r>
              <a:rPr kumimoji="0" lang="en-GB" sz="1200" b="0" i="0" u="none" strike="noStrike" kern="1200" cap="none" spc="0" normalizeH="0" baseline="0" noProof="0" dirty="0">
                <a:ln>
                  <a:noFill/>
                </a:ln>
                <a:solidFill>
                  <a:prstClr val="white"/>
                </a:solidFill>
                <a:effectLst/>
                <a:uLnTx/>
                <a:uFillTx/>
                <a:latin typeface="Raleway" pitchFamily="2" charset="77"/>
                <a:ea typeface="+mn-ea"/>
                <a:cs typeface="+mn-cs"/>
              </a:rPr>
              <a:t>the Global Corporate Investment Facility with an initial fund size of USD 175 million is January 2027.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white"/>
                </a:solidFill>
                <a:effectLst/>
                <a:uLnTx/>
                <a:uFillTx/>
                <a:latin typeface="Raleway" pitchFamily="2" charset="77"/>
                <a:ea typeface="+mn-ea"/>
                <a:cs typeface="+mn-cs"/>
              </a:rPr>
              <a:t>[say something about government support? ]</a:t>
            </a:r>
            <a:endParaRPr kumimoji="0" lang="en-GB" sz="1200" b="1" i="0" u="none" strike="noStrike" kern="1200" cap="none" spc="0" normalizeH="0" baseline="0" noProof="0" dirty="0">
              <a:ln>
                <a:noFill/>
              </a:ln>
              <a:solidFill>
                <a:srgbClr val="FFB703"/>
              </a:solidFill>
              <a:effectLst/>
              <a:uLnTx/>
              <a:uFillTx/>
              <a:latin typeface="Raleway" pitchFamily="2" charset="77"/>
              <a:ea typeface="+mn-ea"/>
              <a:cs typeface="+mn-cs"/>
            </a:endParaRP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srgbClr val="B7D6E1"/>
                </a:solidFill>
                <a:effectLst/>
                <a:uLnTx/>
                <a:uFillTx/>
                <a:latin typeface="Raleway" pitchFamily="2" charset="77"/>
                <a:ea typeface="+mn-ea"/>
                <a:cs typeface="+mn-cs"/>
              </a:rPr>
              <a:t>Deployment in funds: </a:t>
            </a:r>
            <a:r>
              <a:rPr kumimoji="0" lang="en-US" sz="1200" b="0" i="0" u="none" strike="noStrike" kern="1200" cap="none" spc="0" normalizeH="0" baseline="0" noProof="0" dirty="0">
                <a:ln>
                  <a:noFill/>
                </a:ln>
                <a:solidFill>
                  <a:prstClr val="white"/>
                </a:solidFill>
                <a:effectLst/>
                <a:uLnTx/>
                <a:uFillTx/>
                <a:latin typeface="Raleway" pitchFamily="2" charset="77"/>
                <a:ea typeface="+mn-ea"/>
                <a:cs typeface="+mn-cs"/>
              </a:rPr>
              <a:t>In 2027, USD x million will be deployed in x funds that are aligned with the WRC mission. Investments will be ringfenced by geography / impact theme / sector.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B7D6E1"/>
                </a:solidFill>
                <a:effectLst/>
                <a:uLnTx/>
                <a:uFillTx/>
                <a:latin typeface="Raleway" pitchFamily="2" charset="77"/>
                <a:ea typeface="+mn-ea"/>
                <a:cs typeface="+mn-cs"/>
              </a:rPr>
              <a:t>Projects supported: </a:t>
            </a:r>
            <a:r>
              <a:rPr kumimoji="0" lang="en-US" sz="1200" b="0" i="0" u="none" strike="noStrike" kern="1200" cap="none" spc="0" normalizeH="0" baseline="0" noProof="0" dirty="0">
                <a:ln>
                  <a:noFill/>
                </a:ln>
                <a:solidFill>
                  <a:prstClr val="white"/>
                </a:solidFill>
                <a:effectLst/>
                <a:uLnTx/>
                <a:uFillTx/>
                <a:latin typeface="Raleway" pitchFamily="2" charset="77"/>
                <a:ea typeface="+mn-ea"/>
                <a:cs typeface="+mn-cs"/>
              </a:rPr>
              <a:t>Average ticket size of investments by funds in underlying project portfolio is x. In 2027 x projects will be supported. Targeted impact results include: x people reached, x water quality, x water availability.  </a:t>
            </a:r>
          </a:p>
          <a:p>
            <a:pPr marL="742950" lvl="1" indent="-285750">
              <a:lnSpc>
                <a:spcPct val="150000"/>
              </a:lnSpc>
              <a:buClr>
                <a:srgbClr val="FFB703"/>
              </a:buClr>
              <a:buFont typeface="Arial" panose="020B0604020202020204" pitchFamily="34" charset="0"/>
              <a:buChar char="•"/>
              <a:defRPr/>
            </a:pPr>
            <a:r>
              <a:rPr kumimoji="0" lang="en-US" sz="1200" b="0" i="0" u="none" strike="noStrike" kern="1200" cap="none" spc="0" normalizeH="0" baseline="0" noProof="0" dirty="0">
                <a:ln>
                  <a:noFill/>
                </a:ln>
                <a:solidFill>
                  <a:prstClr val="white"/>
                </a:solidFill>
                <a:effectLst/>
                <a:uLnTx/>
                <a:uFillTx/>
                <a:latin typeface="Raleway" pitchFamily="2" charset="77"/>
                <a:ea typeface="+mn-ea"/>
                <a:cs typeface="+mn-cs"/>
              </a:rPr>
              <a:t>Investments with impact results plus financial return are prioritized.</a:t>
            </a:r>
            <a:r>
              <a:rPr kumimoji="0" lang="en-GB" sz="1200" b="0" i="0" u="none" strike="noStrike" kern="1200" cap="none" spc="0" normalizeH="0" baseline="0" noProof="0" dirty="0">
                <a:ln>
                  <a:noFill/>
                </a:ln>
                <a:solidFill>
                  <a:prstClr val="white"/>
                </a:solidFill>
                <a:effectLst/>
                <a:uLnTx/>
                <a:uFillTx/>
                <a:latin typeface="Raleway" pitchFamily="2" charset="77"/>
                <a:ea typeface="+mn-ea"/>
                <a:cs typeface="+mn-cs"/>
              </a:rPr>
              <a:t> </a:t>
            </a:r>
            <a:r>
              <a:rPr kumimoji="0" lang="en-US" sz="1200" b="0" i="0" u="none" strike="noStrike" kern="1200" cap="none" spc="0" normalizeH="0" baseline="0" noProof="0" dirty="0">
                <a:ln>
                  <a:noFill/>
                </a:ln>
                <a:solidFill>
                  <a:prstClr val="white"/>
                </a:solidFill>
                <a:effectLst/>
                <a:uLnTx/>
                <a:uFillTx/>
                <a:latin typeface="Raleway" pitchFamily="2" charset="77"/>
                <a:ea typeface="+mn-ea"/>
                <a:cs typeface="+mn-cs"/>
              </a:rPr>
              <a:t>  </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GB" sz="1200" b="1" i="0" u="none" strike="noStrike" kern="1200" cap="none" spc="0" normalizeH="0" baseline="0" noProof="0" dirty="0">
              <a:ln>
                <a:noFill/>
              </a:ln>
              <a:solidFill>
                <a:srgbClr val="FFB703"/>
              </a:solidFill>
              <a:effectLst/>
              <a:uLnTx/>
              <a:uFillTx/>
              <a:latin typeface="Raleway" pitchFamily="2" charset="77"/>
              <a:ea typeface="+mn-ea"/>
              <a:cs typeface="+mn-cs"/>
            </a:endParaRPr>
          </a:p>
        </p:txBody>
      </p:sp>
      <p:sp>
        <p:nvSpPr>
          <p:cNvPr id="21" name="TextBox 37">
            <a:extLst>
              <a:ext uri="{FF2B5EF4-FFF2-40B4-BE49-F238E27FC236}">
                <a16:creationId xmlns:a16="http://schemas.microsoft.com/office/drawing/2014/main" id="{DB1A95C0-828B-C5B4-09E2-F878394928C2}"/>
              </a:ext>
            </a:extLst>
          </p:cNvPr>
          <p:cNvSpPr txBox="1"/>
          <p:nvPr/>
        </p:nvSpPr>
        <p:spPr>
          <a:xfrm>
            <a:off x="6832006" y="1825073"/>
            <a:ext cx="436666" cy="1454146"/>
          </a:xfrm>
          <a:prstGeom prst="roundRect">
            <a:avLst/>
          </a:prstGeom>
          <a:solidFill>
            <a:srgbClr val="B7D6E1"/>
          </a:solidFill>
        </p:spPr>
        <p:txBody>
          <a:bodyPr vert="vert270" wrap="square" lIns="72000" tIns="36000" rIns="72000" bIns="36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4D7A"/>
                </a:solidFill>
                <a:effectLst/>
                <a:uLnTx/>
                <a:uFillTx/>
                <a:latin typeface="Raleway" pitchFamily="2" charset="77"/>
                <a:ea typeface="+mn-ea"/>
                <a:cs typeface="+mn-cs"/>
              </a:rPr>
              <a:t>Dec 2026</a:t>
            </a:r>
            <a:endParaRPr kumimoji="0" lang="en-US" sz="1000" b="0" i="0" u="none" strike="noStrike" kern="1200" cap="none" spc="0" normalizeH="0" baseline="0" noProof="0" dirty="0">
              <a:ln>
                <a:noFill/>
              </a:ln>
              <a:solidFill>
                <a:srgbClr val="004D7A"/>
              </a:solidFill>
              <a:effectLst/>
              <a:uLnTx/>
              <a:uFillTx/>
              <a:latin typeface="Open Sans"/>
              <a:ea typeface="+mn-ea"/>
              <a:cs typeface="+mn-cs"/>
            </a:endParaRPr>
          </a:p>
        </p:txBody>
      </p:sp>
      <p:sp>
        <p:nvSpPr>
          <p:cNvPr id="22" name="TextBox 37">
            <a:extLst>
              <a:ext uri="{FF2B5EF4-FFF2-40B4-BE49-F238E27FC236}">
                <a16:creationId xmlns:a16="http://schemas.microsoft.com/office/drawing/2014/main" id="{5C2B2F3D-4503-4547-2C7C-DC77EC032F57}"/>
              </a:ext>
            </a:extLst>
          </p:cNvPr>
          <p:cNvSpPr txBox="1"/>
          <p:nvPr/>
        </p:nvSpPr>
        <p:spPr>
          <a:xfrm>
            <a:off x="6837049" y="3523449"/>
            <a:ext cx="436666" cy="522196"/>
          </a:xfrm>
          <a:prstGeom prst="roundRect">
            <a:avLst/>
          </a:prstGeom>
          <a:solidFill>
            <a:srgbClr val="B7D6E1"/>
          </a:solidFill>
        </p:spPr>
        <p:txBody>
          <a:bodyPr vert="vert270" wrap="square" lIns="72000" tIns="36000" rIns="72000" bIns="36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4D7A"/>
                </a:solidFill>
                <a:effectLst/>
                <a:uLnTx/>
                <a:uFillTx/>
                <a:latin typeface="Raleway" pitchFamily="2" charset="77"/>
                <a:ea typeface="+mn-ea"/>
                <a:cs typeface="+mn-cs"/>
              </a:rPr>
              <a:t>Jan 2027</a:t>
            </a:r>
            <a:endParaRPr kumimoji="0" lang="en-US" sz="1000" b="0" i="0" u="none" strike="noStrike" kern="1200" cap="none" spc="0" normalizeH="0" baseline="0" noProof="0" dirty="0">
              <a:ln>
                <a:noFill/>
              </a:ln>
              <a:solidFill>
                <a:srgbClr val="004D7A"/>
              </a:solidFill>
              <a:effectLst/>
              <a:uLnTx/>
              <a:uFillTx/>
              <a:latin typeface="Open Sans"/>
              <a:ea typeface="+mn-ea"/>
              <a:cs typeface="+mn-cs"/>
            </a:endParaRPr>
          </a:p>
        </p:txBody>
      </p:sp>
      <p:sp>
        <p:nvSpPr>
          <p:cNvPr id="23" name="TextBox 37">
            <a:extLst>
              <a:ext uri="{FF2B5EF4-FFF2-40B4-BE49-F238E27FC236}">
                <a16:creationId xmlns:a16="http://schemas.microsoft.com/office/drawing/2014/main" id="{E7BD53AF-B4CC-71E1-624D-DB392E141D22}"/>
              </a:ext>
            </a:extLst>
          </p:cNvPr>
          <p:cNvSpPr txBox="1"/>
          <p:nvPr/>
        </p:nvSpPr>
        <p:spPr>
          <a:xfrm>
            <a:off x="6832007" y="4276209"/>
            <a:ext cx="436666" cy="644552"/>
          </a:xfrm>
          <a:prstGeom prst="roundRect">
            <a:avLst/>
          </a:prstGeom>
          <a:solidFill>
            <a:srgbClr val="B7D6E1"/>
          </a:solidFill>
        </p:spPr>
        <p:txBody>
          <a:bodyPr vert="vert270" wrap="square" lIns="72000" tIns="36000" rIns="72000" bIns="36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4D7A"/>
                </a:solidFill>
                <a:effectLst/>
                <a:uLnTx/>
                <a:uFillTx/>
                <a:latin typeface="Raleway" pitchFamily="2" charset="77"/>
                <a:ea typeface="+mn-ea"/>
                <a:cs typeface="+mn-cs"/>
              </a:rPr>
              <a:t>2027</a:t>
            </a:r>
            <a:endParaRPr kumimoji="0" lang="en-US" sz="1000" b="0" i="0" u="none" strike="noStrike" kern="1200" cap="none" spc="0" normalizeH="0" baseline="0" noProof="0" dirty="0">
              <a:ln>
                <a:noFill/>
              </a:ln>
              <a:solidFill>
                <a:srgbClr val="004D7A"/>
              </a:solidFill>
              <a:effectLst/>
              <a:uLnTx/>
              <a:uFillTx/>
              <a:latin typeface="Open Sans"/>
              <a:ea typeface="+mn-ea"/>
              <a:cs typeface="+mn-cs"/>
            </a:endParaRPr>
          </a:p>
        </p:txBody>
      </p:sp>
      <p:sp>
        <p:nvSpPr>
          <p:cNvPr id="24" name="TextBox 37">
            <a:extLst>
              <a:ext uri="{FF2B5EF4-FFF2-40B4-BE49-F238E27FC236}">
                <a16:creationId xmlns:a16="http://schemas.microsoft.com/office/drawing/2014/main" id="{E4861FE8-6669-A2C3-E66B-52CE001744FC}"/>
              </a:ext>
            </a:extLst>
          </p:cNvPr>
          <p:cNvSpPr txBox="1"/>
          <p:nvPr/>
        </p:nvSpPr>
        <p:spPr>
          <a:xfrm>
            <a:off x="6832007" y="5164990"/>
            <a:ext cx="436666" cy="1263790"/>
          </a:xfrm>
          <a:prstGeom prst="roundRect">
            <a:avLst/>
          </a:prstGeom>
          <a:solidFill>
            <a:srgbClr val="B7D6E1"/>
          </a:solidFill>
        </p:spPr>
        <p:txBody>
          <a:bodyPr vert="vert270" wrap="square" lIns="72000" tIns="36000" rIns="72000" bIns="36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4D7A"/>
                </a:solidFill>
                <a:effectLst/>
                <a:uLnTx/>
                <a:uFillTx/>
                <a:latin typeface="Raleway" pitchFamily="2" charset="77"/>
                <a:ea typeface="+mn-ea"/>
                <a:cs typeface="+mn-cs"/>
              </a:rPr>
              <a:t>2027</a:t>
            </a:r>
            <a:endParaRPr kumimoji="0" lang="en-US" sz="1000" b="0" i="0" u="none" strike="noStrike" kern="1200" cap="none" spc="0" normalizeH="0" baseline="0" noProof="0" dirty="0">
              <a:ln>
                <a:noFill/>
              </a:ln>
              <a:solidFill>
                <a:srgbClr val="004D7A"/>
              </a:solidFill>
              <a:effectLst/>
              <a:uLnTx/>
              <a:uFillTx/>
              <a:latin typeface="Open Sans"/>
              <a:ea typeface="+mn-ea"/>
              <a:cs typeface="+mn-cs"/>
            </a:endParaRPr>
          </a:p>
        </p:txBody>
      </p:sp>
      <p:sp>
        <p:nvSpPr>
          <p:cNvPr id="26" name="Flowchart: Connector 9">
            <a:extLst>
              <a:ext uri="{FF2B5EF4-FFF2-40B4-BE49-F238E27FC236}">
                <a16:creationId xmlns:a16="http://schemas.microsoft.com/office/drawing/2014/main" id="{2586287C-62E1-A3CE-57A1-63A1740274E0}"/>
              </a:ext>
            </a:extLst>
          </p:cNvPr>
          <p:cNvSpPr/>
          <p:nvPr/>
        </p:nvSpPr>
        <p:spPr>
          <a:xfrm>
            <a:off x="7615624" y="1873014"/>
            <a:ext cx="2233644" cy="1515078"/>
          </a:xfrm>
          <a:prstGeom prst="flowChartConnector">
            <a:avLst/>
          </a:prstGeom>
          <a:solidFill>
            <a:srgbClr val="FFA72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Ins="396000" rtlCol="0" anchor="ctr"/>
          <a:lstStyle/>
          <a:p>
            <a:pPr algn="ctr">
              <a:defRPr/>
            </a:pPr>
            <a:r>
              <a:rPr kumimoji="0" lang="en-US" sz="1800" b="0" i="0" u="none" strike="noStrike" kern="1200" cap="none" spc="0" normalizeH="0" baseline="0" noProof="0" dirty="0">
                <a:ln>
                  <a:noFill/>
                </a:ln>
                <a:solidFill>
                  <a:prstClr val="white"/>
                </a:solidFill>
                <a:effectLst/>
                <a:uLnTx/>
                <a:uFillTx/>
                <a:latin typeface="Open Sans"/>
                <a:ea typeface="+mn-ea"/>
                <a:cs typeface="+mn-cs"/>
              </a:rPr>
              <a:t>@ US$ </a:t>
            </a:r>
            <a:br>
              <a:rPr kumimoji="0" lang="en-US" sz="1800" b="0" i="0" u="none" strike="noStrike" kern="1200" cap="none" spc="0" normalizeH="0" baseline="0" noProof="0" dirty="0">
                <a:ln>
                  <a:noFill/>
                </a:ln>
                <a:solidFill>
                  <a:prstClr val="white"/>
                </a:solidFill>
                <a:effectLst/>
                <a:uLnTx/>
                <a:uFillTx/>
                <a:latin typeface="Open Sans"/>
                <a:ea typeface="+mn-ea"/>
                <a:cs typeface="+mn-cs"/>
              </a:rPr>
            </a:br>
            <a:r>
              <a:rPr kumimoji="0" lang="en-US" sz="1800" b="0" i="0" u="none" strike="noStrike" kern="1200" cap="none" spc="0" normalizeH="0" baseline="0" noProof="0" dirty="0">
                <a:ln>
                  <a:noFill/>
                </a:ln>
                <a:solidFill>
                  <a:prstClr val="white"/>
                </a:solidFill>
                <a:effectLst/>
                <a:uLnTx/>
                <a:uFillTx/>
                <a:latin typeface="Open Sans"/>
                <a:ea typeface="+mn-ea"/>
                <a:cs typeface="+mn-cs"/>
              </a:rPr>
              <a:t>50m</a:t>
            </a:r>
            <a:endParaRPr kumimoji="0" lang="en-KE" sz="1800" b="0" i="0" u="none" strike="noStrike" kern="1200" cap="none" spc="0" normalizeH="0" baseline="0" noProof="0">
              <a:ln>
                <a:noFill/>
              </a:ln>
              <a:solidFill>
                <a:prstClr val="white"/>
              </a:solidFill>
              <a:effectLst/>
              <a:uLnTx/>
              <a:uFillTx/>
              <a:latin typeface="Open Sans"/>
              <a:ea typeface="+mn-ea"/>
              <a:cs typeface="+mn-cs"/>
            </a:endParaRPr>
          </a:p>
        </p:txBody>
      </p:sp>
      <p:sp>
        <p:nvSpPr>
          <p:cNvPr id="27" name="Flowchart: Connector 9">
            <a:extLst>
              <a:ext uri="{FF2B5EF4-FFF2-40B4-BE49-F238E27FC236}">
                <a16:creationId xmlns:a16="http://schemas.microsoft.com/office/drawing/2014/main" id="{BE6ECF58-2E35-F312-8741-EE3C595E6C36}"/>
              </a:ext>
            </a:extLst>
          </p:cNvPr>
          <p:cNvSpPr/>
          <p:nvPr/>
        </p:nvSpPr>
        <p:spPr>
          <a:xfrm>
            <a:off x="9173048" y="1873014"/>
            <a:ext cx="2233644" cy="1515078"/>
          </a:xfrm>
          <a:prstGeom prst="flowChartConnector">
            <a:avLst/>
          </a:prstGeom>
          <a:solidFill>
            <a:srgbClr val="FFA726">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396000" rtlCol="0" anchor="ctr"/>
          <a:lstStyle/>
          <a:p>
            <a:pPr algn="ctr">
              <a:defRPr/>
            </a:pPr>
            <a:r>
              <a:rPr kumimoji="0" lang="en-US" sz="1800" b="0" i="0" u="none" strike="noStrike" kern="1200" cap="none" spc="0" normalizeH="0" baseline="0" noProof="0" dirty="0">
                <a:ln>
                  <a:noFill/>
                </a:ln>
                <a:solidFill>
                  <a:prstClr val="white"/>
                </a:solidFill>
                <a:effectLst/>
                <a:uLnTx/>
                <a:uFillTx/>
                <a:latin typeface="Open Sans"/>
                <a:ea typeface="+mn-ea"/>
                <a:cs typeface="+mn-cs"/>
              </a:rPr>
              <a:t>@ US$ </a:t>
            </a:r>
            <a:br>
              <a:rPr kumimoji="0" lang="en-US" sz="1800" b="0" i="0" u="none" strike="noStrike" kern="1200" cap="none" spc="0" normalizeH="0" baseline="0" noProof="0" dirty="0">
                <a:ln>
                  <a:noFill/>
                </a:ln>
                <a:solidFill>
                  <a:prstClr val="white"/>
                </a:solidFill>
                <a:effectLst/>
                <a:uLnTx/>
                <a:uFillTx/>
                <a:latin typeface="Open Sans"/>
                <a:ea typeface="+mn-ea"/>
                <a:cs typeface="+mn-cs"/>
              </a:rPr>
            </a:br>
            <a:r>
              <a:rPr kumimoji="0" lang="en-US" sz="1800" b="0" i="0" u="none" strike="noStrike" kern="1200" cap="none" spc="0" normalizeH="0" baseline="0" noProof="0" dirty="0">
                <a:ln>
                  <a:noFill/>
                </a:ln>
                <a:solidFill>
                  <a:prstClr val="white"/>
                </a:solidFill>
                <a:effectLst/>
                <a:uLnTx/>
                <a:uFillTx/>
                <a:latin typeface="Open Sans"/>
                <a:ea typeface="+mn-ea"/>
                <a:cs typeface="+mn-cs"/>
              </a:rPr>
              <a:t>12.5 m</a:t>
            </a:r>
            <a:endParaRPr kumimoji="0" lang="en-KE" sz="1800" b="0" i="0" u="none" strike="noStrike" kern="1200" cap="none" spc="0" normalizeH="0" baseline="0" noProof="0">
              <a:ln>
                <a:noFill/>
              </a:ln>
              <a:solidFill>
                <a:prstClr val="white"/>
              </a:solidFill>
              <a:effectLst/>
              <a:uLnTx/>
              <a:uFillTx/>
              <a:latin typeface="Open Sans"/>
              <a:ea typeface="+mn-ea"/>
              <a:cs typeface="+mn-cs"/>
            </a:endParaRPr>
          </a:p>
        </p:txBody>
      </p:sp>
      <p:sp>
        <p:nvSpPr>
          <p:cNvPr id="28" name="TextBox 37">
            <a:extLst>
              <a:ext uri="{FF2B5EF4-FFF2-40B4-BE49-F238E27FC236}">
                <a16:creationId xmlns:a16="http://schemas.microsoft.com/office/drawing/2014/main" id="{B93B471C-4A58-8377-ED26-D8C196BBD787}"/>
              </a:ext>
            </a:extLst>
          </p:cNvPr>
          <p:cNvSpPr txBox="1"/>
          <p:nvPr/>
        </p:nvSpPr>
        <p:spPr>
          <a:xfrm>
            <a:off x="7514352" y="3523449"/>
            <a:ext cx="3961722" cy="640649"/>
          </a:xfrm>
          <a:prstGeom prst="roundRect">
            <a:avLst>
              <a:gd name="adj" fmla="val 13711"/>
            </a:avLst>
          </a:prstGeom>
          <a:solidFill>
            <a:srgbClr val="FFFFFF"/>
          </a:solidFill>
        </p:spPr>
        <p:txBody>
          <a:bodyPr wrap="square" lIns="72000" tIns="36000" rIns="72000" bIns="36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srgbClr val="004D7A"/>
                </a:solidFill>
                <a:effectLst/>
                <a:uLnTx/>
                <a:uFillTx/>
                <a:latin typeface="Raleway" pitchFamily="2" charset="77"/>
                <a:ea typeface="+mn-ea"/>
                <a:cs typeface="+mn-cs"/>
              </a:rPr>
              <a:t>Global Water Investment Facility</a:t>
            </a:r>
            <a:endParaRPr kumimoji="0" lang="en-US" sz="1000" b="0" i="0" u="none" strike="noStrike" kern="1200" cap="none" spc="0" normalizeH="0" baseline="0" noProof="0" dirty="0">
              <a:ln>
                <a:noFill/>
              </a:ln>
              <a:solidFill>
                <a:srgbClr val="004D7A"/>
              </a:solidFill>
              <a:effectLs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4D7A"/>
                </a:solidFill>
                <a:effectLst/>
                <a:uLnTx/>
                <a:uFillTx/>
                <a:latin typeface="Open Sans"/>
                <a:ea typeface="+mn-ea"/>
                <a:cs typeface="+mn-cs"/>
              </a:rPr>
              <a:t>Target first close @ US$ 175 m</a:t>
            </a:r>
            <a:endParaRPr kumimoji="0" lang="en-KE" sz="1000" b="0" i="0" u="none" strike="noStrike" kern="1200" cap="none" spc="0" normalizeH="0" baseline="0" noProof="0">
              <a:ln>
                <a:noFill/>
              </a:ln>
              <a:solidFill>
                <a:srgbClr val="004D7A"/>
              </a:solidFill>
              <a:effectLst/>
              <a:uLnTx/>
              <a:uFillTx/>
              <a:latin typeface="Open Sans"/>
              <a:ea typeface="+mn-ea"/>
              <a:cs typeface="+mn-cs"/>
            </a:endParaRPr>
          </a:p>
        </p:txBody>
      </p:sp>
      <p:pic>
        <p:nvPicPr>
          <p:cNvPr id="30" name="Picture 31">
            <a:extLst>
              <a:ext uri="{FF2B5EF4-FFF2-40B4-BE49-F238E27FC236}">
                <a16:creationId xmlns:a16="http://schemas.microsoft.com/office/drawing/2014/main" id="{7471D81D-ED8A-D756-7D14-73E29848FB34}"/>
              </a:ext>
            </a:extLst>
          </p:cNvPr>
          <p:cNvPicPr>
            <a:picLocks noChangeAspect="1"/>
          </p:cNvPicPr>
          <p:nvPr/>
        </p:nvPicPr>
        <p:blipFill>
          <a:blip r:embed="rId3"/>
          <a:stretch>
            <a:fillRect/>
          </a:stretch>
        </p:blipFill>
        <p:spPr>
          <a:xfrm>
            <a:off x="7514352" y="4276208"/>
            <a:ext cx="4030847" cy="802503"/>
          </a:xfrm>
          <a:prstGeom prst="rect">
            <a:avLst/>
          </a:prstGeom>
        </p:spPr>
      </p:pic>
      <p:graphicFrame>
        <p:nvGraphicFramePr>
          <p:cNvPr id="31" name="Chart 38">
            <a:extLst>
              <a:ext uri="{FF2B5EF4-FFF2-40B4-BE49-F238E27FC236}">
                <a16:creationId xmlns:a16="http://schemas.microsoft.com/office/drawing/2014/main" id="{1CAEEABF-00F5-F947-38FE-9AB40181C8E3}"/>
              </a:ext>
            </a:extLst>
          </p:cNvPr>
          <p:cNvGraphicFramePr/>
          <p:nvPr>
            <p:extLst>
              <p:ext uri="{D42A27DB-BD31-4B8C-83A1-F6EECF244321}">
                <p14:modId xmlns:p14="http://schemas.microsoft.com/office/powerpoint/2010/main" val="201563715"/>
              </p:ext>
            </p:extLst>
          </p:nvPr>
        </p:nvGraphicFramePr>
        <p:xfrm>
          <a:off x="7233371" y="5395555"/>
          <a:ext cx="2562270" cy="127745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32" name="Chart 40">
            <a:extLst>
              <a:ext uri="{FF2B5EF4-FFF2-40B4-BE49-F238E27FC236}">
                <a16:creationId xmlns:a16="http://schemas.microsoft.com/office/drawing/2014/main" id="{1D589B98-45B7-A674-B229-7E17A4180F71}"/>
              </a:ext>
            </a:extLst>
          </p:cNvPr>
          <p:cNvGraphicFramePr/>
          <p:nvPr>
            <p:extLst>
              <p:ext uri="{D42A27DB-BD31-4B8C-83A1-F6EECF244321}">
                <p14:modId xmlns:p14="http://schemas.microsoft.com/office/powerpoint/2010/main" val="4210150906"/>
              </p:ext>
            </p:extLst>
          </p:nvPr>
        </p:nvGraphicFramePr>
        <p:xfrm>
          <a:off x="9529775" y="5388378"/>
          <a:ext cx="2501609" cy="1277454"/>
        </p:xfrm>
        <a:graphic>
          <a:graphicData uri="http://schemas.openxmlformats.org/drawingml/2006/chart">
            <c:chart xmlns:c="http://schemas.openxmlformats.org/drawingml/2006/chart" xmlns:r="http://schemas.openxmlformats.org/officeDocument/2006/relationships" r:id="rId5"/>
          </a:graphicData>
        </a:graphic>
      </p:graphicFrame>
      <p:sp>
        <p:nvSpPr>
          <p:cNvPr id="35" name="Text Placeholder 13">
            <a:extLst>
              <a:ext uri="{FF2B5EF4-FFF2-40B4-BE49-F238E27FC236}">
                <a16:creationId xmlns:a16="http://schemas.microsoft.com/office/drawing/2014/main" id="{756C2A52-1CE4-2A42-71F4-65B178F3F76C}"/>
              </a:ext>
            </a:extLst>
          </p:cNvPr>
          <p:cNvSpPr txBox="1">
            <a:spLocks/>
          </p:cNvSpPr>
          <p:nvPr/>
        </p:nvSpPr>
        <p:spPr>
          <a:xfrm>
            <a:off x="7561852" y="5162909"/>
            <a:ext cx="2069340" cy="209342"/>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PROJECT PORTFOLIO</a:t>
            </a:r>
          </a:p>
          <a:p>
            <a:endPar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36" name="Rechte verbindingslijn 35">
            <a:extLst>
              <a:ext uri="{FF2B5EF4-FFF2-40B4-BE49-F238E27FC236}">
                <a16:creationId xmlns:a16="http://schemas.microsoft.com/office/drawing/2014/main" id="{C24072A6-D996-15F4-018B-8E023D95B203}"/>
              </a:ext>
            </a:extLst>
          </p:cNvPr>
          <p:cNvCxnSpPr>
            <a:cxnSpLocks/>
          </p:cNvCxnSpPr>
          <p:nvPr/>
        </p:nvCxnSpPr>
        <p:spPr>
          <a:xfrm>
            <a:off x="7514352" y="5395554"/>
            <a:ext cx="2116840"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38" name="Text Placeholder 13">
            <a:extLst>
              <a:ext uri="{FF2B5EF4-FFF2-40B4-BE49-F238E27FC236}">
                <a16:creationId xmlns:a16="http://schemas.microsoft.com/office/drawing/2014/main" id="{16022643-79D1-17A6-D6D3-5B24A81AE171}"/>
              </a:ext>
            </a:extLst>
          </p:cNvPr>
          <p:cNvSpPr txBox="1">
            <a:spLocks/>
          </p:cNvSpPr>
          <p:nvPr/>
        </p:nvSpPr>
        <p:spPr>
          <a:xfrm>
            <a:off x="9940842" y="5162909"/>
            <a:ext cx="1535232" cy="209342"/>
          </a:xfrm>
          <a:prstGeom prst="rect">
            <a:avLst/>
          </a:prstGeom>
        </p:spPr>
        <p:txBody>
          <a:bodyPr lIns="0" rIns="0" anchor="t" anchorCtr="0"/>
          <a:lstStyle>
            <a:lvl1pPr marL="0" indent="0" algn="ctr" defTabSz="914400" rtl="0" eaLnBrk="1" latinLnBrk="0" hangingPunct="1">
              <a:lnSpc>
                <a:spcPct val="100000"/>
              </a:lnSpc>
              <a:spcBef>
                <a:spcPts val="1000"/>
              </a:spcBef>
              <a:buFont typeface="Arial" panose="020B0604020202020204" pitchFamily="34" charset="0"/>
              <a:buNone/>
              <a:defRPr sz="1200" b="0" i="0" kern="1200">
                <a:solidFill>
                  <a:srgbClr val="F5CF26"/>
                </a:solidFill>
                <a:latin typeface="Funnel Sans Light" pitchFamily="2" charset="0"/>
                <a:ea typeface="+mn-ea"/>
                <a:cs typeface="Archivo Light"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3032" kern="1200">
                <a:solidFill>
                  <a:schemeClr val="tx1"/>
                </a:solidFill>
                <a:latin typeface="Archivo SemiBold" pitchFamily="2" charset="0"/>
                <a:ea typeface="+mn-ea"/>
                <a:cs typeface="Archivo SemiBold"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rgbClr val="FFA726"/>
                </a:solidFill>
                <a:latin typeface="Open Sans" panose="020B0606030504020204" pitchFamily="34" charset="0"/>
                <a:ea typeface="Open Sans" panose="020B0606030504020204" pitchFamily="34" charset="0"/>
                <a:cs typeface="Open Sans" panose="020B0606030504020204" pitchFamily="34" charset="0"/>
              </a:rPr>
              <a:t>GEOGRAPHY</a:t>
            </a:r>
          </a:p>
        </p:txBody>
      </p:sp>
      <p:cxnSp>
        <p:nvCxnSpPr>
          <p:cNvPr id="39" name="Rechte verbindingslijn 38">
            <a:extLst>
              <a:ext uri="{FF2B5EF4-FFF2-40B4-BE49-F238E27FC236}">
                <a16:creationId xmlns:a16="http://schemas.microsoft.com/office/drawing/2014/main" id="{7A905F54-200A-202C-1280-51BB7839DD07}"/>
              </a:ext>
            </a:extLst>
          </p:cNvPr>
          <p:cNvCxnSpPr>
            <a:cxnSpLocks/>
          </p:cNvCxnSpPr>
          <p:nvPr/>
        </p:nvCxnSpPr>
        <p:spPr>
          <a:xfrm>
            <a:off x="9893342" y="5395554"/>
            <a:ext cx="1570472" cy="0"/>
          </a:xfrm>
          <a:prstGeom prst="line">
            <a:avLst/>
          </a:prstGeom>
          <a:ln>
            <a:solidFill>
              <a:srgbClr val="FFA726"/>
            </a:solidFill>
          </a:ln>
        </p:spPr>
        <p:style>
          <a:lnRef idx="1">
            <a:schemeClr val="accent1"/>
          </a:lnRef>
          <a:fillRef idx="0">
            <a:schemeClr val="accent1"/>
          </a:fillRef>
          <a:effectRef idx="0">
            <a:schemeClr val="accent1"/>
          </a:effectRef>
          <a:fontRef idx="minor">
            <a:schemeClr val="tx1"/>
          </a:fontRef>
        </p:style>
      </p:cxnSp>
      <p:sp>
        <p:nvSpPr>
          <p:cNvPr id="41" name="Isosceles Triangle 72">
            <a:extLst>
              <a:ext uri="{FF2B5EF4-FFF2-40B4-BE49-F238E27FC236}">
                <a16:creationId xmlns:a16="http://schemas.microsoft.com/office/drawing/2014/main" id="{E1DE5EF4-AD25-60FD-2BC1-42AE3CC06409}"/>
              </a:ext>
            </a:extLst>
          </p:cNvPr>
          <p:cNvSpPr/>
          <p:nvPr/>
        </p:nvSpPr>
        <p:spPr>
          <a:xfrm rot="10800000">
            <a:off x="6903540" y="3318543"/>
            <a:ext cx="293597" cy="173909"/>
          </a:xfrm>
          <a:prstGeom prst="triangle">
            <a:avLst>
              <a:gd name="adj" fmla="val 52872"/>
            </a:avLst>
          </a:prstGeom>
          <a:solidFill>
            <a:srgbClr val="FFB7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Open Sans"/>
              <a:ea typeface="+mn-ea"/>
              <a:cs typeface="+mn-cs"/>
            </a:endParaRPr>
          </a:p>
        </p:txBody>
      </p:sp>
      <p:sp>
        <p:nvSpPr>
          <p:cNvPr id="42" name="Isosceles Triangle 72">
            <a:extLst>
              <a:ext uri="{FF2B5EF4-FFF2-40B4-BE49-F238E27FC236}">
                <a16:creationId xmlns:a16="http://schemas.microsoft.com/office/drawing/2014/main" id="{5D5B1DA7-9E64-D978-D016-9EBFD6C3F0B2}"/>
              </a:ext>
            </a:extLst>
          </p:cNvPr>
          <p:cNvSpPr/>
          <p:nvPr/>
        </p:nvSpPr>
        <p:spPr>
          <a:xfrm rot="10800000">
            <a:off x="6903540" y="4093458"/>
            <a:ext cx="293597" cy="173909"/>
          </a:xfrm>
          <a:prstGeom prst="triangle">
            <a:avLst>
              <a:gd name="adj" fmla="val 52872"/>
            </a:avLst>
          </a:prstGeom>
          <a:solidFill>
            <a:srgbClr val="FFB7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Open Sans"/>
              <a:ea typeface="+mn-ea"/>
              <a:cs typeface="+mn-cs"/>
            </a:endParaRPr>
          </a:p>
        </p:txBody>
      </p:sp>
      <p:sp>
        <p:nvSpPr>
          <p:cNvPr id="43" name="Isosceles Triangle 72">
            <a:extLst>
              <a:ext uri="{FF2B5EF4-FFF2-40B4-BE49-F238E27FC236}">
                <a16:creationId xmlns:a16="http://schemas.microsoft.com/office/drawing/2014/main" id="{A869C557-B2F4-73D5-A5FA-62ECE6E25818}"/>
              </a:ext>
            </a:extLst>
          </p:cNvPr>
          <p:cNvSpPr/>
          <p:nvPr/>
        </p:nvSpPr>
        <p:spPr>
          <a:xfrm rot="10800000">
            <a:off x="6903540" y="4963063"/>
            <a:ext cx="293597" cy="173909"/>
          </a:xfrm>
          <a:prstGeom prst="triangle">
            <a:avLst>
              <a:gd name="adj" fmla="val 52872"/>
            </a:avLst>
          </a:prstGeom>
          <a:solidFill>
            <a:srgbClr val="FFB70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336516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Scaling Strategy</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Rechthoek 4">
            <a:extLst>
              <a:ext uri="{FF2B5EF4-FFF2-40B4-BE49-F238E27FC236}">
                <a16:creationId xmlns:a16="http://schemas.microsoft.com/office/drawing/2014/main" id="{48C9B50B-DCA8-9D65-F5B1-065455079633}"/>
              </a:ext>
            </a:extLst>
          </p:cNvPr>
          <p:cNvSpPr/>
          <p:nvPr/>
        </p:nvSpPr>
        <p:spPr>
          <a:xfrm>
            <a:off x="6943241" y="1400924"/>
            <a:ext cx="857930" cy="4936652"/>
          </a:xfrm>
          <a:prstGeom prst="rect">
            <a:avLst/>
          </a:prstGeom>
          <a:solidFill>
            <a:srgbClr val="F3F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prstClr val="white"/>
              </a:solidFill>
              <a:effectLst/>
              <a:uLnTx/>
              <a:uFillTx/>
              <a:latin typeface="Funnel Sans" pitchFamily="2" charset="0"/>
            </a:endParaRPr>
          </a:p>
        </p:txBody>
      </p:sp>
      <p:graphicFrame>
        <p:nvGraphicFramePr>
          <p:cNvPr id="6" name="Chart 5">
            <a:extLst>
              <a:ext uri="{FF2B5EF4-FFF2-40B4-BE49-F238E27FC236}">
                <a16:creationId xmlns:a16="http://schemas.microsoft.com/office/drawing/2014/main" id="{7FCF6F8E-EDF2-0055-5291-4965649A2D0D}"/>
              </a:ext>
            </a:extLst>
          </p:cNvPr>
          <p:cNvGraphicFramePr>
            <a:graphicFrameLocks/>
          </p:cNvGraphicFramePr>
          <p:nvPr>
            <p:extLst>
              <p:ext uri="{D42A27DB-BD31-4B8C-83A1-F6EECF244321}">
                <p14:modId xmlns:p14="http://schemas.microsoft.com/office/powerpoint/2010/main" val="3261395140"/>
              </p:ext>
            </p:extLst>
          </p:nvPr>
        </p:nvGraphicFramePr>
        <p:xfrm>
          <a:off x="1671874" y="924375"/>
          <a:ext cx="6095992" cy="493665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9">
            <a:extLst>
              <a:ext uri="{FF2B5EF4-FFF2-40B4-BE49-F238E27FC236}">
                <a16:creationId xmlns:a16="http://schemas.microsoft.com/office/drawing/2014/main" id="{4CBD5678-63F8-9898-7063-B9B8682637CB}"/>
              </a:ext>
            </a:extLst>
          </p:cNvPr>
          <p:cNvSpPr txBox="1"/>
          <p:nvPr/>
        </p:nvSpPr>
        <p:spPr>
          <a:xfrm>
            <a:off x="846442" y="3763295"/>
            <a:ext cx="1610679" cy="307777"/>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B7D6E1"/>
                </a:solidFill>
                <a:effectLst/>
                <a:uLnTx/>
                <a:uFillTx/>
                <a:latin typeface="Funnel Sans" pitchFamily="2" charset="0"/>
              </a:rPr>
              <a:t>Annual collective</a:t>
            </a:r>
          </a:p>
        </p:txBody>
      </p:sp>
      <p:sp>
        <p:nvSpPr>
          <p:cNvPr id="17" name="TextBox 9">
            <a:extLst>
              <a:ext uri="{FF2B5EF4-FFF2-40B4-BE49-F238E27FC236}">
                <a16:creationId xmlns:a16="http://schemas.microsoft.com/office/drawing/2014/main" id="{00D026B4-6687-4F85-9F65-365CF2B5D310}"/>
              </a:ext>
            </a:extLst>
          </p:cNvPr>
          <p:cNvSpPr txBox="1"/>
          <p:nvPr/>
        </p:nvSpPr>
        <p:spPr>
          <a:xfrm>
            <a:off x="846442" y="4115146"/>
            <a:ext cx="1610679" cy="523220"/>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FFFFFF"/>
                </a:solidFill>
                <a:effectLst/>
                <a:uLnTx/>
                <a:uFillTx/>
                <a:latin typeface="Funnel Sans" pitchFamily="2" charset="0"/>
              </a:rPr>
              <a:t>Investment target ($M)</a:t>
            </a:r>
          </a:p>
        </p:txBody>
      </p:sp>
      <p:sp>
        <p:nvSpPr>
          <p:cNvPr id="18" name="TextBox 29">
            <a:extLst>
              <a:ext uri="{FF2B5EF4-FFF2-40B4-BE49-F238E27FC236}">
                <a16:creationId xmlns:a16="http://schemas.microsoft.com/office/drawing/2014/main" id="{BAC513B3-CD01-1DAC-50A2-BC2A4EFD399B}"/>
              </a:ext>
            </a:extLst>
          </p:cNvPr>
          <p:cNvSpPr txBox="1"/>
          <p:nvPr/>
        </p:nvSpPr>
        <p:spPr>
          <a:xfrm>
            <a:off x="607509" y="1357919"/>
            <a:ext cx="597617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Corporate investments in a risk-sharing structure  </a:t>
            </a:r>
          </a:p>
        </p:txBody>
      </p:sp>
      <p:graphicFrame>
        <p:nvGraphicFramePr>
          <p:cNvPr id="19" name="Table 6">
            <a:extLst>
              <a:ext uri="{FF2B5EF4-FFF2-40B4-BE49-F238E27FC236}">
                <a16:creationId xmlns:a16="http://schemas.microsoft.com/office/drawing/2014/main" id="{98671034-0255-9B24-F3B6-36C0CC96366B}"/>
              </a:ext>
            </a:extLst>
          </p:cNvPr>
          <p:cNvGraphicFramePr>
            <a:graphicFrameLocks/>
          </p:cNvGraphicFramePr>
          <p:nvPr>
            <p:extLst>
              <p:ext uri="{D42A27DB-BD31-4B8C-83A1-F6EECF244321}">
                <p14:modId xmlns:p14="http://schemas.microsoft.com/office/powerpoint/2010/main" val="4160866032"/>
              </p:ext>
            </p:extLst>
          </p:nvPr>
        </p:nvGraphicFramePr>
        <p:xfrm>
          <a:off x="770015" y="5524301"/>
          <a:ext cx="6853859" cy="813274"/>
        </p:xfrm>
        <a:graphic>
          <a:graphicData uri="http://schemas.openxmlformats.org/drawingml/2006/table">
            <a:tbl>
              <a:tblPr>
                <a:tableStyleId>{5C22544A-7EE6-4342-B048-85BDC9FD1C3A}</a:tableStyleId>
              </a:tblPr>
              <a:tblGrid>
                <a:gridCol w="1662053">
                  <a:extLst>
                    <a:ext uri="{9D8B030D-6E8A-4147-A177-3AD203B41FA5}">
                      <a16:colId xmlns:a16="http://schemas.microsoft.com/office/drawing/2014/main" val="772321764"/>
                    </a:ext>
                  </a:extLst>
                </a:gridCol>
                <a:gridCol w="850013">
                  <a:extLst>
                    <a:ext uri="{9D8B030D-6E8A-4147-A177-3AD203B41FA5}">
                      <a16:colId xmlns:a16="http://schemas.microsoft.com/office/drawing/2014/main" val="2494243951"/>
                    </a:ext>
                  </a:extLst>
                </a:gridCol>
                <a:gridCol w="917281">
                  <a:extLst>
                    <a:ext uri="{9D8B030D-6E8A-4147-A177-3AD203B41FA5}">
                      <a16:colId xmlns:a16="http://schemas.microsoft.com/office/drawing/2014/main" val="903143788"/>
                    </a:ext>
                  </a:extLst>
                </a:gridCol>
                <a:gridCol w="843898">
                  <a:extLst>
                    <a:ext uri="{9D8B030D-6E8A-4147-A177-3AD203B41FA5}">
                      <a16:colId xmlns:a16="http://schemas.microsoft.com/office/drawing/2014/main" val="2829040459"/>
                    </a:ext>
                  </a:extLst>
                </a:gridCol>
                <a:gridCol w="892820">
                  <a:extLst>
                    <a:ext uri="{9D8B030D-6E8A-4147-A177-3AD203B41FA5}">
                      <a16:colId xmlns:a16="http://schemas.microsoft.com/office/drawing/2014/main" val="1205699587"/>
                    </a:ext>
                  </a:extLst>
                </a:gridCol>
                <a:gridCol w="862243">
                  <a:extLst>
                    <a:ext uri="{9D8B030D-6E8A-4147-A177-3AD203B41FA5}">
                      <a16:colId xmlns:a16="http://schemas.microsoft.com/office/drawing/2014/main" val="1707655962"/>
                    </a:ext>
                  </a:extLst>
                </a:gridCol>
                <a:gridCol w="825551">
                  <a:extLst>
                    <a:ext uri="{9D8B030D-6E8A-4147-A177-3AD203B41FA5}">
                      <a16:colId xmlns:a16="http://schemas.microsoft.com/office/drawing/2014/main" val="2571373685"/>
                    </a:ext>
                  </a:extLst>
                </a:gridCol>
              </a:tblGrid>
              <a:tr h="335293">
                <a:tc>
                  <a:txBody>
                    <a:bodyPr/>
                    <a:lstStyle/>
                    <a:p>
                      <a:pPr algn="r"/>
                      <a:r>
                        <a:rPr lang="en-GB" sz="900" b="0" dirty="0">
                          <a:solidFill>
                            <a:srgbClr val="B7D6E1"/>
                          </a:solidFill>
                          <a:latin typeface="Raleway"/>
                        </a:rPr>
                        <a:t>Corporate Engagement (#)</a:t>
                      </a:r>
                    </a:p>
                  </a:txBody>
                  <a:tcPr marL="61151" marR="61151" marT="96301" marB="963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10</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15</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20</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35</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50</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1A353E"/>
                          </a:solidFill>
                          <a:latin typeface="Open Sans"/>
                          <a:ea typeface="Open Sans"/>
                          <a:cs typeface="Open Sans"/>
                        </a:rPr>
                        <a:t>50</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B7D6E1">
                          <a:alpha val="0"/>
                        </a:srgb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4334661"/>
                  </a:ext>
                </a:extLst>
              </a:tr>
              <a:tr h="477981">
                <a:tc>
                  <a:txBody>
                    <a:bodyPr/>
                    <a:lstStyle/>
                    <a:p>
                      <a:pPr algn="r"/>
                      <a:r>
                        <a:rPr lang="en-GB" sz="900" b="0" dirty="0">
                          <a:solidFill>
                            <a:srgbClr val="B7D6E1"/>
                          </a:solidFill>
                          <a:latin typeface="Raleway"/>
                        </a:rPr>
                        <a:t> Avg. investment per corporate</a:t>
                      </a:r>
                    </a:p>
                  </a:txBody>
                  <a:tcPr marL="61151" marR="61151" marT="96301" marB="963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16</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12.7</a:t>
                      </a:r>
                      <a:endParaRPr lang="en-GB" sz="900" b="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12.5</a:t>
                      </a:r>
                      <a:endParaRPr lang="en-GB" sz="900" b="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11.4</a:t>
                      </a:r>
                      <a:endParaRPr lang="en-GB" sz="900" b="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B7D6E1"/>
                          </a:solidFill>
                          <a:latin typeface="Open Sans"/>
                          <a:ea typeface="Open Sans"/>
                          <a:cs typeface="Open Sans"/>
                        </a:rPr>
                        <a:t>10</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GB" sz="900" b="0" dirty="0">
                          <a:solidFill>
                            <a:srgbClr val="1A353E"/>
                          </a:solidFill>
                          <a:latin typeface="Open Sans"/>
                          <a:ea typeface="Open Sans"/>
                          <a:cs typeface="Open Sans"/>
                        </a:rPr>
                        <a:t>10</a:t>
                      </a:r>
                    </a:p>
                  </a:txBody>
                  <a:tcPr marL="61151" marR="61151" marT="30577" marB="30577"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B7D6E1">
                          <a:alpha val="0"/>
                        </a:srgbClr>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2605035"/>
                  </a:ext>
                </a:extLst>
              </a:tr>
            </a:tbl>
          </a:graphicData>
        </a:graphic>
      </p:graphicFrame>
      <p:sp>
        <p:nvSpPr>
          <p:cNvPr id="21" name="TextBox 37">
            <a:extLst>
              <a:ext uri="{FF2B5EF4-FFF2-40B4-BE49-F238E27FC236}">
                <a16:creationId xmlns:a16="http://schemas.microsoft.com/office/drawing/2014/main" id="{3898BD32-7437-04BE-BC5A-3459516FE4A9}"/>
              </a:ext>
            </a:extLst>
          </p:cNvPr>
          <p:cNvSpPr txBox="1"/>
          <p:nvPr/>
        </p:nvSpPr>
        <p:spPr>
          <a:xfrm>
            <a:off x="487681" y="1806033"/>
            <a:ext cx="4023360" cy="1832563"/>
          </a:xfrm>
          <a:prstGeom prst="roundRect">
            <a:avLst>
              <a:gd name="adj" fmla="val 15443"/>
            </a:avLst>
          </a:prstGeom>
          <a:solidFill>
            <a:srgbClr val="004D7A"/>
          </a:solidFill>
        </p:spPr>
        <p:txBody>
          <a:bodyPr wrap="square" lIns="216000" tIns="216000" rIns="216000" bIns="216000" numCol="1" spcCol="108000" rtlCol="0" anchor="ctr" anchorCtr="0">
            <a:noAutofit/>
          </a:bodyPr>
          <a:lstStyle/>
          <a:p>
            <a:pPr marL="0" marR="0" lvl="0" indent="0" defTabSz="914400" rtl="0" eaLnBrk="1" fontAlgn="auto" latinLnBrk="0" hangingPunct="1">
              <a:lnSpc>
                <a:spcPct val="15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B703"/>
                </a:solidFill>
                <a:effectLst/>
                <a:uLnTx/>
                <a:uFillTx/>
                <a:latin typeface="Raleway"/>
                <a:ea typeface="+mn-ea"/>
                <a:cs typeface="+mn-cs"/>
              </a:rPr>
              <a:t>Pathway to achieving the </a:t>
            </a:r>
            <a:r>
              <a:rPr kumimoji="0" lang="en-GB" sz="1200" b="1" i="0" u="none" strike="noStrike" kern="1200" cap="none" spc="0" normalizeH="0" baseline="0" noProof="0" dirty="0">
                <a:ln>
                  <a:noFill/>
                </a:ln>
                <a:solidFill>
                  <a:srgbClr val="FFC000"/>
                </a:solidFill>
                <a:effectLst/>
                <a:uLnTx/>
                <a:uFillTx/>
                <a:latin typeface="Raleway"/>
                <a:ea typeface="+mn-ea"/>
                <a:cs typeface="+mn-cs"/>
              </a:rPr>
              <a:t>overall $2B investment target</a:t>
            </a:r>
          </a:p>
          <a:p>
            <a:pPr marL="0" marR="0" lvl="0" indent="0" defTabSz="914400" rtl="0" eaLnBrk="1" fontAlgn="auto" latinLnBrk="0" hangingPunct="1">
              <a:lnSpc>
                <a:spcPct val="116000"/>
              </a:lnSpc>
              <a:spcBef>
                <a:spcPts val="0"/>
              </a:spcBef>
              <a:spcAft>
                <a:spcPts val="80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The overall goal of the Global Water Investment Facility is to invest </a:t>
            </a:r>
            <a:r>
              <a:rPr kumimoji="0" lang="en-US" sz="120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USD 2 billion in water and sanitation management reaching 100 million people by 2027 and 300 million people by 2030.</a:t>
            </a:r>
          </a:p>
        </p:txBody>
      </p:sp>
      <p:sp>
        <p:nvSpPr>
          <p:cNvPr id="23" name="Tekstvak 22">
            <a:extLst>
              <a:ext uri="{FF2B5EF4-FFF2-40B4-BE49-F238E27FC236}">
                <a16:creationId xmlns:a16="http://schemas.microsoft.com/office/drawing/2014/main" id="{19DCC871-0C45-DB53-C466-109878E43778}"/>
              </a:ext>
            </a:extLst>
          </p:cNvPr>
          <p:cNvSpPr txBox="1"/>
          <p:nvPr/>
        </p:nvSpPr>
        <p:spPr>
          <a:xfrm>
            <a:off x="722705" y="6380633"/>
            <a:ext cx="6096000" cy="415498"/>
          </a:xfrm>
          <a:prstGeom prst="rect">
            <a:avLst/>
          </a:prstGeom>
          <a:noFill/>
        </p:spPr>
        <p:txBody>
          <a:bodyPr wrap="square">
            <a:spAutoFit/>
          </a:bodyPr>
          <a:lstStyle/>
          <a:p>
            <a:r>
              <a:rPr kumimoji="0" lang="en-US" sz="105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1 NOTE: </a:t>
            </a:r>
            <a:br>
              <a:rPr kumimoji="0" lang="en-US" sz="105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br>
            <a:r>
              <a:rPr kumimoji="0" lang="en-US" sz="1050" b="0" i="0" u="none" strike="noStrike" kern="1200" cap="none" spc="0" normalizeH="0" baseline="0" noProof="0" dirty="0">
                <a:ln>
                  <a:noFill/>
                </a:ln>
                <a:solidFill>
                  <a:prstClr val="white"/>
                </a:solidFill>
                <a:effectLst/>
                <a:uLnTx/>
                <a:uFillTx/>
                <a:latin typeface="Open Sans" panose="020B0606030504020204" pitchFamily="34" charset="0"/>
                <a:ea typeface="MS Mincho" panose="02020609040205080304" pitchFamily="49" charset="-128"/>
                <a:cs typeface="Arial" panose="020B0604020202020204" pitchFamily="34" charset="0"/>
              </a:rPr>
              <a:t>* </a:t>
            </a:r>
            <a:endParaRPr lang="nl-NL" sz="1050" dirty="0"/>
          </a:p>
        </p:txBody>
      </p:sp>
      <p:sp>
        <p:nvSpPr>
          <p:cNvPr id="7" name="Afgeronde rechthoek 27">
            <a:extLst>
              <a:ext uri="{FF2B5EF4-FFF2-40B4-BE49-F238E27FC236}">
                <a16:creationId xmlns:a16="http://schemas.microsoft.com/office/drawing/2014/main" id="{75BD5223-612F-BA5D-05A1-0056337D1BCA}"/>
              </a:ext>
            </a:extLst>
          </p:cNvPr>
          <p:cNvSpPr/>
          <p:nvPr/>
        </p:nvSpPr>
        <p:spPr>
          <a:xfrm>
            <a:off x="7934895" y="924375"/>
            <a:ext cx="3894872" cy="5502263"/>
          </a:xfrm>
          <a:prstGeom prst="roundRect">
            <a:avLst>
              <a:gd name="adj" fmla="val 6779"/>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white"/>
                </a:solidFill>
                <a:effectLst/>
                <a:uLnTx/>
                <a:uFillTx/>
                <a:latin typeface="Open Sans"/>
                <a:ea typeface="+mn-ea"/>
                <a:cs typeface="+mn-cs"/>
              </a:rPr>
              <a:t>Both the Government of the Netherlands and the Government of Luxemburg have committed their support and seed capital </a:t>
            </a:r>
            <a:r>
              <a:rPr kumimoji="0" lang="en-GB" sz="1200" b="0" i="0" u="none" strike="noStrike" kern="1200" cap="none" spc="0" normalizeH="0" baseline="0" noProof="0" dirty="0">
                <a:ln>
                  <a:noFill/>
                </a:ln>
                <a:solidFill>
                  <a:prstClr val="white"/>
                </a:solidFill>
                <a:effectLst/>
                <a:uLnTx/>
                <a:uFillTx/>
                <a:latin typeface="Open Sans"/>
                <a:ea typeface="+mn-ea"/>
                <a:cs typeface="+mn-cs"/>
              </a:rPr>
              <a:t>to design and set-up the facility, working towards a </a:t>
            </a:r>
            <a:r>
              <a:rPr kumimoji="0" lang="en-GB" sz="1200" b="1" i="0" u="none" strike="noStrike" kern="1200" cap="none" spc="0" normalizeH="0" baseline="0" noProof="0" dirty="0">
                <a:ln>
                  <a:noFill/>
                </a:ln>
                <a:solidFill>
                  <a:prstClr val="white"/>
                </a:solidFill>
                <a:effectLst/>
                <a:uLnTx/>
                <a:uFillTx/>
                <a:latin typeface="Open Sans"/>
                <a:ea typeface="+mn-ea"/>
                <a:cs typeface="+mn-cs"/>
              </a:rPr>
              <a:t>first close end 2026.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1" i="0" u="none" strike="noStrike" kern="1200" cap="none" spc="0" normalizeH="0" baseline="0" noProof="0" dirty="0">
                <a:ln>
                  <a:noFill/>
                </a:ln>
                <a:solidFill>
                  <a:prstClr val="white"/>
                </a:solidFill>
                <a:effectLst/>
                <a:uLnTx/>
                <a:uFillTx/>
                <a:latin typeface="Open Sans"/>
                <a:ea typeface="+mn-ea"/>
                <a:cs typeface="+mn-cs"/>
              </a:rPr>
              <a:t>The first corporate indicated willingness to invest USD 50 million by end 2026.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With the support of concessional funding and blended finance solutions, the facility will be set-up with dedicated sleeves to mobilize corporate investments in climate-resilient water management when market barriers and risks are considered too high. The foreseen  blended capital structure, combines catalytic and private capital layers to accommodate different risk-return profiles.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Funder’s catalytic capital will absorb early-stage risks through subordinated equity such as first loss and junior equity while private investors will invest senior capital and will be offered market-rate returns. This structure is designed to attract private capital into high-impact, scalable climate-resilient water projects in diversified markets and sectors. </a:t>
            </a:r>
          </a:p>
        </p:txBody>
      </p:sp>
    </p:spTree>
    <p:extLst>
      <p:ext uri="{BB962C8B-B14F-4D97-AF65-F5344CB8AC3E}">
        <p14:creationId xmlns:p14="http://schemas.microsoft.com/office/powerpoint/2010/main" val="26959819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Capital Deployment Strategy</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prstClr val="white"/>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436982115"/>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Investment Pipeline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29">
            <a:extLst>
              <a:ext uri="{FF2B5EF4-FFF2-40B4-BE49-F238E27FC236}">
                <a16:creationId xmlns:a16="http://schemas.microsoft.com/office/drawing/2014/main" id="{BBA13214-475D-C8DA-617E-7E1ACB10C094}"/>
              </a:ext>
            </a:extLst>
          </p:cNvPr>
          <p:cNvSpPr txBox="1"/>
          <p:nvPr/>
        </p:nvSpPr>
        <p:spPr>
          <a:xfrm>
            <a:off x="607509" y="1357919"/>
            <a:ext cx="597617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Universe of private funds seeking over USD 7.3 billion in capital</a:t>
            </a:r>
          </a:p>
        </p:txBody>
      </p:sp>
      <p:cxnSp>
        <p:nvCxnSpPr>
          <p:cNvPr id="8" name="Rechte verbindingslijn 37">
            <a:extLst>
              <a:ext uri="{FF2B5EF4-FFF2-40B4-BE49-F238E27FC236}">
                <a16:creationId xmlns:a16="http://schemas.microsoft.com/office/drawing/2014/main" id="{CE070451-982D-4CCA-FA3D-29589B760226}"/>
              </a:ext>
            </a:extLst>
          </p:cNvPr>
          <p:cNvCxnSpPr>
            <a:cxnSpLocks/>
          </p:cNvCxnSpPr>
          <p:nvPr/>
        </p:nvCxnSpPr>
        <p:spPr>
          <a:xfrm>
            <a:off x="562264" y="2122754"/>
            <a:ext cx="11267502" cy="0"/>
          </a:xfrm>
          <a:prstGeom prst="line">
            <a:avLst/>
          </a:prstGeom>
          <a:ln>
            <a:solidFill>
              <a:srgbClr val="B7D6E1"/>
            </a:solidFill>
          </a:ln>
        </p:spPr>
        <p:style>
          <a:lnRef idx="2">
            <a:schemeClr val="accent1"/>
          </a:lnRef>
          <a:fillRef idx="0">
            <a:schemeClr val="accent1"/>
          </a:fillRef>
          <a:effectRef idx="1">
            <a:schemeClr val="accent1"/>
          </a:effectRef>
          <a:fontRef idx="minor">
            <a:schemeClr val="tx1"/>
          </a:fontRef>
        </p:style>
      </p:cxnSp>
      <p:sp>
        <p:nvSpPr>
          <p:cNvPr id="9" name="Tekstvak 34">
            <a:extLst>
              <a:ext uri="{FF2B5EF4-FFF2-40B4-BE49-F238E27FC236}">
                <a16:creationId xmlns:a16="http://schemas.microsoft.com/office/drawing/2014/main" id="{4570739E-B857-C531-FC24-8CC77D145DC8}"/>
              </a:ext>
            </a:extLst>
          </p:cNvPr>
          <p:cNvSpPr txBox="1"/>
          <p:nvPr/>
        </p:nvSpPr>
        <p:spPr>
          <a:xfrm>
            <a:off x="3017971" y="1816863"/>
            <a:ext cx="6537001" cy="389602"/>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400" b="1" i="0" u="none" strike="noStrike" kern="1200" cap="none" spc="0" normalizeH="0" baseline="0" noProof="0" dirty="0">
                <a:ln>
                  <a:noFill/>
                </a:ln>
                <a:solidFill>
                  <a:srgbClr val="B7D6E1"/>
                </a:solidFill>
                <a:effectLst/>
                <a:uLnTx/>
                <a:uFillTx/>
                <a:latin typeface="Raleway"/>
                <a:ea typeface="+mn-ea"/>
                <a:cs typeface="+mn-cs"/>
              </a:rPr>
              <a:t>Fund managers that reduce water value‑chain risks – a snapshot</a:t>
            </a:r>
          </a:p>
        </p:txBody>
      </p:sp>
      <p:sp>
        <p:nvSpPr>
          <p:cNvPr id="18" name="Rechthoek 5">
            <a:extLst>
              <a:ext uri="{FF2B5EF4-FFF2-40B4-BE49-F238E27FC236}">
                <a16:creationId xmlns:a16="http://schemas.microsoft.com/office/drawing/2014/main" id="{5E811357-6DED-3D3B-C5EC-E636AFAC4077}"/>
              </a:ext>
            </a:extLst>
          </p:cNvPr>
          <p:cNvSpPr/>
          <p:nvPr/>
        </p:nvSpPr>
        <p:spPr>
          <a:xfrm>
            <a:off x="2908635" y="2360645"/>
            <a:ext cx="6537001" cy="4093200"/>
          </a:xfrm>
          <a:prstGeom prst="roundRect">
            <a:avLst>
              <a:gd name="adj" fmla="val 419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dirty="0">
              <a:ln>
                <a:noFill/>
              </a:ln>
              <a:solidFill>
                <a:prstClr val="white"/>
              </a:solidFill>
              <a:effectLst/>
              <a:uLnTx/>
              <a:uFillTx/>
              <a:latin typeface="Open Sans"/>
              <a:ea typeface="+mn-ea"/>
              <a:cs typeface="+mn-cs"/>
              <a:sym typeface="Arial"/>
            </a:endParaRPr>
          </a:p>
        </p:txBody>
      </p:sp>
      <p:sp>
        <p:nvSpPr>
          <p:cNvPr id="36" name="TextBox 37">
            <a:extLst>
              <a:ext uri="{FF2B5EF4-FFF2-40B4-BE49-F238E27FC236}">
                <a16:creationId xmlns:a16="http://schemas.microsoft.com/office/drawing/2014/main" id="{12F7C628-5A58-D795-DF1B-2267FC48A6B5}"/>
              </a:ext>
            </a:extLst>
          </p:cNvPr>
          <p:cNvSpPr txBox="1"/>
          <p:nvPr/>
        </p:nvSpPr>
        <p:spPr>
          <a:xfrm>
            <a:off x="562265" y="2360645"/>
            <a:ext cx="2206800" cy="847430"/>
          </a:xfrm>
          <a:prstGeom prst="roundRect">
            <a:avLst>
              <a:gd name="adj" fmla="val 11269"/>
            </a:avLst>
          </a:prstGeom>
          <a:solidFill>
            <a:srgbClr val="004D7A"/>
          </a:solidFill>
        </p:spPr>
        <p:txBody>
          <a:bodyPr wrap="square" lIns="216000" rIns="216000" bIns="108000" numCol="1" spcCol="108000" rtlCol="0" anchor="ctr" anchorCtr="0">
            <a:noAutofit/>
          </a:bodyPr>
          <a:lstStyle/>
          <a:p>
            <a:pPr marL="0" marR="0" lvl="0" indent="0" algn="r" defTabSz="914400" rtl="0" eaLnBrk="1" fontAlgn="auto" latinLnBrk="0" hangingPunct="1">
              <a:lnSpc>
                <a:spcPct val="100000"/>
              </a:lnSpc>
              <a:spcBef>
                <a:spcPts val="600"/>
              </a:spcBef>
              <a:spcAft>
                <a:spcPts val="600"/>
              </a:spcAft>
              <a:buClr>
                <a:srgbClr val="E4A039"/>
              </a:buClr>
              <a:buSzPct val="100000"/>
              <a:buFontTx/>
              <a:buNone/>
              <a:tabLst/>
              <a:defRPr/>
            </a:pPr>
            <a:b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br>
            <a: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t>Infrastructure</a:t>
            </a:r>
            <a:r>
              <a:rPr kumimoji="0" lang="en-US" sz="1000" b="0" i="0" u="none" strike="noStrike" kern="1200" cap="none" spc="0" normalizeH="0" baseline="0" noProof="0" dirty="0">
                <a:ln>
                  <a:noFill/>
                </a:ln>
                <a:solidFill>
                  <a:srgbClr val="F3F1ED"/>
                </a:solidFill>
                <a:effectLst/>
                <a:uLnTx/>
                <a:uFillTx/>
                <a:latin typeface="Raleway"/>
                <a:ea typeface="+mn-ea"/>
                <a:cs typeface="Arial"/>
                <a:sym typeface="Arial"/>
              </a:rPr>
              <a:t> </a:t>
            </a:r>
            <a:br>
              <a:rPr kumimoji="0" lang="en-US" sz="1000" b="0" i="0" u="none" strike="noStrike" kern="1200" cap="none" spc="0" normalizeH="0" baseline="0" noProof="0" dirty="0">
                <a:ln>
                  <a:noFill/>
                </a:ln>
                <a:solidFill>
                  <a:srgbClr val="F3F1ED"/>
                </a:solidFill>
                <a:effectLst/>
                <a:uLnTx/>
                <a:uFillTx/>
                <a:latin typeface="Raleway"/>
                <a:ea typeface="+mn-ea"/>
                <a:cs typeface="Arial"/>
                <a:sym typeface="Arial"/>
              </a:rPr>
            </a:br>
            <a:endParaRPr kumimoji="0" lang="en-US" sz="1000" b="0" i="0" u="none" strike="noStrike" kern="1200" cap="none" spc="0" normalizeH="0" baseline="0" noProof="0" dirty="0">
              <a:ln>
                <a:noFill/>
              </a:ln>
              <a:solidFill>
                <a:srgbClr val="F3F1ED"/>
              </a:solidFill>
              <a:effectLst/>
              <a:uLnTx/>
              <a:uFillTx/>
              <a:latin typeface="Raleway"/>
              <a:ea typeface="+mn-ea"/>
              <a:cs typeface="Arial"/>
              <a:sym typeface="Arial"/>
            </a:endParaRPr>
          </a:p>
        </p:txBody>
      </p:sp>
      <p:pic>
        <p:nvPicPr>
          <p:cNvPr id="37" name="Picture 7">
            <a:extLst>
              <a:ext uri="{FF2B5EF4-FFF2-40B4-BE49-F238E27FC236}">
                <a16:creationId xmlns:a16="http://schemas.microsoft.com/office/drawing/2014/main" id="{54FB797E-EAC0-7437-8012-AD692A23CADF}"/>
              </a:ext>
            </a:extLst>
          </p:cNvPr>
          <p:cNvPicPr>
            <a:picLocks noChangeAspect="1"/>
          </p:cNvPicPr>
          <p:nvPr/>
        </p:nvPicPr>
        <p:blipFill>
          <a:blip r:embed="rId4">
            <a:lum bright="70000" contrast="-70000"/>
          </a:blip>
          <a:stretch>
            <a:fillRect/>
          </a:stretch>
        </p:blipFill>
        <p:spPr>
          <a:xfrm>
            <a:off x="669105" y="2503386"/>
            <a:ext cx="454320" cy="562056"/>
          </a:xfrm>
          <a:prstGeom prst="rect">
            <a:avLst/>
          </a:prstGeom>
        </p:spPr>
      </p:pic>
      <p:sp>
        <p:nvSpPr>
          <p:cNvPr id="38" name="TextBox 37">
            <a:extLst>
              <a:ext uri="{FF2B5EF4-FFF2-40B4-BE49-F238E27FC236}">
                <a16:creationId xmlns:a16="http://schemas.microsoft.com/office/drawing/2014/main" id="{8556302E-5131-FBAB-EA9B-47840E5D7D65}"/>
              </a:ext>
            </a:extLst>
          </p:cNvPr>
          <p:cNvSpPr txBox="1"/>
          <p:nvPr/>
        </p:nvSpPr>
        <p:spPr>
          <a:xfrm>
            <a:off x="562265" y="3447651"/>
            <a:ext cx="2206800" cy="847430"/>
          </a:xfrm>
          <a:prstGeom prst="roundRect">
            <a:avLst>
              <a:gd name="adj" fmla="val 15033"/>
            </a:avLst>
          </a:prstGeom>
          <a:solidFill>
            <a:srgbClr val="004D7A"/>
          </a:solidFill>
        </p:spPr>
        <p:txBody>
          <a:bodyPr wrap="square" lIns="216000" rIns="216000" bIns="108000" numCol="1" spcCol="108000" rtlCol="0" anchor="ctr" anchorCtr="0">
            <a:noAutofit/>
          </a:bodyPr>
          <a:lstStyle/>
          <a:p>
            <a:pPr marL="0" marR="0" lvl="0" indent="0" algn="r"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t>Nature Based Solutions</a:t>
            </a:r>
          </a:p>
        </p:txBody>
      </p:sp>
      <p:sp>
        <p:nvSpPr>
          <p:cNvPr id="39" name="TextBox 37">
            <a:extLst>
              <a:ext uri="{FF2B5EF4-FFF2-40B4-BE49-F238E27FC236}">
                <a16:creationId xmlns:a16="http://schemas.microsoft.com/office/drawing/2014/main" id="{01151443-CF49-F441-5FF3-EF409A05DDC1}"/>
              </a:ext>
            </a:extLst>
          </p:cNvPr>
          <p:cNvSpPr txBox="1"/>
          <p:nvPr/>
        </p:nvSpPr>
        <p:spPr>
          <a:xfrm>
            <a:off x="562264" y="4511116"/>
            <a:ext cx="2206800" cy="847430"/>
          </a:xfrm>
          <a:prstGeom prst="roundRect">
            <a:avLst>
              <a:gd name="adj" fmla="val 10014"/>
            </a:avLst>
          </a:prstGeom>
          <a:solidFill>
            <a:srgbClr val="004D7A"/>
          </a:solidFill>
        </p:spPr>
        <p:txBody>
          <a:bodyPr wrap="square" lIns="216000" rIns="216000" bIns="108000" numCol="1" spcCol="108000" rtlCol="0" anchor="ctr" anchorCtr="0">
            <a:noAutofit/>
          </a:bodyPr>
          <a:lstStyle/>
          <a:p>
            <a:pPr marL="0" marR="0" lvl="0" indent="0" algn="r"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t>Financial </a:t>
            </a:r>
            <a:b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br>
            <a: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t>Institutions </a:t>
            </a:r>
            <a:b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br>
            <a:r>
              <a:rPr kumimoji="0" lang="en-US" sz="1200" b="1" i="0" u="none" strike="noStrike" kern="1200" cap="none" spc="0" normalizeH="0" baseline="0" noProof="0" dirty="0">
                <a:ln>
                  <a:noFill/>
                </a:ln>
                <a:solidFill>
                  <a:srgbClr val="F3F1ED"/>
                </a:solidFill>
                <a:effectLst/>
                <a:uLnTx/>
                <a:uFillTx/>
                <a:latin typeface="Raleway"/>
                <a:ea typeface="+mn-ea"/>
                <a:cs typeface="Arial"/>
                <a:sym typeface="Arial"/>
              </a:rPr>
              <a:t>(WASH portfolio)</a:t>
            </a:r>
          </a:p>
        </p:txBody>
      </p:sp>
      <p:pic>
        <p:nvPicPr>
          <p:cNvPr id="40" name="Picture 11">
            <a:extLst>
              <a:ext uri="{FF2B5EF4-FFF2-40B4-BE49-F238E27FC236}">
                <a16:creationId xmlns:a16="http://schemas.microsoft.com/office/drawing/2014/main" id="{92FD1DD3-0071-7519-AB02-395410B0C313}"/>
              </a:ext>
            </a:extLst>
          </p:cNvPr>
          <p:cNvPicPr>
            <a:picLocks noChangeAspect="1"/>
          </p:cNvPicPr>
          <p:nvPr/>
        </p:nvPicPr>
        <p:blipFill>
          <a:blip r:embed="rId5">
            <a:lum bright="70000" contrast="-70000"/>
          </a:blip>
          <a:stretch>
            <a:fillRect/>
          </a:stretch>
        </p:blipFill>
        <p:spPr>
          <a:xfrm>
            <a:off x="686628" y="3682217"/>
            <a:ext cx="419274" cy="438550"/>
          </a:xfrm>
          <a:prstGeom prst="rect">
            <a:avLst/>
          </a:prstGeom>
        </p:spPr>
      </p:pic>
      <p:pic>
        <p:nvPicPr>
          <p:cNvPr id="41" name="Picture 9">
            <a:extLst>
              <a:ext uri="{FF2B5EF4-FFF2-40B4-BE49-F238E27FC236}">
                <a16:creationId xmlns:a16="http://schemas.microsoft.com/office/drawing/2014/main" id="{E2ACBC65-DCA6-7868-74FF-BAD1D7547400}"/>
              </a:ext>
            </a:extLst>
          </p:cNvPr>
          <p:cNvPicPr>
            <a:picLocks noChangeAspect="1"/>
          </p:cNvPicPr>
          <p:nvPr/>
        </p:nvPicPr>
        <p:blipFill>
          <a:blip r:embed="rId6">
            <a:lum bright="70000" contrast="-70000"/>
          </a:blip>
          <a:stretch>
            <a:fillRect/>
          </a:stretch>
        </p:blipFill>
        <p:spPr>
          <a:xfrm>
            <a:off x="669105" y="4757480"/>
            <a:ext cx="454320" cy="475207"/>
          </a:xfrm>
          <a:prstGeom prst="rect">
            <a:avLst/>
          </a:prstGeom>
        </p:spPr>
      </p:pic>
      <p:sp>
        <p:nvSpPr>
          <p:cNvPr id="43" name="TextBox 37">
            <a:extLst>
              <a:ext uri="{FF2B5EF4-FFF2-40B4-BE49-F238E27FC236}">
                <a16:creationId xmlns:a16="http://schemas.microsoft.com/office/drawing/2014/main" id="{AD49C07E-B473-4FA9-2A18-F6FEB26AD030}"/>
              </a:ext>
            </a:extLst>
          </p:cNvPr>
          <p:cNvSpPr txBox="1"/>
          <p:nvPr/>
        </p:nvSpPr>
        <p:spPr>
          <a:xfrm>
            <a:off x="562265" y="5606415"/>
            <a:ext cx="2206800" cy="847430"/>
          </a:xfrm>
          <a:prstGeom prst="roundRect">
            <a:avLst>
              <a:gd name="adj" fmla="val 13778"/>
            </a:avLst>
          </a:prstGeom>
          <a:solidFill>
            <a:srgbClr val="004D7A"/>
          </a:solidFill>
        </p:spPr>
        <p:txBody>
          <a:bodyPr wrap="square" lIns="216000" rIns="216000" bIns="108000" numCol="1" spcCol="108000" rtlCol="0" anchor="ctr" anchorCtr="0">
            <a:noAutofit/>
          </a:bodyPr>
          <a:lstStyle/>
          <a:p>
            <a:pPr marL="0" marR="0" lvl="0" indent="0" algn="r"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400" b="1" i="0" u="none" strike="noStrike" kern="1200" cap="none" spc="0" normalizeH="0" baseline="0" noProof="0" dirty="0">
                <a:ln>
                  <a:noFill/>
                </a:ln>
                <a:solidFill>
                  <a:srgbClr val="F3F1ED"/>
                </a:solidFill>
                <a:effectLst/>
                <a:uLnTx/>
                <a:uFillTx/>
                <a:latin typeface="Raleway"/>
                <a:ea typeface="+mn-ea"/>
                <a:cs typeface="Arial"/>
                <a:sym typeface="Arial"/>
              </a:rPr>
              <a:t>Enterprises and Ventures</a:t>
            </a:r>
          </a:p>
        </p:txBody>
      </p:sp>
      <p:pic>
        <p:nvPicPr>
          <p:cNvPr id="44" name="Afbeelding 51" descr="Afbeelding met zwart, duisternis&#10;&#10;Automatisch gegenereerde beschrijving">
            <a:extLst>
              <a:ext uri="{FF2B5EF4-FFF2-40B4-BE49-F238E27FC236}">
                <a16:creationId xmlns:a16="http://schemas.microsoft.com/office/drawing/2014/main" id="{45DF9F6F-F905-8A64-345B-2FC837433A6A}"/>
              </a:ext>
            </a:extLst>
          </p:cNvPr>
          <p:cNvPicPr>
            <a:picLocks noChangeAspect="1"/>
          </p:cNvPicPr>
          <p:nvPr/>
        </p:nvPicPr>
        <p:blipFill>
          <a:blip r:embed="rId7" cstate="print">
            <a:extLst>
              <a:ext uri="{BEBA8EAE-BF5A-486C-A8C5-ECC9F3942E4B}">
                <a14:imgProps xmlns:a14="http://schemas.microsoft.com/office/drawing/2010/main">
                  <a14:imgLayer r:embed="rId8">
                    <a14:imgEffect>
                      <a14:sharpenSoften amount="56000"/>
                    </a14:imgEffect>
                    <a14:imgEffect>
                      <a14:colorTemperature colorTemp="1500"/>
                    </a14:imgEffect>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697920" y="5779376"/>
            <a:ext cx="396691" cy="414929"/>
          </a:xfrm>
          <a:prstGeom prst="rect">
            <a:avLst/>
          </a:prstGeom>
        </p:spPr>
      </p:pic>
      <p:pic>
        <p:nvPicPr>
          <p:cNvPr id="20" name="Picture 4" descr="Institutional - Bright Light Solutions">
            <a:extLst>
              <a:ext uri="{FF2B5EF4-FFF2-40B4-BE49-F238E27FC236}">
                <a16:creationId xmlns:a16="http://schemas.microsoft.com/office/drawing/2014/main" id="{98232B37-553F-D0D8-AD2F-47FA1F2F50F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787119" y="2665152"/>
            <a:ext cx="1225347" cy="502174"/>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2" descr="Acre Export Finance Fund I LP">
            <a:extLst>
              <a:ext uri="{FF2B5EF4-FFF2-40B4-BE49-F238E27FC236}">
                <a16:creationId xmlns:a16="http://schemas.microsoft.com/office/drawing/2014/main" id="{6E4E76BC-8ADC-657D-F655-44E5DF35EC8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450881" y="2615125"/>
            <a:ext cx="1225347" cy="60222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Insitor">
            <a:extLst>
              <a:ext uri="{FF2B5EF4-FFF2-40B4-BE49-F238E27FC236}">
                <a16:creationId xmlns:a16="http://schemas.microsoft.com/office/drawing/2014/main" id="{4359B665-1715-1E96-6B30-B3D99088207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450881" y="4847754"/>
            <a:ext cx="1165022" cy="377632"/>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Arcmont Launches as Independent €13 Billion Private Debt ...">
            <a:extLst>
              <a:ext uri="{FF2B5EF4-FFF2-40B4-BE49-F238E27FC236}">
                <a16:creationId xmlns:a16="http://schemas.microsoft.com/office/drawing/2014/main" id="{1DD6ED78-16EA-70FA-CB0F-A3F8E691CB55}"/>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t="22303" b="23781"/>
          <a:stretch>
            <a:fillRect/>
          </a:stretch>
        </p:blipFill>
        <p:spPr bwMode="auto">
          <a:xfrm>
            <a:off x="2917895" y="5611179"/>
            <a:ext cx="2146077" cy="66340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0" descr="sponsors-bfinance - DG Publishing">
            <a:extLst>
              <a:ext uri="{FF2B5EF4-FFF2-40B4-BE49-F238E27FC236}">
                <a16:creationId xmlns:a16="http://schemas.microsoft.com/office/drawing/2014/main" id="{577AB99A-ADAE-7D6A-9B9A-946B09B65043}"/>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8799" t="20537" r="10039" b="17701"/>
          <a:stretch>
            <a:fillRect/>
          </a:stretch>
        </p:blipFill>
        <p:spPr bwMode="auto">
          <a:xfrm>
            <a:off x="7568598" y="3472267"/>
            <a:ext cx="1646895" cy="85846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2" descr="Nuveen Logo | TT&amp;G Partners">
            <a:extLst>
              <a:ext uri="{FF2B5EF4-FFF2-40B4-BE49-F238E27FC236}">
                <a16:creationId xmlns:a16="http://schemas.microsoft.com/office/drawing/2014/main" id="{22F27D38-8607-DB83-E873-B66DE3507D5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36892" y="3558666"/>
            <a:ext cx="1497275" cy="85846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 descr="Vacancies — PureTerra Ventures">
            <a:extLst>
              <a:ext uri="{FF2B5EF4-FFF2-40B4-BE49-F238E27FC236}">
                <a16:creationId xmlns:a16="http://schemas.microsoft.com/office/drawing/2014/main" id="{2C83A06A-A97F-C747-7E6F-18F3ADF8BED0}"/>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7155770" y="5779376"/>
            <a:ext cx="2399202" cy="439851"/>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Go Capital - Capboard">
            <a:extLst>
              <a:ext uri="{FF2B5EF4-FFF2-40B4-BE49-F238E27FC236}">
                <a16:creationId xmlns:a16="http://schemas.microsoft.com/office/drawing/2014/main" id="{6D03A5CE-17FE-CD7B-4E1E-0DDC5EF80262}"/>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t="37381" b="36868"/>
          <a:stretch>
            <a:fillRect/>
          </a:stretch>
        </p:blipFill>
        <p:spPr bwMode="auto">
          <a:xfrm>
            <a:off x="5144925" y="5739408"/>
            <a:ext cx="1837257" cy="49486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 descr="WaterEquity Invests in Organica Water Advancing Decentralized Wastewater  Solutions Across South &amp; Southeast Asia">
            <a:extLst>
              <a:ext uri="{FF2B5EF4-FFF2-40B4-BE49-F238E27FC236}">
                <a16:creationId xmlns:a16="http://schemas.microsoft.com/office/drawing/2014/main" id="{62102ABB-75C8-C36F-67AE-12A1FBF2A34E}"/>
              </a:ext>
            </a:extLst>
          </p:cNvPr>
          <p:cNvPicPr>
            <a:picLocks noChangeAspect="1" noChangeArrowheads="1"/>
          </p:cNvPicPr>
          <p:nvPr/>
        </p:nvPicPr>
        <p:blipFill rotWithShape="1">
          <a:blip r:embed="rId17" cstate="print">
            <a:extLst>
              <a:ext uri="{28A0092B-C50C-407E-A947-70E740481C1C}">
                <a14:useLocalDpi xmlns:a14="http://schemas.microsoft.com/office/drawing/2010/main" val="0"/>
              </a:ext>
            </a:extLst>
          </a:blip>
          <a:srcRect l="10837" t="28703" r="10672" b="33196"/>
          <a:stretch>
            <a:fillRect/>
          </a:stretch>
        </p:blipFill>
        <p:spPr bwMode="auto">
          <a:xfrm>
            <a:off x="7350273" y="4771372"/>
            <a:ext cx="2083545" cy="530397"/>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4" descr="Autumn (in Winter) event 2024/2025 ...">
            <a:extLst>
              <a:ext uri="{FF2B5EF4-FFF2-40B4-BE49-F238E27FC236}">
                <a16:creationId xmlns:a16="http://schemas.microsoft.com/office/drawing/2014/main" id="{AE0A45D8-5E5D-8325-C25D-ACC5D0319424}"/>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3170127" y="4757480"/>
            <a:ext cx="1306218" cy="55818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0" descr="Speaker Bio: Laurent Jacquemin of AXA IM Alts - Mingtiandi">
            <a:extLst>
              <a:ext uri="{FF2B5EF4-FFF2-40B4-BE49-F238E27FC236}">
                <a16:creationId xmlns:a16="http://schemas.microsoft.com/office/drawing/2014/main" id="{3729E846-6611-2281-CADB-8DA98A700418}"/>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328996" y="3693325"/>
            <a:ext cx="1544774" cy="55057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4" descr="Alpha Associates – Alpha Associates">
            <a:extLst>
              <a:ext uri="{FF2B5EF4-FFF2-40B4-BE49-F238E27FC236}">
                <a16:creationId xmlns:a16="http://schemas.microsoft.com/office/drawing/2014/main" id="{C8F3CEA3-AA11-5CED-3E6C-4C67B50175E1}"/>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3243136" y="2665152"/>
            <a:ext cx="1096854" cy="502174"/>
          </a:xfrm>
          <a:prstGeom prst="rect">
            <a:avLst/>
          </a:prstGeom>
          <a:noFill/>
          <a:extLst>
            <a:ext uri="{909E8E84-426E-40DD-AFC4-6F175D3DCCD1}">
              <a14:hiddenFill xmlns:a14="http://schemas.microsoft.com/office/drawing/2010/main">
                <a:solidFill>
                  <a:srgbClr val="FFFFFF"/>
                </a:solidFill>
              </a14:hiddenFill>
            </a:ext>
          </a:extLst>
        </p:spPr>
      </p:pic>
      <p:sp>
        <p:nvSpPr>
          <p:cNvPr id="34" name="AutoShape 16" descr="Gegenereerde afbeelding">
            <a:extLst>
              <a:ext uri="{FF2B5EF4-FFF2-40B4-BE49-F238E27FC236}">
                <a16:creationId xmlns:a16="http://schemas.microsoft.com/office/drawing/2014/main" id="{A08A6452-1C58-EDF8-E0B5-BCFB18981333}"/>
              </a:ext>
            </a:extLst>
          </p:cNvPr>
          <p:cNvSpPr>
            <a:spLocks noChangeAspect="1" noChangeArrowheads="1"/>
          </p:cNvSpPr>
          <p:nvPr/>
        </p:nvSpPr>
        <p:spPr bwMode="auto">
          <a:xfrm>
            <a:off x="6313475" y="3296191"/>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nl-NL" sz="14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48" name="TextBox 37">
            <a:extLst>
              <a:ext uri="{FF2B5EF4-FFF2-40B4-BE49-F238E27FC236}">
                <a16:creationId xmlns:a16="http://schemas.microsoft.com/office/drawing/2014/main" id="{A7C6354C-DD55-505F-DB31-E63C275C81B2}"/>
              </a:ext>
            </a:extLst>
          </p:cNvPr>
          <p:cNvSpPr txBox="1"/>
          <p:nvPr/>
        </p:nvSpPr>
        <p:spPr>
          <a:xfrm>
            <a:off x="9621204" y="2360645"/>
            <a:ext cx="2206800" cy="847430"/>
          </a:xfrm>
          <a:prstGeom prst="roundRect">
            <a:avLst>
              <a:gd name="adj" fmla="val 11269"/>
            </a:avLst>
          </a:prstGeom>
          <a:solidFill>
            <a:srgbClr val="173E55"/>
          </a:solidFill>
        </p:spPr>
        <p:txBody>
          <a:bodyPr wrap="square" lIns="216000" rIns="216000" bIns="108000" numCol="1" spcCol="108000" rtlCol="0" anchor="ctr" anchorCtr="0">
            <a:noAutofit/>
          </a:bodyPr>
          <a:lstStyle/>
          <a:p>
            <a:pPr marL="0" marR="0" lvl="0" indent="0"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200" b="1" i="0" u="none" strike="noStrike" kern="1200" cap="none" spc="0" normalizeH="0" baseline="0" noProof="0" dirty="0">
                <a:ln>
                  <a:noFill/>
                </a:ln>
                <a:solidFill>
                  <a:srgbClr val="FFA726"/>
                </a:solidFill>
                <a:effectLst/>
                <a:uLnTx/>
                <a:uFillTx/>
                <a:latin typeface="Raleway"/>
                <a:ea typeface="+mn-ea"/>
                <a:cs typeface="Arial"/>
                <a:sym typeface="Arial"/>
              </a:rPr>
              <a:t>Infrastructure (10-12%</a:t>
            </a:r>
            <a:r>
              <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rPr>
              <a:t>)</a:t>
            </a:r>
            <a:br>
              <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rPr>
            </a:br>
            <a:r>
              <a:rPr lang="en-US" sz="1200" dirty="0">
                <a:solidFill>
                  <a:srgbClr val="FFA726"/>
                </a:solidFill>
                <a:latin typeface="Raleway"/>
                <a:cs typeface="Arial"/>
                <a:sym typeface="Arial"/>
              </a:rPr>
              <a:t>Invest in essential infrastructure</a:t>
            </a:r>
            <a:endPar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endParaRPr>
          </a:p>
        </p:txBody>
      </p:sp>
      <p:sp>
        <p:nvSpPr>
          <p:cNvPr id="52" name="TextBox 37">
            <a:extLst>
              <a:ext uri="{FF2B5EF4-FFF2-40B4-BE49-F238E27FC236}">
                <a16:creationId xmlns:a16="http://schemas.microsoft.com/office/drawing/2014/main" id="{EB9F2579-DFAD-3313-5996-7A84A8C57B3D}"/>
              </a:ext>
            </a:extLst>
          </p:cNvPr>
          <p:cNvSpPr txBox="1"/>
          <p:nvPr/>
        </p:nvSpPr>
        <p:spPr>
          <a:xfrm>
            <a:off x="9621204" y="3420357"/>
            <a:ext cx="2206800" cy="847430"/>
          </a:xfrm>
          <a:prstGeom prst="roundRect">
            <a:avLst>
              <a:gd name="adj" fmla="val 11269"/>
            </a:avLst>
          </a:prstGeom>
          <a:solidFill>
            <a:srgbClr val="173E55"/>
          </a:solidFill>
        </p:spPr>
        <p:txBody>
          <a:bodyPr wrap="square" lIns="216000" rIns="216000" bIns="108000" numCol="1" spcCol="108000" rtlCol="0" anchor="ctr" anchorCtr="0">
            <a:noAutofit/>
          </a:bodyPr>
          <a:lstStyle/>
          <a:p>
            <a:pPr marL="0" marR="0" lvl="0" indent="0"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200" b="1" i="0" u="none" strike="noStrike" kern="1200" cap="none" spc="0" normalizeH="0" baseline="0" noProof="0" dirty="0">
                <a:ln>
                  <a:noFill/>
                </a:ln>
                <a:solidFill>
                  <a:srgbClr val="FFA726"/>
                </a:solidFill>
                <a:effectLst/>
                <a:uLnTx/>
                <a:uFillTx/>
                <a:latin typeface="Raleway"/>
                <a:ea typeface="+mn-ea"/>
                <a:cs typeface="Arial"/>
                <a:sym typeface="Arial"/>
              </a:rPr>
              <a:t>Impact (5-10%</a:t>
            </a:r>
            <a:r>
              <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rPr>
              <a:t>)</a:t>
            </a:r>
            <a:br>
              <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rPr>
            </a:br>
            <a:r>
              <a:rPr lang="en-US" sz="1200" dirty="0">
                <a:solidFill>
                  <a:srgbClr val="FFA726"/>
                </a:solidFill>
                <a:latin typeface="Raleway"/>
                <a:cs typeface="Arial"/>
                <a:sym typeface="Arial"/>
              </a:rPr>
              <a:t>Invest in measurable outcomes</a:t>
            </a:r>
            <a:endPar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endParaRPr>
          </a:p>
        </p:txBody>
      </p:sp>
      <p:sp>
        <p:nvSpPr>
          <p:cNvPr id="55" name="TextBox 37">
            <a:extLst>
              <a:ext uri="{FF2B5EF4-FFF2-40B4-BE49-F238E27FC236}">
                <a16:creationId xmlns:a16="http://schemas.microsoft.com/office/drawing/2014/main" id="{CDCEB2D2-FA68-6FF1-7824-AE4E52EE806E}"/>
              </a:ext>
            </a:extLst>
          </p:cNvPr>
          <p:cNvSpPr txBox="1"/>
          <p:nvPr/>
        </p:nvSpPr>
        <p:spPr>
          <a:xfrm>
            <a:off x="9621204" y="4480069"/>
            <a:ext cx="2206800" cy="847430"/>
          </a:xfrm>
          <a:prstGeom prst="roundRect">
            <a:avLst>
              <a:gd name="adj" fmla="val 11269"/>
            </a:avLst>
          </a:prstGeom>
          <a:solidFill>
            <a:srgbClr val="173E55"/>
          </a:solidFill>
        </p:spPr>
        <p:txBody>
          <a:bodyPr wrap="square" lIns="216000" rIns="216000" bIns="108000" numCol="1" spcCol="108000" rtlCol="0" anchor="ctr" anchorCtr="0">
            <a:noAutofit/>
          </a:bodyPr>
          <a:lstStyle/>
          <a:p>
            <a:pPr marL="0" marR="0" lvl="0" indent="0"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200" b="1" i="0" u="none" strike="noStrike" kern="1200" cap="none" spc="0" normalizeH="0" baseline="0" noProof="0" dirty="0">
                <a:ln>
                  <a:noFill/>
                </a:ln>
                <a:solidFill>
                  <a:srgbClr val="FFA726"/>
                </a:solidFill>
                <a:effectLst/>
                <a:uLnTx/>
                <a:uFillTx/>
                <a:latin typeface="Raleway"/>
                <a:ea typeface="+mn-ea"/>
                <a:cs typeface="Arial"/>
                <a:sym typeface="Arial"/>
              </a:rPr>
              <a:t>Private Credit </a:t>
            </a:r>
            <a:br>
              <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rPr>
            </a:br>
            <a:r>
              <a:rPr lang="en-US" sz="1200" dirty="0">
                <a:solidFill>
                  <a:srgbClr val="FFA726"/>
                </a:solidFill>
                <a:latin typeface="Raleway"/>
                <a:cs typeface="Arial"/>
                <a:sym typeface="Arial"/>
              </a:rPr>
              <a:t>Direct financing to private business</a:t>
            </a:r>
            <a:endPar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endParaRPr>
          </a:p>
        </p:txBody>
      </p:sp>
      <p:sp>
        <p:nvSpPr>
          <p:cNvPr id="56" name="TextBox 37">
            <a:extLst>
              <a:ext uri="{FF2B5EF4-FFF2-40B4-BE49-F238E27FC236}">
                <a16:creationId xmlns:a16="http://schemas.microsoft.com/office/drawing/2014/main" id="{AFE6BC65-F1F4-EF3D-B9E6-5A0F65647F86}"/>
              </a:ext>
            </a:extLst>
          </p:cNvPr>
          <p:cNvSpPr txBox="1"/>
          <p:nvPr/>
        </p:nvSpPr>
        <p:spPr>
          <a:xfrm>
            <a:off x="9621204" y="5539780"/>
            <a:ext cx="2206800" cy="847430"/>
          </a:xfrm>
          <a:prstGeom prst="roundRect">
            <a:avLst>
              <a:gd name="adj" fmla="val 11269"/>
            </a:avLst>
          </a:prstGeom>
          <a:solidFill>
            <a:srgbClr val="173E55"/>
          </a:solidFill>
        </p:spPr>
        <p:txBody>
          <a:bodyPr wrap="square" lIns="216000" rIns="216000" bIns="108000" numCol="1" spcCol="108000" rtlCol="0" anchor="ctr" anchorCtr="0">
            <a:noAutofit/>
          </a:bodyPr>
          <a:lstStyle/>
          <a:p>
            <a:pPr marL="0" marR="0" lvl="0" indent="0" defTabSz="914400" rtl="0" eaLnBrk="1" fontAlgn="auto" latinLnBrk="0" hangingPunct="1">
              <a:lnSpc>
                <a:spcPct val="100000"/>
              </a:lnSpc>
              <a:spcBef>
                <a:spcPts val="600"/>
              </a:spcBef>
              <a:spcAft>
                <a:spcPts val="600"/>
              </a:spcAft>
              <a:buClr>
                <a:srgbClr val="E4A039"/>
              </a:buClr>
              <a:buSzPct val="100000"/>
              <a:buFontTx/>
              <a:buNone/>
              <a:tabLst/>
              <a:defRPr/>
            </a:pPr>
            <a:r>
              <a:rPr kumimoji="0" lang="en-US" sz="1200" b="1" i="0" u="none" strike="noStrike" kern="1200" cap="none" spc="0" normalizeH="0" baseline="0" noProof="0" dirty="0">
                <a:ln>
                  <a:noFill/>
                </a:ln>
                <a:solidFill>
                  <a:srgbClr val="FFA726"/>
                </a:solidFill>
                <a:effectLst/>
                <a:uLnTx/>
                <a:uFillTx/>
                <a:latin typeface="Raleway"/>
                <a:ea typeface="+mn-ea"/>
                <a:cs typeface="Arial"/>
                <a:sym typeface="Arial"/>
              </a:rPr>
              <a:t>Private Equity </a:t>
            </a:r>
            <a:br>
              <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rPr>
            </a:br>
            <a:r>
              <a:rPr lang="en-US" sz="1200" dirty="0">
                <a:solidFill>
                  <a:srgbClr val="FFA726"/>
                </a:solidFill>
                <a:latin typeface="Raleway"/>
                <a:cs typeface="Arial"/>
                <a:sym typeface="Arial"/>
              </a:rPr>
              <a:t>Invest in private companies</a:t>
            </a:r>
            <a:endParaRPr kumimoji="0" lang="en-US" sz="1200" b="0" i="0" u="none" strike="noStrike" kern="1200" cap="none" spc="0" normalizeH="0" baseline="0" noProof="0" dirty="0">
              <a:ln>
                <a:noFill/>
              </a:ln>
              <a:solidFill>
                <a:srgbClr val="FFA726"/>
              </a:solidFill>
              <a:effectLst/>
              <a:uLnTx/>
              <a:uFillTx/>
              <a:latin typeface="Raleway"/>
              <a:ea typeface="+mn-ea"/>
              <a:cs typeface="Arial"/>
              <a:sym typeface="Arial"/>
            </a:endParaRPr>
          </a:p>
        </p:txBody>
      </p:sp>
    </p:spTree>
    <p:extLst>
      <p:ext uri="{BB962C8B-B14F-4D97-AF65-F5344CB8AC3E}">
        <p14:creationId xmlns:p14="http://schemas.microsoft.com/office/powerpoint/2010/main" val="1127061136"/>
      </p:ext>
    </p:extLst>
  </p:cSld>
  <p:clrMapOvr>
    <a:masterClrMapping/>
  </p:clrMapOvr>
  <p:extLst>
    <p:ext uri="{6950BFC3-D8DA-4A85-94F7-54DA5524770B}">
      <p188:commentRel xmlns:p188="http://schemas.microsoft.com/office/powerpoint/2018/8/main" r:id="rId3"/>
    </p:ext>
  </p:extLs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Value proposition for investors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29">
            <a:extLst>
              <a:ext uri="{FF2B5EF4-FFF2-40B4-BE49-F238E27FC236}">
                <a16:creationId xmlns:a16="http://schemas.microsoft.com/office/drawing/2014/main" id="{BBA13214-475D-C8DA-617E-7E1ACB10C094}"/>
              </a:ext>
            </a:extLst>
          </p:cNvPr>
          <p:cNvSpPr txBox="1"/>
          <p:nvPr/>
        </p:nvSpPr>
        <p:spPr>
          <a:xfrm>
            <a:off x="607509" y="1357919"/>
            <a:ext cx="597617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Capital calls</a:t>
            </a:r>
          </a:p>
        </p:txBody>
      </p:sp>
      <p:pic>
        <p:nvPicPr>
          <p:cNvPr id="2" name="Afbeelding 12" descr="Afbeelding met tekst, schermopname, Lettertype, lijn&#10;&#10;Door AI gegenereerde inhoud is mogelijk onjuist.">
            <a:extLst>
              <a:ext uri="{FF2B5EF4-FFF2-40B4-BE49-F238E27FC236}">
                <a16:creationId xmlns:a16="http://schemas.microsoft.com/office/drawing/2014/main" id="{F7AD7152-CEDD-C33A-4868-52A686E86369}"/>
              </a:ext>
            </a:extLst>
          </p:cNvPr>
          <p:cNvPicPr>
            <a:picLocks noChangeAspect="1"/>
          </p:cNvPicPr>
          <p:nvPr/>
        </p:nvPicPr>
        <p:blipFill>
          <a:blip r:embed="rId4"/>
          <a:srcRect b="17399"/>
          <a:stretch>
            <a:fillRect/>
          </a:stretch>
        </p:blipFill>
        <p:spPr>
          <a:xfrm>
            <a:off x="692231" y="1969331"/>
            <a:ext cx="8143692" cy="4484513"/>
          </a:xfrm>
          <a:prstGeom prst="roundRect">
            <a:avLst>
              <a:gd name="adj" fmla="val 7183"/>
            </a:avLst>
          </a:prstGeom>
        </p:spPr>
      </p:pic>
      <p:sp>
        <p:nvSpPr>
          <p:cNvPr id="4" name="TextBox 37">
            <a:extLst>
              <a:ext uri="{FF2B5EF4-FFF2-40B4-BE49-F238E27FC236}">
                <a16:creationId xmlns:a16="http://schemas.microsoft.com/office/drawing/2014/main" id="{0F304ACC-5FFD-DDE0-6F23-FCEABFCCD42D}"/>
              </a:ext>
            </a:extLst>
          </p:cNvPr>
          <p:cNvSpPr txBox="1"/>
          <p:nvPr/>
        </p:nvSpPr>
        <p:spPr>
          <a:xfrm>
            <a:off x="9027042" y="1969331"/>
            <a:ext cx="2802724" cy="4484513"/>
          </a:xfrm>
          <a:prstGeom prst="roundRect">
            <a:avLst>
              <a:gd name="adj" fmla="val 9052"/>
            </a:avLst>
          </a:prstGeom>
          <a:solidFill>
            <a:srgbClr val="F3F1ED"/>
          </a:solidFill>
        </p:spPr>
        <p:txBody>
          <a:bodyPr wrap="square" lIns="72000" rIns="216000" bIns="108000" numCol="1" spcCol="108000" rtlCol="0" anchor="ctr" anchorCtr="0">
            <a:noAutofit/>
          </a:bodyPr>
          <a:lstStyle/>
          <a:p>
            <a:pPr>
              <a:defRPr/>
            </a:pPr>
            <a:r>
              <a:rPr kumimoji="0" lang="en-US" sz="1600" b="1" i="0" u="none" strike="noStrike" kern="1200" cap="none" spc="0" normalizeH="0" baseline="0" noProof="0" dirty="0">
                <a:ln>
                  <a:noFill/>
                </a:ln>
                <a:solidFill>
                  <a:srgbClr val="FFB703"/>
                </a:solidFill>
                <a:effectLst/>
                <a:uLnTx/>
                <a:uFillTx/>
                <a:latin typeface="Raleway"/>
                <a:ea typeface="+mn-ea"/>
                <a:cs typeface="+mn-cs"/>
              </a:rPr>
              <a:t>Investor Value Proposition</a:t>
            </a:r>
            <a:endParaRPr kumimoji="0" lang="en-US" sz="1600" b="1" i="0" u="none" strike="noStrike" kern="1200" cap="none" spc="0" normalizeH="0" baseline="0" noProof="0" dirty="0">
              <a:ln>
                <a:noFill/>
              </a:ln>
              <a:solidFill>
                <a:srgbClr val="173E55"/>
              </a:solidFill>
              <a:effectLst/>
              <a:uLnTx/>
              <a:uFillTx/>
              <a:latin typeface="Raleway"/>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Simple structure – one fund, fixed commitment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Limited capital calls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Access to multiple funds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Capital put at work immediately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Increased payout returns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Subscribe periodically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Redemption option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73E55"/>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73E55"/>
                </a:solidFill>
                <a:effectLst/>
                <a:uLnTx/>
                <a:uFillTx/>
                <a:latin typeface="Open Sans"/>
                <a:ea typeface="+mn-ea"/>
                <a:cs typeface="+mn-cs"/>
              </a:rPr>
              <a:t>Perpetual life</a:t>
            </a:r>
            <a:endParaRPr kumimoji="0" lang="en-US" sz="1200" b="1" i="0" u="none" strike="noStrike" kern="1200" cap="none" spc="0" normalizeH="0" baseline="0" noProof="0" dirty="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1241852514"/>
      </p:ext>
    </p:extLst>
  </p:cSld>
  <p:clrMapOvr>
    <a:masterClrMapping/>
  </p:clrMapOvr>
  <p:extLst>
    <p:ext uri="{6950BFC3-D8DA-4A85-94F7-54DA5524770B}">
      <p188:commentRel xmlns:p188="http://schemas.microsoft.com/office/powerpoint/2018/8/main" r:id="rId3"/>
    </p:ext>
  </p:extLs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5" name="TextBox 37">
            <a:extLst>
              <a:ext uri="{FF2B5EF4-FFF2-40B4-BE49-F238E27FC236}">
                <a16:creationId xmlns:a16="http://schemas.microsoft.com/office/drawing/2014/main" id="{EE465471-93BF-AD4E-9FAA-9554F6CCD84A}"/>
              </a:ext>
            </a:extLst>
          </p:cNvPr>
          <p:cNvSpPr txBox="1"/>
          <p:nvPr/>
        </p:nvSpPr>
        <p:spPr>
          <a:xfrm>
            <a:off x="712382" y="1969331"/>
            <a:ext cx="7389628" cy="4484513"/>
          </a:xfrm>
          <a:prstGeom prst="roundRect">
            <a:avLst>
              <a:gd name="adj" fmla="val 9052"/>
            </a:avLst>
          </a:prstGeom>
          <a:solidFill>
            <a:srgbClr val="FFFFFF"/>
          </a:solidFill>
        </p:spPr>
        <p:txBody>
          <a:bodyPr wrap="square" lIns="72000" rIns="216000" bIns="108000" numCol="1" spcCol="108000" rtlCol="0" anchor="ctr" anchorCtr="0">
            <a:noAutofit/>
          </a:bodyPr>
          <a:lstStyle/>
          <a:p>
            <a:pPr>
              <a:defRPr/>
            </a:pPr>
            <a:endParaRPr kumimoji="0" lang="en-US" sz="1200" b="1" i="0" u="none" strike="noStrike" kern="1200" cap="none" spc="0" normalizeH="0" baseline="0" noProof="0" dirty="0">
              <a:ln>
                <a:noFill/>
              </a:ln>
              <a:solidFill>
                <a:prstClr val="white"/>
              </a:solidFill>
              <a:effectLst/>
              <a:uLnTx/>
              <a:uFillTx/>
              <a:latin typeface="Open Sans"/>
              <a:ea typeface="+mn-ea"/>
              <a:cs typeface="+mn-cs"/>
            </a:endParaRPr>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Value proposition for investors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29">
            <a:extLst>
              <a:ext uri="{FF2B5EF4-FFF2-40B4-BE49-F238E27FC236}">
                <a16:creationId xmlns:a16="http://schemas.microsoft.com/office/drawing/2014/main" id="{BBA13214-475D-C8DA-617E-7E1ACB10C094}"/>
              </a:ext>
            </a:extLst>
          </p:cNvPr>
          <p:cNvSpPr txBox="1"/>
          <p:nvPr/>
        </p:nvSpPr>
        <p:spPr>
          <a:xfrm>
            <a:off x="607509" y="1357919"/>
            <a:ext cx="597617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J-curve cash flow</a:t>
            </a: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7">
            <a:extLst>
              <a:ext uri="{FF2B5EF4-FFF2-40B4-BE49-F238E27FC236}">
                <a16:creationId xmlns:a16="http://schemas.microsoft.com/office/drawing/2014/main" id="{0F304ACC-5FFD-DDE0-6F23-FCEABFCCD42D}"/>
              </a:ext>
            </a:extLst>
          </p:cNvPr>
          <p:cNvSpPr txBox="1"/>
          <p:nvPr/>
        </p:nvSpPr>
        <p:spPr>
          <a:xfrm>
            <a:off x="8314660" y="1969331"/>
            <a:ext cx="3515106" cy="4484513"/>
          </a:xfrm>
          <a:prstGeom prst="roundRect">
            <a:avLst>
              <a:gd name="adj" fmla="val 9052"/>
            </a:avLst>
          </a:prstGeom>
          <a:solidFill>
            <a:srgbClr val="004D7A"/>
          </a:solidFill>
        </p:spPr>
        <p:txBody>
          <a:bodyPr wrap="square" lIns="72000" rIns="216000" bIns="108000" numCol="1" spcCol="108000" rtlCol="0" anchor="ctr" anchorCtr="0">
            <a:noAutofit/>
          </a:bodyPr>
          <a:lstStyle/>
          <a:p>
            <a:pPr>
              <a:defRPr/>
            </a:pPr>
            <a:r>
              <a:rPr kumimoji="0" lang="en-GB" sz="1600" b="1" i="0" u="none" strike="noStrike" kern="1200" cap="none" spc="0" normalizeH="0" baseline="0" noProof="0" dirty="0">
                <a:ln>
                  <a:noFill/>
                </a:ln>
                <a:solidFill>
                  <a:srgbClr val="FFB703"/>
                </a:solidFill>
                <a:effectLst/>
                <a:uLnTx/>
                <a:uFillTx/>
                <a:latin typeface="Raleway"/>
                <a:ea typeface="+mn-ea"/>
                <a:cs typeface="+mn-cs"/>
              </a:rPr>
              <a:t>Benefits </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Impact across the value chain – resilience beyond direct operations</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Diversification – continents, sectors, strategies</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Ease of administration – straightforward governance</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Predictable cash flow profile – clear J‑curve with early drawdowns, rising distributions</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De‑risked participation – blended finance lowers cost of capital</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Strategic positioning – access to global partners and priority basins</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Dual returns – measurable water/climate impact + financial performance</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Two anchor investors each invest USD 50m by end 2026. </a:t>
            </a:r>
          </a:p>
          <a:p>
            <a:pPr marL="171450" indent="-171450">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Six frontrunners each invest USD [12.5m] by end 2026.</a:t>
            </a:r>
          </a:p>
        </p:txBody>
      </p:sp>
      <p:pic>
        <p:nvPicPr>
          <p:cNvPr id="3" name="Afbeelding 4" descr="Afbeelding met tekst, schermopname, Lettertype, lijn&#10;&#10;Door AI gegenereerde inhoud is mogelijk onjuist.">
            <a:extLst>
              <a:ext uri="{FF2B5EF4-FFF2-40B4-BE49-F238E27FC236}">
                <a16:creationId xmlns:a16="http://schemas.microsoft.com/office/drawing/2014/main" id="{912C2128-4344-DAE5-34A4-E4F3156480F2}"/>
              </a:ext>
            </a:extLst>
          </p:cNvPr>
          <p:cNvPicPr>
            <a:picLocks noChangeAspect="1"/>
          </p:cNvPicPr>
          <p:nvPr/>
        </p:nvPicPr>
        <p:blipFill>
          <a:blip r:embed="rId4"/>
          <a:stretch>
            <a:fillRect/>
          </a:stretch>
        </p:blipFill>
        <p:spPr>
          <a:xfrm>
            <a:off x="784204" y="2564919"/>
            <a:ext cx="7126420" cy="2935162"/>
          </a:xfrm>
          <a:prstGeom prst="rect">
            <a:avLst/>
          </a:prstGeom>
        </p:spPr>
      </p:pic>
    </p:spTree>
    <p:extLst>
      <p:ext uri="{BB962C8B-B14F-4D97-AF65-F5344CB8AC3E}">
        <p14:creationId xmlns:p14="http://schemas.microsoft.com/office/powerpoint/2010/main" val="4141624241"/>
      </p:ext>
    </p:extLst>
  </p:cSld>
  <p:clrMapOvr>
    <a:masterClrMapping/>
  </p:clrMapOvr>
  <p:extLst>
    <p:ext uri="{6950BFC3-D8DA-4A85-94F7-54DA5524770B}">
      <p188:commentRel xmlns:p188="http://schemas.microsoft.com/office/powerpoint/2018/8/main" r:id="rId3"/>
    </p:ext>
  </p:extLs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5" name="TextBox 37">
            <a:extLst>
              <a:ext uri="{FF2B5EF4-FFF2-40B4-BE49-F238E27FC236}">
                <a16:creationId xmlns:a16="http://schemas.microsoft.com/office/drawing/2014/main" id="{EE465471-93BF-AD4E-9FAA-9554F6CCD84A}"/>
              </a:ext>
            </a:extLst>
          </p:cNvPr>
          <p:cNvSpPr txBox="1"/>
          <p:nvPr/>
        </p:nvSpPr>
        <p:spPr>
          <a:xfrm>
            <a:off x="712382" y="2057308"/>
            <a:ext cx="5474266" cy="2627581"/>
          </a:xfrm>
          <a:prstGeom prst="roundRect">
            <a:avLst>
              <a:gd name="adj" fmla="val 9052"/>
            </a:avLst>
          </a:prstGeom>
          <a:solidFill>
            <a:srgbClr val="FFFFFF"/>
          </a:solidFill>
        </p:spPr>
        <p:txBody>
          <a:bodyPr wrap="square" lIns="72000" rIns="216000" bIns="108000" numCol="1" spcCol="108000" rtlCol="0" anchor="ctr" anchorCtr="0">
            <a:noAutofit/>
          </a:bodyPr>
          <a:lstStyle/>
          <a:p>
            <a:pPr>
              <a:defRPr/>
            </a:pPr>
            <a:endParaRPr kumimoji="0" lang="en-US" sz="1200" b="1" i="0" u="none" strike="noStrike" kern="1200" cap="none" spc="0" normalizeH="0" baseline="0" noProof="0" dirty="0">
              <a:ln>
                <a:noFill/>
              </a:ln>
              <a:solidFill>
                <a:prstClr val="white"/>
              </a:solidFill>
              <a:effectLst/>
              <a:uLnTx/>
              <a:uFillTx/>
              <a:latin typeface="Open Sans"/>
              <a:ea typeface="+mn-ea"/>
              <a:cs typeface="+mn-cs"/>
            </a:endParaRPr>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3" y="823718"/>
            <a:ext cx="9163748"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prstClr val="white"/>
                </a:solidFill>
                <a:effectLst/>
                <a:uLnTx/>
                <a:uFillTx/>
                <a:latin typeface="Raleway"/>
                <a:ea typeface="+mj-ea"/>
                <a:cs typeface="+mj-cs"/>
              </a:rPr>
              <a:t>Value proposition for investors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6" name="TextBox 29">
            <a:extLst>
              <a:ext uri="{FF2B5EF4-FFF2-40B4-BE49-F238E27FC236}">
                <a16:creationId xmlns:a16="http://schemas.microsoft.com/office/drawing/2014/main" id="{BBA13214-475D-C8DA-617E-7E1ACB10C094}"/>
              </a:ext>
            </a:extLst>
          </p:cNvPr>
          <p:cNvSpPr txBox="1"/>
          <p:nvPr/>
        </p:nvSpPr>
        <p:spPr>
          <a:xfrm>
            <a:off x="607509" y="1357919"/>
            <a:ext cx="5976172"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While delivering positive water impact</a:t>
            </a: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extBox 37">
            <a:extLst>
              <a:ext uri="{FF2B5EF4-FFF2-40B4-BE49-F238E27FC236}">
                <a16:creationId xmlns:a16="http://schemas.microsoft.com/office/drawing/2014/main" id="{0F304ACC-5FFD-DDE0-6F23-FCEABFCCD42D}"/>
              </a:ext>
            </a:extLst>
          </p:cNvPr>
          <p:cNvSpPr txBox="1"/>
          <p:nvPr/>
        </p:nvSpPr>
        <p:spPr>
          <a:xfrm>
            <a:off x="712382" y="4969061"/>
            <a:ext cx="11117384" cy="1484783"/>
          </a:xfrm>
          <a:prstGeom prst="roundRect">
            <a:avLst>
              <a:gd name="adj" fmla="val 9052"/>
            </a:avLst>
          </a:prstGeom>
          <a:solidFill>
            <a:srgbClr val="004D7A"/>
          </a:solidFill>
        </p:spPr>
        <p:txBody>
          <a:bodyPr wrap="square" lIns="72000" rIns="216000" bIns="108000" numCol="2" spcCol="108000" rtlCol="0" anchor="ctr" anchorCtr="0">
            <a:noAutofit/>
          </a:bodyPr>
          <a:lstStyle/>
          <a:p>
            <a:pPr>
              <a:lnSpc>
                <a:spcPct val="150000"/>
              </a:lnSpc>
              <a:defRPr/>
            </a:pPr>
            <a:r>
              <a:rPr kumimoji="0" lang="en-US" sz="1600" b="1" i="0" u="none" strike="noStrike" kern="1200" cap="none" spc="0" normalizeH="0" baseline="0" noProof="0" dirty="0">
                <a:ln>
                  <a:noFill/>
                </a:ln>
                <a:solidFill>
                  <a:srgbClr val="FFA726"/>
                </a:solidFill>
                <a:effectLst/>
                <a:uLnTx/>
                <a:uFillTx/>
                <a:latin typeface="+mj-lt"/>
                <a:ea typeface="+mn-ea"/>
                <a:cs typeface="+mn-cs"/>
              </a:rPr>
              <a:t>Overall benefits</a:t>
            </a:r>
            <a:endParaRPr kumimoji="0" lang="en-US" sz="1200" b="0" i="0" u="none" strike="noStrike" kern="1200" cap="none" spc="0" normalizeH="0" baseline="0" noProof="0" dirty="0">
              <a:ln>
                <a:noFill/>
              </a:ln>
              <a:solidFill>
                <a:srgbClr val="F3F1ED"/>
              </a:solidFill>
              <a:effectLst/>
              <a:uLnTx/>
              <a:uFillTx/>
              <a:latin typeface="Open Sans"/>
              <a:ea typeface="+mn-ea"/>
              <a:cs typeface="+mn-cs"/>
            </a:endParaRP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Impact across the value chain – resilience</a:t>
            </a: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Diversification – continents, sectors, strategies</a:t>
            </a: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Ease of administration – straightforward governance</a:t>
            </a: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Predictable cash flow profile</a:t>
            </a: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De‑risked participation – blended finance</a:t>
            </a: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Strategic positioning – priority basins</a:t>
            </a:r>
          </a:p>
          <a:p>
            <a:pPr marL="171450" indent="-171450">
              <a:lnSpc>
                <a:spcPct val="150000"/>
              </a:lnSpc>
              <a:buFont typeface="Arial" panose="020B0604020202020204" pitchFamily="34" charset="0"/>
              <a:buChar char="•"/>
              <a:defRPr/>
            </a:pPr>
            <a:r>
              <a:rPr kumimoji="0" lang="en-US" sz="1200" b="0" i="0" u="none" strike="noStrike" kern="1200" cap="none" spc="0" normalizeH="0" baseline="0" noProof="0" dirty="0">
                <a:ln>
                  <a:noFill/>
                </a:ln>
                <a:solidFill>
                  <a:srgbClr val="F3F1ED"/>
                </a:solidFill>
                <a:effectLst/>
                <a:uLnTx/>
                <a:uFillTx/>
                <a:latin typeface="Open Sans"/>
                <a:ea typeface="+mn-ea"/>
                <a:cs typeface="+mn-cs"/>
              </a:rPr>
              <a:t>Dual returns – measurable water/climate impact + financial performance</a:t>
            </a:r>
          </a:p>
        </p:txBody>
      </p:sp>
      <p:pic>
        <p:nvPicPr>
          <p:cNvPr id="3" name="Afbeelding 4" descr="Afbeelding met tekst, schermopname, Lettertype, lijn&#10;&#10;Door AI gegenereerde inhoud is mogelijk onjuist.">
            <a:extLst>
              <a:ext uri="{FF2B5EF4-FFF2-40B4-BE49-F238E27FC236}">
                <a16:creationId xmlns:a16="http://schemas.microsoft.com/office/drawing/2014/main" id="{912C2128-4344-DAE5-34A4-E4F3156480F2}"/>
              </a:ext>
            </a:extLst>
          </p:cNvPr>
          <p:cNvPicPr>
            <a:picLocks noChangeAspect="1"/>
          </p:cNvPicPr>
          <p:nvPr/>
        </p:nvPicPr>
        <p:blipFill>
          <a:blip r:embed="rId3"/>
          <a:stretch>
            <a:fillRect/>
          </a:stretch>
        </p:blipFill>
        <p:spPr>
          <a:xfrm>
            <a:off x="784204" y="2341480"/>
            <a:ext cx="5239519" cy="2158003"/>
          </a:xfrm>
          <a:prstGeom prst="rect">
            <a:avLst/>
          </a:prstGeom>
        </p:spPr>
      </p:pic>
      <p:pic>
        <p:nvPicPr>
          <p:cNvPr id="2" name="Afbeelding 12" descr="Afbeelding met tekst, schermopname, Lettertype, lijn&#10;&#10;Door AI gegenereerde inhoud is mogelijk onjuist.">
            <a:extLst>
              <a:ext uri="{FF2B5EF4-FFF2-40B4-BE49-F238E27FC236}">
                <a16:creationId xmlns:a16="http://schemas.microsoft.com/office/drawing/2014/main" id="{8FAEC56B-6063-5E83-2249-E37E7D30A404}"/>
              </a:ext>
            </a:extLst>
          </p:cNvPr>
          <p:cNvPicPr>
            <a:picLocks noChangeAspect="1"/>
          </p:cNvPicPr>
          <p:nvPr/>
        </p:nvPicPr>
        <p:blipFill rotWithShape="1">
          <a:blip r:embed="rId4"/>
          <a:srcRect t="10443" b="17399"/>
          <a:stretch/>
        </p:blipFill>
        <p:spPr>
          <a:xfrm>
            <a:off x="6391673" y="2041244"/>
            <a:ext cx="5495525" cy="2643646"/>
          </a:xfrm>
          <a:prstGeom prst="roundRect">
            <a:avLst>
              <a:gd name="adj" fmla="val 7183"/>
            </a:avLst>
          </a:prstGeom>
        </p:spPr>
      </p:pic>
      <p:cxnSp>
        <p:nvCxnSpPr>
          <p:cNvPr id="7" name="Rechte verbindingslijn 37">
            <a:extLst>
              <a:ext uri="{FF2B5EF4-FFF2-40B4-BE49-F238E27FC236}">
                <a16:creationId xmlns:a16="http://schemas.microsoft.com/office/drawing/2014/main" id="{EFA67366-9068-20B3-69EB-A69AAA5DE2B2}"/>
              </a:ext>
            </a:extLst>
          </p:cNvPr>
          <p:cNvCxnSpPr>
            <a:cxnSpLocks/>
          </p:cNvCxnSpPr>
          <p:nvPr/>
        </p:nvCxnSpPr>
        <p:spPr>
          <a:xfrm>
            <a:off x="712382" y="1973597"/>
            <a:ext cx="5474266" cy="0"/>
          </a:xfrm>
          <a:prstGeom prst="line">
            <a:avLst/>
          </a:prstGeom>
          <a:ln>
            <a:solidFill>
              <a:srgbClr val="B7D6E1"/>
            </a:solidFill>
          </a:ln>
        </p:spPr>
        <p:style>
          <a:lnRef idx="2">
            <a:schemeClr val="accent1"/>
          </a:lnRef>
          <a:fillRef idx="0">
            <a:schemeClr val="accent1"/>
          </a:fillRef>
          <a:effectRef idx="1">
            <a:schemeClr val="accent1"/>
          </a:effectRef>
          <a:fontRef idx="minor">
            <a:schemeClr val="tx1"/>
          </a:fontRef>
        </p:style>
      </p:cxnSp>
      <p:sp>
        <p:nvSpPr>
          <p:cNvPr id="8" name="Tekstvak 34">
            <a:extLst>
              <a:ext uri="{FF2B5EF4-FFF2-40B4-BE49-F238E27FC236}">
                <a16:creationId xmlns:a16="http://schemas.microsoft.com/office/drawing/2014/main" id="{76C84EBC-1132-FC10-15D9-83FAFF78ECB8}"/>
              </a:ext>
            </a:extLst>
          </p:cNvPr>
          <p:cNvSpPr txBox="1"/>
          <p:nvPr/>
        </p:nvSpPr>
        <p:spPr>
          <a:xfrm>
            <a:off x="722705" y="1731504"/>
            <a:ext cx="5463944" cy="204196"/>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i="0" u="none" strike="noStrike" kern="1200" cap="none" spc="0" normalizeH="0" baseline="0" noProof="0" dirty="0">
                <a:ln>
                  <a:noFill/>
                </a:ln>
                <a:solidFill>
                  <a:srgbClr val="B7D6E1"/>
                </a:solidFill>
                <a:effectLst/>
                <a:uLnTx/>
                <a:uFillTx/>
                <a:latin typeface="Raleway"/>
                <a:ea typeface="+mn-ea"/>
                <a:cs typeface="+mn-cs"/>
              </a:rPr>
              <a:t>J-CURVE CASH FLOW</a:t>
            </a:r>
          </a:p>
        </p:txBody>
      </p:sp>
      <p:cxnSp>
        <p:nvCxnSpPr>
          <p:cNvPr id="17" name="Rechte verbindingslijn 37">
            <a:extLst>
              <a:ext uri="{FF2B5EF4-FFF2-40B4-BE49-F238E27FC236}">
                <a16:creationId xmlns:a16="http://schemas.microsoft.com/office/drawing/2014/main" id="{AC2ADB80-BD32-7C3B-C3CA-8AC269B89A97}"/>
              </a:ext>
            </a:extLst>
          </p:cNvPr>
          <p:cNvCxnSpPr>
            <a:cxnSpLocks/>
          </p:cNvCxnSpPr>
          <p:nvPr/>
        </p:nvCxnSpPr>
        <p:spPr>
          <a:xfrm>
            <a:off x="6411434" y="1973597"/>
            <a:ext cx="5474266" cy="0"/>
          </a:xfrm>
          <a:prstGeom prst="line">
            <a:avLst/>
          </a:prstGeom>
          <a:ln>
            <a:solidFill>
              <a:srgbClr val="B7D6E1"/>
            </a:solidFill>
          </a:ln>
        </p:spPr>
        <p:style>
          <a:lnRef idx="2">
            <a:schemeClr val="accent1"/>
          </a:lnRef>
          <a:fillRef idx="0">
            <a:schemeClr val="accent1"/>
          </a:fillRef>
          <a:effectRef idx="1">
            <a:schemeClr val="accent1"/>
          </a:effectRef>
          <a:fontRef idx="minor">
            <a:schemeClr val="tx1"/>
          </a:fontRef>
        </p:style>
      </p:cxnSp>
      <p:sp>
        <p:nvSpPr>
          <p:cNvPr id="18" name="Tekstvak 34">
            <a:extLst>
              <a:ext uri="{FF2B5EF4-FFF2-40B4-BE49-F238E27FC236}">
                <a16:creationId xmlns:a16="http://schemas.microsoft.com/office/drawing/2014/main" id="{45162F5D-94E5-B15C-6891-A417B92A63AB}"/>
              </a:ext>
            </a:extLst>
          </p:cNvPr>
          <p:cNvSpPr txBox="1"/>
          <p:nvPr/>
        </p:nvSpPr>
        <p:spPr>
          <a:xfrm>
            <a:off x="6421757" y="1731504"/>
            <a:ext cx="5463944" cy="204196"/>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i="0" u="none" strike="noStrike" kern="1200" cap="none" spc="0" normalizeH="0" baseline="0" noProof="0" dirty="0">
                <a:ln>
                  <a:noFill/>
                </a:ln>
                <a:solidFill>
                  <a:srgbClr val="B7D6E1"/>
                </a:solidFill>
                <a:effectLst/>
                <a:uLnTx/>
                <a:uFillTx/>
                <a:latin typeface="Raleway"/>
                <a:ea typeface="+mn-ea"/>
                <a:cs typeface="+mn-cs"/>
              </a:rPr>
              <a:t>CAPITAL CALLS</a:t>
            </a:r>
          </a:p>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endParaRPr kumimoji="0" lang="en-US" sz="1100" i="0" u="none" strike="noStrike" kern="1200" cap="none" spc="0" normalizeH="0" baseline="0" noProof="0" dirty="0">
              <a:ln>
                <a:noFill/>
              </a:ln>
              <a:solidFill>
                <a:srgbClr val="B7D6E1"/>
              </a:solidFill>
              <a:effectLst/>
              <a:uLnTx/>
              <a:uFillTx/>
              <a:latin typeface="Raleway"/>
              <a:ea typeface="+mn-ea"/>
              <a:cs typeface="+mn-cs"/>
            </a:endParaRPr>
          </a:p>
        </p:txBody>
      </p:sp>
    </p:spTree>
    <p:extLst>
      <p:ext uri="{BB962C8B-B14F-4D97-AF65-F5344CB8AC3E}">
        <p14:creationId xmlns:p14="http://schemas.microsoft.com/office/powerpoint/2010/main" val="7295156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Targeted Geography, Sectors, Themes</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Investing in priority water basin value chains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A726"/>
              </a:solidFill>
              <a:effectLst/>
              <a:uLnTx/>
              <a:uFillTx/>
              <a:latin typeface="Open Sans"/>
              <a:ea typeface="+mn-ea"/>
              <a:cs typeface="+mn-cs"/>
            </a:endParaRPr>
          </a:p>
        </p:txBody>
      </p:sp>
      <p:sp>
        <p:nvSpPr>
          <p:cNvPr id="3" name="TextBox 9">
            <a:extLst>
              <a:ext uri="{FF2B5EF4-FFF2-40B4-BE49-F238E27FC236}">
                <a16:creationId xmlns:a16="http://schemas.microsoft.com/office/drawing/2014/main" id="{BB6A05A1-FE55-45B9-DE46-02EB481812EE}"/>
              </a:ext>
            </a:extLst>
          </p:cNvPr>
          <p:cNvSpPr txBox="1"/>
          <p:nvPr/>
        </p:nvSpPr>
        <p:spPr>
          <a:xfrm>
            <a:off x="643382" y="4481582"/>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Themes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Priority themes include – </a:t>
            </a:r>
            <a:r>
              <a:rPr kumimoji="0" lang="en-GB" sz="1200" b="0" i="0" u="none" strike="noStrike" kern="1200" cap="none" spc="0" normalizeH="0" baseline="0" noProof="0" dirty="0" err="1">
                <a:ln>
                  <a:noFill/>
                </a:ln>
                <a:solidFill>
                  <a:srgbClr val="FFFFFF"/>
                </a:solidFill>
                <a:effectLst/>
                <a:uLnTx/>
                <a:uFillTx/>
                <a:latin typeface="Open Sans"/>
                <a:ea typeface="+mn-ea"/>
                <a:cs typeface="+mn-cs"/>
              </a:rPr>
              <a:t>gerelateerd</a:t>
            </a:r>
            <a:r>
              <a:rPr kumimoji="0" lang="en-GB" sz="1200" b="0" i="0" u="none" strike="noStrike" kern="1200" cap="none" spc="0" normalizeH="0" baseline="0" noProof="0" dirty="0">
                <a:ln>
                  <a:noFill/>
                </a:ln>
                <a:solidFill>
                  <a:srgbClr val="FFFFFF"/>
                </a:solidFill>
                <a:effectLst/>
                <a:uLnTx/>
                <a:uFillTx/>
                <a:latin typeface="Open Sans"/>
                <a:ea typeface="+mn-ea"/>
                <a:cs typeface="+mn-cs"/>
              </a:rPr>
              <a:t> </a:t>
            </a:r>
            <a:r>
              <a:rPr kumimoji="0" lang="en-GB" sz="1200" b="0" i="0" u="none" strike="noStrike" kern="1200" cap="none" spc="0" normalizeH="0" baseline="0" noProof="0" dirty="0" err="1">
                <a:ln>
                  <a:noFill/>
                </a:ln>
                <a:solidFill>
                  <a:srgbClr val="FFFFFF"/>
                </a:solidFill>
                <a:effectLst/>
                <a:uLnTx/>
                <a:uFillTx/>
                <a:latin typeface="Open Sans"/>
                <a:ea typeface="+mn-ea"/>
                <a:cs typeface="+mn-cs"/>
              </a:rPr>
              <a:t>aan</a:t>
            </a:r>
            <a:r>
              <a:rPr kumimoji="0" lang="en-GB" sz="1200" b="0" i="0" u="none" strike="noStrike" kern="1200" cap="none" spc="0" normalizeH="0" baseline="0" noProof="0" dirty="0">
                <a:ln>
                  <a:noFill/>
                </a:ln>
                <a:solidFill>
                  <a:srgbClr val="FFFFFF"/>
                </a:solidFill>
                <a:effectLst/>
                <a:uLnTx/>
                <a:uFillTx/>
                <a:latin typeface="Open Sans"/>
                <a:ea typeface="+mn-ea"/>
                <a:cs typeface="+mn-cs"/>
              </a:rPr>
              <a:t> business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Open Sans"/>
              <a:ea typeface="+mn-ea"/>
              <a:cs typeface="+mn-cs"/>
            </a:endParaRPr>
          </a:p>
        </p:txBody>
      </p:sp>
      <p:sp>
        <p:nvSpPr>
          <p:cNvPr id="8" name="TextBox 5">
            <a:extLst>
              <a:ext uri="{FF2B5EF4-FFF2-40B4-BE49-F238E27FC236}">
                <a16:creationId xmlns:a16="http://schemas.microsoft.com/office/drawing/2014/main" id="{099D76E7-638C-528F-C866-F551C231B51B}"/>
              </a:ext>
            </a:extLst>
          </p:cNvPr>
          <p:cNvSpPr txBox="1"/>
          <p:nvPr/>
        </p:nvSpPr>
        <p:spPr>
          <a:xfrm>
            <a:off x="627348" y="2035024"/>
            <a:ext cx="7180221" cy="10464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Geography</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Focus on global north and global south. Global north presents increasing water stress, unequal water access, declining infrastructure. Technology and innovation hold the key for addressing issues of access, water sources recharge, quality and circular economy. Global south presents substantial addressable market and impact potential.   </a:t>
            </a:r>
          </a:p>
        </p:txBody>
      </p:sp>
      <p:sp>
        <p:nvSpPr>
          <p:cNvPr id="9" name="TextBox 16">
            <a:extLst>
              <a:ext uri="{FF2B5EF4-FFF2-40B4-BE49-F238E27FC236}">
                <a16:creationId xmlns:a16="http://schemas.microsoft.com/office/drawing/2014/main" id="{B059AABE-3B02-89B8-D3AC-B08340477EF8}"/>
              </a:ext>
            </a:extLst>
          </p:cNvPr>
          <p:cNvSpPr txBox="1"/>
          <p:nvPr/>
        </p:nvSpPr>
        <p:spPr>
          <a:xfrm>
            <a:off x="627348" y="3375010"/>
            <a:ext cx="7180221" cy="67710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Raleway" pitchFamily="2" charset="77"/>
                <a:ea typeface="+mn-ea"/>
                <a:cs typeface="+mn-cs"/>
              </a:rPr>
              <a:t>Sectors</a:t>
            </a:r>
            <a:br>
              <a:rPr kumimoji="0" lang="en-US"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Priority sectors include water infrastructure, consumer goods, textiles, agriculture, tech.  Based on corporate priorities these sectors can be broadened.  </a:t>
            </a:r>
          </a:p>
        </p:txBody>
      </p:sp>
      <p:sp>
        <p:nvSpPr>
          <p:cNvPr id="17" name="AutoShape 2">
            <a:extLst>
              <a:ext uri="{FF2B5EF4-FFF2-40B4-BE49-F238E27FC236}">
                <a16:creationId xmlns:a16="http://schemas.microsoft.com/office/drawing/2014/main" id="{8FDFBDB5-DFAC-9F42-56BD-CCA2EDCA131D}"/>
              </a:ext>
            </a:extLst>
          </p:cNvPr>
          <p:cNvSpPr/>
          <p:nvPr/>
        </p:nvSpPr>
        <p:spPr>
          <a:xfrm>
            <a:off x="732919" y="3198386"/>
            <a:ext cx="7090684"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8" name="AutoShape 2">
            <a:extLst>
              <a:ext uri="{FF2B5EF4-FFF2-40B4-BE49-F238E27FC236}">
                <a16:creationId xmlns:a16="http://schemas.microsoft.com/office/drawing/2014/main" id="{959547E3-0A88-F389-D859-4ABB28F417AF}"/>
              </a:ext>
            </a:extLst>
          </p:cNvPr>
          <p:cNvSpPr/>
          <p:nvPr/>
        </p:nvSpPr>
        <p:spPr>
          <a:xfrm>
            <a:off x="732918" y="4313489"/>
            <a:ext cx="7074651"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19" name="AutoShape 2">
            <a:extLst>
              <a:ext uri="{FF2B5EF4-FFF2-40B4-BE49-F238E27FC236}">
                <a16:creationId xmlns:a16="http://schemas.microsoft.com/office/drawing/2014/main" id="{AE605F28-204F-8622-2407-7031359BD7E1}"/>
              </a:ext>
            </a:extLst>
          </p:cNvPr>
          <p:cNvSpPr/>
          <p:nvPr/>
        </p:nvSpPr>
        <p:spPr>
          <a:xfrm>
            <a:off x="732918" y="5178874"/>
            <a:ext cx="7090685"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20" name="TextBox 4">
            <a:extLst>
              <a:ext uri="{FF2B5EF4-FFF2-40B4-BE49-F238E27FC236}">
                <a16:creationId xmlns:a16="http://schemas.microsoft.com/office/drawing/2014/main" id="{1AF32777-7F77-F3F3-73DA-E6C3A16ECFC9}"/>
              </a:ext>
            </a:extLst>
          </p:cNvPr>
          <p:cNvSpPr txBox="1"/>
          <p:nvPr/>
        </p:nvSpPr>
        <p:spPr>
          <a:xfrm>
            <a:off x="643382" y="5395445"/>
            <a:ext cx="7180221" cy="104644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Targeted water basins and water basin value chains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Focus on priority sector value chains in the 24 priority basins. Enabling private sector projects focused on water infrastructure, natural capital, financial institutions and enterprises that have the goal to respond to and reduce water risks within assets, companies and their value chains.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FFFFFF"/>
              </a:solidFill>
              <a:effectLst/>
              <a:uLnTx/>
              <a:uFillTx/>
              <a:latin typeface="Open Sans"/>
              <a:ea typeface="+mn-ea"/>
              <a:cs typeface="+mn-cs"/>
            </a:endParaRPr>
          </a:p>
        </p:txBody>
      </p:sp>
      <p:pic>
        <p:nvPicPr>
          <p:cNvPr id="4" name="Picture 2">
            <a:extLst>
              <a:ext uri="{FF2B5EF4-FFF2-40B4-BE49-F238E27FC236}">
                <a16:creationId xmlns:a16="http://schemas.microsoft.com/office/drawing/2014/main" id="{2C643811-4172-99A0-9152-B8FBDD2654FD}"/>
              </a:ext>
            </a:extLst>
          </p:cNvPr>
          <p:cNvPicPr>
            <a:picLocks noChangeAspect="1"/>
          </p:cNvPicPr>
          <p:nvPr/>
        </p:nvPicPr>
        <p:blipFill>
          <a:blip r:embed="rId4"/>
          <a:stretch>
            <a:fillRect/>
          </a:stretch>
        </p:blipFill>
        <p:spPr>
          <a:xfrm>
            <a:off x="8102009" y="4426969"/>
            <a:ext cx="3820212" cy="1888457"/>
          </a:xfrm>
          <a:prstGeom prst="rect">
            <a:avLst/>
          </a:prstGeom>
        </p:spPr>
      </p:pic>
    </p:spTree>
    <p:extLst>
      <p:ext uri="{BB962C8B-B14F-4D97-AF65-F5344CB8AC3E}">
        <p14:creationId xmlns:p14="http://schemas.microsoft.com/office/powerpoint/2010/main" val="4108436729"/>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Sample diversified investments </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For illustration purposes only</a:t>
            </a:r>
          </a:p>
        </p:txBody>
      </p:sp>
      <p:sp>
        <p:nvSpPr>
          <p:cNvPr id="5" name="TextBox 37">
            <a:extLst>
              <a:ext uri="{FF2B5EF4-FFF2-40B4-BE49-F238E27FC236}">
                <a16:creationId xmlns:a16="http://schemas.microsoft.com/office/drawing/2014/main" id="{44AC23DA-4908-346C-DE86-1A87898003D0}"/>
              </a:ext>
            </a:extLst>
          </p:cNvPr>
          <p:cNvSpPr txBox="1"/>
          <p:nvPr/>
        </p:nvSpPr>
        <p:spPr>
          <a:xfrm>
            <a:off x="701777" y="1869607"/>
            <a:ext cx="5100313" cy="4680616"/>
          </a:xfrm>
          <a:prstGeom prst="roundRect">
            <a:avLst>
              <a:gd name="adj" fmla="val 3741"/>
            </a:avLst>
          </a:prstGeom>
          <a:solidFill>
            <a:srgbClr val="004D7A"/>
          </a:solidFill>
        </p:spPr>
        <p:txBody>
          <a:bodyPr wrap="square" lIns="144000" rIns="216000" bIns="108000" numCol="1" spcCol="108000" rtlCol="0" anchor="t" anchorCtr="0">
            <a:noAutofit/>
          </a:body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400" b="1" i="0" u="none" strike="noStrike" kern="1200" cap="none" spc="0" normalizeH="0" baseline="0" noProof="0" dirty="0">
                <a:ln>
                  <a:noFill/>
                </a:ln>
                <a:solidFill>
                  <a:srgbClr val="B7D6E1"/>
                </a:solidFill>
                <a:effectLst/>
                <a:uLnTx/>
                <a:uFillTx/>
                <a:latin typeface="Raleway"/>
                <a:ea typeface="Open Sans"/>
                <a:cs typeface="Open Sans"/>
              </a:rPr>
              <a:t>Focus themes (snapshot)</a:t>
            </a:r>
          </a:p>
          <a:p>
            <a:pPr marL="171450" marR="0" lvl="0" indent="-171450" algn="l" defTabSz="914400" rtl="0" eaLnBrk="1" fontAlgn="auto" latinLnBrk="0" hangingPunct="1">
              <a:lnSpc>
                <a:spcPct val="100000"/>
              </a:lnSpc>
              <a:spcBef>
                <a:spcPts val="0"/>
              </a:spcBef>
              <a:spcAft>
                <a:spcPts val="0"/>
              </a:spcAft>
              <a:buClr>
                <a:prstClr val="white"/>
              </a:buClr>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54000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rPr>
              <a:t>Infrastructure: </a:t>
            </a:r>
            <a:br>
              <a:rPr kumimoji="0" lang="en-US" sz="1200" b="1" i="0" u="none" strike="noStrike" kern="1200" cap="none" spc="0" normalizeH="0" baseline="0" noProof="0" dirty="0">
                <a:ln>
                  <a:noFill/>
                </a:ln>
                <a:solidFill>
                  <a:prstClr val="white"/>
                </a:solidFill>
                <a:effectLst/>
                <a:uLnTx/>
                <a:uFillTx/>
                <a:latin typeface="Open Sans"/>
                <a:ea typeface="Open Sans"/>
                <a:cs typeface="Open Sans"/>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Utilities, water security, climate resilience, treatment and supply, infrastructure upgrading (tech solutions) and renewal, re-use.</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rPr>
              <a:t>Natural capital: </a:t>
            </a:r>
            <a:br>
              <a:rPr kumimoji="0" lang="en-US" sz="1200" b="0" i="0" u="none" strike="noStrike" kern="1200" cap="none" spc="0" normalizeH="0" baseline="0" noProof="0" dirty="0">
                <a:ln>
                  <a:noFill/>
                </a:ln>
                <a:solidFill>
                  <a:prstClr val="white"/>
                </a:solidFill>
                <a:effectLst/>
                <a:uLnTx/>
                <a:uFillTx/>
                <a:latin typeface="Open Sans"/>
                <a:ea typeface="Open Sans"/>
                <a:cs typeface="Open Sans"/>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Land management, mangroves, water shed restorations.</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rPr>
              <a:t>MFIs/FIs: </a:t>
            </a:r>
            <a:br>
              <a:rPr kumimoji="0" lang="en-US" sz="1200" b="0" i="0" u="none" strike="noStrike" kern="1200" cap="none" spc="0" normalizeH="0" baseline="0" noProof="0" dirty="0">
                <a:ln>
                  <a:noFill/>
                </a:ln>
                <a:solidFill>
                  <a:prstClr val="white"/>
                </a:solidFill>
                <a:effectLst/>
                <a:uLnTx/>
                <a:uFillTx/>
                <a:latin typeface="Open Sans"/>
                <a:ea typeface="Open Sans"/>
                <a:cs typeface="Open Sans"/>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Climate, gender, SDG aligned themes, ESG aligned, financial inclusion.</a:t>
            </a: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rPr>
              <a:t>SMEs innovations: </a:t>
            </a:r>
            <a:br>
              <a:rPr kumimoji="0" lang="en-US" sz="1200" b="0" i="0" u="none" strike="noStrike" kern="1200" cap="none" spc="0" normalizeH="0" baseline="0" noProof="0" dirty="0">
                <a:ln>
                  <a:noFill/>
                </a:ln>
                <a:solidFill>
                  <a:prstClr val="white"/>
                </a:solidFill>
                <a:effectLst/>
                <a:uLnTx/>
                <a:uFillTx/>
                <a:latin typeface="Open Sans"/>
                <a:ea typeface="Open Sans"/>
                <a:cs typeface="Open Sans"/>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Textile, </a:t>
            </a:r>
            <a:r>
              <a:rPr kumimoji="0" lang="en-US" sz="1200" b="0" i="0" u="none" strike="noStrike" kern="1200" cap="none" spc="0" normalizeH="0" baseline="0" noProof="0" dirty="0" err="1">
                <a:ln>
                  <a:noFill/>
                </a:ln>
                <a:solidFill>
                  <a:prstClr val="white"/>
                </a:solidFill>
                <a:effectLst/>
                <a:uLnTx/>
                <a:uFillTx/>
                <a:latin typeface="Open Sans"/>
                <a:ea typeface="Open Sans"/>
                <a:cs typeface="Open Sans"/>
              </a:rPr>
              <a:t>agri</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 consumer goods, tech, venture.</a:t>
            </a:r>
          </a:p>
          <a:p>
            <a:pPr marL="171450" marR="0" lvl="0" indent="-171450" algn="l" defTabSz="914400" rtl="0" eaLnBrk="1" fontAlgn="auto" latinLnBrk="0" hangingPunct="1">
              <a:lnSpc>
                <a:spcPct val="100000"/>
              </a:lnSpc>
              <a:spcBef>
                <a:spcPts val="0"/>
              </a:spcBef>
              <a:spcAft>
                <a:spcPts val="0"/>
              </a:spcAft>
              <a:buClr>
                <a:prstClr val="white"/>
              </a:buClr>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B7D6E1"/>
                </a:solidFill>
                <a:effectLst/>
                <a:uLnTx/>
                <a:uFillTx/>
                <a:latin typeface="Raleway"/>
                <a:ea typeface="+mn-ea"/>
                <a:cs typeface="+mn-cs"/>
              </a:rPr>
              <a:t>Indicative terms (snapshot)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Capital Commitment: Minimum USD 12.5m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Fundraising Timeline: First close Dec 2026 (USD 150m); final close Dec 2028 (USD 1.5B).</a:t>
            </a:r>
          </a:p>
          <a:p>
            <a:pPr marL="171450" marR="0" lvl="0" indent="-171450" algn="l" defTabSz="914400" rtl="0" eaLnBrk="1" fontAlgn="auto" latinLnBrk="0" hangingPunct="1">
              <a:lnSpc>
                <a:spcPct val="100000"/>
              </a:lnSpc>
              <a:spcBef>
                <a:spcPts val="0"/>
              </a:spcBef>
              <a:spcAft>
                <a:spcPts val="0"/>
              </a:spcAft>
              <a:buClr>
                <a:prstClr val="white"/>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Investment period:  10-12yr </a:t>
            </a:r>
          </a:p>
          <a:p>
            <a:pPr marL="171450" marR="0" lvl="0" indent="-171450" algn="l" defTabSz="914400" rtl="0" eaLnBrk="1" fontAlgn="auto" latinLnBrk="0" hangingPunct="1">
              <a:lnSpc>
                <a:spcPct val="100000"/>
              </a:lnSpc>
              <a:spcBef>
                <a:spcPts val="0"/>
              </a:spcBef>
              <a:spcAft>
                <a:spcPts val="0"/>
              </a:spcAft>
              <a:buClr>
                <a:prstClr val="white"/>
              </a:buClr>
              <a:buSzTx/>
              <a:buFont typeface="Arial" panose="020B0604020202020204" pitchFamily="34" charset="0"/>
              <a:buChar char="•"/>
              <a:tabLst/>
              <a:defRPr/>
            </a:pPr>
            <a:r>
              <a:rPr kumimoji="0" lang="en-US" sz="1200" b="0" i="0" u="none" strike="noStrike" kern="1200" cap="none" spc="0" normalizeH="0" baseline="0" noProof="0" dirty="0">
                <a:ln>
                  <a:noFill/>
                </a:ln>
                <a:solidFill>
                  <a:prstClr val="white"/>
                </a:solidFill>
                <a:effectLst/>
                <a:uLnTx/>
                <a:uFillTx/>
                <a:latin typeface="Open Sans"/>
                <a:ea typeface="Open Sans"/>
                <a:cs typeface="Open Sans"/>
              </a:rPr>
              <a:t>Target IRR: 5%-8% net IRR</a:t>
            </a: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
                <a:prstClr val="white"/>
              </a:buClr>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p:txBody>
      </p:sp>
      <p:pic>
        <p:nvPicPr>
          <p:cNvPr id="6" name="Picture 7">
            <a:extLst>
              <a:ext uri="{FF2B5EF4-FFF2-40B4-BE49-F238E27FC236}">
                <a16:creationId xmlns:a16="http://schemas.microsoft.com/office/drawing/2014/main" id="{F3E8DB29-1DC8-12F3-3FAA-0CD52AA2ED53}"/>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500"/>
                    </a14:imgEffect>
                    <a14:imgEffect>
                      <a14:saturation sat="0"/>
                    </a14:imgEffect>
                    <a14:imgEffect>
                      <a14:brightnessContrast bright="100000" contrast="100000"/>
                    </a14:imgEffect>
                  </a14:imgLayer>
                </a14:imgProps>
              </a:ext>
            </a:extLst>
          </a:blip>
          <a:stretch>
            <a:fillRect/>
          </a:stretch>
        </p:blipFill>
        <p:spPr>
          <a:xfrm>
            <a:off x="912578" y="2384332"/>
            <a:ext cx="352296" cy="435839"/>
          </a:xfrm>
          <a:prstGeom prst="rect">
            <a:avLst/>
          </a:prstGeom>
        </p:spPr>
      </p:pic>
      <p:pic>
        <p:nvPicPr>
          <p:cNvPr id="7" name="Picture 11">
            <a:extLst>
              <a:ext uri="{FF2B5EF4-FFF2-40B4-BE49-F238E27FC236}">
                <a16:creationId xmlns:a16="http://schemas.microsoft.com/office/drawing/2014/main" id="{1626758F-099D-04AF-DDF0-7100D1CFBEEB}"/>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contrast="100000"/>
                    </a14:imgEffect>
                  </a14:imgLayer>
                </a14:imgProps>
              </a:ext>
            </a:extLst>
          </a:blip>
          <a:stretch>
            <a:fillRect/>
          </a:stretch>
        </p:blipFill>
        <p:spPr>
          <a:xfrm>
            <a:off x="903804" y="3182772"/>
            <a:ext cx="416683" cy="435840"/>
          </a:xfrm>
          <a:prstGeom prst="rect">
            <a:avLst/>
          </a:prstGeom>
        </p:spPr>
      </p:pic>
      <p:pic>
        <p:nvPicPr>
          <p:cNvPr id="21" name="Picture 9">
            <a:extLst>
              <a:ext uri="{FF2B5EF4-FFF2-40B4-BE49-F238E27FC236}">
                <a16:creationId xmlns:a16="http://schemas.microsoft.com/office/drawing/2014/main" id="{45CF8D3E-3FDE-A182-8598-2C67306A2947}"/>
              </a:ext>
            </a:extLst>
          </p:cNvPr>
          <p:cNvPicPr>
            <a:picLocks noChangeAspect="1"/>
          </p:cNvPicPr>
          <p:nvPr/>
        </p:nvPicPr>
        <p:blipFill>
          <a:blip r:embed="rId7">
            <a:extLst>
              <a:ext uri="{BEBA8EAE-BF5A-486C-A8C5-ECC9F3942E4B}">
                <a14:imgProps xmlns:a14="http://schemas.microsoft.com/office/drawing/2010/main">
                  <a14:imgLayer r:embed="rId8">
                    <a14:imgEffect>
                      <a14:brightnessContrast bright="100000" contrast="100000"/>
                    </a14:imgEffect>
                  </a14:imgLayer>
                </a14:imgProps>
              </a:ext>
            </a:extLst>
          </a:blip>
          <a:stretch>
            <a:fillRect/>
          </a:stretch>
        </p:blipFill>
        <p:spPr>
          <a:xfrm>
            <a:off x="863512" y="3837975"/>
            <a:ext cx="450428" cy="471136"/>
          </a:xfrm>
          <a:prstGeom prst="rect">
            <a:avLst/>
          </a:prstGeom>
        </p:spPr>
      </p:pic>
      <p:pic>
        <p:nvPicPr>
          <p:cNvPr id="22" name="Afbeelding 51" descr="Afbeelding met zwart, duisternis&#10;&#10;Automatisch gegenereerde beschrijving">
            <a:extLst>
              <a:ext uri="{FF2B5EF4-FFF2-40B4-BE49-F238E27FC236}">
                <a16:creationId xmlns:a16="http://schemas.microsoft.com/office/drawing/2014/main" id="{421C715B-A593-217E-5F9A-32A7D06F7CB0}"/>
              </a:ext>
            </a:extLst>
          </p:cNvPr>
          <p:cNvPicPr>
            <a:picLocks noChangeAspect="1"/>
          </p:cNvPicPr>
          <p:nvPr/>
        </p:nvPicPr>
        <p:blipFill>
          <a:blip r:embed="rId9" cstate="print">
            <a:extLst>
              <a:ext uri="{BEBA8EAE-BF5A-486C-A8C5-ECC9F3942E4B}">
                <a14:imgProps xmlns:a14="http://schemas.microsoft.com/office/drawing/2010/main">
                  <a14:imgLayer r:embed="rId10">
                    <a14:imgEffect>
                      <a14:sharpenSoften amount="56000"/>
                    </a14:imgEffect>
                    <a14:imgEffect>
                      <a14:colorTemperature colorTemp="1500"/>
                    </a14:imgEffect>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927718" y="4509144"/>
            <a:ext cx="416682" cy="435839"/>
          </a:xfrm>
          <a:prstGeom prst="rect">
            <a:avLst/>
          </a:prstGeom>
        </p:spPr>
      </p:pic>
      <p:pic>
        <p:nvPicPr>
          <p:cNvPr id="23" name="Picture 7">
            <a:extLst>
              <a:ext uri="{FF2B5EF4-FFF2-40B4-BE49-F238E27FC236}">
                <a16:creationId xmlns:a16="http://schemas.microsoft.com/office/drawing/2014/main" id="{03FB721C-DBF1-9F8B-B735-944609D3D780}"/>
              </a:ext>
            </a:extLst>
          </p:cNvPr>
          <p:cNvPicPr>
            <a:picLocks noChangeAspect="1"/>
          </p:cNvPicPr>
          <p:nvPr/>
        </p:nvPicPr>
        <p:blipFill>
          <a:blip r:embed="rId11"/>
          <a:stretch>
            <a:fillRect/>
          </a:stretch>
        </p:blipFill>
        <p:spPr>
          <a:xfrm>
            <a:off x="6087500" y="1869607"/>
            <a:ext cx="5794552" cy="3440783"/>
          </a:xfrm>
          <a:prstGeom prst="roundRect">
            <a:avLst>
              <a:gd name="adj" fmla="val 6778"/>
            </a:avLst>
          </a:prstGeom>
        </p:spPr>
      </p:pic>
    </p:spTree>
    <p:extLst>
      <p:ext uri="{BB962C8B-B14F-4D97-AF65-F5344CB8AC3E}">
        <p14:creationId xmlns:p14="http://schemas.microsoft.com/office/powerpoint/2010/main" val="4074623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Investment Portfolio - Forecast</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D49EB223-BA75-180C-EC61-9F9FAC9CBCA9}"/>
              </a:ext>
            </a:extLst>
          </p:cNvPr>
          <p:cNvSpPr txBox="1"/>
          <p:nvPr/>
        </p:nvSpPr>
        <p:spPr>
          <a:xfrm>
            <a:off x="580327" y="1387562"/>
            <a:ext cx="743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Sample diversified investments</a:t>
            </a:r>
          </a:p>
        </p:txBody>
      </p:sp>
      <p:sp>
        <p:nvSpPr>
          <p:cNvPr id="5" name="TextBox 37">
            <a:extLst>
              <a:ext uri="{FF2B5EF4-FFF2-40B4-BE49-F238E27FC236}">
                <a16:creationId xmlns:a16="http://schemas.microsoft.com/office/drawing/2014/main" id="{44AC23DA-4908-346C-DE86-1A87898003D0}"/>
              </a:ext>
            </a:extLst>
          </p:cNvPr>
          <p:cNvSpPr txBox="1"/>
          <p:nvPr/>
        </p:nvSpPr>
        <p:spPr>
          <a:xfrm>
            <a:off x="701777" y="1869607"/>
            <a:ext cx="3170683" cy="4680616"/>
          </a:xfrm>
          <a:prstGeom prst="roundRect">
            <a:avLst>
              <a:gd name="adj" fmla="val 5753"/>
            </a:avLst>
          </a:prstGeom>
          <a:solidFill>
            <a:srgbClr val="004D7A"/>
          </a:solidFill>
        </p:spPr>
        <p:txBody>
          <a:bodyPr wrap="square" lIns="144000" rIns="216000" bIns="108000" numCol="1" spcCol="108000" rtlCol="0" anchor="ctr" anchorCtr="0">
            <a:noAutofit/>
          </a:body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400" b="1" i="0" u="none" strike="noStrike" kern="1200" cap="none" spc="0" normalizeH="0" baseline="0" noProof="0" dirty="0">
                <a:ln>
                  <a:noFill/>
                </a:ln>
                <a:solidFill>
                  <a:srgbClr val="B7D6E1"/>
                </a:solidFill>
                <a:effectLst/>
                <a:uLnTx/>
                <a:uFillTx/>
                <a:latin typeface="Raleway"/>
                <a:ea typeface="Open Sans"/>
                <a:cs typeface="Open Sans"/>
              </a:rPr>
              <a:t>Focus themes (snapshot)</a:t>
            </a:r>
          </a:p>
          <a:p>
            <a:pPr marL="171450" marR="0" lvl="0" indent="-171450" algn="l" defTabSz="914400" rtl="0" eaLnBrk="1" fontAlgn="auto" latinLnBrk="0" hangingPunct="1">
              <a:lnSpc>
                <a:spcPct val="100000"/>
              </a:lnSpc>
              <a:spcBef>
                <a:spcPts val="0"/>
              </a:spcBef>
              <a:spcAft>
                <a:spcPts val="0"/>
              </a:spcAft>
              <a:buClr>
                <a:prstClr val="white"/>
              </a:buClr>
              <a:buSzTx/>
              <a:buFont typeface="Arial" panose="020B0604020202020204" pitchFamily="34" charset="0"/>
              <a:buChar char="•"/>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endParaRPr>
          </a:p>
          <a:p>
            <a:pPr marL="540000" marR="0" lvl="0"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sym typeface="Arial"/>
              </a:rPr>
              <a:t>Infrastructure: </a:t>
            </a:r>
            <a:br>
              <a:rPr kumimoji="0" lang="en-US" sz="1200" b="1" i="0" u="none" strike="noStrike" kern="1200" cap="none" spc="0" normalizeH="0" baseline="0" noProof="0" dirty="0">
                <a:ln>
                  <a:noFill/>
                </a:ln>
                <a:solidFill>
                  <a:prstClr val="white"/>
                </a:solidFill>
                <a:effectLst/>
                <a:uLnTx/>
                <a:uFillTx/>
                <a:latin typeface="Open Sans"/>
                <a:ea typeface="Open Sans"/>
                <a:cs typeface="Open Sans"/>
                <a:sym typeface="Arial"/>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t>Utilities, water security, climate resilience, treatment and supply, infrastructure upgrading (tech solutions) and renewal, re-use.</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endParaRP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sym typeface="Arial"/>
              </a:rPr>
              <a:t>Natural capital: </a:t>
            </a:r>
            <a:b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t>Land management, mangroves, water shed restorations.</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endParaRP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sym typeface="Arial"/>
              </a:rPr>
              <a:t>MFIs/FIs: </a:t>
            </a:r>
            <a:b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t>Climate, gender, SDG aligned themes, ESG aligned, financial inclusion.</a:t>
            </a: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endPar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endParaRPr>
          </a:p>
          <a:p>
            <a:pPr marL="540000" marR="0" lvl="1" indent="0" algn="l" defTabSz="914400" rtl="0" eaLnBrk="1" fontAlgn="auto" latinLnBrk="0" hangingPunct="1">
              <a:lnSpc>
                <a:spcPct val="100000"/>
              </a:lnSpc>
              <a:spcBef>
                <a:spcPts val="0"/>
              </a:spcBef>
              <a:spcAft>
                <a:spcPts val="0"/>
              </a:spcAft>
              <a:buClr>
                <a:prstClr val="white"/>
              </a:buClr>
              <a:buSzTx/>
              <a:buFontTx/>
              <a:buNone/>
              <a:tabLst/>
              <a:defRPr/>
            </a:pPr>
            <a:r>
              <a:rPr kumimoji="0" lang="en-US" sz="1200" b="1" i="0" u="none" strike="noStrike" kern="1200" cap="none" spc="0" normalizeH="0" baseline="0" noProof="0" dirty="0">
                <a:ln>
                  <a:noFill/>
                </a:ln>
                <a:solidFill>
                  <a:prstClr val="white"/>
                </a:solidFill>
                <a:effectLst/>
                <a:uLnTx/>
                <a:uFillTx/>
                <a:latin typeface="Open Sans"/>
                <a:ea typeface="Open Sans"/>
                <a:cs typeface="Open Sans"/>
                <a:sym typeface="Arial"/>
              </a:rPr>
              <a:t>SMEs innovations: </a:t>
            </a:r>
            <a:b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br>
            <a: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t>Textile, </a:t>
            </a:r>
            <a:r>
              <a:rPr kumimoji="0" lang="en-US" sz="1200" b="0" i="0" u="none" strike="noStrike" kern="1200" cap="none" spc="0" normalizeH="0" baseline="0" noProof="0" dirty="0" err="1">
                <a:ln>
                  <a:noFill/>
                </a:ln>
                <a:solidFill>
                  <a:prstClr val="white"/>
                </a:solidFill>
                <a:effectLst/>
                <a:uLnTx/>
                <a:uFillTx/>
                <a:latin typeface="Open Sans"/>
                <a:ea typeface="Open Sans"/>
                <a:cs typeface="Open Sans"/>
                <a:sym typeface="Arial"/>
              </a:rPr>
              <a:t>agri</a:t>
            </a:r>
            <a:r>
              <a:rPr kumimoji="0" lang="en-US" sz="1200" b="0" i="0" u="none" strike="noStrike" kern="1200" cap="none" spc="0" normalizeH="0" baseline="0" noProof="0" dirty="0">
                <a:ln>
                  <a:noFill/>
                </a:ln>
                <a:solidFill>
                  <a:prstClr val="white"/>
                </a:solidFill>
                <a:effectLst/>
                <a:uLnTx/>
                <a:uFillTx/>
                <a:latin typeface="Open Sans"/>
                <a:ea typeface="Open Sans"/>
                <a:cs typeface="Open Sans"/>
                <a:sym typeface="Arial"/>
              </a:rPr>
              <a:t>, consumer goods, tech, venture.</a:t>
            </a:r>
          </a:p>
        </p:txBody>
      </p:sp>
      <p:pic>
        <p:nvPicPr>
          <p:cNvPr id="6" name="Picture 7">
            <a:extLst>
              <a:ext uri="{FF2B5EF4-FFF2-40B4-BE49-F238E27FC236}">
                <a16:creationId xmlns:a16="http://schemas.microsoft.com/office/drawing/2014/main" id="{F3E8DB29-1DC8-12F3-3FAA-0CD52AA2ED53}"/>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1500"/>
                    </a14:imgEffect>
                    <a14:imgEffect>
                      <a14:saturation sat="0"/>
                    </a14:imgEffect>
                    <a14:imgEffect>
                      <a14:brightnessContrast bright="100000" contrast="100000"/>
                    </a14:imgEffect>
                  </a14:imgLayer>
                </a14:imgProps>
              </a:ext>
            </a:extLst>
          </a:blip>
          <a:stretch>
            <a:fillRect/>
          </a:stretch>
        </p:blipFill>
        <p:spPr>
          <a:xfrm>
            <a:off x="912578" y="2607616"/>
            <a:ext cx="352296" cy="435839"/>
          </a:xfrm>
          <a:prstGeom prst="rect">
            <a:avLst/>
          </a:prstGeom>
        </p:spPr>
      </p:pic>
      <p:pic>
        <p:nvPicPr>
          <p:cNvPr id="7" name="Picture 11">
            <a:extLst>
              <a:ext uri="{FF2B5EF4-FFF2-40B4-BE49-F238E27FC236}">
                <a16:creationId xmlns:a16="http://schemas.microsoft.com/office/drawing/2014/main" id="{1626758F-099D-04AF-DDF0-7100D1CFBEEB}"/>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100000" contrast="100000"/>
                    </a14:imgEffect>
                  </a14:imgLayer>
                </a14:imgProps>
              </a:ext>
            </a:extLst>
          </a:blip>
          <a:stretch>
            <a:fillRect/>
          </a:stretch>
        </p:blipFill>
        <p:spPr>
          <a:xfrm>
            <a:off x="903804" y="3915733"/>
            <a:ext cx="416683" cy="435840"/>
          </a:xfrm>
          <a:prstGeom prst="rect">
            <a:avLst/>
          </a:prstGeom>
        </p:spPr>
      </p:pic>
      <p:pic>
        <p:nvPicPr>
          <p:cNvPr id="21" name="Picture 9">
            <a:extLst>
              <a:ext uri="{FF2B5EF4-FFF2-40B4-BE49-F238E27FC236}">
                <a16:creationId xmlns:a16="http://schemas.microsoft.com/office/drawing/2014/main" id="{45CF8D3E-3FDE-A182-8598-2C67306A2947}"/>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contrast="100000"/>
                    </a14:imgEffect>
                  </a14:imgLayer>
                </a14:imgProps>
              </a:ext>
            </a:extLst>
          </a:blip>
          <a:stretch>
            <a:fillRect/>
          </a:stretch>
        </p:blipFill>
        <p:spPr>
          <a:xfrm>
            <a:off x="863512" y="4752715"/>
            <a:ext cx="450428" cy="471136"/>
          </a:xfrm>
          <a:prstGeom prst="rect">
            <a:avLst/>
          </a:prstGeom>
        </p:spPr>
      </p:pic>
      <p:pic>
        <p:nvPicPr>
          <p:cNvPr id="22" name="Afbeelding 51" descr="Afbeelding met zwart, duisternis&#10;&#10;Automatisch gegenereerde beschrijving">
            <a:extLst>
              <a:ext uri="{FF2B5EF4-FFF2-40B4-BE49-F238E27FC236}">
                <a16:creationId xmlns:a16="http://schemas.microsoft.com/office/drawing/2014/main" id="{421C715B-A593-217E-5F9A-32A7D06F7CB0}"/>
              </a:ext>
            </a:extLst>
          </p:cNvPr>
          <p:cNvPicPr>
            <a:picLocks noChangeAspect="1"/>
          </p:cNvPicPr>
          <p:nvPr/>
        </p:nvPicPr>
        <p:blipFill>
          <a:blip r:embed="rId10" cstate="print">
            <a:extLst>
              <a:ext uri="{BEBA8EAE-BF5A-486C-A8C5-ECC9F3942E4B}">
                <a14:imgProps xmlns:a14="http://schemas.microsoft.com/office/drawing/2010/main">
                  <a14:imgLayer r:embed="rId11">
                    <a14:imgEffect>
                      <a14:sharpenSoften amount="56000"/>
                    </a14:imgEffect>
                    <a14:imgEffect>
                      <a14:colorTemperature colorTemp="1500"/>
                    </a14:imgEffect>
                    <a14:imgEffect>
                      <a14:saturation sat="0"/>
                    </a14:imgEffect>
                    <a14:imgEffect>
                      <a14:brightnessContrast bright="100000" contrast="100000"/>
                    </a14:imgEffect>
                  </a14:imgLayer>
                </a14:imgProps>
              </a:ext>
              <a:ext uri="{28A0092B-C50C-407E-A947-70E740481C1C}">
                <a14:useLocalDpi xmlns:a14="http://schemas.microsoft.com/office/drawing/2010/main" val="0"/>
              </a:ext>
            </a:extLst>
          </a:blip>
          <a:stretch>
            <a:fillRect/>
          </a:stretch>
        </p:blipFill>
        <p:spPr>
          <a:xfrm>
            <a:off x="927718" y="5660448"/>
            <a:ext cx="416682" cy="435839"/>
          </a:xfrm>
          <a:prstGeom prst="rect">
            <a:avLst/>
          </a:prstGeom>
        </p:spPr>
      </p:pic>
      <p:pic>
        <p:nvPicPr>
          <p:cNvPr id="23" name="Picture 7">
            <a:extLst>
              <a:ext uri="{FF2B5EF4-FFF2-40B4-BE49-F238E27FC236}">
                <a16:creationId xmlns:a16="http://schemas.microsoft.com/office/drawing/2014/main" id="{03FB721C-DBF1-9F8B-B735-944609D3D780}"/>
              </a:ext>
            </a:extLst>
          </p:cNvPr>
          <p:cNvPicPr>
            <a:picLocks noChangeAspect="1"/>
          </p:cNvPicPr>
          <p:nvPr/>
        </p:nvPicPr>
        <p:blipFill>
          <a:blip r:embed="rId12"/>
          <a:stretch>
            <a:fillRect/>
          </a:stretch>
        </p:blipFill>
        <p:spPr>
          <a:xfrm>
            <a:off x="3999523" y="1869607"/>
            <a:ext cx="7882529" cy="4680616"/>
          </a:xfrm>
          <a:prstGeom prst="roundRect">
            <a:avLst>
              <a:gd name="adj" fmla="val 4052"/>
            </a:avLst>
          </a:prstGeom>
        </p:spPr>
      </p:pic>
    </p:spTree>
    <p:extLst>
      <p:ext uri="{BB962C8B-B14F-4D97-AF65-F5344CB8AC3E}">
        <p14:creationId xmlns:p14="http://schemas.microsoft.com/office/powerpoint/2010/main" val="2780574094"/>
      </p:ext>
    </p:extLst>
  </p:cSld>
  <p:clrMapOvr>
    <a:masterClrMapping/>
  </p:clrMapOvr>
  <p:extLst>
    <p:ext uri="{6950BFC3-D8DA-4A85-94F7-54DA5524770B}">
      <p188:commentRel xmlns:p188="http://schemas.microsoft.com/office/powerpoint/2018/8/main" r:id="rId3"/>
    </p:ext>
  </p:extLs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Investment Pipeline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40481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004D7A"/>
                </a:solidFill>
                <a:effectLst/>
                <a:uLnTx/>
                <a:uFillTx/>
                <a:latin typeface="Raleway"/>
                <a:ea typeface="+mj-ea"/>
                <a:cs typeface="+mj-cs"/>
              </a:rPr>
              <a:t>Fund investments example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004D7A">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CA87E044-3D85-58C0-591D-3147A38CC21F}"/>
              </a:ext>
            </a:extLst>
          </p:cNvPr>
          <p:cNvSpPr txBox="1"/>
          <p:nvPr/>
        </p:nvSpPr>
        <p:spPr>
          <a:xfrm>
            <a:off x="580327" y="1387562"/>
            <a:ext cx="7438251"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Private equity fund for sustainable water infrastructure</a:t>
            </a:r>
          </a:p>
        </p:txBody>
      </p:sp>
      <p:pic>
        <p:nvPicPr>
          <p:cNvPr id="3" name="Afbeelding 2">
            <a:extLst>
              <a:ext uri="{FF2B5EF4-FFF2-40B4-BE49-F238E27FC236}">
                <a16:creationId xmlns:a16="http://schemas.microsoft.com/office/drawing/2014/main" id="{D7EAC969-CFC1-EDAE-9916-90CCE427E243}"/>
              </a:ext>
            </a:extLst>
          </p:cNvPr>
          <p:cNvPicPr>
            <a:picLocks noChangeAspect="1"/>
          </p:cNvPicPr>
          <p:nvPr/>
        </p:nvPicPr>
        <p:blipFill>
          <a:blip r:embed="rId3"/>
          <a:stretch>
            <a:fillRect/>
          </a:stretch>
        </p:blipFill>
        <p:spPr>
          <a:xfrm>
            <a:off x="10041541" y="1070637"/>
            <a:ext cx="1783623" cy="473428"/>
          </a:xfrm>
          <a:prstGeom prst="roundRect">
            <a:avLst>
              <a:gd name="adj" fmla="val 12857"/>
            </a:avLst>
          </a:prstGeom>
        </p:spPr>
      </p:pic>
      <p:sp>
        <p:nvSpPr>
          <p:cNvPr id="4" name="TextBox 37">
            <a:extLst>
              <a:ext uri="{FF2B5EF4-FFF2-40B4-BE49-F238E27FC236}">
                <a16:creationId xmlns:a16="http://schemas.microsoft.com/office/drawing/2014/main" id="{73D05D49-499D-046D-AEBE-E4D9A051EA69}"/>
              </a:ext>
            </a:extLst>
          </p:cNvPr>
          <p:cNvSpPr txBox="1"/>
          <p:nvPr/>
        </p:nvSpPr>
        <p:spPr>
          <a:xfrm>
            <a:off x="7171330" y="1956336"/>
            <a:ext cx="4653834" cy="4486994"/>
          </a:xfrm>
          <a:prstGeom prst="roundRect">
            <a:avLst>
              <a:gd name="adj" fmla="val 4961"/>
            </a:avLst>
          </a:prstGeom>
          <a:solidFill>
            <a:srgbClr val="004D7A"/>
          </a:solidFill>
        </p:spPr>
        <p:txBody>
          <a:bodyPr wrap="square" lIns="144000" tIns="72000" rIns="0" bIns="108000" numCol="1" spcCol="108000" rtlCol="0" anchor="t" anchorCtr="0">
            <a:noAutofit/>
          </a:bodyPr>
          <a:lstStyle/>
          <a:p>
            <a:pPr>
              <a:lnSpc>
                <a:spcPct val="200000"/>
              </a:lnSpc>
              <a:spcBef>
                <a:spcPts val="400"/>
              </a:spcBef>
              <a:spcAft>
                <a:spcPts val="400"/>
              </a:spcAft>
              <a:buClr>
                <a:prstClr val="white"/>
              </a:buClr>
              <a:buSzPct val="100000"/>
              <a:defRPr/>
            </a:pPr>
            <a:r>
              <a:rPr kumimoji="0" lang="nl-NL" sz="1200" b="1" i="0" u="none" strike="noStrike" kern="1200" cap="none" spc="0" normalizeH="0" baseline="0" noProof="0" dirty="0" err="1">
                <a:ln>
                  <a:noFill/>
                </a:ln>
                <a:solidFill>
                  <a:prstClr val="white"/>
                </a:solidFill>
                <a:effectLst/>
                <a:uLnTx/>
                <a:uFillTx/>
                <a:latin typeface="Open Sans"/>
                <a:ea typeface="+mn-ea"/>
                <a:cs typeface="+mn-cs"/>
              </a:rPr>
              <a:t>Evenpar</a:t>
            </a:r>
            <a:r>
              <a:rPr kumimoji="0" lang="nl-NL" sz="1200" b="1" i="0" u="none" strike="noStrike" kern="1200" cap="none" spc="0" normalizeH="0" baseline="0" noProof="0" dirty="0">
                <a:ln>
                  <a:noFill/>
                </a:ln>
                <a:solidFill>
                  <a:prstClr val="white"/>
                </a:solidFill>
                <a:effectLst/>
                <a:uLnTx/>
                <a:uFillTx/>
                <a:latin typeface="Open Sans"/>
                <a:ea typeface="+mn-ea"/>
                <a:cs typeface="+mn-cs"/>
              </a:rPr>
              <a:t> Fund I (EF-I)</a:t>
            </a: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200" b="1" i="0" u="none" strike="noStrike" kern="1200" cap="none" spc="0" normalizeH="0" baseline="0" noProof="0" dirty="0">
                <a:ln>
                  <a:noFill/>
                </a:ln>
                <a:solidFill>
                  <a:prstClr val="white"/>
                </a:solidFill>
                <a:effectLst/>
                <a:uLnTx/>
                <a:uFillTx/>
                <a:latin typeface="Open Sans"/>
                <a:ea typeface="+mn-ea"/>
                <a:cs typeface="+mn-cs"/>
              </a:rPr>
              <a:t>Project close </a:t>
            </a:r>
            <a:r>
              <a:rPr kumimoji="0" lang="nl-NL" sz="1200" b="1" i="0" u="none" strike="noStrike" kern="1200" cap="none" spc="0" normalizeH="0" baseline="0" noProof="0" dirty="0" err="1">
                <a:ln>
                  <a:noFill/>
                </a:ln>
                <a:solidFill>
                  <a:prstClr val="white"/>
                </a:solidFill>
                <a:effectLst/>
                <a:uLnTx/>
                <a:uFillTx/>
                <a:latin typeface="Open Sans"/>
                <a:ea typeface="+mn-ea"/>
                <a:cs typeface="+mn-cs"/>
              </a:rPr>
              <a:t>size</a:t>
            </a:r>
            <a:r>
              <a:rPr kumimoji="0" lang="nl-NL" sz="1200" b="1" i="0" u="none" strike="noStrike" kern="1200" cap="none" spc="0" normalizeH="0" baseline="0" noProof="0" dirty="0">
                <a:ln>
                  <a:noFill/>
                </a:ln>
                <a:solidFill>
                  <a:prstClr val="white"/>
                </a:solidFill>
                <a:effectLst/>
                <a:uLnTx/>
                <a:uFillTx/>
                <a:latin typeface="Open Sans"/>
                <a:ea typeface="+mn-ea"/>
                <a:cs typeface="+mn-cs"/>
              </a:rPr>
              <a:t>:</a:t>
            </a:r>
            <a:r>
              <a:rPr kumimoji="0" lang="nl-NL" sz="1200" b="0" i="0" u="none" strike="noStrike" kern="1200" cap="none" spc="0" normalizeH="0" baseline="0" noProof="0" dirty="0">
                <a:ln>
                  <a:noFill/>
                </a:ln>
                <a:solidFill>
                  <a:prstClr val="white"/>
                </a:solidFill>
                <a:effectLst/>
                <a:uLnTx/>
                <a:uFillTx/>
                <a:latin typeface="Open Sans"/>
                <a:ea typeface="+mn-ea"/>
                <a:cs typeface="+mn-cs"/>
              </a:rPr>
              <a:t> EUR 1-3 </a:t>
            </a:r>
            <a:r>
              <a:rPr kumimoji="0" lang="nl-NL" sz="1200" b="0" i="0" u="none" strike="noStrike" kern="1200" cap="none" spc="0" normalizeH="0" baseline="0" noProof="0" dirty="0" err="1">
                <a:ln>
                  <a:noFill/>
                </a:ln>
                <a:solidFill>
                  <a:prstClr val="white"/>
                </a:solidFill>
                <a:effectLst/>
                <a:uLnTx/>
                <a:uFillTx/>
                <a:latin typeface="Open Sans"/>
                <a:ea typeface="+mn-ea"/>
                <a:cs typeface="+mn-cs"/>
              </a:rPr>
              <a:t>million</a:t>
            </a:r>
            <a:r>
              <a:rPr kumimoji="0" lang="nl-NL" sz="1200" b="0" i="0" u="none" strike="noStrike" kern="1200" cap="none" spc="0" normalizeH="0" baseline="0" noProof="0" dirty="0">
                <a:ln>
                  <a:noFill/>
                </a:ln>
                <a:solidFill>
                  <a:prstClr val="white"/>
                </a:solidFill>
                <a:effectLst/>
                <a:uLnTx/>
                <a:uFillTx/>
                <a:latin typeface="Open Sans"/>
                <a:ea typeface="+mn-ea"/>
                <a:cs typeface="+mn-cs"/>
              </a:rPr>
              <a:t> (2024, 2025)  </a:t>
            </a: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200" b="1" i="0" u="none" strike="noStrike" kern="1200" cap="none" spc="0" normalizeH="0" baseline="0" noProof="0" dirty="0">
                <a:ln>
                  <a:noFill/>
                </a:ln>
                <a:solidFill>
                  <a:prstClr val="white"/>
                </a:solidFill>
                <a:effectLst/>
                <a:uLnTx/>
                <a:uFillTx/>
                <a:latin typeface="Open Sans"/>
                <a:ea typeface="+mn-ea"/>
                <a:cs typeface="+mn-cs"/>
              </a:rPr>
              <a:t>Investment Aqua </a:t>
            </a:r>
            <a:r>
              <a:rPr kumimoji="0" lang="nl-NL" sz="1200" b="1" i="0" u="none" strike="noStrike" kern="1200" cap="none" spc="0" normalizeH="0" baseline="0" noProof="0" dirty="0" err="1">
                <a:ln>
                  <a:noFill/>
                </a:ln>
                <a:solidFill>
                  <a:prstClr val="white"/>
                </a:solidFill>
                <a:effectLst/>
                <a:uLnTx/>
                <a:uFillTx/>
                <a:latin typeface="Open Sans"/>
                <a:ea typeface="+mn-ea"/>
                <a:cs typeface="+mn-cs"/>
              </a:rPr>
              <a:t>for</a:t>
            </a:r>
            <a:r>
              <a:rPr kumimoji="0" lang="nl-NL" sz="1200" b="1" i="0" u="none" strike="noStrike" kern="1200" cap="none" spc="0" normalizeH="0" baseline="0" noProof="0" dirty="0">
                <a:ln>
                  <a:noFill/>
                </a:ln>
                <a:solidFill>
                  <a:prstClr val="white"/>
                </a:solidFill>
                <a:effectLst/>
                <a:uLnTx/>
                <a:uFillTx/>
                <a:latin typeface="Open Sans"/>
                <a:ea typeface="+mn-ea"/>
                <a:cs typeface="+mn-cs"/>
              </a:rPr>
              <a:t> </a:t>
            </a:r>
            <a:r>
              <a:rPr kumimoji="0" lang="nl-NL" sz="1200" b="1" i="0" u="none" strike="noStrike" kern="1200" cap="none" spc="0" normalizeH="0" baseline="0" noProof="0" dirty="0" err="1">
                <a:ln>
                  <a:noFill/>
                </a:ln>
                <a:solidFill>
                  <a:prstClr val="white"/>
                </a:solidFill>
                <a:effectLst/>
                <a:uLnTx/>
                <a:uFillTx/>
                <a:latin typeface="Open Sans"/>
                <a:ea typeface="+mn-ea"/>
                <a:cs typeface="+mn-cs"/>
              </a:rPr>
              <a:t>All</a:t>
            </a:r>
            <a:r>
              <a:rPr kumimoji="0" lang="nl-NL" sz="1200" b="1" i="0" u="none" strike="noStrike" kern="1200" cap="none" spc="0" normalizeH="0" baseline="0" noProof="0" dirty="0">
                <a:ln>
                  <a:noFill/>
                </a:ln>
                <a:solidFill>
                  <a:prstClr val="white"/>
                </a:solidFill>
                <a:effectLst/>
                <a:uLnTx/>
                <a:uFillTx/>
                <a:latin typeface="Open Sans"/>
                <a:ea typeface="+mn-ea"/>
                <a:cs typeface="+mn-cs"/>
              </a:rPr>
              <a:t>: </a:t>
            </a:r>
            <a:r>
              <a:rPr kumimoji="0" lang="nl-NL" sz="1200" b="0" i="0" u="none" strike="noStrike" kern="1200" cap="none" spc="0" normalizeH="0" baseline="0" noProof="0" dirty="0">
                <a:ln>
                  <a:noFill/>
                </a:ln>
                <a:solidFill>
                  <a:prstClr val="white"/>
                </a:solidFill>
                <a:effectLst/>
                <a:uLnTx/>
                <a:uFillTx/>
                <a:latin typeface="Open Sans"/>
                <a:ea typeface="+mn-ea"/>
                <a:cs typeface="+mn-cs"/>
              </a:rPr>
              <a:t>EUR 150k </a:t>
            </a:r>
            <a:r>
              <a:rPr kumimoji="0" lang="nl-NL" sz="1200" b="0" i="0" u="none" strike="noStrike" kern="1200" cap="none" spc="0" normalizeH="0" baseline="0" noProof="0" dirty="0" err="1">
                <a:ln>
                  <a:noFill/>
                </a:ln>
                <a:solidFill>
                  <a:prstClr val="white"/>
                </a:solidFill>
                <a:effectLst/>
                <a:uLnTx/>
                <a:uFillTx/>
                <a:latin typeface="Open Sans"/>
                <a:ea typeface="+mn-ea"/>
                <a:cs typeface="+mn-cs"/>
              </a:rPr>
              <a:t>equity</a:t>
            </a:r>
            <a:r>
              <a:rPr kumimoji="0" lang="nl-NL" sz="1200" b="0" i="0" u="none" strike="noStrike" kern="1200" cap="none" spc="0" normalizeH="0" baseline="0" noProof="0" dirty="0">
                <a:ln>
                  <a:noFill/>
                </a:ln>
                <a:solidFill>
                  <a:prstClr val="white"/>
                </a:solidFill>
                <a:effectLst/>
                <a:uLnTx/>
                <a:uFillTx/>
                <a:latin typeface="Open Sans"/>
                <a:ea typeface="+mn-ea"/>
                <a:cs typeface="+mn-cs"/>
              </a:rPr>
              <a:t> </a:t>
            </a: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200" b="1" i="0" u="none" strike="noStrike" kern="1200" cap="none" spc="0" normalizeH="0" baseline="0" noProof="0" dirty="0">
                <a:ln>
                  <a:noFill/>
                </a:ln>
                <a:solidFill>
                  <a:prstClr val="white"/>
                </a:solidFill>
                <a:effectLst/>
                <a:uLnTx/>
                <a:uFillTx/>
                <a:latin typeface="Open Sans"/>
                <a:ea typeface="+mn-ea"/>
                <a:cs typeface="+mn-cs"/>
              </a:rPr>
              <a:t>Term:</a:t>
            </a:r>
            <a:r>
              <a:rPr kumimoji="0" lang="nl-NL" sz="1200" b="0" i="0" u="none" strike="noStrike" kern="1200" cap="none" spc="0" normalizeH="0" baseline="0" noProof="0" dirty="0">
                <a:ln>
                  <a:noFill/>
                </a:ln>
                <a:solidFill>
                  <a:prstClr val="white"/>
                </a:solidFill>
                <a:effectLst/>
                <a:uLnTx/>
                <a:uFillTx/>
                <a:latin typeface="Open Sans"/>
                <a:ea typeface="+mn-ea"/>
                <a:cs typeface="+mn-cs"/>
              </a:rPr>
              <a:t> 5 </a:t>
            </a:r>
            <a:r>
              <a:rPr kumimoji="0" lang="nl-NL" sz="1200" b="0" i="0" u="none" strike="noStrike" kern="1200" cap="none" spc="0" normalizeH="0" baseline="0" noProof="0" dirty="0" err="1">
                <a:ln>
                  <a:noFill/>
                </a:ln>
                <a:solidFill>
                  <a:prstClr val="white"/>
                </a:solidFill>
                <a:effectLst/>
                <a:uLnTx/>
                <a:uFillTx/>
                <a:latin typeface="Open Sans"/>
                <a:ea typeface="+mn-ea"/>
                <a:cs typeface="+mn-cs"/>
              </a:rPr>
              <a:t>years</a:t>
            </a: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200" b="1" i="0" u="none" strike="noStrike" kern="1200" cap="none" spc="0" normalizeH="0" baseline="0" noProof="0" dirty="0">
                <a:ln>
                  <a:noFill/>
                </a:ln>
                <a:solidFill>
                  <a:prstClr val="white"/>
                </a:solidFill>
                <a:effectLst/>
                <a:uLnTx/>
                <a:uFillTx/>
                <a:latin typeface="Open Sans"/>
                <a:ea typeface="+mn-ea"/>
                <a:cs typeface="+mn-cs"/>
              </a:rPr>
              <a:t>IRR:</a:t>
            </a:r>
            <a:r>
              <a:rPr kumimoji="0" lang="nl-NL" sz="1200" b="0" i="0" u="none" strike="noStrike" kern="1200" cap="none" spc="0" normalizeH="0" baseline="0" noProof="0" dirty="0">
                <a:ln>
                  <a:noFill/>
                </a:ln>
                <a:solidFill>
                  <a:prstClr val="white"/>
                </a:solidFill>
                <a:effectLst/>
                <a:uLnTx/>
                <a:uFillTx/>
                <a:latin typeface="Open Sans"/>
                <a:ea typeface="+mn-ea"/>
                <a:cs typeface="+mn-cs"/>
              </a:rPr>
              <a:t> 15%</a:t>
            </a: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200" b="1" i="0" u="none" strike="noStrike" kern="1200" cap="none" spc="0" normalizeH="0" baseline="0" noProof="0" dirty="0" err="1">
                <a:ln>
                  <a:noFill/>
                </a:ln>
                <a:solidFill>
                  <a:prstClr val="white"/>
                </a:solidFill>
                <a:effectLst/>
                <a:uLnTx/>
                <a:uFillTx/>
                <a:latin typeface="Open Sans"/>
                <a:ea typeface="+mn-ea"/>
                <a:cs typeface="+mn-cs"/>
              </a:rPr>
              <a:t>Geographic</a:t>
            </a:r>
            <a:r>
              <a:rPr kumimoji="0" lang="nl-NL" sz="1200" b="1" i="0" u="none" strike="noStrike" kern="1200" cap="none" spc="0" normalizeH="0" baseline="0" noProof="0" dirty="0">
                <a:ln>
                  <a:noFill/>
                </a:ln>
                <a:solidFill>
                  <a:prstClr val="white"/>
                </a:solidFill>
                <a:effectLst/>
                <a:uLnTx/>
                <a:uFillTx/>
                <a:latin typeface="Open Sans"/>
                <a:ea typeface="+mn-ea"/>
                <a:cs typeface="+mn-cs"/>
              </a:rPr>
              <a:t> focus</a:t>
            </a:r>
            <a:r>
              <a:rPr kumimoji="0" lang="nl-NL" sz="1200" b="0" i="0" u="none" strike="noStrike" kern="1200" cap="none" spc="0" normalizeH="0" baseline="0" noProof="0" dirty="0">
                <a:ln>
                  <a:noFill/>
                </a:ln>
                <a:solidFill>
                  <a:prstClr val="white"/>
                </a:solidFill>
                <a:effectLst/>
                <a:uLnTx/>
                <a:uFillTx/>
                <a:latin typeface="Open Sans"/>
                <a:ea typeface="+mn-ea"/>
                <a:cs typeface="+mn-cs"/>
              </a:rPr>
              <a:t>: South-</a:t>
            </a:r>
            <a:r>
              <a:rPr kumimoji="0" lang="nl-NL" sz="1200" b="0" i="0" u="none" strike="noStrike" kern="1200" cap="none" spc="0" normalizeH="0" baseline="0" noProof="0" dirty="0" err="1">
                <a:ln>
                  <a:noFill/>
                </a:ln>
                <a:solidFill>
                  <a:prstClr val="white"/>
                </a:solidFill>
                <a:effectLst/>
                <a:uLnTx/>
                <a:uFillTx/>
                <a:latin typeface="Open Sans"/>
                <a:ea typeface="+mn-ea"/>
                <a:cs typeface="+mn-cs"/>
              </a:rPr>
              <a:t>Africa</a:t>
            </a: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200" b="1" i="0" u="none" strike="noStrike" kern="1200" cap="none" spc="0" normalizeH="0" baseline="0" noProof="0" dirty="0" err="1">
                <a:ln>
                  <a:noFill/>
                </a:ln>
                <a:solidFill>
                  <a:prstClr val="white"/>
                </a:solidFill>
                <a:effectLst/>
                <a:uLnTx/>
                <a:uFillTx/>
                <a:latin typeface="Open Sans"/>
                <a:ea typeface="+mn-ea"/>
                <a:cs typeface="+mn-cs"/>
              </a:rPr>
              <a:t>Investors</a:t>
            </a:r>
            <a:r>
              <a:rPr kumimoji="0" lang="nl-NL" sz="1200" b="1" i="0" u="none" strike="noStrike" kern="1200" cap="none" spc="0" normalizeH="0" baseline="0" noProof="0" dirty="0">
                <a:ln>
                  <a:noFill/>
                </a:ln>
                <a:solidFill>
                  <a:prstClr val="white"/>
                </a:solidFill>
                <a:effectLst/>
                <a:uLnTx/>
                <a:uFillTx/>
                <a:latin typeface="Open Sans"/>
                <a:ea typeface="+mn-ea"/>
                <a:cs typeface="+mn-cs"/>
              </a:rPr>
              <a:t>: </a:t>
            </a:r>
            <a:r>
              <a:rPr kumimoji="0" lang="nl-NL" sz="1200" b="0" i="0" u="none" strike="noStrike" kern="1200" cap="none" spc="0" normalizeH="0" baseline="0" noProof="0" dirty="0">
                <a:ln>
                  <a:noFill/>
                </a:ln>
                <a:solidFill>
                  <a:prstClr val="white"/>
                </a:solidFill>
                <a:effectLst/>
                <a:uLnTx/>
                <a:uFillTx/>
                <a:latin typeface="Open Sans"/>
                <a:ea typeface="+mn-ea"/>
                <a:cs typeface="+mn-cs"/>
              </a:rPr>
              <a:t>foundation, </a:t>
            </a:r>
            <a:r>
              <a:rPr kumimoji="0" lang="nl-NL" sz="1200" b="0" i="0" u="none" strike="noStrike" kern="1200" cap="none" spc="0" normalizeH="0" baseline="0" noProof="0" dirty="0" err="1">
                <a:ln>
                  <a:noFill/>
                </a:ln>
                <a:solidFill>
                  <a:prstClr val="white"/>
                </a:solidFill>
                <a:effectLst/>
                <a:uLnTx/>
                <a:uFillTx/>
                <a:latin typeface="Open Sans"/>
                <a:ea typeface="+mn-ea"/>
                <a:cs typeface="+mn-cs"/>
              </a:rPr>
              <a:t>HNWIs</a:t>
            </a:r>
            <a:r>
              <a:rPr kumimoji="0" lang="nl-NL" sz="1200" b="0" i="0" u="none" strike="noStrike" kern="1200" cap="none" spc="0" normalizeH="0" baseline="0" noProof="0" dirty="0">
                <a:ln>
                  <a:noFill/>
                </a:ln>
                <a:solidFill>
                  <a:prstClr val="white"/>
                </a:solidFill>
                <a:effectLst/>
                <a:uLnTx/>
                <a:uFillTx/>
                <a:latin typeface="Open Sans"/>
                <a:ea typeface="+mn-ea"/>
                <a:cs typeface="+mn-cs"/>
              </a:rPr>
              <a:t>, family offices</a:t>
            </a:r>
          </a:p>
          <a:p>
            <a:pPr>
              <a:spcBef>
                <a:spcPts val="400"/>
              </a:spcBef>
              <a:spcAft>
                <a:spcPts val="400"/>
              </a:spcAft>
              <a:buClr>
                <a:prstClr val="white"/>
              </a:buClr>
              <a:buSzPct val="100000"/>
              <a:defRPr/>
            </a:pPr>
            <a:br>
              <a:rPr kumimoji="0" lang="nl-NL" sz="1200" b="0" i="0" u="none" strike="noStrike" kern="1200" cap="none" spc="0" normalizeH="0" baseline="0" noProof="0" dirty="0">
                <a:ln>
                  <a:noFill/>
                </a:ln>
                <a:solidFill>
                  <a:prstClr val="white"/>
                </a:solidFill>
                <a:effectLst/>
                <a:uLnTx/>
                <a:uFillTx/>
                <a:latin typeface="Open Sans"/>
                <a:ea typeface="+mn-ea"/>
                <a:cs typeface="+mn-cs"/>
              </a:rPr>
            </a:br>
            <a:r>
              <a:rPr kumimoji="0" lang="nl-NL" sz="1600" b="1" i="0" u="none" strike="noStrike" kern="1200" cap="none" spc="0" normalizeH="0" baseline="0" noProof="0" dirty="0">
                <a:ln>
                  <a:noFill/>
                </a:ln>
                <a:solidFill>
                  <a:srgbClr val="FFA726"/>
                </a:solidFill>
                <a:effectLst/>
                <a:uLnTx/>
                <a:uFillTx/>
                <a:latin typeface="+mj-lt"/>
                <a:ea typeface="+mn-ea"/>
                <a:cs typeface="+mn-cs"/>
              </a:rPr>
              <a:t>Impact:</a:t>
            </a:r>
          </a:p>
          <a:p>
            <a:pPr marL="171450" indent="-171450">
              <a:spcBef>
                <a:spcPts val="400"/>
              </a:spcBef>
              <a:spcAft>
                <a:spcPts val="400"/>
              </a:spcAft>
              <a:buClr>
                <a:prstClr val="white"/>
              </a:buClr>
              <a:buSzPct val="100000"/>
              <a:buFont typeface="Arial" panose="020B0604020202020204" pitchFamily="34" charset="0"/>
              <a:buChar char="•"/>
              <a:defRPr/>
            </a:pPr>
            <a:r>
              <a:rPr kumimoji="0" lang="en-US" sz="1200" b="1" i="0" u="none" strike="noStrike" kern="1200" cap="none" spc="0" normalizeH="0" baseline="0" noProof="0" dirty="0">
                <a:ln>
                  <a:noFill/>
                </a:ln>
                <a:solidFill>
                  <a:prstClr val="white"/>
                </a:solidFill>
                <a:effectLst/>
                <a:uLnTx/>
                <a:uFillTx/>
                <a:latin typeface="Open Sans"/>
                <a:ea typeface="+mn-ea"/>
                <a:cs typeface="+mn-cs"/>
              </a:rPr>
              <a:t>First decentralized wastewater treatment </a:t>
            </a:r>
            <a:r>
              <a:rPr kumimoji="0" lang="en-US" sz="1200" b="0" i="0" u="none" strike="noStrike" kern="1200" cap="none" spc="0" normalizeH="0" baseline="0" noProof="0" dirty="0">
                <a:ln>
                  <a:noFill/>
                </a:ln>
                <a:solidFill>
                  <a:prstClr val="white"/>
                </a:solidFill>
                <a:effectLst/>
                <a:uLnTx/>
                <a:uFillTx/>
                <a:latin typeface="Open Sans"/>
                <a:ea typeface="+mn-ea"/>
                <a:cs typeface="+mn-cs"/>
              </a:rPr>
              <a:t>project treats 190k liters per day  </a:t>
            </a:r>
          </a:p>
          <a:p>
            <a:pPr marL="171450" indent="-171450">
              <a:spcBef>
                <a:spcPts val="400"/>
              </a:spcBef>
              <a:spcAft>
                <a:spcPts val="400"/>
              </a:spcAft>
              <a:buClr>
                <a:prstClr val="white"/>
              </a:buClr>
              <a:buSzPct val="100000"/>
              <a:buFont typeface="Arial" panose="020B0604020202020204" pitchFamily="34" charset="0"/>
              <a:buChar char="•"/>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Second project treats </a:t>
            </a:r>
            <a:r>
              <a:rPr kumimoji="0" lang="en-US" sz="1200" b="1" i="0" u="none" strike="noStrike" kern="1200" cap="none" spc="0" normalizeH="0" baseline="0" noProof="0" dirty="0">
                <a:ln>
                  <a:noFill/>
                </a:ln>
                <a:solidFill>
                  <a:prstClr val="white"/>
                </a:solidFill>
                <a:effectLst/>
                <a:uLnTx/>
                <a:uFillTx/>
                <a:latin typeface="Open Sans"/>
                <a:ea typeface="+mn-ea"/>
                <a:cs typeface="+mn-cs"/>
              </a:rPr>
              <a:t>164 million </a:t>
            </a:r>
            <a:r>
              <a:rPr kumimoji="0" lang="en-US" sz="1200" b="0" i="0" u="none" strike="noStrike" kern="1200" cap="none" spc="0" normalizeH="0" baseline="0" noProof="0" dirty="0">
                <a:ln>
                  <a:noFill/>
                </a:ln>
                <a:solidFill>
                  <a:prstClr val="white"/>
                </a:solidFill>
                <a:effectLst/>
                <a:uLnTx/>
                <a:uFillTx/>
                <a:latin typeface="Open Sans"/>
                <a:ea typeface="+mn-ea"/>
                <a:cs typeface="+mn-cs"/>
              </a:rPr>
              <a:t>liters</a:t>
            </a:r>
            <a:r>
              <a:rPr kumimoji="0" lang="en-US" sz="1200" b="1" i="0" u="none" strike="noStrike" kern="1200" cap="none" spc="0" normalizeH="0" baseline="0" noProof="0" dirty="0">
                <a:ln>
                  <a:noFill/>
                </a:ln>
                <a:solidFill>
                  <a:prstClr val="white"/>
                </a:solidFill>
                <a:effectLst/>
                <a:uLnTx/>
                <a:uFillTx/>
                <a:latin typeface="Open Sans"/>
                <a:ea typeface="+mn-ea"/>
                <a:cs typeface="+mn-cs"/>
              </a:rPr>
              <a:t> </a:t>
            </a:r>
            <a:r>
              <a:rPr kumimoji="0" lang="en-US" sz="1200" b="0" i="0" u="none" strike="noStrike" kern="1200" cap="none" spc="0" normalizeH="0" baseline="0" noProof="0" dirty="0">
                <a:ln>
                  <a:noFill/>
                </a:ln>
                <a:solidFill>
                  <a:prstClr val="white"/>
                </a:solidFill>
                <a:effectLst/>
                <a:uLnTx/>
                <a:uFillTx/>
                <a:latin typeface="Open Sans"/>
                <a:ea typeface="+mn-ea"/>
                <a:cs typeface="+mn-cs"/>
              </a:rPr>
              <a:t>p.a., solving a sewerage discharge problem</a:t>
            </a:r>
            <a:endParaRPr kumimoji="0" lang="nl-NL" sz="12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6" name="Picture 10">
            <a:extLst>
              <a:ext uri="{FF2B5EF4-FFF2-40B4-BE49-F238E27FC236}">
                <a16:creationId xmlns:a16="http://schemas.microsoft.com/office/drawing/2014/main" id="{70C68FE6-A63F-2410-A2C3-30A061AB05E8}"/>
              </a:ext>
            </a:extLst>
          </p:cNvPr>
          <p:cNvPicPr>
            <a:picLocks noChangeAspect="1"/>
          </p:cNvPicPr>
          <p:nvPr/>
        </p:nvPicPr>
        <p:blipFill rotWithShape="1">
          <a:blip r:embed="rId4">
            <a:extLst>
              <a:ext uri="{28A0092B-C50C-407E-A947-70E740481C1C}">
                <a14:useLocalDpi xmlns:a14="http://schemas.microsoft.com/office/drawing/2010/main" val="0"/>
              </a:ext>
            </a:extLst>
          </a:blip>
          <a:srcRect l="614" t="1691" r="72055" b="715"/>
          <a:stretch/>
        </p:blipFill>
        <p:spPr>
          <a:xfrm>
            <a:off x="595308" y="1956336"/>
            <a:ext cx="3328717" cy="4486988"/>
          </a:xfrm>
          <a:prstGeom prst="roundRect">
            <a:avLst>
              <a:gd name="adj" fmla="val 7309"/>
            </a:avLst>
          </a:prstGeom>
        </p:spPr>
      </p:pic>
      <p:pic>
        <p:nvPicPr>
          <p:cNvPr id="7" name="Afbeelding 6">
            <a:extLst>
              <a:ext uri="{FF2B5EF4-FFF2-40B4-BE49-F238E27FC236}">
                <a16:creationId xmlns:a16="http://schemas.microsoft.com/office/drawing/2014/main" id="{7C538E54-A87C-6C84-BBFE-A4093D7BB3FA}"/>
              </a:ext>
            </a:extLst>
          </p:cNvPr>
          <p:cNvPicPr>
            <a:picLocks noChangeAspect="1"/>
          </p:cNvPicPr>
          <p:nvPr/>
        </p:nvPicPr>
        <p:blipFill rotWithShape="1">
          <a:blip r:embed="rId5"/>
          <a:srcRect l="11219" r="11219"/>
          <a:stretch>
            <a:fillRect/>
          </a:stretch>
        </p:blipFill>
        <p:spPr>
          <a:xfrm>
            <a:off x="3907971" y="1956336"/>
            <a:ext cx="3264537" cy="4486988"/>
          </a:xfrm>
          <a:prstGeom prst="roundRect">
            <a:avLst>
              <a:gd name="adj" fmla="val 7595"/>
            </a:avLst>
          </a:prstGeom>
        </p:spPr>
      </p:pic>
      <p:cxnSp>
        <p:nvCxnSpPr>
          <p:cNvPr id="8" name="Rechte verbindingslijn 24">
            <a:extLst>
              <a:ext uri="{FF2B5EF4-FFF2-40B4-BE49-F238E27FC236}">
                <a16:creationId xmlns:a16="http://schemas.microsoft.com/office/drawing/2014/main" id="{0F11215D-5D45-0447-608C-4BB410AEDDC3}"/>
              </a:ext>
            </a:extLst>
          </p:cNvPr>
          <p:cNvCxnSpPr>
            <a:cxnSpLocks/>
          </p:cNvCxnSpPr>
          <p:nvPr/>
        </p:nvCxnSpPr>
        <p:spPr>
          <a:xfrm>
            <a:off x="7334154" y="4795822"/>
            <a:ext cx="4328185" cy="0"/>
          </a:xfrm>
          <a:prstGeom prst="line">
            <a:avLst/>
          </a:prstGeom>
          <a:ln>
            <a:solidFill>
              <a:srgbClr val="B7D6E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9228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Investment Process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5515361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Impact</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9669279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40" name="Afgeronde rechthoek 39">
            <a:extLst>
              <a:ext uri="{FF2B5EF4-FFF2-40B4-BE49-F238E27FC236}">
                <a16:creationId xmlns:a16="http://schemas.microsoft.com/office/drawing/2014/main" id="{CF46A489-D538-6816-CF7B-83C18D42219F}"/>
              </a:ext>
            </a:extLst>
          </p:cNvPr>
          <p:cNvSpPr/>
          <p:nvPr/>
        </p:nvSpPr>
        <p:spPr>
          <a:xfrm>
            <a:off x="631891" y="5699045"/>
            <a:ext cx="11197875" cy="946298"/>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Sustainability &amp; ESG - INDICATIVE</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4574F450-30DD-19F7-8D26-A5DEE6C96584}"/>
              </a:ext>
            </a:extLst>
          </p:cNvPr>
          <p:cNvSpPr txBox="1"/>
          <p:nvPr/>
        </p:nvSpPr>
        <p:spPr>
          <a:xfrm>
            <a:off x="580328" y="1387562"/>
            <a:ext cx="652661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Our impact vision: Delivering on our impact targets in a financially sustainable manner while investing for long-term value creation</a:t>
            </a:r>
          </a:p>
        </p:txBody>
      </p:sp>
      <p:sp>
        <p:nvSpPr>
          <p:cNvPr id="3" name="TextBox 11">
            <a:extLst>
              <a:ext uri="{FF2B5EF4-FFF2-40B4-BE49-F238E27FC236}">
                <a16:creationId xmlns:a16="http://schemas.microsoft.com/office/drawing/2014/main" id="{36B2BCD8-1258-D573-CD36-577DB714AA68}"/>
              </a:ext>
            </a:extLst>
          </p:cNvPr>
          <p:cNvSpPr txBox="1"/>
          <p:nvPr/>
        </p:nvSpPr>
        <p:spPr>
          <a:xfrm>
            <a:off x="631892" y="1998975"/>
            <a:ext cx="6704573" cy="360098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Our impact and ESG measurement and management system is a </a:t>
            </a:r>
            <a:r>
              <a:rPr kumimoji="0" lang="en-GB" sz="1200" b="1" i="0" u="none" strike="noStrike" kern="1200" cap="none" spc="0" normalizeH="0" baseline="0" noProof="0" dirty="0">
                <a:ln>
                  <a:noFill/>
                </a:ln>
                <a:solidFill>
                  <a:srgbClr val="B7D6E1"/>
                </a:solidFill>
                <a:effectLst/>
                <a:uLnTx/>
                <a:uFillTx/>
                <a:latin typeface="Open Sans"/>
                <a:ea typeface="+mn-ea"/>
                <a:cs typeface="+mn-cs"/>
              </a:rPr>
              <a:t>strategic opportunity</a:t>
            </a:r>
            <a:r>
              <a:rPr kumimoji="0" lang="en-GB" sz="1200" b="0" i="0" u="none" strike="noStrike" kern="1200" cap="none" spc="0" normalizeH="0" baseline="0" noProof="0" dirty="0">
                <a:ln>
                  <a:noFill/>
                </a:ln>
                <a:solidFill>
                  <a:srgbClr val="B7D6E1"/>
                </a:solidFill>
                <a:effectLst/>
                <a:uLnTx/>
                <a:uFillTx/>
                <a:latin typeface="Open Sans"/>
                <a:ea typeface="+mn-ea"/>
                <a:cs typeface="+mn-cs"/>
              </a:rPr>
              <a:t> </a:t>
            </a:r>
            <a:r>
              <a:rPr kumimoji="0" lang="en-GB" sz="1200" b="0" i="0" u="none" strike="noStrike" kern="1200" cap="none" spc="0" normalizeH="0" baseline="0" noProof="0" dirty="0">
                <a:ln>
                  <a:noFill/>
                </a:ln>
                <a:solidFill>
                  <a:prstClr val="white"/>
                </a:solidFill>
                <a:effectLst/>
                <a:uLnTx/>
                <a:uFillTx/>
                <a:latin typeface="Open Sans"/>
                <a:ea typeface="+mn-ea"/>
                <a:cs typeface="+mn-cs"/>
              </a:rPr>
              <a:t>to align with and contribute to achieving SDG 5, 6, 8, 13 and 17.</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It allows us to identify and consider the positive and negative effects our business actions have on people and the planet, and then figuring out ways to mitigate the negative and maximize the positive in alignment with international best practice.​</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We have an integrated approach to managing the impact of our investments, or portfolio of investments, which means we take into account the positive and negative impacts (aligned with the IFC Performance Standards) of the underlying companies/assets, as well as our own contributions.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Our impact and ESG systems are closely linked to our investment cycles and transaction process and includes five distinct actions:​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Set goals, screen and select the right transactions​.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Design climate aligned and gender equitable transactions.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Manage impact and ESG results and risks.</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Collect data, monitor, report and manage impact performance based on which incentives kick-in.</a:t>
            </a:r>
          </a:p>
          <a:p>
            <a:pPr marL="342900" marR="0" lvl="0" indent="-342900" algn="l" defTabSz="914400" rtl="0" eaLnBrk="1" fontAlgn="auto" latinLnBrk="0" hangingPunct="1">
              <a:lnSpc>
                <a:spcPct val="100000"/>
              </a:lnSpc>
              <a:spcBef>
                <a:spcPts val="0"/>
              </a:spcBef>
              <a:spcAft>
                <a:spcPts val="0"/>
              </a:spcAft>
              <a:buClrTx/>
              <a:buSzTx/>
              <a:buFont typeface="+mj-lt"/>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mn-ea"/>
                <a:cs typeface="+mn-cs"/>
              </a:rPr>
              <a:t>Based on operational findings, we learn and adjust our approaches. ​</a:t>
            </a:r>
            <a:endParaRPr kumimoji="0" lang="en-KE" sz="1200" b="0" i="0" u="none" strike="noStrike" kern="1200" cap="none" spc="0" normalizeH="0" baseline="0" noProof="0">
              <a:ln>
                <a:noFill/>
              </a:ln>
              <a:solidFill>
                <a:prstClr val="white"/>
              </a:solidFill>
              <a:effectLst/>
              <a:uLnTx/>
              <a:uFillTx/>
              <a:latin typeface="Open Sans"/>
              <a:ea typeface="+mn-ea"/>
              <a:cs typeface="+mn-cs"/>
            </a:endParaRPr>
          </a:p>
        </p:txBody>
      </p:sp>
      <p:graphicFrame>
        <p:nvGraphicFramePr>
          <p:cNvPr id="4" name="Table 2">
            <a:extLst>
              <a:ext uri="{FF2B5EF4-FFF2-40B4-BE49-F238E27FC236}">
                <a16:creationId xmlns:a16="http://schemas.microsoft.com/office/drawing/2014/main" id="{FF6C4FAC-E208-D983-98BA-A03DF2342898}"/>
              </a:ext>
            </a:extLst>
          </p:cNvPr>
          <p:cNvGraphicFramePr>
            <a:graphicFrameLocks noGrp="1"/>
          </p:cNvGraphicFramePr>
          <p:nvPr>
            <p:extLst>
              <p:ext uri="{D42A27DB-BD31-4B8C-83A1-F6EECF244321}">
                <p14:modId xmlns:p14="http://schemas.microsoft.com/office/powerpoint/2010/main" val="3025727067"/>
              </p:ext>
            </p:extLst>
          </p:nvPr>
        </p:nvGraphicFramePr>
        <p:xfrm>
          <a:off x="7429020" y="1387562"/>
          <a:ext cx="4400746" cy="4134461"/>
        </p:xfrm>
        <a:graphic>
          <a:graphicData uri="http://schemas.openxmlformats.org/drawingml/2006/table">
            <a:tbl>
              <a:tblPr firstRow="1" bandRow="1"/>
              <a:tblGrid>
                <a:gridCol w="419788">
                  <a:extLst>
                    <a:ext uri="{9D8B030D-6E8A-4147-A177-3AD203B41FA5}">
                      <a16:colId xmlns:a16="http://schemas.microsoft.com/office/drawing/2014/main" val="258745193"/>
                    </a:ext>
                  </a:extLst>
                </a:gridCol>
                <a:gridCol w="2900708">
                  <a:extLst>
                    <a:ext uri="{9D8B030D-6E8A-4147-A177-3AD203B41FA5}">
                      <a16:colId xmlns:a16="http://schemas.microsoft.com/office/drawing/2014/main" val="3270354901"/>
                    </a:ext>
                  </a:extLst>
                </a:gridCol>
                <a:gridCol w="574158">
                  <a:extLst>
                    <a:ext uri="{9D8B030D-6E8A-4147-A177-3AD203B41FA5}">
                      <a16:colId xmlns:a16="http://schemas.microsoft.com/office/drawing/2014/main" val="2470041923"/>
                    </a:ext>
                  </a:extLst>
                </a:gridCol>
                <a:gridCol w="506092">
                  <a:extLst>
                    <a:ext uri="{9D8B030D-6E8A-4147-A177-3AD203B41FA5}">
                      <a16:colId xmlns:a16="http://schemas.microsoft.com/office/drawing/2014/main" val="2127425156"/>
                    </a:ext>
                  </a:extLst>
                </a:gridCol>
              </a:tblGrid>
              <a:tr h="277815">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endParaRPr lang="en-KE" sz="1000">
                        <a:solidFill>
                          <a:srgbClr val="173E55"/>
                        </a:solidFill>
                        <a:latin typeface="+mn-lt"/>
                      </a:endParaRPr>
                    </a:p>
                  </a:txBody>
                  <a:tcPr>
                    <a:lnL w="6350" cap="flat" cmpd="sng" algn="ctr">
                      <a:solidFill>
                        <a:srgbClr val="144391"/>
                      </a:solidFill>
                      <a:prstDash val="solid"/>
                      <a:round/>
                      <a:headEnd type="none" w="med" len="med"/>
                      <a:tailEnd type="none" w="med" len="med"/>
                    </a:lnL>
                    <a:lnR w="6350" cap="flat" cmpd="sng" algn="ctr">
                      <a:solidFill>
                        <a:srgbClr val="144391"/>
                      </a:solidFill>
                      <a:prstDash val="solid"/>
                      <a:round/>
                      <a:headEnd type="none" w="med" len="med"/>
                      <a:tailEnd type="none" w="med" len="med"/>
                    </a:lnR>
                    <a:lnT w="6350" cap="flat" cmpd="sng" algn="ctr">
                      <a:solidFill>
                        <a:srgbClr val="14439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GB" sz="1000" dirty="0">
                          <a:solidFill>
                            <a:srgbClr val="173E55"/>
                          </a:solidFill>
                          <a:latin typeface="+mj-lt"/>
                        </a:rPr>
                        <a:t>Key Performance Indicators (Indicative) </a:t>
                      </a:r>
                      <a:br>
                        <a:rPr lang="en-GB" sz="1000" dirty="0">
                          <a:solidFill>
                            <a:srgbClr val="173E55"/>
                          </a:solidFill>
                          <a:latin typeface="+mj-lt"/>
                        </a:rPr>
                      </a:br>
                      <a:r>
                        <a:rPr lang="en-GB" sz="1000" dirty="0">
                          <a:solidFill>
                            <a:srgbClr val="173E55"/>
                          </a:solidFill>
                          <a:latin typeface="+mj-lt"/>
                        </a:rPr>
                        <a:t>Monitored over the life of the Vehicle</a:t>
                      </a:r>
                      <a:endParaRPr lang="en-KE" sz="1000">
                        <a:solidFill>
                          <a:srgbClr val="173E55"/>
                        </a:solidFill>
                        <a:latin typeface="+mj-lt"/>
                      </a:endParaRPr>
                    </a:p>
                  </a:txBody>
                  <a:tcPr>
                    <a:lnL w="6350" cap="flat" cmpd="sng" algn="ctr">
                      <a:solidFill>
                        <a:srgbClr val="144391"/>
                      </a:solidFill>
                      <a:prstDash val="solid"/>
                      <a:round/>
                      <a:headEnd type="none" w="med" len="med"/>
                      <a:tailEnd type="none" w="med" len="med"/>
                    </a:lnL>
                    <a:lnR w="6350" cap="flat" cmpd="sng" algn="ctr">
                      <a:solidFill>
                        <a:srgbClr val="144391"/>
                      </a:solidFill>
                      <a:prstDash val="solid"/>
                      <a:round/>
                      <a:headEnd type="none" w="med" len="med"/>
                      <a:tailEnd type="none" w="med" len="med"/>
                    </a:lnR>
                    <a:lnT w="6350" cap="flat" cmpd="sng" algn="ctr">
                      <a:solidFill>
                        <a:srgbClr val="14439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GB" sz="1000" dirty="0">
                          <a:solidFill>
                            <a:srgbClr val="173E55"/>
                          </a:solidFill>
                          <a:latin typeface="+mj-lt"/>
                        </a:rPr>
                        <a:t>Year 1*</a:t>
                      </a:r>
                      <a:endParaRPr lang="en-KE" sz="1000">
                        <a:solidFill>
                          <a:srgbClr val="173E55"/>
                        </a:solidFill>
                        <a:latin typeface="+mj-lt"/>
                      </a:endParaRPr>
                    </a:p>
                  </a:txBody>
                  <a:tcPr>
                    <a:lnL w="6350" cap="flat" cmpd="sng" algn="ctr">
                      <a:solidFill>
                        <a:srgbClr val="144391"/>
                      </a:solidFill>
                      <a:prstDash val="solid"/>
                      <a:round/>
                      <a:headEnd type="none" w="med" len="med"/>
                      <a:tailEnd type="none" w="med" len="med"/>
                    </a:lnL>
                    <a:lnR w="6350" cap="flat" cmpd="sng" algn="ctr">
                      <a:solidFill>
                        <a:srgbClr val="144391"/>
                      </a:solidFill>
                      <a:prstDash val="solid"/>
                      <a:round/>
                      <a:headEnd type="none" w="med" len="med"/>
                      <a:tailEnd type="none" w="med" len="med"/>
                    </a:lnR>
                    <a:lnT w="6350" cap="flat" cmpd="sng" algn="ctr">
                      <a:solidFill>
                        <a:srgbClr val="14439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lvl1pPr marL="0" algn="l" defTabSz="914400" rtl="0" eaLnBrk="1" latinLnBrk="0" hangingPunct="1">
                        <a:defRPr sz="1800" b="1" kern="1200">
                          <a:solidFill>
                            <a:schemeClr val="lt1"/>
                          </a:solidFill>
                          <a:latin typeface="Calibri" panose="020F0502020204030204"/>
                        </a:defRPr>
                      </a:lvl1pPr>
                      <a:lvl2pPr marL="457200" algn="l" defTabSz="914400" rtl="0" eaLnBrk="1" latinLnBrk="0" hangingPunct="1">
                        <a:defRPr sz="1800" b="1" kern="1200">
                          <a:solidFill>
                            <a:schemeClr val="lt1"/>
                          </a:solidFill>
                          <a:latin typeface="Calibri" panose="020F0502020204030204"/>
                        </a:defRPr>
                      </a:lvl2pPr>
                      <a:lvl3pPr marL="914400" algn="l" defTabSz="914400" rtl="0" eaLnBrk="1" latinLnBrk="0" hangingPunct="1">
                        <a:defRPr sz="1800" b="1" kern="1200">
                          <a:solidFill>
                            <a:schemeClr val="lt1"/>
                          </a:solidFill>
                          <a:latin typeface="Calibri" panose="020F0502020204030204"/>
                        </a:defRPr>
                      </a:lvl3pPr>
                      <a:lvl4pPr marL="1371600" algn="l" defTabSz="914400" rtl="0" eaLnBrk="1" latinLnBrk="0" hangingPunct="1">
                        <a:defRPr sz="1800" b="1" kern="1200">
                          <a:solidFill>
                            <a:schemeClr val="lt1"/>
                          </a:solidFill>
                          <a:latin typeface="Calibri" panose="020F0502020204030204"/>
                        </a:defRPr>
                      </a:lvl4pPr>
                      <a:lvl5pPr marL="1828800" algn="l" defTabSz="914400" rtl="0" eaLnBrk="1" latinLnBrk="0" hangingPunct="1">
                        <a:defRPr sz="1800" b="1" kern="1200">
                          <a:solidFill>
                            <a:schemeClr val="lt1"/>
                          </a:solidFill>
                          <a:latin typeface="Calibri" panose="020F0502020204030204"/>
                        </a:defRPr>
                      </a:lvl5pPr>
                      <a:lvl6pPr marL="2286000" algn="l" defTabSz="914400" rtl="0" eaLnBrk="1" latinLnBrk="0" hangingPunct="1">
                        <a:defRPr sz="1800" b="1" kern="1200">
                          <a:solidFill>
                            <a:schemeClr val="lt1"/>
                          </a:solidFill>
                          <a:latin typeface="Calibri" panose="020F0502020204030204"/>
                        </a:defRPr>
                      </a:lvl6pPr>
                      <a:lvl7pPr marL="2743200" algn="l" defTabSz="914400" rtl="0" eaLnBrk="1" latinLnBrk="0" hangingPunct="1">
                        <a:defRPr sz="1800" b="1" kern="1200">
                          <a:solidFill>
                            <a:schemeClr val="lt1"/>
                          </a:solidFill>
                          <a:latin typeface="Calibri" panose="020F0502020204030204"/>
                        </a:defRPr>
                      </a:lvl7pPr>
                      <a:lvl8pPr marL="3200400" algn="l" defTabSz="914400" rtl="0" eaLnBrk="1" latinLnBrk="0" hangingPunct="1">
                        <a:defRPr sz="1800" b="1" kern="1200">
                          <a:solidFill>
                            <a:schemeClr val="lt1"/>
                          </a:solidFill>
                          <a:latin typeface="Calibri" panose="020F0502020204030204"/>
                        </a:defRPr>
                      </a:lvl8pPr>
                      <a:lvl9pPr marL="3657600" algn="l" defTabSz="914400" rtl="0" eaLnBrk="1" latinLnBrk="0" hangingPunct="1">
                        <a:defRPr sz="1800" b="1" kern="1200">
                          <a:solidFill>
                            <a:schemeClr val="lt1"/>
                          </a:solidFill>
                          <a:latin typeface="Calibri" panose="020F0502020204030204"/>
                        </a:defRPr>
                      </a:lvl9pPr>
                    </a:lstStyle>
                    <a:p>
                      <a:r>
                        <a:rPr lang="en-GB" sz="1000" dirty="0" err="1">
                          <a:solidFill>
                            <a:srgbClr val="173E55"/>
                          </a:solidFill>
                          <a:latin typeface="+mj-lt"/>
                        </a:rPr>
                        <a:t>Yr</a:t>
                      </a:r>
                      <a:r>
                        <a:rPr lang="en-GB" sz="1000" dirty="0">
                          <a:solidFill>
                            <a:srgbClr val="173E55"/>
                          </a:solidFill>
                          <a:latin typeface="+mj-lt"/>
                        </a:rPr>
                        <a:t> N</a:t>
                      </a:r>
                      <a:endParaRPr lang="en-KE" sz="1000">
                        <a:solidFill>
                          <a:srgbClr val="173E55"/>
                        </a:solidFill>
                        <a:latin typeface="+mj-lt"/>
                      </a:endParaRPr>
                    </a:p>
                  </a:txBody>
                  <a:tcPr>
                    <a:lnL w="6350" cap="flat" cmpd="sng" algn="ctr">
                      <a:solidFill>
                        <a:srgbClr val="144391"/>
                      </a:solidFill>
                      <a:prstDash val="solid"/>
                      <a:round/>
                      <a:headEnd type="none" w="med" len="med"/>
                      <a:tailEnd type="none" w="med" len="med"/>
                    </a:lnL>
                    <a:lnR w="6350" cap="flat" cmpd="sng" algn="ctr">
                      <a:solidFill>
                        <a:srgbClr val="144391"/>
                      </a:solidFill>
                      <a:prstDash val="solid"/>
                      <a:round/>
                      <a:headEnd type="none" w="med" len="med"/>
                      <a:tailEnd type="none" w="med" len="med"/>
                    </a:lnR>
                    <a:lnT w="6350" cap="flat" cmpd="sng" algn="ctr">
                      <a:solidFill>
                        <a:srgbClr val="144391"/>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B7D6E1"/>
                    </a:solidFill>
                  </a:tcPr>
                </a:tc>
                <a:extLst>
                  <a:ext uri="{0D108BD9-81ED-4DB2-BD59-A6C34878D82A}">
                    <a16:rowId xmlns:a16="http://schemas.microsoft.com/office/drawing/2014/main" val="637441415"/>
                  </a:ext>
                </a:extLst>
              </a:tr>
              <a:tr h="1889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1.</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dirty="0">
                          <a:solidFill>
                            <a:srgbClr val="173E55"/>
                          </a:solidFill>
                          <a:effectLst/>
                          <a:latin typeface="+mn-lt"/>
                        </a:rPr>
                        <a:t>Total investments made (# and USD)</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784906594"/>
                  </a:ext>
                </a:extLst>
              </a:tr>
              <a:tr h="171460">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2.</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GB" sz="1000" dirty="0">
                          <a:solidFill>
                            <a:srgbClr val="173E55"/>
                          </a:solidFill>
                          <a:latin typeface="+mn-lt"/>
                        </a:rPr>
                        <a:t>Cumulative amounts mobilised (USD)</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37679623"/>
                  </a:ext>
                </a:extLst>
              </a:tr>
              <a:tr h="17483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3.</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strike="noStrike" baseline="0">
                          <a:solidFill>
                            <a:srgbClr val="173E55"/>
                          </a:solidFill>
                          <a:effectLst/>
                          <a:latin typeface="+mn-lt"/>
                        </a:rPr>
                        <a:t>Funds </a:t>
                      </a:r>
                      <a:r>
                        <a:rPr lang="en-GB" sz="1000" b="0" i="0">
                          <a:solidFill>
                            <a:srgbClr val="173E55"/>
                          </a:solidFill>
                          <a:effectLst/>
                          <a:latin typeface="+mn-lt"/>
                        </a:rPr>
                        <a:t>supported in target countries (#)</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731377942"/>
                  </a:ext>
                </a:extLst>
              </a:tr>
              <a:tr h="27781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4.</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dirty="0">
                          <a:solidFill>
                            <a:srgbClr val="173E55"/>
                          </a:solidFill>
                          <a:effectLst/>
                          <a:latin typeface="+mn-lt"/>
                        </a:rPr>
                        <a:t>Investments made classified as climate resilient (#)</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01331284"/>
                  </a:ext>
                </a:extLst>
              </a:tr>
              <a:tr h="27781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5.</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algn="l">
                        <a:buFont typeface="+mj-lt"/>
                        <a:buNone/>
                      </a:pPr>
                      <a:r>
                        <a:rPr lang="en-GB" sz="1000" b="0" i="0" dirty="0">
                          <a:solidFill>
                            <a:srgbClr val="173E55"/>
                          </a:solidFill>
                          <a:effectLst/>
                          <a:latin typeface="+mn-lt"/>
                        </a:rPr>
                        <a:t>People reached with climate resilient water  services (#), disaggregated by gender</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10464975"/>
                  </a:ext>
                </a:extLst>
              </a:tr>
              <a:tr h="182393">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6.</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a:solidFill>
                            <a:srgbClr val="173E55"/>
                          </a:solidFill>
                          <a:effectLst/>
                          <a:latin typeface="+mn-lt"/>
                        </a:rPr>
                        <a:t>Improved water quantity and quality</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228131415"/>
                  </a:ext>
                </a:extLst>
              </a:tr>
              <a:tr h="19382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7.</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dirty="0">
                          <a:solidFill>
                            <a:srgbClr val="173E55"/>
                          </a:solidFill>
                          <a:effectLst/>
                          <a:latin typeface="+mn-lt"/>
                        </a:rPr>
                        <a:t>Increased water availability</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880739011"/>
                  </a:ext>
                </a:extLst>
              </a:tr>
              <a:tr h="377051">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8.</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strike="noStrike" baseline="0" dirty="0">
                          <a:solidFill>
                            <a:srgbClr val="173E55"/>
                          </a:solidFill>
                          <a:effectLst/>
                          <a:latin typeface="+mn-lt"/>
                        </a:rPr>
                        <a:t>Companies who have conducted a (physical) climate risk assessment (#) </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50340747"/>
                  </a:ext>
                </a:extLst>
              </a:tr>
              <a:tr h="277815">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r>
                        <a:rPr lang="en-AU" sz="1000">
                          <a:solidFill>
                            <a:srgbClr val="173E55"/>
                          </a:solidFill>
                          <a:latin typeface="+mn-lt"/>
                        </a:rPr>
                        <a:t>9.</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a:solidFill>
                            <a:srgbClr val="173E55"/>
                          </a:solidFill>
                          <a:effectLst/>
                          <a:latin typeface="+mn-lt"/>
                        </a:rPr>
                        <a:t>Financial indicators, including Profitability,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0">
                          <a:solidFill>
                            <a:srgbClr val="173E55"/>
                          </a:solidFill>
                          <a:effectLst/>
                          <a:latin typeface="+mn-lt"/>
                        </a:rPr>
                        <a:t>Portfolio outstanding, </a:t>
                      </a:r>
                      <a:r>
                        <a:rPr lang="en-GB" sz="1000" b="0" i="0" strike="noStrike" baseline="0">
                          <a:solidFill>
                            <a:srgbClr val="173E55"/>
                          </a:solidFill>
                          <a:effectLst/>
                          <a:latin typeface="+mn-lt"/>
                        </a:rPr>
                        <a:t>NPLs </a:t>
                      </a:r>
                      <a:endParaRPr lang="en-GB" sz="1000" b="0" i="0" strike="sngStrike" baseline="0">
                        <a:solidFill>
                          <a:srgbClr val="173E55"/>
                        </a:solidFill>
                        <a:effectLst/>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panose="020F0502020204030204"/>
                        </a:defRPr>
                      </a:lvl1pPr>
                      <a:lvl2pPr marL="457200" algn="l" defTabSz="914400" rtl="0" eaLnBrk="1" latinLnBrk="0" hangingPunct="1">
                        <a:defRPr sz="1800" kern="1200">
                          <a:solidFill>
                            <a:schemeClr val="dk1"/>
                          </a:solidFill>
                          <a:latin typeface="Calibri" panose="020F0502020204030204"/>
                        </a:defRPr>
                      </a:lvl2pPr>
                      <a:lvl3pPr marL="914400" algn="l" defTabSz="914400" rtl="0" eaLnBrk="1" latinLnBrk="0" hangingPunct="1">
                        <a:defRPr sz="1800" kern="1200">
                          <a:solidFill>
                            <a:schemeClr val="dk1"/>
                          </a:solidFill>
                          <a:latin typeface="Calibri" panose="020F0502020204030204"/>
                        </a:defRPr>
                      </a:lvl3pPr>
                      <a:lvl4pPr marL="1371600" algn="l" defTabSz="914400" rtl="0" eaLnBrk="1" latinLnBrk="0" hangingPunct="1">
                        <a:defRPr sz="1800" kern="1200">
                          <a:solidFill>
                            <a:schemeClr val="dk1"/>
                          </a:solidFill>
                          <a:latin typeface="Calibri" panose="020F0502020204030204"/>
                        </a:defRPr>
                      </a:lvl4pPr>
                      <a:lvl5pPr marL="1828800" algn="l" defTabSz="914400" rtl="0" eaLnBrk="1" latinLnBrk="0" hangingPunct="1">
                        <a:defRPr sz="1800" kern="1200">
                          <a:solidFill>
                            <a:schemeClr val="dk1"/>
                          </a:solidFill>
                          <a:latin typeface="Calibri" panose="020F0502020204030204"/>
                        </a:defRPr>
                      </a:lvl5pPr>
                      <a:lvl6pPr marL="2286000" algn="l" defTabSz="914400" rtl="0" eaLnBrk="1" latinLnBrk="0" hangingPunct="1">
                        <a:defRPr sz="1800" kern="1200">
                          <a:solidFill>
                            <a:schemeClr val="dk1"/>
                          </a:solidFill>
                          <a:latin typeface="Calibri" panose="020F0502020204030204"/>
                        </a:defRPr>
                      </a:lvl6pPr>
                      <a:lvl7pPr marL="2743200" algn="l" defTabSz="914400" rtl="0" eaLnBrk="1" latinLnBrk="0" hangingPunct="1">
                        <a:defRPr sz="1800" kern="1200">
                          <a:solidFill>
                            <a:schemeClr val="dk1"/>
                          </a:solidFill>
                          <a:latin typeface="Calibri" panose="020F0502020204030204"/>
                        </a:defRPr>
                      </a:lvl7pPr>
                      <a:lvl8pPr marL="3200400" algn="l" defTabSz="914400" rtl="0" eaLnBrk="1" latinLnBrk="0" hangingPunct="1">
                        <a:defRPr sz="1800" kern="1200">
                          <a:solidFill>
                            <a:schemeClr val="dk1"/>
                          </a:solidFill>
                          <a:latin typeface="Calibri" panose="020F0502020204030204"/>
                        </a:defRPr>
                      </a:lvl8pPr>
                      <a:lvl9pPr marL="3657600" algn="l" defTabSz="914400" rtl="0" eaLnBrk="1" latinLnBrk="0" hangingPunct="1">
                        <a:defRPr sz="1800" kern="1200">
                          <a:solidFill>
                            <a:schemeClr val="dk1"/>
                          </a:solidFill>
                          <a:latin typeface="Calibri" panose="020F0502020204030204"/>
                        </a:defRPr>
                      </a:lvl9pPr>
                    </a:lstStyle>
                    <a:p>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33570770"/>
                  </a:ext>
                </a:extLst>
              </a:tr>
              <a:tr h="260006">
                <a:tc>
                  <a:txBody>
                    <a:bodyPr/>
                    <a:lstStyle/>
                    <a:p>
                      <a:r>
                        <a:rPr lang="nl-NL" sz="1000">
                          <a:solidFill>
                            <a:srgbClr val="173E55"/>
                          </a:solidFill>
                          <a:latin typeface="+mn-lt"/>
                        </a:rPr>
                        <a:t>10.</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i="0" strike="noStrike" baseline="0">
                          <a:solidFill>
                            <a:srgbClr val="173E55"/>
                          </a:solidFill>
                          <a:effectLst/>
                          <a:latin typeface="+mn-lt"/>
                        </a:rPr>
                        <a:t>Number of investees that are 2X aligned</a:t>
                      </a:r>
                      <a:endParaRPr lang="en-GB" sz="1000" b="0" i="0" strike="noStrike" baseline="0">
                        <a:solidFill>
                          <a:srgbClr val="173E55"/>
                        </a:solidFill>
                        <a:effectLst/>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endParaRPr lang="en-KE" sz="1000" strike="noStrike" baseline="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endParaRPr lang="en-KE" sz="1000" strike="noStrike" baseline="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666490919"/>
                  </a:ext>
                </a:extLst>
              </a:tr>
              <a:tr h="277815">
                <a:tc>
                  <a:txBody>
                    <a:bodyPr/>
                    <a:lstStyle/>
                    <a:p>
                      <a:r>
                        <a:rPr lang="nl-NL" sz="1000">
                          <a:solidFill>
                            <a:srgbClr val="173E55"/>
                          </a:solidFill>
                          <a:latin typeface="+mn-lt"/>
                        </a:rPr>
                        <a:t>11. </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000" b="0" i="0" strike="noStrike" baseline="0" dirty="0" err="1">
                          <a:solidFill>
                            <a:srgbClr val="173E55"/>
                          </a:solidFill>
                          <a:effectLst/>
                          <a:latin typeface="+mn-lt"/>
                        </a:rPr>
                        <a:t>Number</a:t>
                      </a:r>
                      <a:r>
                        <a:rPr lang="nl-NL" sz="1000" b="0" i="0" strike="noStrike" baseline="0" dirty="0">
                          <a:solidFill>
                            <a:srgbClr val="173E55"/>
                          </a:solidFill>
                          <a:effectLst/>
                          <a:latin typeface="+mn-lt"/>
                        </a:rPr>
                        <a:t> of </a:t>
                      </a:r>
                      <a:r>
                        <a:rPr lang="nl-NL" sz="1000" b="0" i="0" strike="noStrike" baseline="0" dirty="0" err="1">
                          <a:solidFill>
                            <a:srgbClr val="173E55"/>
                          </a:solidFill>
                          <a:effectLst/>
                          <a:latin typeface="+mn-lt"/>
                        </a:rPr>
                        <a:t>investments</a:t>
                      </a:r>
                      <a:r>
                        <a:rPr lang="nl-NL" sz="1000" b="0" i="0" strike="noStrike" baseline="0" dirty="0">
                          <a:solidFill>
                            <a:srgbClr val="173E55"/>
                          </a:solidFill>
                          <a:effectLst/>
                          <a:latin typeface="+mn-lt"/>
                        </a:rPr>
                        <a:t> in Nature-</a:t>
                      </a:r>
                      <a:r>
                        <a:rPr lang="nl-NL" sz="1000" b="0" i="0" strike="noStrike" baseline="0" dirty="0" err="1">
                          <a:solidFill>
                            <a:srgbClr val="173E55"/>
                          </a:solidFill>
                          <a:effectLst/>
                          <a:latin typeface="+mn-lt"/>
                        </a:rPr>
                        <a:t>based</a:t>
                      </a:r>
                      <a:r>
                        <a:rPr lang="nl-NL" sz="1000" b="0" i="0" strike="noStrike" baseline="0" dirty="0">
                          <a:solidFill>
                            <a:srgbClr val="173E55"/>
                          </a:solidFill>
                          <a:effectLst/>
                          <a:latin typeface="+mn-lt"/>
                        </a:rPr>
                        <a:t> Solutions</a:t>
                      </a:r>
                      <a:endParaRPr lang="en-GB" sz="1000" b="0" i="0" strike="noStrike" baseline="0" dirty="0">
                        <a:solidFill>
                          <a:srgbClr val="173E55"/>
                        </a:solidFill>
                        <a:effectLst/>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endParaRPr lang="en-KE" sz="1000" strike="noStrike" baseline="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endParaRPr lang="en-KE" sz="1000" strike="noStrike" baseline="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975630732"/>
                  </a:ext>
                </a:extLst>
              </a:tr>
              <a:tr h="277815">
                <a:tc>
                  <a:txBody>
                    <a:bodyPr/>
                    <a:lstStyle/>
                    <a:p>
                      <a:r>
                        <a:rPr lang="en-US" sz="1000">
                          <a:solidFill>
                            <a:srgbClr val="173E55"/>
                          </a:solidFill>
                          <a:latin typeface="+mn-lt"/>
                        </a:rPr>
                        <a:t>*</a:t>
                      </a:r>
                      <a:endParaRPr lang="en-KE" sz="1000">
                        <a:solidFill>
                          <a:srgbClr val="173E55"/>
                        </a:solidFill>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i="1" strike="noStrike" baseline="0" dirty="0">
                          <a:solidFill>
                            <a:srgbClr val="173E55"/>
                          </a:solidFill>
                          <a:effectLst/>
                          <a:latin typeface="+mn-lt"/>
                        </a:rPr>
                        <a:t>Targets to be further refined based on capital structure</a:t>
                      </a: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KE" sz="1000" strike="noStrike" baseline="0">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hMerge="1">
                  <a:txBody>
                    <a:bodyPr/>
                    <a:lstStyle/>
                    <a:p>
                      <a:endParaRPr lang="en-KE" sz="1000" strike="noStrike" baseline="0">
                        <a:latin typeface="+mn-lt"/>
                      </a:endParaRPr>
                    </a:p>
                  </a:txBody>
                  <a:tcPr>
                    <a:lnL w="6350" cap="flat" cmpd="sng" algn="ctr">
                      <a:solidFill>
                        <a:sysClr val="windowText" lastClr="000000"/>
                      </a:solidFill>
                      <a:prstDash val="solid"/>
                      <a:round/>
                      <a:headEnd type="none" w="med" len="med"/>
                      <a:tailEnd type="none" w="med" len="med"/>
                    </a:lnL>
                    <a:lnR w="6350" cap="flat" cmpd="sng" algn="ctr">
                      <a:solidFill>
                        <a:sysClr val="windowText" lastClr="000000"/>
                      </a:solidFill>
                      <a:prstDash val="solid"/>
                      <a:round/>
                      <a:headEnd type="none" w="med" len="med"/>
                      <a:tailEnd type="none" w="med" len="med"/>
                    </a:lnR>
                    <a:lnT w="6350" cap="flat" cmpd="sng" algn="ctr">
                      <a:solidFill>
                        <a:sysClr val="windowText" lastClr="000000"/>
                      </a:solidFill>
                      <a:prstDash val="solid"/>
                      <a:round/>
                      <a:headEnd type="none" w="med" len="med"/>
                      <a:tailEnd type="none" w="med" len="med"/>
                    </a:lnT>
                    <a:lnB w="635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20300660"/>
                  </a:ext>
                </a:extLst>
              </a:tr>
            </a:tbl>
          </a:graphicData>
        </a:graphic>
      </p:graphicFrame>
      <p:sp>
        <p:nvSpPr>
          <p:cNvPr id="7" name="TextBox 25">
            <a:extLst>
              <a:ext uri="{FF2B5EF4-FFF2-40B4-BE49-F238E27FC236}">
                <a16:creationId xmlns:a16="http://schemas.microsoft.com/office/drawing/2014/main" id="{8B846552-07B4-BDB6-E09B-25AE7CD58AEE}"/>
              </a:ext>
            </a:extLst>
          </p:cNvPr>
          <p:cNvSpPr txBox="1"/>
          <p:nvPr/>
        </p:nvSpPr>
        <p:spPr>
          <a:xfrm>
            <a:off x="870941" y="5775757"/>
            <a:ext cx="1994076"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B703"/>
                </a:solidFill>
                <a:effectLst/>
                <a:uLnTx/>
                <a:uFillTx/>
                <a:latin typeface="Raleway"/>
                <a:ea typeface="+mn-ea"/>
                <a:cs typeface="+mn-cs"/>
              </a:rPr>
              <a:t>SDG Alignment</a:t>
            </a:r>
          </a:p>
        </p:txBody>
      </p:sp>
      <p:sp>
        <p:nvSpPr>
          <p:cNvPr id="8" name="TextBox 26">
            <a:extLst>
              <a:ext uri="{FF2B5EF4-FFF2-40B4-BE49-F238E27FC236}">
                <a16:creationId xmlns:a16="http://schemas.microsoft.com/office/drawing/2014/main" id="{6FD09206-AE1D-6ED4-F864-0BA07FC569B4}"/>
              </a:ext>
            </a:extLst>
          </p:cNvPr>
          <p:cNvSpPr txBox="1"/>
          <p:nvPr/>
        </p:nvSpPr>
        <p:spPr>
          <a:xfrm>
            <a:off x="3759291" y="5785728"/>
            <a:ext cx="1223727"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B703"/>
                </a:solidFill>
                <a:effectLst/>
                <a:uLnTx/>
                <a:uFillTx/>
                <a:latin typeface="Raleway"/>
                <a:ea typeface="+mn-ea"/>
                <a:cs typeface="+mn-cs"/>
              </a:rPr>
              <a:t>ESG Principles</a:t>
            </a:r>
          </a:p>
        </p:txBody>
      </p:sp>
      <p:sp>
        <p:nvSpPr>
          <p:cNvPr id="9" name="TextBox 27">
            <a:extLst>
              <a:ext uri="{FF2B5EF4-FFF2-40B4-BE49-F238E27FC236}">
                <a16:creationId xmlns:a16="http://schemas.microsoft.com/office/drawing/2014/main" id="{307D3EFF-3F09-E1AA-8840-6DA3C3274D9D}"/>
              </a:ext>
            </a:extLst>
          </p:cNvPr>
          <p:cNvSpPr txBox="1"/>
          <p:nvPr/>
        </p:nvSpPr>
        <p:spPr>
          <a:xfrm>
            <a:off x="5634914" y="5819153"/>
            <a:ext cx="1994076"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B703"/>
                </a:solidFill>
                <a:effectLst/>
                <a:uLnTx/>
                <a:uFillTx/>
                <a:latin typeface="Raleway"/>
                <a:ea typeface="+mn-ea"/>
                <a:cs typeface="+mn-cs"/>
              </a:rPr>
              <a:t>Climate Standards</a:t>
            </a:r>
          </a:p>
        </p:txBody>
      </p:sp>
      <p:pic>
        <p:nvPicPr>
          <p:cNvPr id="18" name="Picture 2" descr="Goal 5 | Department of Economic and Social Affairs">
            <a:extLst>
              <a:ext uri="{FF2B5EF4-FFF2-40B4-BE49-F238E27FC236}">
                <a16:creationId xmlns:a16="http://schemas.microsoft.com/office/drawing/2014/main" id="{040C8AD5-9A21-4A64-DFF7-D0F5ED54A3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1735" y="6083499"/>
            <a:ext cx="440141" cy="440141"/>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0" descr="Goal 8 | Department of Economic and Social Affairs">
            <a:extLst>
              <a:ext uri="{FF2B5EF4-FFF2-40B4-BE49-F238E27FC236}">
                <a16:creationId xmlns:a16="http://schemas.microsoft.com/office/drawing/2014/main" id="{684CCA2E-93EA-88A5-4D13-9C600B3DBC0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8346" y="6079213"/>
            <a:ext cx="448713" cy="448713"/>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6" descr="Goal 13 | Department of Economic and Social Affairs">
            <a:extLst>
              <a:ext uri="{FF2B5EF4-FFF2-40B4-BE49-F238E27FC236}">
                <a16:creationId xmlns:a16="http://schemas.microsoft.com/office/drawing/2014/main" id="{041F4731-8135-36C0-4FA3-52652E3E4B9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43178" y="6090929"/>
            <a:ext cx="440141" cy="44014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Goal 17 | Department of Economic and Social Affairs">
            <a:extLst>
              <a:ext uri="{FF2B5EF4-FFF2-40B4-BE49-F238E27FC236}">
                <a16:creationId xmlns:a16="http://schemas.microsoft.com/office/drawing/2014/main" id="{F06C2251-249C-75EF-CC13-282F2DB0147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816554" y="6079213"/>
            <a:ext cx="448713" cy="448713"/>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 descr="SDG Goal 6 – Clean Water and Sanitation - Impossible Metals">
            <a:extLst>
              <a:ext uri="{FF2B5EF4-FFF2-40B4-BE49-F238E27FC236}">
                <a16:creationId xmlns:a16="http://schemas.microsoft.com/office/drawing/2014/main" id="{7A263743-1C25-B2FE-DE6E-FF3642A9023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4227" t="8139" r="24076" b="8139"/>
          <a:stretch>
            <a:fillRect/>
          </a:stretch>
        </p:blipFill>
        <p:spPr bwMode="auto">
          <a:xfrm>
            <a:off x="863631" y="6095617"/>
            <a:ext cx="440141" cy="43235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38">
            <a:extLst>
              <a:ext uri="{FF2B5EF4-FFF2-40B4-BE49-F238E27FC236}">
                <a16:creationId xmlns:a16="http://schemas.microsoft.com/office/drawing/2014/main" id="{B5EB40B9-C9B6-A3EC-A1CA-F3B96E3952A0}"/>
              </a:ext>
            </a:extLst>
          </p:cNvPr>
          <p:cNvPicPr>
            <a:picLocks noChangeAspect="1"/>
          </p:cNvPicPr>
          <p:nvPr/>
        </p:nvPicPr>
        <p:blipFill>
          <a:blip r:embed="rId8"/>
          <a:stretch>
            <a:fillRect/>
          </a:stretch>
        </p:blipFill>
        <p:spPr>
          <a:xfrm>
            <a:off x="3742638" y="6125500"/>
            <a:ext cx="746825" cy="358171"/>
          </a:xfrm>
          <a:prstGeom prst="rect">
            <a:avLst/>
          </a:prstGeom>
        </p:spPr>
      </p:pic>
      <p:pic>
        <p:nvPicPr>
          <p:cNvPr id="24" name="Picture 40">
            <a:extLst>
              <a:ext uri="{FF2B5EF4-FFF2-40B4-BE49-F238E27FC236}">
                <a16:creationId xmlns:a16="http://schemas.microsoft.com/office/drawing/2014/main" id="{3CC02FB1-FBE4-08D3-FF45-34FF0EFBCB86}"/>
              </a:ext>
            </a:extLst>
          </p:cNvPr>
          <p:cNvPicPr>
            <a:picLocks noChangeAspect="1"/>
          </p:cNvPicPr>
          <p:nvPr/>
        </p:nvPicPr>
        <p:blipFill>
          <a:blip r:embed="rId9"/>
          <a:srcRect l="2558" t="5382" r="72640" b="43811"/>
          <a:stretch>
            <a:fillRect/>
          </a:stretch>
        </p:blipFill>
        <p:spPr>
          <a:xfrm>
            <a:off x="4593952" y="6114565"/>
            <a:ext cx="596651" cy="318596"/>
          </a:xfrm>
          <a:prstGeom prst="rect">
            <a:avLst/>
          </a:prstGeom>
        </p:spPr>
      </p:pic>
      <p:pic>
        <p:nvPicPr>
          <p:cNvPr id="25" name="Picture 14" descr="Impact Frontiers - Impact community | Simple">
            <a:extLst>
              <a:ext uri="{FF2B5EF4-FFF2-40B4-BE49-F238E27FC236}">
                <a16:creationId xmlns:a16="http://schemas.microsoft.com/office/drawing/2014/main" id="{910980C7-E8D5-2E87-86F9-284FD749D25F}"/>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555" t="11462" r="21886" b="20321"/>
          <a:stretch>
            <a:fillRect/>
          </a:stretch>
        </p:blipFill>
        <p:spPr bwMode="auto">
          <a:xfrm>
            <a:off x="10643193" y="5925465"/>
            <a:ext cx="878033" cy="593058"/>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8" descr="Quadriga Capital becomes a signatory to the Operating ...">
            <a:extLst>
              <a:ext uri="{FF2B5EF4-FFF2-40B4-BE49-F238E27FC236}">
                <a16:creationId xmlns:a16="http://schemas.microsoft.com/office/drawing/2014/main" id="{6ADCE9E5-4839-1BDA-C6D5-9ED80157D8F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31686" r="75227" b="32247"/>
          <a:stretch>
            <a:fillRect/>
          </a:stretch>
        </p:blipFill>
        <p:spPr bwMode="auto">
          <a:xfrm>
            <a:off x="10330676" y="6088364"/>
            <a:ext cx="337416" cy="462350"/>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36">
            <a:extLst>
              <a:ext uri="{FF2B5EF4-FFF2-40B4-BE49-F238E27FC236}">
                <a16:creationId xmlns:a16="http://schemas.microsoft.com/office/drawing/2014/main" id="{A689352C-421C-DD02-5FEE-E9B9ADE94F5A}"/>
              </a:ext>
            </a:extLst>
          </p:cNvPr>
          <p:cNvSpPr txBox="1"/>
          <p:nvPr/>
        </p:nvSpPr>
        <p:spPr>
          <a:xfrm>
            <a:off x="10039211" y="5806226"/>
            <a:ext cx="1864986" cy="221018"/>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B703"/>
                </a:solidFill>
                <a:effectLst/>
                <a:uLnTx/>
                <a:uFillTx/>
                <a:latin typeface="Raleway"/>
                <a:ea typeface="+mn-ea"/>
                <a:cs typeface="+mn-cs"/>
              </a:rPr>
              <a:t>Impact Alignment</a:t>
            </a:r>
          </a:p>
        </p:txBody>
      </p:sp>
      <p:pic>
        <p:nvPicPr>
          <p:cNvPr id="28" name="Picture 3">
            <a:extLst>
              <a:ext uri="{FF2B5EF4-FFF2-40B4-BE49-F238E27FC236}">
                <a16:creationId xmlns:a16="http://schemas.microsoft.com/office/drawing/2014/main" id="{34DF3028-8C49-B1FB-3449-E0FD3A5695C3}"/>
              </a:ext>
            </a:extLst>
          </p:cNvPr>
          <p:cNvPicPr>
            <a:picLocks noChangeAspect="1"/>
          </p:cNvPicPr>
          <p:nvPr/>
        </p:nvPicPr>
        <p:blipFill>
          <a:blip r:embed="rId12"/>
          <a:stretch>
            <a:fillRect/>
          </a:stretch>
        </p:blipFill>
        <p:spPr>
          <a:xfrm>
            <a:off x="7011387" y="6069140"/>
            <a:ext cx="1211721" cy="414331"/>
          </a:xfrm>
          <a:prstGeom prst="rect">
            <a:avLst/>
          </a:prstGeom>
        </p:spPr>
      </p:pic>
      <p:pic>
        <p:nvPicPr>
          <p:cNvPr id="30" name="Picture 9">
            <a:extLst>
              <a:ext uri="{FF2B5EF4-FFF2-40B4-BE49-F238E27FC236}">
                <a16:creationId xmlns:a16="http://schemas.microsoft.com/office/drawing/2014/main" id="{3ED59E79-E4FD-5AFE-2C79-92B4432A8544}"/>
              </a:ext>
            </a:extLst>
          </p:cNvPr>
          <p:cNvPicPr>
            <a:picLocks noChangeAspect="1"/>
          </p:cNvPicPr>
          <p:nvPr/>
        </p:nvPicPr>
        <p:blipFill>
          <a:blip r:embed="rId13"/>
          <a:stretch>
            <a:fillRect/>
          </a:stretch>
        </p:blipFill>
        <p:spPr>
          <a:xfrm>
            <a:off x="8334109" y="6073621"/>
            <a:ext cx="1432658" cy="369718"/>
          </a:xfrm>
          <a:prstGeom prst="rect">
            <a:avLst/>
          </a:prstGeom>
        </p:spPr>
      </p:pic>
      <p:pic>
        <p:nvPicPr>
          <p:cNvPr id="31" name="Picture 13">
            <a:extLst>
              <a:ext uri="{FF2B5EF4-FFF2-40B4-BE49-F238E27FC236}">
                <a16:creationId xmlns:a16="http://schemas.microsoft.com/office/drawing/2014/main" id="{14559E44-C442-4DF1-EE57-520F7CA73DDA}"/>
              </a:ext>
            </a:extLst>
          </p:cNvPr>
          <p:cNvPicPr>
            <a:picLocks noChangeAspect="1"/>
          </p:cNvPicPr>
          <p:nvPr/>
        </p:nvPicPr>
        <p:blipFill>
          <a:blip r:embed="rId14"/>
          <a:stretch>
            <a:fillRect/>
          </a:stretch>
        </p:blipFill>
        <p:spPr>
          <a:xfrm>
            <a:off x="5679011" y="6155608"/>
            <a:ext cx="1178021" cy="327863"/>
          </a:xfrm>
          <a:prstGeom prst="rect">
            <a:avLst/>
          </a:prstGeom>
        </p:spPr>
      </p:pic>
      <p:cxnSp>
        <p:nvCxnSpPr>
          <p:cNvPr id="35" name="Straight Connector 50">
            <a:extLst>
              <a:ext uri="{FF2B5EF4-FFF2-40B4-BE49-F238E27FC236}">
                <a16:creationId xmlns:a16="http://schemas.microsoft.com/office/drawing/2014/main" id="{F2CF7CFB-56CA-E901-9857-7A36C3CD6B87}"/>
              </a:ext>
            </a:extLst>
          </p:cNvPr>
          <p:cNvCxnSpPr>
            <a:cxnSpLocks/>
          </p:cNvCxnSpPr>
          <p:nvPr/>
        </p:nvCxnSpPr>
        <p:spPr>
          <a:xfrm>
            <a:off x="9905266" y="5799169"/>
            <a:ext cx="0" cy="694935"/>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cxnSp>
        <p:nvCxnSpPr>
          <p:cNvPr id="37" name="Straight Connector 50">
            <a:extLst>
              <a:ext uri="{FF2B5EF4-FFF2-40B4-BE49-F238E27FC236}">
                <a16:creationId xmlns:a16="http://schemas.microsoft.com/office/drawing/2014/main" id="{1F8850A4-5449-BD0E-A6A6-974DB8C7869B}"/>
              </a:ext>
            </a:extLst>
          </p:cNvPr>
          <p:cNvCxnSpPr>
            <a:cxnSpLocks/>
          </p:cNvCxnSpPr>
          <p:nvPr/>
        </p:nvCxnSpPr>
        <p:spPr>
          <a:xfrm>
            <a:off x="5397061" y="5799169"/>
            <a:ext cx="0" cy="694935"/>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cxnSp>
        <p:nvCxnSpPr>
          <p:cNvPr id="38" name="Straight Connector 50">
            <a:extLst>
              <a:ext uri="{FF2B5EF4-FFF2-40B4-BE49-F238E27FC236}">
                <a16:creationId xmlns:a16="http://schemas.microsoft.com/office/drawing/2014/main" id="{EE52889D-FB49-2EFD-CB48-1FC36CCC5100}"/>
              </a:ext>
            </a:extLst>
          </p:cNvPr>
          <p:cNvCxnSpPr>
            <a:cxnSpLocks/>
          </p:cNvCxnSpPr>
          <p:nvPr/>
        </p:nvCxnSpPr>
        <p:spPr>
          <a:xfrm>
            <a:off x="3536363" y="5799169"/>
            <a:ext cx="0" cy="694935"/>
          </a:xfrm>
          <a:prstGeom prst="line">
            <a:avLst/>
          </a:prstGeom>
          <a:ln>
            <a:solidFill>
              <a:srgbClr val="FFB70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46971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Impact Results - Forecast</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5">
            <a:extLst>
              <a:ext uri="{FF2B5EF4-FFF2-40B4-BE49-F238E27FC236}">
                <a16:creationId xmlns:a16="http://schemas.microsoft.com/office/drawing/2014/main" id="{4D013BAA-FDB1-16F2-B067-7F84C42A39E2}"/>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
        <p:nvSpPr>
          <p:cNvPr id="5" name="AutoShape 2">
            <a:extLst>
              <a:ext uri="{FF2B5EF4-FFF2-40B4-BE49-F238E27FC236}">
                <a16:creationId xmlns:a16="http://schemas.microsoft.com/office/drawing/2014/main" id="{7DEECDC4-7D9C-0D51-7BF6-CC8ED706A52C}"/>
              </a:ext>
            </a:extLst>
          </p:cNvPr>
          <p:cNvSpPr/>
          <p:nvPr/>
        </p:nvSpPr>
        <p:spPr>
          <a:xfrm>
            <a:off x="732919" y="3092059"/>
            <a:ext cx="7090684"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6" name="AutoShape 2">
            <a:extLst>
              <a:ext uri="{FF2B5EF4-FFF2-40B4-BE49-F238E27FC236}">
                <a16:creationId xmlns:a16="http://schemas.microsoft.com/office/drawing/2014/main" id="{6501FF2A-F8AA-3AFE-22A8-11111377ED14}"/>
              </a:ext>
            </a:extLst>
          </p:cNvPr>
          <p:cNvSpPr/>
          <p:nvPr/>
        </p:nvSpPr>
        <p:spPr>
          <a:xfrm>
            <a:off x="732918" y="4207162"/>
            <a:ext cx="7074651"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7" name="AutoShape 2">
            <a:extLst>
              <a:ext uri="{FF2B5EF4-FFF2-40B4-BE49-F238E27FC236}">
                <a16:creationId xmlns:a16="http://schemas.microsoft.com/office/drawing/2014/main" id="{24C79379-0162-FFD6-B7CC-AA05D506BCCF}"/>
              </a:ext>
            </a:extLst>
          </p:cNvPr>
          <p:cNvSpPr/>
          <p:nvPr/>
        </p:nvSpPr>
        <p:spPr>
          <a:xfrm>
            <a:off x="732918" y="5359626"/>
            <a:ext cx="7090685"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9" name="TextBox 5">
            <a:extLst>
              <a:ext uri="{FF2B5EF4-FFF2-40B4-BE49-F238E27FC236}">
                <a16:creationId xmlns:a16="http://schemas.microsoft.com/office/drawing/2014/main" id="{C4B6C223-C54C-48E2-E94C-D9F011AD2BA6}"/>
              </a:ext>
            </a:extLst>
          </p:cNvPr>
          <p:cNvSpPr txBox="1"/>
          <p:nvPr/>
        </p:nvSpPr>
        <p:spPr>
          <a:xfrm>
            <a:off x="627348" y="3268400"/>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
        <p:nvSpPr>
          <p:cNvPr id="17" name="TextBox 5">
            <a:extLst>
              <a:ext uri="{FF2B5EF4-FFF2-40B4-BE49-F238E27FC236}">
                <a16:creationId xmlns:a16="http://schemas.microsoft.com/office/drawing/2014/main" id="{BE4A4A06-DAD9-14DB-92A4-1F34547FFB78}"/>
              </a:ext>
            </a:extLst>
          </p:cNvPr>
          <p:cNvSpPr txBox="1"/>
          <p:nvPr/>
        </p:nvSpPr>
        <p:spPr>
          <a:xfrm>
            <a:off x="627348" y="4374186"/>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
        <p:nvSpPr>
          <p:cNvPr id="18" name="TextBox 5">
            <a:extLst>
              <a:ext uri="{FF2B5EF4-FFF2-40B4-BE49-F238E27FC236}">
                <a16:creationId xmlns:a16="http://schemas.microsoft.com/office/drawing/2014/main" id="{51A0C263-A52E-F994-D9E7-D597D6BD93CB}"/>
              </a:ext>
            </a:extLst>
          </p:cNvPr>
          <p:cNvSpPr txBox="1"/>
          <p:nvPr/>
        </p:nvSpPr>
        <p:spPr>
          <a:xfrm>
            <a:off x="627348" y="5586298"/>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Tree>
    <p:extLst>
      <p:ext uri="{BB962C8B-B14F-4D97-AF65-F5344CB8AC3E}">
        <p14:creationId xmlns:p14="http://schemas.microsoft.com/office/powerpoint/2010/main" val="29945947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Impact Results - Forecast</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5">
            <a:extLst>
              <a:ext uri="{FF2B5EF4-FFF2-40B4-BE49-F238E27FC236}">
                <a16:creationId xmlns:a16="http://schemas.microsoft.com/office/drawing/2014/main" id="{4D013BAA-FDB1-16F2-B067-7F84C42A39E2}"/>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173E55"/>
                </a:solidFill>
                <a:effectLst/>
                <a:uLnTx/>
                <a:uFillTx/>
                <a:latin typeface="Open Sans"/>
                <a:ea typeface="+mn-ea"/>
                <a:cs typeface="+mn-cs"/>
              </a:rPr>
              <a:t>Text</a:t>
            </a:r>
          </a:p>
        </p:txBody>
      </p:sp>
      <p:sp>
        <p:nvSpPr>
          <p:cNvPr id="5" name="AutoShape 2">
            <a:extLst>
              <a:ext uri="{FF2B5EF4-FFF2-40B4-BE49-F238E27FC236}">
                <a16:creationId xmlns:a16="http://schemas.microsoft.com/office/drawing/2014/main" id="{7DEECDC4-7D9C-0D51-7BF6-CC8ED706A52C}"/>
              </a:ext>
            </a:extLst>
          </p:cNvPr>
          <p:cNvSpPr/>
          <p:nvPr/>
        </p:nvSpPr>
        <p:spPr>
          <a:xfrm>
            <a:off x="732919" y="3092059"/>
            <a:ext cx="7090684"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6" name="AutoShape 2">
            <a:extLst>
              <a:ext uri="{FF2B5EF4-FFF2-40B4-BE49-F238E27FC236}">
                <a16:creationId xmlns:a16="http://schemas.microsoft.com/office/drawing/2014/main" id="{6501FF2A-F8AA-3AFE-22A8-11111377ED14}"/>
              </a:ext>
            </a:extLst>
          </p:cNvPr>
          <p:cNvSpPr/>
          <p:nvPr/>
        </p:nvSpPr>
        <p:spPr>
          <a:xfrm>
            <a:off x="732918" y="4207162"/>
            <a:ext cx="7074651"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7" name="AutoShape 2">
            <a:extLst>
              <a:ext uri="{FF2B5EF4-FFF2-40B4-BE49-F238E27FC236}">
                <a16:creationId xmlns:a16="http://schemas.microsoft.com/office/drawing/2014/main" id="{24C79379-0162-FFD6-B7CC-AA05D506BCCF}"/>
              </a:ext>
            </a:extLst>
          </p:cNvPr>
          <p:cNvSpPr/>
          <p:nvPr/>
        </p:nvSpPr>
        <p:spPr>
          <a:xfrm>
            <a:off x="732918" y="5359626"/>
            <a:ext cx="7090685" cy="0"/>
          </a:xfrm>
          <a:prstGeom prst="line">
            <a:avLst/>
          </a:prstGeom>
          <a:ln w="12700" cap="rnd">
            <a:solidFill>
              <a:srgbClr val="FFA726"/>
            </a:solidFill>
            <a:prstDash val="solid"/>
            <a:headEnd type="none" w="sm" len="sm"/>
            <a:tailEnd type="none" w="sm" len="sm"/>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200" cap="none" spc="0" normalizeH="0" baseline="0" noProof="0">
              <a:ln>
                <a:noFill/>
              </a:ln>
              <a:solidFill>
                <a:srgbClr val="E4A039"/>
              </a:solidFill>
              <a:effectLst/>
              <a:uLnTx/>
              <a:uFillTx/>
              <a:latin typeface="Open Sans"/>
              <a:ea typeface="+mn-ea"/>
              <a:cs typeface="+mn-cs"/>
            </a:endParaRPr>
          </a:p>
        </p:txBody>
      </p:sp>
      <p:sp>
        <p:nvSpPr>
          <p:cNvPr id="9" name="TextBox 5">
            <a:extLst>
              <a:ext uri="{FF2B5EF4-FFF2-40B4-BE49-F238E27FC236}">
                <a16:creationId xmlns:a16="http://schemas.microsoft.com/office/drawing/2014/main" id="{C4B6C223-C54C-48E2-E94C-D9F011AD2BA6}"/>
              </a:ext>
            </a:extLst>
          </p:cNvPr>
          <p:cNvSpPr txBox="1"/>
          <p:nvPr/>
        </p:nvSpPr>
        <p:spPr>
          <a:xfrm>
            <a:off x="627348" y="3268400"/>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173E55"/>
                </a:solidFill>
                <a:effectLst/>
                <a:uLnTx/>
                <a:uFillTx/>
                <a:latin typeface="Open Sans"/>
                <a:ea typeface="+mn-ea"/>
                <a:cs typeface="+mn-cs"/>
              </a:rPr>
              <a:t>Text</a:t>
            </a:r>
          </a:p>
        </p:txBody>
      </p:sp>
      <p:sp>
        <p:nvSpPr>
          <p:cNvPr id="17" name="TextBox 5">
            <a:extLst>
              <a:ext uri="{FF2B5EF4-FFF2-40B4-BE49-F238E27FC236}">
                <a16:creationId xmlns:a16="http://schemas.microsoft.com/office/drawing/2014/main" id="{BE4A4A06-DAD9-14DB-92A4-1F34547FFB78}"/>
              </a:ext>
            </a:extLst>
          </p:cNvPr>
          <p:cNvSpPr txBox="1"/>
          <p:nvPr/>
        </p:nvSpPr>
        <p:spPr>
          <a:xfrm>
            <a:off x="627348" y="4374186"/>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173E55"/>
                </a:solidFill>
                <a:effectLst/>
                <a:uLnTx/>
                <a:uFillTx/>
                <a:latin typeface="Open Sans"/>
                <a:ea typeface="+mn-ea"/>
                <a:cs typeface="+mn-cs"/>
              </a:rPr>
              <a:t>Text</a:t>
            </a:r>
          </a:p>
        </p:txBody>
      </p:sp>
      <p:sp>
        <p:nvSpPr>
          <p:cNvPr id="18" name="TextBox 5">
            <a:extLst>
              <a:ext uri="{FF2B5EF4-FFF2-40B4-BE49-F238E27FC236}">
                <a16:creationId xmlns:a16="http://schemas.microsoft.com/office/drawing/2014/main" id="{51A0C263-A52E-F994-D9E7-D597D6BD93CB}"/>
              </a:ext>
            </a:extLst>
          </p:cNvPr>
          <p:cNvSpPr txBox="1"/>
          <p:nvPr/>
        </p:nvSpPr>
        <p:spPr>
          <a:xfrm>
            <a:off x="627348" y="5586298"/>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173E55"/>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173E55"/>
                </a:solidFill>
                <a:effectLst/>
                <a:uLnTx/>
                <a:uFillTx/>
                <a:latin typeface="Open Sans"/>
                <a:ea typeface="+mn-ea"/>
                <a:cs typeface="+mn-cs"/>
              </a:rPr>
              <a:t>Text</a:t>
            </a:r>
          </a:p>
        </p:txBody>
      </p:sp>
    </p:spTree>
    <p:extLst>
      <p:ext uri="{BB962C8B-B14F-4D97-AF65-F5344CB8AC3E}">
        <p14:creationId xmlns:p14="http://schemas.microsoft.com/office/powerpoint/2010/main" val="16090343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3F1ED"/>
        </a:solidFill>
        <a:effectLst/>
      </p:bgPr>
    </p:bg>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173E55"/>
                </a:solidFill>
                <a:effectLst/>
                <a:uLnTx/>
                <a:uFillTx/>
                <a:latin typeface="Raleway"/>
                <a:ea typeface="+mj-ea"/>
                <a:cs typeface="+mj-cs"/>
              </a:rPr>
              <a:t>Key Team and Experts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173E55">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810F0CDF-DAB6-8BED-3AE9-972EDB354C36}"/>
              </a:ext>
            </a:extLst>
          </p:cNvPr>
          <p:cNvSpPr txBox="1"/>
          <p:nvPr/>
        </p:nvSpPr>
        <p:spPr>
          <a:xfrm>
            <a:off x="580327" y="1387562"/>
            <a:ext cx="114450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An entrepreneurial, skilled, experienced and diverse team with local presence and a track record of mobilising capital at scale</a:t>
            </a:r>
          </a:p>
        </p:txBody>
      </p:sp>
      <p:sp>
        <p:nvSpPr>
          <p:cNvPr id="8" name="Afgeronde rechthoek 7">
            <a:extLst>
              <a:ext uri="{FF2B5EF4-FFF2-40B4-BE49-F238E27FC236}">
                <a16:creationId xmlns:a16="http://schemas.microsoft.com/office/drawing/2014/main" id="{1DB63CCC-1E3B-167B-2E2A-64AD9DD78897}"/>
              </a:ext>
            </a:extLst>
          </p:cNvPr>
          <p:cNvSpPr/>
          <p:nvPr/>
        </p:nvSpPr>
        <p:spPr>
          <a:xfrm>
            <a:off x="578246" y="1904495"/>
            <a:ext cx="4505991" cy="4542863"/>
          </a:xfrm>
          <a:prstGeom prst="roundRect">
            <a:avLst>
              <a:gd name="adj" fmla="val 4900"/>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004088"/>
              </a:solidFill>
              <a:effectLst/>
              <a:uLnTx/>
              <a:uFillTx/>
              <a:latin typeface="Open Sans"/>
              <a:ea typeface="+mn-ea"/>
              <a:cs typeface="+mn-cs"/>
            </a:endParaRPr>
          </a:p>
        </p:txBody>
      </p:sp>
      <p:sp>
        <p:nvSpPr>
          <p:cNvPr id="19" name="Afgeronde rechthoek 18">
            <a:extLst>
              <a:ext uri="{FF2B5EF4-FFF2-40B4-BE49-F238E27FC236}">
                <a16:creationId xmlns:a16="http://schemas.microsoft.com/office/drawing/2014/main" id="{107DC652-AC0F-2363-3896-B37BB2CE4B06}"/>
              </a:ext>
            </a:extLst>
          </p:cNvPr>
          <p:cNvSpPr/>
          <p:nvPr/>
        </p:nvSpPr>
        <p:spPr>
          <a:xfrm>
            <a:off x="5227392" y="1896162"/>
            <a:ext cx="6524226" cy="4576321"/>
          </a:xfrm>
          <a:prstGeom prst="roundRect">
            <a:avLst>
              <a:gd name="adj" fmla="val 4900"/>
            </a:avLst>
          </a:prstGeom>
          <a:solidFill>
            <a:srgbClr val="173E5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1200" cap="none" spc="0" normalizeH="0" baseline="0" noProof="0">
              <a:ln>
                <a:noFill/>
              </a:ln>
              <a:solidFill>
                <a:srgbClr val="004088"/>
              </a:solidFill>
              <a:effectLst/>
              <a:uLnTx/>
              <a:uFillTx/>
              <a:latin typeface="Open Sans"/>
              <a:ea typeface="+mn-ea"/>
              <a:cs typeface="+mn-cs"/>
            </a:endParaRPr>
          </a:p>
        </p:txBody>
      </p:sp>
      <p:sp>
        <p:nvSpPr>
          <p:cNvPr id="20" name="Tekstvak 19">
            <a:extLst>
              <a:ext uri="{FF2B5EF4-FFF2-40B4-BE49-F238E27FC236}">
                <a16:creationId xmlns:a16="http://schemas.microsoft.com/office/drawing/2014/main" id="{7B53B33F-B955-2657-2776-2984BE85A626}"/>
              </a:ext>
            </a:extLst>
          </p:cNvPr>
          <p:cNvSpPr txBox="1"/>
          <p:nvPr/>
        </p:nvSpPr>
        <p:spPr>
          <a:xfrm>
            <a:off x="568285" y="1936724"/>
            <a:ext cx="4505990" cy="3693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173E55"/>
                </a:solidFill>
                <a:effectLst/>
                <a:uLnTx/>
                <a:uFillTx/>
                <a:latin typeface="Raleway"/>
                <a:ea typeface="+mn-ea"/>
                <a:cs typeface="+mn-cs"/>
              </a:rPr>
              <a:t>Key people</a:t>
            </a:r>
          </a:p>
        </p:txBody>
      </p:sp>
      <p:sp>
        <p:nvSpPr>
          <p:cNvPr id="21" name="AutoShape 12">
            <a:extLst>
              <a:ext uri="{FF2B5EF4-FFF2-40B4-BE49-F238E27FC236}">
                <a16:creationId xmlns:a16="http://schemas.microsoft.com/office/drawing/2014/main" id="{4A38F04C-00C0-AA7C-DA83-A9D474820111}"/>
              </a:ext>
            </a:extLst>
          </p:cNvPr>
          <p:cNvSpPr/>
          <p:nvPr/>
        </p:nvSpPr>
        <p:spPr>
          <a:xfrm>
            <a:off x="1519636" y="4509955"/>
            <a:ext cx="497764" cy="0"/>
          </a:xfrm>
          <a:prstGeom prst="line">
            <a:avLst/>
          </a:prstGeom>
          <a:ln w="9525" cap="flat">
            <a:solidFill>
              <a:srgbClr val="FFB703"/>
            </a:solidFill>
            <a:prstDash val="solid"/>
            <a:headEnd type="none" w="sm" len="sm"/>
            <a:tailEnd type="none" w="sm" len="sm"/>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Open Sans"/>
              <a:ea typeface="+mn-ea"/>
              <a:cs typeface="+mn-cs"/>
            </a:endParaRPr>
          </a:p>
        </p:txBody>
      </p:sp>
      <p:sp>
        <p:nvSpPr>
          <p:cNvPr id="22" name="Tekstvak 5">
            <a:extLst>
              <a:ext uri="{FF2B5EF4-FFF2-40B4-BE49-F238E27FC236}">
                <a16:creationId xmlns:a16="http://schemas.microsoft.com/office/drawing/2014/main" id="{19C6C066-9D1F-441C-154A-F19B013B9455}"/>
              </a:ext>
            </a:extLst>
          </p:cNvPr>
          <p:cNvSpPr txBox="1"/>
          <p:nvPr/>
        </p:nvSpPr>
        <p:spPr>
          <a:xfrm>
            <a:off x="5372659" y="1953816"/>
            <a:ext cx="6509393" cy="369332"/>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B7D6E1"/>
                </a:solidFill>
                <a:effectLst/>
                <a:uLnTx/>
                <a:uFillTx/>
                <a:latin typeface="Raleway"/>
                <a:ea typeface="+mn-ea"/>
                <a:cs typeface="+mn-cs"/>
              </a:rPr>
              <a:t>Partner experts</a:t>
            </a:r>
          </a:p>
        </p:txBody>
      </p:sp>
      <p:pic>
        <p:nvPicPr>
          <p:cNvPr id="23" name="Picture 15" descr="A person in a pink jacket&#10;&#10;AI-generated content may be incorrect.">
            <a:extLst>
              <a:ext uri="{FF2B5EF4-FFF2-40B4-BE49-F238E27FC236}">
                <a16:creationId xmlns:a16="http://schemas.microsoft.com/office/drawing/2014/main" id="{5308B99F-38A0-0915-C048-25B16AA336D0}"/>
              </a:ext>
            </a:extLst>
          </p:cNvPr>
          <p:cNvPicPr>
            <a:picLocks noChangeAspect="1"/>
          </p:cNvPicPr>
          <p:nvPr/>
        </p:nvPicPr>
        <p:blipFill>
          <a:blip r:embed="rId3" cstate="print">
            <a:grayscl/>
            <a:extLst>
              <a:ext uri="{28A0092B-C50C-407E-A947-70E740481C1C}">
                <a14:useLocalDpi xmlns:a14="http://schemas.microsoft.com/office/drawing/2010/main" val="0"/>
              </a:ext>
            </a:extLst>
          </a:blip>
          <a:stretch>
            <a:fillRect/>
          </a:stretch>
        </p:blipFill>
        <p:spPr>
          <a:xfrm>
            <a:off x="1063219" y="2448857"/>
            <a:ext cx="1479639" cy="1479639"/>
          </a:xfrm>
          <a:prstGeom prst="rect">
            <a:avLst/>
          </a:prstGeom>
        </p:spPr>
      </p:pic>
      <p:pic>
        <p:nvPicPr>
          <p:cNvPr id="24" name="Afbeelding 9" descr="Afbeelding met Menselijk gezicht, persoon, glimlach, kleding&#10;&#10;Door AI gegenereerde inhoud is mogelijk onjuist.">
            <a:extLst>
              <a:ext uri="{FF2B5EF4-FFF2-40B4-BE49-F238E27FC236}">
                <a16:creationId xmlns:a16="http://schemas.microsoft.com/office/drawing/2014/main" id="{0EE789CD-577F-B7AE-956E-002FBEFDB275}"/>
              </a:ext>
            </a:extLst>
          </p:cNvPr>
          <p:cNvPicPr>
            <a:picLocks noChangeAspect="1"/>
          </p:cNvPicPr>
          <p:nvPr/>
        </p:nvPicPr>
        <p:blipFill>
          <a:blip r:embed="rId4" cstate="print">
            <a:grayscl/>
            <a:extLst>
              <a:ext uri="{28A0092B-C50C-407E-A947-70E740481C1C}">
                <a14:useLocalDpi xmlns:a14="http://schemas.microsoft.com/office/drawing/2010/main" val="0"/>
              </a:ext>
            </a:extLst>
          </a:blip>
          <a:stretch>
            <a:fillRect/>
          </a:stretch>
        </p:blipFill>
        <p:spPr>
          <a:xfrm>
            <a:off x="3217345" y="2439713"/>
            <a:ext cx="1479639" cy="1479639"/>
          </a:xfrm>
          <a:prstGeom prst="rect">
            <a:avLst/>
          </a:prstGeom>
        </p:spPr>
      </p:pic>
      <p:pic>
        <p:nvPicPr>
          <p:cNvPr id="25" name="Picture 53" descr="A person wearing glasses and a suit&#10;&#10;AI-generated content may be incorrect.">
            <a:extLst>
              <a:ext uri="{FF2B5EF4-FFF2-40B4-BE49-F238E27FC236}">
                <a16:creationId xmlns:a16="http://schemas.microsoft.com/office/drawing/2014/main" id="{1935FFE5-DC02-3651-EA73-553467544307}"/>
              </a:ext>
            </a:extLst>
          </p:cNvPr>
          <p:cNvPicPr>
            <a:picLocks noChangeAspect="1"/>
          </p:cNvPicPr>
          <p:nvPr/>
        </p:nvPicPr>
        <p:blipFill>
          <a:blip r:embed="rId5" cstate="print">
            <a:grayscl/>
            <a:extLst>
              <a:ext uri="{28A0092B-C50C-407E-A947-70E740481C1C}">
                <a14:useLocalDpi xmlns:a14="http://schemas.microsoft.com/office/drawing/2010/main" val="0"/>
              </a:ext>
            </a:extLst>
          </a:blip>
          <a:srcRect b="4332"/>
          <a:stretch>
            <a:fillRect/>
          </a:stretch>
        </p:blipFill>
        <p:spPr>
          <a:xfrm>
            <a:off x="5631984" y="2448857"/>
            <a:ext cx="1479639" cy="1479639"/>
          </a:xfrm>
          <a:prstGeom prst="rect">
            <a:avLst/>
          </a:prstGeom>
        </p:spPr>
      </p:pic>
      <p:pic>
        <p:nvPicPr>
          <p:cNvPr id="26" name="Picture 2" descr="Profile photo of Tanja Pelle">
            <a:extLst>
              <a:ext uri="{FF2B5EF4-FFF2-40B4-BE49-F238E27FC236}">
                <a16:creationId xmlns:a16="http://schemas.microsoft.com/office/drawing/2014/main" id="{AB80FF73-FB53-1199-70EB-1D288E4593C8}"/>
              </a:ext>
            </a:extLst>
          </p:cNvPr>
          <p:cNvPicPr>
            <a:picLocks noChangeAspect="1" noChangeArrowheads="1"/>
          </p:cNvPicPr>
          <p:nvPr/>
        </p:nvPicPr>
        <p:blipFill>
          <a:blip r:embed="rId6">
            <a:grayscl/>
            <a:extLst>
              <a:ext uri="{28A0092B-C50C-407E-A947-70E740481C1C}">
                <a14:useLocalDpi xmlns:a14="http://schemas.microsoft.com/office/drawing/2010/main" val="0"/>
              </a:ext>
            </a:extLst>
          </a:blip>
          <a:srcRect/>
          <a:stretch>
            <a:fillRect/>
          </a:stretch>
        </p:blipFill>
        <p:spPr bwMode="auto">
          <a:xfrm>
            <a:off x="7871954" y="2466282"/>
            <a:ext cx="1479640" cy="147964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3">
            <a:extLst>
              <a:ext uri="{FF2B5EF4-FFF2-40B4-BE49-F238E27FC236}">
                <a16:creationId xmlns:a16="http://schemas.microsoft.com/office/drawing/2014/main" id="{68509A9E-6FA5-398F-64AA-674B3C6CD8A3}"/>
              </a:ext>
            </a:extLst>
          </p:cNvPr>
          <p:cNvPicPr>
            <a:picLocks noChangeAspect="1"/>
          </p:cNvPicPr>
          <p:nvPr/>
        </p:nvPicPr>
        <p:blipFill>
          <a:blip r:embed="rId7" cstate="print">
            <a:grayscl/>
            <a:extLst>
              <a:ext uri="{28A0092B-C50C-407E-A947-70E740481C1C}">
                <a14:useLocalDpi xmlns:a14="http://schemas.microsoft.com/office/drawing/2010/main" val="0"/>
              </a:ext>
            </a:extLst>
          </a:blip>
          <a:srcRect/>
          <a:stretch/>
        </p:blipFill>
        <p:spPr>
          <a:xfrm>
            <a:off x="9912325" y="2464865"/>
            <a:ext cx="1479639" cy="1479639"/>
          </a:xfrm>
          <a:prstGeom prst="rect">
            <a:avLst/>
          </a:prstGeom>
        </p:spPr>
      </p:pic>
      <p:sp>
        <p:nvSpPr>
          <p:cNvPr id="28" name="TextBox 8">
            <a:extLst>
              <a:ext uri="{FF2B5EF4-FFF2-40B4-BE49-F238E27FC236}">
                <a16:creationId xmlns:a16="http://schemas.microsoft.com/office/drawing/2014/main" id="{EAC134D0-41BA-015C-C823-49190CDAAACA}"/>
              </a:ext>
            </a:extLst>
          </p:cNvPr>
          <p:cNvSpPr txBox="1"/>
          <p:nvPr/>
        </p:nvSpPr>
        <p:spPr>
          <a:xfrm>
            <a:off x="771945" y="4643613"/>
            <a:ext cx="1920881" cy="1692771"/>
          </a:xfrm>
          <a:prstGeom prst="rect">
            <a:avLst/>
          </a:prstGeom>
        </p:spPr>
        <p:txBody>
          <a:bodyPr wrap="square" lIns="0" tIns="0" rIns="0" bIns="0" rtlCol="0" anchor="t">
            <a:spAutoFit/>
          </a:bodyPr>
          <a:lstStyle/>
          <a:p>
            <a:pPr marL="0" marR="0" lvl="0" indent="0" algn="l" defTabSz="914400" rtl="0" eaLnBrk="1" fontAlgn="auto" latinLnBrk="0" hangingPunct="1">
              <a:lnSpc>
                <a:spcPts val="1188"/>
              </a:lnSpc>
              <a:spcBef>
                <a:spcPct val="0"/>
              </a:spcBef>
              <a:spcAft>
                <a:spcPts val="0"/>
              </a:spcAft>
              <a:buClrTx/>
              <a:buSzTx/>
              <a:buFontTx/>
              <a:buNone/>
              <a:tabLst/>
              <a:defRPr/>
            </a:pPr>
            <a:r>
              <a:rPr kumimoji="0" lang="en-GB" sz="1000" b="0" i="0" u="none" strike="noStrike" kern="1200" cap="none" spc="0" normalizeH="0" baseline="0" noProof="0" dirty="0">
                <a:ln>
                  <a:noFill/>
                </a:ln>
                <a:solidFill>
                  <a:srgbClr val="173E55"/>
                </a:solidFill>
                <a:effectLst/>
                <a:uLnTx/>
                <a:uFillTx/>
                <a:latin typeface="Open Sans"/>
                <a:ea typeface="Open Sans"/>
                <a:cs typeface="Open Sans"/>
              </a:rPr>
              <a:t>20+ years in fund design, structuring and manager selection. Built investment units at Aqua for All and SDG Impact Finance Initiative, launched Rabobank’s SME agricultural fund in MENA and mobilized SDG-aligned capital in equity and blended finance. President of investment vehicle and board member of asset manager.</a:t>
            </a:r>
            <a:endParaRPr kumimoji="0" lang="en-GB" sz="900" b="0" i="0" u="none" strike="noStrike" kern="1200" cap="none" spc="19" normalizeH="0" baseline="0" noProof="0" dirty="0">
              <a:ln>
                <a:noFill/>
              </a:ln>
              <a:solidFill>
                <a:srgbClr val="173E55"/>
              </a:solidFill>
              <a:effectLst/>
              <a:uLnTx/>
              <a:uFillTx/>
              <a:latin typeface="Open Sans"/>
              <a:ea typeface="Open Sans"/>
              <a:cs typeface="Open Sans"/>
              <a:sym typeface="Montserrat"/>
            </a:endParaRPr>
          </a:p>
        </p:txBody>
      </p:sp>
      <p:sp>
        <p:nvSpPr>
          <p:cNvPr id="30" name="TextBox 11">
            <a:extLst>
              <a:ext uri="{FF2B5EF4-FFF2-40B4-BE49-F238E27FC236}">
                <a16:creationId xmlns:a16="http://schemas.microsoft.com/office/drawing/2014/main" id="{628550CD-5220-AE7E-11E1-E82B894B0080}"/>
              </a:ext>
            </a:extLst>
          </p:cNvPr>
          <p:cNvSpPr txBox="1"/>
          <p:nvPr/>
        </p:nvSpPr>
        <p:spPr>
          <a:xfrm>
            <a:off x="871366" y="4062153"/>
            <a:ext cx="1816780" cy="363946"/>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65" b="1" i="0" u="none" strike="noStrike" kern="1200" cap="none" spc="0" normalizeH="0" baseline="0" noProof="0" dirty="0">
                <a:ln>
                  <a:noFill/>
                </a:ln>
                <a:solidFill>
                  <a:srgbClr val="173E55"/>
                </a:solidFill>
                <a:effectLst/>
                <a:uLnTx/>
                <a:uFillTx/>
                <a:latin typeface="Raleway" panose="020B0503030101060003" pitchFamily="34" charset="0"/>
                <a:ea typeface="Montserrat Bold"/>
                <a:cs typeface="Montserrat Bold"/>
                <a:sym typeface="Montserrat Bold"/>
              </a:rPr>
              <a:t>Josien Sluijs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19" normalizeH="0" baseline="0" noProof="0" dirty="0">
                <a:ln>
                  <a:noFill/>
                </a:ln>
                <a:solidFill>
                  <a:srgbClr val="173E55"/>
                </a:solidFill>
                <a:effectLst/>
                <a:uLnTx/>
                <a:uFillTx/>
                <a:latin typeface="Raleway" panose="020B0503030101060003" pitchFamily="34" charset="0"/>
                <a:ea typeface="Montserrat"/>
                <a:cs typeface="Montserrat"/>
                <a:sym typeface="Montserrat"/>
              </a:rPr>
              <a:t>Managing Director</a:t>
            </a:r>
          </a:p>
        </p:txBody>
      </p:sp>
      <p:sp>
        <p:nvSpPr>
          <p:cNvPr id="31" name="TextBox 11">
            <a:extLst>
              <a:ext uri="{FF2B5EF4-FFF2-40B4-BE49-F238E27FC236}">
                <a16:creationId xmlns:a16="http://schemas.microsoft.com/office/drawing/2014/main" id="{F3C7A774-B5D8-271C-121A-9CA0CA630275}"/>
              </a:ext>
            </a:extLst>
          </p:cNvPr>
          <p:cNvSpPr txBox="1"/>
          <p:nvPr/>
        </p:nvSpPr>
        <p:spPr>
          <a:xfrm>
            <a:off x="3029680" y="4081524"/>
            <a:ext cx="1837589" cy="363946"/>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65" b="1" i="0" u="none" strike="noStrike" kern="1200" cap="none" spc="0" normalizeH="0" baseline="0" noProof="0" dirty="0">
                <a:ln>
                  <a:noFill/>
                </a:ln>
                <a:solidFill>
                  <a:srgbClr val="173E55"/>
                </a:solidFill>
                <a:effectLst/>
                <a:uLnTx/>
                <a:uFillTx/>
                <a:latin typeface="Raleway" panose="020B0503030101060003" pitchFamily="34" charset="0"/>
                <a:ea typeface="Montserrat Bold"/>
                <a:cs typeface="Montserrat Bold"/>
                <a:sym typeface="Montserrat Bold"/>
              </a:rPr>
              <a:t>Aarno Keijzer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19" normalizeH="0" baseline="0" noProof="0" dirty="0">
                <a:ln>
                  <a:noFill/>
                </a:ln>
                <a:solidFill>
                  <a:srgbClr val="173E55"/>
                </a:solidFill>
                <a:effectLst/>
                <a:uLnTx/>
                <a:uFillTx/>
                <a:latin typeface="Raleway"/>
                <a:ea typeface="Montserrat"/>
                <a:cs typeface="Montserrat"/>
                <a:sym typeface="Montserrat"/>
              </a:rPr>
              <a:t>Investment Director</a:t>
            </a:r>
            <a:endParaRPr kumimoji="0" lang="en-GB" sz="1200" b="0" i="0" u="none" strike="noStrike" kern="1200" cap="none" spc="19" normalizeH="0" baseline="0" noProof="0" dirty="0">
              <a:ln>
                <a:noFill/>
              </a:ln>
              <a:solidFill>
                <a:srgbClr val="173E55"/>
              </a:solidFill>
              <a:effectLst/>
              <a:uLnTx/>
              <a:uFillTx/>
              <a:latin typeface="Raleway" panose="020B0503030101060003" pitchFamily="34" charset="0"/>
              <a:ea typeface="Montserrat"/>
              <a:cs typeface="Montserrat"/>
            </a:endParaRPr>
          </a:p>
        </p:txBody>
      </p:sp>
      <p:sp>
        <p:nvSpPr>
          <p:cNvPr id="32" name="TextBox 17">
            <a:extLst>
              <a:ext uri="{FF2B5EF4-FFF2-40B4-BE49-F238E27FC236}">
                <a16:creationId xmlns:a16="http://schemas.microsoft.com/office/drawing/2014/main" id="{7AFFC36A-00A4-DB0A-C67F-6E8D8ED81A50}"/>
              </a:ext>
            </a:extLst>
          </p:cNvPr>
          <p:cNvSpPr txBox="1"/>
          <p:nvPr/>
        </p:nvSpPr>
        <p:spPr>
          <a:xfrm>
            <a:off x="3010385" y="4643613"/>
            <a:ext cx="1846596" cy="1692771"/>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173E55"/>
                </a:solidFill>
                <a:effectLst/>
                <a:uLnTx/>
                <a:uFillTx/>
                <a:latin typeface="Open Sans"/>
                <a:ea typeface="Open Sans"/>
                <a:cs typeface="Open Sans"/>
              </a:rPr>
              <a:t>Expertise in private markets, M&amp;A and capital structuring.</a:t>
            </a:r>
            <a:br>
              <a:rPr kumimoji="0" lang="en-GB" sz="1000" b="0" i="0" u="none" strike="noStrike" kern="1200" cap="none" spc="0" normalizeH="0" baseline="0" noProof="0" dirty="0">
                <a:ln>
                  <a:noFill/>
                </a:ln>
                <a:solidFill>
                  <a:srgbClr val="173E55"/>
                </a:solidFill>
                <a:effectLst/>
                <a:uLnTx/>
                <a:uFillTx/>
                <a:latin typeface="Open Sans"/>
                <a:ea typeface="Open Sans"/>
                <a:cs typeface="Open Sans"/>
              </a:rPr>
            </a:br>
            <a:r>
              <a:rPr kumimoji="0" lang="en-GB" sz="1000" b="0" i="0" u="none" strike="noStrike" kern="1200" cap="none" spc="0" normalizeH="0" baseline="0" noProof="0" dirty="0">
                <a:ln>
                  <a:noFill/>
                </a:ln>
                <a:solidFill>
                  <a:srgbClr val="173E55"/>
                </a:solidFill>
                <a:effectLst/>
                <a:uLnTx/>
                <a:uFillTx/>
                <a:latin typeface="Open Sans"/>
                <a:ea typeface="Open Sans"/>
                <a:cs typeface="Open Sans"/>
              </a:rPr>
              <a:t>Raised over USD 5 billion in equity-linked deals at ING Bank and JBR Corporate Finance. Specializes in equity investments, manager selection and private capital mobilization. Leading the fund investment team.</a:t>
            </a:r>
          </a:p>
          <a:p>
            <a:pPr marL="0" marR="0" lvl="0" indent="0" algn="ctr" defTabSz="914400" rtl="0" eaLnBrk="1" fontAlgn="auto" latinLnBrk="0" hangingPunct="1">
              <a:lnSpc>
                <a:spcPts val="1188"/>
              </a:lnSpc>
              <a:spcBef>
                <a:spcPct val="0"/>
              </a:spcBef>
              <a:spcAft>
                <a:spcPts val="0"/>
              </a:spcAft>
              <a:buClrTx/>
              <a:buSzTx/>
              <a:buFontTx/>
              <a:buNone/>
              <a:tabLst/>
              <a:defRPr/>
            </a:pPr>
            <a:endParaRPr kumimoji="0" lang="en-GB" sz="1000" b="0" i="0" u="none" strike="noStrike" kern="1200" cap="none" spc="0" normalizeH="0" baseline="0" noProof="0" dirty="0">
              <a:ln>
                <a:noFill/>
              </a:ln>
              <a:solidFill>
                <a:srgbClr val="173E55"/>
              </a:solidFill>
              <a:effectLst/>
              <a:uLnTx/>
              <a:uFillTx/>
              <a:latin typeface="Calibri"/>
              <a:ea typeface="Calibri"/>
              <a:cs typeface="Calibri"/>
            </a:endParaRPr>
          </a:p>
        </p:txBody>
      </p:sp>
      <p:sp>
        <p:nvSpPr>
          <p:cNvPr id="33" name="AutoShape 12">
            <a:extLst>
              <a:ext uri="{FF2B5EF4-FFF2-40B4-BE49-F238E27FC236}">
                <a16:creationId xmlns:a16="http://schemas.microsoft.com/office/drawing/2014/main" id="{96A53E8C-669F-B8EB-FA1F-0F1629309FF2}"/>
              </a:ext>
            </a:extLst>
          </p:cNvPr>
          <p:cNvSpPr/>
          <p:nvPr/>
        </p:nvSpPr>
        <p:spPr>
          <a:xfrm>
            <a:off x="3661393" y="4528467"/>
            <a:ext cx="497764" cy="0"/>
          </a:xfrm>
          <a:prstGeom prst="line">
            <a:avLst/>
          </a:prstGeom>
          <a:ln w="9525" cap="flat">
            <a:solidFill>
              <a:srgbClr val="FFB703"/>
            </a:solidFill>
            <a:prstDash val="solid"/>
            <a:headEnd type="none" w="sm" len="sm"/>
            <a:tailEnd type="none" w="sm" len="sm"/>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Open Sans"/>
              <a:ea typeface="+mn-ea"/>
              <a:cs typeface="+mn-cs"/>
            </a:endParaRPr>
          </a:p>
        </p:txBody>
      </p:sp>
      <p:sp>
        <p:nvSpPr>
          <p:cNvPr id="34" name="TextBox 8">
            <a:extLst>
              <a:ext uri="{FF2B5EF4-FFF2-40B4-BE49-F238E27FC236}">
                <a16:creationId xmlns:a16="http://schemas.microsoft.com/office/drawing/2014/main" id="{8E759730-05CF-80E0-0372-9E2C329DBCAC}"/>
              </a:ext>
            </a:extLst>
          </p:cNvPr>
          <p:cNvSpPr txBox="1"/>
          <p:nvPr/>
        </p:nvSpPr>
        <p:spPr>
          <a:xfrm>
            <a:off x="5443720" y="4957695"/>
            <a:ext cx="1856166" cy="1231106"/>
          </a:xfrm>
          <a:prstGeom prst="rect">
            <a:avLst/>
          </a:prstGeom>
        </p:spPr>
        <p:txBody>
          <a:bodyPr wrap="square" lIns="0" tIns="0" rIns="0" bIns="0" rtlCol="0" anchor="t">
            <a:spAutoFit/>
          </a:bodyPr>
          <a:lstStyle/>
          <a:p>
            <a:pPr marL="0" marR="0" lvl="0" indent="0" algn="l" defTabSz="914400" rtl="0" eaLnBrk="1" fontAlgn="auto" latinLnBrk="0" hangingPunct="1">
              <a:lnSpc>
                <a:spcPts val="1188"/>
              </a:lnSpc>
              <a:spcBef>
                <a:spcPct val="0"/>
              </a:spcBef>
              <a:spcAft>
                <a:spcPts val="0"/>
              </a:spcAft>
              <a:buClrTx/>
              <a:buSzTx/>
              <a:buFontTx/>
              <a:buNone/>
              <a:tabLst/>
              <a:defRPr/>
            </a:pPr>
            <a:r>
              <a:rPr kumimoji="0" lang="en-GB" sz="1000" b="0" i="0" u="none" strike="noStrike" kern="1200" cap="none" spc="0" normalizeH="0" baseline="0" noProof="0" dirty="0">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rPr>
              <a:t>Co-founder of Triple Jump Investment Management with  30+ years in investment management and banking. Expert in fund structuring for frontier and emerging markets. Board member of multiple funds and financial institutions.</a:t>
            </a:r>
            <a:endParaRPr kumimoji="0" lang="en-GB" sz="1000" b="0" i="0" u="none" strike="noStrike" kern="1200" cap="none" spc="0" normalizeH="0" baseline="0" noProof="0" dirty="0">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sym typeface="Montserrat"/>
            </a:endParaRPr>
          </a:p>
        </p:txBody>
      </p:sp>
      <p:sp>
        <p:nvSpPr>
          <p:cNvPr id="35" name="TextBox 8">
            <a:extLst>
              <a:ext uri="{FF2B5EF4-FFF2-40B4-BE49-F238E27FC236}">
                <a16:creationId xmlns:a16="http://schemas.microsoft.com/office/drawing/2014/main" id="{2A311F65-A322-B4ED-5B9B-8ED7E841AD7D}"/>
              </a:ext>
            </a:extLst>
          </p:cNvPr>
          <p:cNvSpPr txBox="1"/>
          <p:nvPr/>
        </p:nvSpPr>
        <p:spPr>
          <a:xfrm>
            <a:off x="7599364" y="4951389"/>
            <a:ext cx="1850213" cy="1384995"/>
          </a:xfrm>
          <a:prstGeom prst="rect">
            <a:avLst/>
          </a:prstGeom>
        </p:spPr>
        <p:txBody>
          <a:bodyPr wrap="square" lIns="0" tIns="0" rIns="0" bIns="0" rtlCol="0" anchor="t">
            <a:spAutoFit/>
          </a:bodyPr>
          <a:lstStyle/>
          <a:p>
            <a:pPr marL="0" marR="0" lvl="0" indent="0" algn="l" defTabSz="914400" rtl="0" eaLnBrk="1" fontAlgn="auto" latinLnBrk="0" hangingPunct="1">
              <a:lnSpc>
                <a:spcPts val="1188"/>
              </a:lnSpc>
              <a:spcBef>
                <a:spcPct val="0"/>
              </a:spcBef>
              <a:spcAft>
                <a:spcPts val="0"/>
              </a:spcAft>
              <a:buClrTx/>
              <a:buSzTx/>
              <a:buFontTx/>
              <a:buNone/>
              <a:tabLst/>
              <a:defRPr/>
            </a:pPr>
            <a:r>
              <a:rPr kumimoji="0" lang="en-GB" sz="1000" b="0" i="0" u="none" strike="noStrike" kern="1200" cap="none" spc="0" normalizeH="0" baseline="0" noProof="0" dirty="0">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rPr>
              <a:t>20+ years in investment banking and private equity across global markets. Specialist in risk management and fund design; structured scalable vehicles, including the SDG-focused ILX Fund, where she served as CRO/COO until June 2025.</a:t>
            </a:r>
            <a:endParaRPr kumimoji="0" lang="en-GB" sz="1000" b="0" i="0" u="none" strike="noStrike" kern="1200" cap="none" spc="0" normalizeH="0" baseline="0" noProof="0" dirty="0">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sym typeface="Montserrat"/>
            </a:endParaRPr>
          </a:p>
        </p:txBody>
      </p:sp>
      <p:sp>
        <p:nvSpPr>
          <p:cNvPr id="36" name="TextBox 8">
            <a:extLst>
              <a:ext uri="{FF2B5EF4-FFF2-40B4-BE49-F238E27FC236}">
                <a16:creationId xmlns:a16="http://schemas.microsoft.com/office/drawing/2014/main" id="{2D9967A1-8B39-D2C9-0DFF-75CC5023169E}"/>
              </a:ext>
            </a:extLst>
          </p:cNvPr>
          <p:cNvSpPr txBox="1"/>
          <p:nvPr/>
        </p:nvSpPr>
        <p:spPr>
          <a:xfrm>
            <a:off x="9716019" y="4968528"/>
            <a:ext cx="1864700" cy="1384995"/>
          </a:xfrm>
          <a:prstGeom prst="rect">
            <a:avLst/>
          </a:prstGeom>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dirty="0">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rPr>
              <a:t>20 years’ experience with DFIs, MDBs, private funds including World Bank, Netherlands Government, </a:t>
            </a:r>
            <a:r>
              <a:rPr kumimoji="0" lang="en-GB" sz="1000" b="0" i="0" u="none" strike="noStrike" kern="1200" cap="none" spc="0" normalizeH="0" baseline="0" noProof="0" dirty="0" err="1">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rPr>
              <a:t>GuarantCo</a:t>
            </a:r>
            <a:r>
              <a:rPr kumimoji="0" lang="en-GB" sz="1000" b="0" i="0" u="none" strike="noStrike" kern="1200" cap="none" spc="0" normalizeH="0" baseline="0" noProof="0" dirty="0">
                <a:ln>
                  <a:noFill/>
                </a:ln>
                <a:solidFill>
                  <a:srgbClr val="F3F1ED"/>
                </a:solidFill>
                <a:effectLst/>
                <a:uLnTx/>
                <a:uFillTx/>
                <a:latin typeface="Open Sans" panose="020B0606030504020204" pitchFamily="34" charset="0"/>
                <a:ea typeface="Open Sans" panose="020B0606030504020204" pitchFamily="34" charset="0"/>
                <a:cs typeface="Open Sans" panose="020B0606030504020204" pitchFamily="34" charset="0"/>
              </a:rPr>
              <a:t>. Leads on climate, impact and ESG for investable solutions. Director and co-owner at Rebel Advisory East Africa. Based in Nairobi, Kenya. </a:t>
            </a:r>
          </a:p>
        </p:txBody>
      </p:sp>
      <p:sp>
        <p:nvSpPr>
          <p:cNvPr id="37" name="TextBox 11">
            <a:extLst>
              <a:ext uri="{FF2B5EF4-FFF2-40B4-BE49-F238E27FC236}">
                <a16:creationId xmlns:a16="http://schemas.microsoft.com/office/drawing/2014/main" id="{351F4C98-AAD4-80C7-AF80-DA183CA3575E}"/>
              </a:ext>
            </a:extLst>
          </p:cNvPr>
          <p:cNvSpPr txBox="1"/>
          <p:nvPr/>
        </p:nvSpPr>
        <p:spPr>
          <a:xfrm>
            <a:off x="5467865" y="4117273"/>
            <a:ext cx="1875469" cy="548612"/>
          </a:xfrm>
          <a:prstGeom prst="rect">
            <a:avLst/>
          </a:prstGeom>
          <a:noFill/>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65" b="1" i="0" u="none" strike="noStrike" kern="1200" cap="none" spc="0" normalizeH="0" baseline="0" noProof="0" dirty="0">
                <a:ln>
                  <a:noFill/>
                </a:ln>
                <a:solidFill>
                  <a:srgbClr val="F3F1ED"/>
                </a:solidFill>
                <a:effectLst/>
                <a:uLnTx/>
                <a:uFillTx/>
                <a:latin typeface="Raleway" panose="020B0503030101060003" pitchFamily="34" charset="0"/>
                <a:ea typeface="Montserrat Bold"/>
                <a:cs typeface="Montserrat Bold"/>
                <a:sym typeface="Montserrat Bold"/>
              </a:rPr>
              <a:t>Mark van Doesburgh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19" normalizeH="0" baseline="0" noProof="0" dirty="0">
                <a:ln>
                  <a:noFill/>
                </a:ln>
                <a:solidFill>
                  <a:srgbClr val="F3F1ED"/>
                </a:solidFill>
                <a:effectLst/>
                <a:uLnTx/>
                <a:uFillTx/>
                <a:latin typeface="Raleway" panose="020B0503030101060003" pitchFamily="34" charset="0"/>
                <a:ea typeface="Montserrat"/>
                <a:cs typeface="Montserrat"/>
                <a:sym typeface="Montserrat"/>
              </a:rPr>
              <a:t>Fund Investments Advisor</a:t>
            </a:r>
          </a:p>
        </p:txBody>
      </p:sp>
      <p:sp>
        <p:nvSpPr>
          <p:cNvPr id="38" name="TextBox 11">
            <a:extLst>
              <a:ext uri="{FF2B5EF4-FFF2-40B4-BE49-F238E27FC236}">
                <a16:creationId xmlns:a16="http://schemas.microsoft.com/office/drawing/2014/main" id="{53B7BBC3-48CC-4323-EDF8-9CB3D91A53F2}"/>
              </a:ext>
            </a:extLst>
          </p:cNvPr>
          <p:cNvSpPr txBox="1"/>
          <p:nvPr/>
        </p:nvSpPr>
        <p:spPr>
          <a:xfrm>
            <a:off x="7587854" y="4108805"/>
            <a:ext cx="1856755" cy="548612"/>
          </a:xfrm>
          <a:prstGeom prst="rect">
            <a:avLst/>
          </a:prstGeom>
        </p:spPr>
        <p:txBody>
          <a:bodyPr wrap="square"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65" b="1" i="0" u="none" strike="noStrike" kern="1200" cap="none" spc="0" normalizeH="0" baseline="0" noProof="0" dirty="0">
                <a:ln>
                  <a:noFill/>
                </a:ln>
                <a:solidFill>
                  <a:srgbClr val="F3F1ED"/>
                </a:solidFill>
                <a:effectLst/>
                <a:uLnTx/>
                <a:uFillTx/>
                <a:latin typeface="Raleway" panose="020B0503030101060003" pitchFamily="34" charset="0"/>
                <a:ea typeface="Montserrat Bold"/>
                <a:cs typeface="Montserrat Bold"/>
                <a:sym typeface="Montserrat Bold"/>
              </a:rPr>
              <a:t>Tanja Pelle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19" normalizeH="0" baseline="0" noProof="0" dirty="0">
                <a:ln>
                  <a:noFill/>
                </a:ln>
                <a:solidFill>
                  <a:srgbClr val="F3F1ED"/>
                </a:solidFill>
                <a:effectLst/>
                <a:uLnTx/>
                <a:uFillTx/>
                <a:latin typeface="Raleway" panose="020B0503030101060003" pitchFamily="34" charset="0"/>
                <a:ea typeface="Montserrat"/>
                <a:cs typeface="Montserrat"/>
                <a:sym typeface="Montserrat"/>
              </a:rPr>
              <a:t>Investment Fund Risk Advisor</a:t>
            </a:r>
            <a:endParaRPr kumimoji="0" lang="en-GB" sz="1165" b="1" i="0" u="none" strike="noStrike" kern="1200" cap="none" spc="0" normalizeH="0" baseline="0" noProof="0" dirty="0">
              <a:ln>
                <a:noFill/>
              </a:ln>
              <a:solidFill>
                <a:srgbClr val="F3F1ED"/>
              </a:solidFill>
              <a:effectLst/>
              <a:uLnTx/>
              <a:uFillTx/>
              <a:latin typeface="Raleway" panose="020B0503030101060003" pitchFamily="34" charset="0"/>
              <a:ea typeface="Montserrat Bold"/>
              <a:cs typeface="Montserrat Bold"/>
              <a:sym typeface="Montserrat Bold"/>
            </a:endParaRPr>
          </a:p>
        </p:txBody>
      </p:sp>
      <p:sp>
        <p:nvSpPr>
          <p:cNvPr id="39" name="TextBox 11">
            <a:extLst>
              <a:ext uri="{FF2B5EF4-FFF2-40B4-BE49-F238E27FC236}">
                <a16:creationId xmlns:a16="http://schemas.microsoft.com/office/drawing/2014/main" id="{61448398-F2FE-FAEF-7949-29E9A240A84B}"/>
              </a:ext>
            </a:extLst>
          </p:cNvPr>
          <p:cNvSpPr txBox="1"/>
          <p:nvPr/>
        </p:nvSpPr>
        <p:spPr>
          <a:xfrm>
            <a:off x="9597754" y="4062153"/>
            <a:ext cx="2016000" cy="733278"/>
          </a:xfrm>
          <a:prstGeom prst="rect">
            <a:avLst/>
          </a:prstGeom>
        </p:spPr>
        <p:txBody>
          <a:bodyPr lIns="0" tIns="0" rIns="0" bIns="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65" b="1" i="0" u="none" strike="noStrike" kern="1200" cap="none" spc="0" normalizeH="0" baseline="0" noProof="0" dirty="0">
                <a:ln>
                  <a:noFill/>
                </a:ln>
                <a:solidFill>
                  <a:srgbClr val="F3F1ED"/>
                </a:solidFill>
                <a:effectLst/>
                <a:uLnTx/>
                <a:uFillTx/>
                <a:latin typeface="Raleway" panose="020B0503030101060003" pitchFamily="34" charset="0"/>
                <a:ea typeface="Montserrat Bold"/>
                <a:cs typeface="Montserrat Bold"/>
                <a:sym typeface="Montserrat Bold"/>
              </a:rPr>
              <a:t>Ingwell Kuil</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19" normalizeH="0" baseline="0" noProof="0" dirty="0">
                <a:ln>
                  <a:noFill/>
                </a:ln>
                <a:solidFill>
                  <a:srgbClr val="F3F1ED"/>
                </a:solidFill>
                <a:effectLst/>
                <a:uLnTx/>
                <a:uFillTx/>
                <a:latin typeface="Raleway" panose="020B0503030101060003" pitchFamily="34" charset="0"/>
                <a:ea typeface="+mn-ea"/>
                <a:cs typeface="+mn-cs"/>
              </a:rPr>
              <a:t>Climate, Impact, ESG Advisor for Investable Solutions</a:t>
            </a:r>
            <a:endParaRPr kumimoji="0" lang="en-GB" sz="1200" b="0" i="0" u="none" strike="noStrike" kern="1200" cap="none" spc="19" normalizeH="0" baseline="0" noProof="0" dirty="0">
              <a:ln>
                <a:noFill/>
              </a:ln>
              <a:solidFill>
                <a:srgbClr val="F3F1ED"/>
              </a:solidFill>
              <a:effectLst/>
              <a:uLnTx/>
              <a:uFillTx/>
              <a:latin typeface="Raleway" panose="020B0503030101060003" pitchFamily="34" charset="0"/>
              <a:ea typeface="+mn-ea"/>
              <a:cs typeface="+mn-cs"/>
              <a:sym typeface="Montserrat"/>
            </a:endParaRPr>
          </a:p>
        </p:txBody>
      </p:sp>
      <p:sp>
        <p:nvSpPr>
          <p:cNvPr id="40" name="AutoShape 12">
            <a:extLst>
              <a:ext uri="{FF2B5EF4-FFF2-40B4-BE49-F238E27FC236}">
                <a16:creationId xmlns:a16="http://schemas.microsoft.com/office/drawing/2014/main" id="{5DE54836-0FE4-9AF6-5E6F-8FCD9E68BA08}"/>
              </a:ext>
            </a:extLst>
          </p:cNvPr>
          <p:cNvSpPr/>
          <p:nvPr/>
        </p:nvSpPr>
        <p:spPr>
          <a:xfrm>
            <a:off x="10297558" y="4840356"/>
            <a:ext cx="570626" cy="0"/>
          </a:xfrm>
          <a:prstGeom prst="line">
            <a:avLst/>
          </a:prstGeom>
          <a:ln w="9525" cap="flat">
            <a:solidFill>
              <a:srgbClr val="FFB703"/>
            </a:solidFill>
            <a:prstDash val="solid"/>
            <a:headEnd type="none" w="sm" len="sm"/>
            <a:tailEnd type="none" w="sm" len="sm"/>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Open Sans"/>
              <a:ea typeface="+mn-ea"/>
              <a:cs typeface="+mn-cs"/>
            </a:endParaRPr>
          </a:p>
        </p:txBody>
      </p:sp>
      <p:sp>
        <p:nvSpPr>
          <p:cNvPr id="41" name="AutoShape 12">
            <a:extLst>
              <a:ext uri="{FF2B5EF4-FFF2-40B4-BE49-F238E27FC236}">
                <a16:creationId xmlns:a16="http://schemas.microsoft.com/office/drawing/2014/main" id="{69A63D7A-CB3B-9087-AB66-BA786B900F1A}"/>
              </a:ext>
            </a:extLst>
          </p:cNvPr>
          <p:cNvSpPr/>
          <p:nvPr/>
        </p:nvSpPr>
        <p:spPr>
          <a:xfrm>
            <a:off x="6122922" y="4840356"/>
            <a:ext cx="497764" cy="0"/>
          </a:xfrm>
          <a:prstGeom prst="line">
            <a:avLst/>
          </a:prstGeom>
          <a:ln w="9525" cap="flat">
            <a:solidFill>
              <a:srgbClr val="FFB703"/>
            </a:solidFill>
            <a:prstDash val="solid"/>
            <a:headEnd type="none" w="sm" len="sm"/>
            <a:tailEnd type="none" w="sm" len="sm"/>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Open Sans"/>
              <a:ea typeface="+mn-ea"/>
              <a:cs typeface="+mn-cs"/>
            </a:endParaRPr>
          </a:p>
        </p:txBody>
      </p:sp>
      <p:sp>
        <p:nvSpPr>
          <p:cNvPr id="42" name="AutoShape 12">
            <a:extLst>
              <a:ext uri="{FF2B5EF4-FFF2-40B4-BE49-F238E27FC236}">
                <a16:creationId xmlns:a16="http://schemas.microsoft.com/office/drawing/2014/main" id="{4EFAB019-2C85-4C27-DE5F-5C16F64AAE76}"/>
              </a:ext>
            </a:extLst>
          </p:cNvPr>
          <p:cNvSpPr/>
          <p:nvPr/>
        </p:nvSpPr>
        <p:spPr>
          <a:xfrm>
            <a:off x="8255096" y="4840356"/>
            <a:ext cx="497764" cy="0"/>
          </a:xfrm>
          <a:prstGeom prst="line">
            <a:avLst/>
          </a:prstGeom>
          <a:ln w="9525" cap="flat">
            <a:solidFill>
              <a:srgbClr val="FFB703"/>
            </a:solidFill>
            <a:prstDash val="solid"/>
            <a:headEnd type="none" w="sm" len="sm"/>
            <a:tailEnd type="none" w="sm" len="sm"/>
          </a:ln>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805078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Organogram</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graphicFrame>
        <p:nvGraphicFramePr>
          <p:cNvPr id="2" name="Diagram 1">
            <a:extLst>
              <a:ext uri="{FF2B5EF4-FFF2-40B4-BE49-F238E27FC236}">
                <a16:creationId xmlns:a16="http://schemas.microsoft.com/office/drawing/2014/main" id="{F7753B40-E3B9-094B-91CA-51B1650A8EF8}"/>
              </a:ext>
            </a:extLst>
          </p:cNvPr>
          <p:cNvGraphicFramePr/>
          <p:nvPr>
            <p:extLst>
              <p:ext uri="{D42A27DB-BD31-4B8C-83A1-F6EECF244321}">
                <p14:modId xmlns:p14="http://schemas.microsoft.com/office/powerpoint/2010/main" val="2791588968"/>
              </p:ext>
            </p:extLst>
          </p:nvPr>
        </p:nvGraphicFramePr>
        <p:xfrm>
          <a:off x="722705" y="1711890"/>
          <a:ext cx="11107061" cy="442644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79953517"/>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34" name="TextBox 17">
            <a:extLst>
              <a:ext uri="{FF2B5EF4-FFF2-40B4-BE49-F238E27FC236}">
                <a16:creationId xmlns:a16="http://schemas.microsoft.com/office/drawing/2014/main" id="{17B06FA8-18B7-BF85-0B29-C398C8D12AB4}"/>
              </a:ext>
            </a:extLst>
          </p:cNvPr>
          <p:cNvSpPr txBox="1"/>
          <p:nvPr/>
        </p:nvSpPr>
        <p:spPr>
          <a:xfrm>
            <a:off x="684634" y="1931869"/>
            <a:ext cx="5411366" cy="404711"/>
          </a:xfrm>
          <a:prstGeom prst="roundRect">
            <a:avLst/>
          </a:prstGeom>
          <a:solidFill>
            <a:srgbClr val="B7D6E1"/>
          </a:solidFill>
        </p:spPr>
        <p:txBody>
          <a:bodyPr wrap="square" lIns="36000" tIns="36000" rIns="36000" bIns="36000" anchor="ctr" anchorCtr="0">
            <a:spAutoFit/>
          </a:bodyPr>
          <a:lstStyle>
            <a:defPPr>
              <a:defRPr lang="en-US"/>
            </a:defPPr>
            <a:lvl1pPr indent="0" algn="ctr">
              <a:lnSpc>
                <a:spcPct val="130000"/>
              </a:lnSpc>
              <a:spcBef>
                <a:spcPts val="0"/>
              </a:spcBef>
              <a:buClr>
                <a:srgbClr val="00549A"/>
              </a:buClr>
              <a:buSzPct val="150000"/>
              <a:buNone/>
              <a:defRPr sz="1600" b="1">
                <a:solidFill>
                  <a:schemeClr val="bg2"/>
                </a:solidFill>
                <a:ea typeface="Open Sans" panose="020B0606030504020204" pitchFamily="34" charset="0"/>
                <a:cs typeface="Open Sans" panose="020B0606030504020204" pitchFamily="34" charset="0"/>
              </a:defRPr>
            </a:lvl1pPr>
          </a:lstStyle>
          <a:p>
            <a:pPr marL="0" marR="0" lvl="0" indent="0" algn="ctr" defTabSz="914400" rtl="0" eaLnBrk="1" fontAlgn="auto" latinLnBrk="0" hangingPunct="1">
              <a:lnSpc>
                <a:spcPct val="130000"/>
              </a:lnSpc>
              <a:spcBef>
                <a:spcPts val="0"/>
              </a:spcBef>
              <a:spcAft>
                <a:spcPts val="0"/>
              </a:spcAft>
              <a:buClr>
                <a:srgbClr val="00549A"/>
              </a:buClr>
              <a:buSzPct val="150000"/>
              <a:buFontTx/>
              <a:buNone/>
              <a:tabLst/>
              <a:defRPr/>
            </a:pPr>
            <a:endParaRPr kumimoji="0" lang="en-GB" sz="1600" b="1" i="0" u="none" strike="noStrike" kern="1200" cap="none" spc="0" normalizeH="0" baseline="0" noProof="0" dirty="0">
              <a:ln>
                <a:noFill/>
              </a:ln>
              <a:solidFill>
                <a:srgbClr val="1A353E"/>
              </a:solidFill>
              <a:effectLst/>
              <a:uLnTx/>
              <a:uFillTx/>
              <a:latin typeface="Funnel Sans" pitchFamily="2" charset="0"/>
            </a:endParaRPr>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Organogram</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 name="Text Placeholder 6">
            <a:extLst>
              <a:ext uri="{FF2B5EF4-FFF2-40B4-BE49-F238E27FC236}">
                <a16:creationId xmlns:a16="http://schemas.microsoft.com/office/drawing/2014/main" id="{3727B645-6C0C-F918-1A73-42CE8BC198E8}"/>
              </a:ext>
            </a:extLst>
          </p:cNvPr>
          <p:cNvSpPr txBox="1">
            <a:spLocks/>
          </p:cNvSpPr>
          <p:nvPr/>
        </p:nvSpPr>
        <p:spPr>
          <a:xfrm>
            <a:off x="3314031" y="3050244"/>
            <a:ext cx="2781969" cy="912366"/>
          </a:xfrm>
          <a:prstGeom prst="rect">
            <a:avLst/>
          </a:prstGeom>
        </p:spPr>
        <p:txBody>
          <a:bodyPr wrap="square" lIns="91440" tIns="45720" rIns="91440" bIns="45720" numCol="1"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Senior leadership representatives</a:t>
            </a:r>
            <a:r>
              <a:rPr kumimoji="0" lang="en-GB" sz="1050" b="0" i="0" u="none" strike="noStrike" kern="1200" cap="none" spc="0" normalizeH="0" baseline="0" noProof="0" dirty="0">
                <a:ln>
                  <a:noFill/>
                </a:ln>
                <a:solidFill>
                  <a:prstClr val="white"/>
                </a:solidFill>
                <a:effectLst/>
                <a:uLnTx/>
                <a:uFillTx/>
                <a:latin typeface="Funnel Sans" pitchFamily="2" charset="0"/>
                <a:ea typeface="Open Sans" panose="020B0606030504020204" pitchFamily="34" charset="0"/>
                <a:cs typeface="Open Sans" panose="020B0606030504020204" pitchFamily="34" charset="0"/>
              </a:rPr>
              <a:t> </a:t>
            </a: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(e.g. Chairs) from the Task Force</a:t>
            </a:r>
            <a:b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b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Senior representatives from Aqua for All and the CEO Water Mandate</a:t>
            </a:r>
          </a:p>
        </p:txBody>
      </p:sp>
      <p:sp>
        <p:nvSpPr>
          <p:cNvPr id="17" name="Text Placeholder 6">
            <a:extLst>
              <a:ext uri="{FF2B5EF4-FFF2-40B4-BE49-F238E27FC236}">
                <a16:creationId xmlns:a16="http://schemas.microsoft.com/office/drawing/2014/main" id="{EFE3169A-4B51-164E-D33B-1A6FA69C95AC}"/>
              </a:ext>
            </a:extLst>
          </p:cNvPr>
          <p:cNvSpPr txBox="1">
            <a:spLocks/>
          </p:cNvSpPr>
          <p:nvPr/>
        </p:nvSpPr>
        <p:spPr>
          <a:xfrm>
            <a:off x="682224" y="3053081"/>
            <a:ext cx="2374050" cy="702308"/>
          </a:xfrm>
          <a:prstGeom prst="rect">
            <a:avLst/>
          </a:prstGeom>
        </p:spPr>
        <p:txBody>
          <a:bodyPr wrap="square" lIns="91440" tIns="45720" rIns="91440" bIns="45720" numCol="1"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Set strategic direction</a:t>
            </a:r>
          </a:p>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Provide final approvals</a:t>
            </a:r>
          </a:p>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Champion the initiative</a:t>
            </a:r>
          </a:p>
        </p:txBody>
      </p:sp>
      <p:pic>
        <p:nvPicPr>
          <p:cNvPr id="20" name="Graphic 19" descr="Board Of Directors with solid fill">
            <a:extLst>
              <a:ext uri="{FF2B5EF4-FFF2-40B4-BE49-F238E27FC236}">
                <a16:creationId xmlns:a16="http://schemas.microsoft.com/office/drawing/2014/main" id="{A6E2EA3F-CB8B-5E03-3435-FDCCE575AAC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08097" y="1919459"/>
            <a:ext cx="432000" cy="432000"/>
          </a:xfrm>
          <a:prstGeom prst="rect">
            <a:avLst/>
          </a:prstGeom>
        </p:spPr>
      </p:pic>
      <p:sp>
        <p:nvSpPr>
          <p:cNvPr id="21" name="TextBox 7">
            <a:extLst>
              <a:ext uri="{FF2B5EF4-FFF2-40B4-BE49-F238E27FC236}">
                <a16:creationId xmlns:a16="http://schemas.microsoft.com/office/drawing/2014/main" id="{29A4A567-6390-5C59-389D-7A825D912CFC}"/>
              </a:ext>
            </a:extLst>
          </p:cNvPr>
          <p:cNvSpPr txBox="1"/>
          <p:nvPr/>
        </p:nvSpPr>
        <p:spPr>
          <a:xfrm>
            <a:off x="2332564" y="1974143"/>
            <a:ext cx="2460453" cy="335989"/>
          </a:xfrm>
          <a:prstGeom prst="rect">
            <a:avLst/>
          </a:prstGeom>
          <a:noFill/>
        </p:spPr>
        <p:txBody>
          <a:bodyPr wrap="square" rtlCol="0">
            <a:spAutoFit/>
          </a:bodyPr>
          <a:lstStyle/>
          <a:p>
            <a:pPr marL="0" marR="0" lvl="0" indent="0" algn="ctr" defTabSz="914400" rtl="0" eaLnBrk="1" fontAlgn="auto" latinLnBrk="0" hangingPunct="1">
              <a:lnSpc>
                <a:spcPts val="1944"/>
              </a:lnSpc>
              <a:spcBef>
                <a:spcPts val="0"/>
              </a:spcBef>
              <a:spcAft>
                <a:spcPts val="0"/>
              </a:spcAft>
              <a:buClr>
                <a:srgbClr val="00549A"/>
              </a:buClr>
              <a:buSzPct val="150000"/>
              <a:buFontTx/>
              <a:buNone/>
              <a:tabLst/>
              <a:defRPr/>
            </a:pPr>
            <a:r>
              <a:rPr kumimoji="0" lang="en-GB" sz="1800" b="1" i="0" u="none" strike="noStrike" kern="1200" cap="none" spc="0" normalizeH="0" baseline="0" noProof="0" dirty="0">
                <a:ln>
                  <a:noFill/>
                </a:ln>
                <a:solidFill>
                  <a:srgbClr val="173E55"/>
                </a:solidFill>
                <a:effectLst/>
                <a:uLnTx/>
                <a:uFillTx/>
                <a:latin typeface="Funnel Sans" pitchFamily="2" charset="0"/>
              </a:rPr>
              <a:t>Steering Committee</a:t>
            </a:r>
          </a:p>
        </p:txBody>
      </p:sp>
      <p:sp>
        <p:nvSpPr>
          <p:cNvPr id="23" name="Text Placeholder 6">
            <a:extLst>
              <a:ext uri="{FF2B5EF4-FFF2-40B4-BE49-F238E27FC236}">
                <a16:creationId xmlns:a16="http://schemas.microsoft.com/office/drawing/2014/main" id="{B4A62EB5-AE4F-4F90-94EC-59594D06DCE2}"/>
              </a:ext>
            </a:extLst>
          </p:cNvPr>
          <p:cNvSpPr txBox="1">
            <a:spLocks/>
          </p:cNvSpPr>
          <p:nvPr/>
        </p:nvSpPr>
        <p:spPr>
          <a:xfrm>
            <a:off x="3327991" y="5228490"/>
            <a:ext cx="2636296" cy="1122423"/>
          </a:xfrm>
          <a:prstGeom prst="rect">
            <a:avLst/>
          </a:prstGeom>
        </p:spPr>
        <p:txBody>
          <a:bodyPr wrap="square" lIns="91440" tIns="45720" rIns="91440" bIns="45720" numCol="1"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Representatives and subject-matter experts from force members</a:t>
            </a:r>
          </a:p>
          <a:p>
            <a:pPr marL="85725"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Experts from Aqua for All, CEO Water Mandate and consultants</a:t>
            </a:r>
          </a:p>
          <a:p>
            <a:pPr marL="0" marR="0" lvl="1" indent="0" algn="l"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endPar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endParaRPr>
          </a:p>
        </p:txBody>
      </p:sp>
      <p:sp>
        <p:nvSpPr>
          <p:cNvPr id="25" name="Text Placeholder 6">
            <a:extLst>
              <a:ext uri="{FF2B5EF4-FFF2-40B4-BE49-F238E27FC236}">
                <a16:creationId xmlns:a16="http://schemas.microsoft.com/office/drawing/2014/main" id="{D7723E1C-FA93-B78E-AD0F-0FC182AF8FEC}"/>
              </a:ext>
            </a:extLst>
          </p:cNvPr>
          <p:cNvSpPr txBox="1">
            <a:spLocks/>
          </p:cNvSpPr>
          <p:nvPr/>
        </p:nvSpPr>
        <p:spPr>
          <a:xfrm>
            <a:off x="682224" y="5183016"/>
            <a:ext cx="2752092" cy="912366"/>
          </a:xfrm>
          <a:prstGeom prst="rect">
            <a:avLst/>
          </a:prstGeom>
        </p:spPr>
        <p:txBody>
          <a:bodyPr wrap="square" lIns="91440" tIns="45720" rIns="91440" bIns="45720" numCol="1" anchor="t">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Execute the workplan</a:t>
            </a:r>
          </a:p>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Conduct analysis</a:t>
            </a:r>
          </a:p>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Prepare and manage deliverables</a:t>
            </a:r>
          </a:p>
          <a:p>
            <a:pPr marL="0" marR="0" lvl="1" indent="0" algn="ctr" defTabSz="914400" rtl="0" eaLnBrk="1" fontAlgn="auto" latinLnBrk="0" hangingPunct="1">
              <a:lnSpc>
                <a:spcPct val="130000"/>
              </a:lnSpc>
              <a:spcBef>
                <a:spcPts val="0"/>
              </a:spcBef>
              <a:spcAft>
                <a:spcPts val="0"/>
              </a:spcAft>
              <a:buClr>
                <a:srgbClr val="00549A"/>
              </a:buClr>
              <a:buSzPct val="150000"/>
              <a:buFont typeface="Arial" panose="020B0604020202020204" pitchFamily="34" charset="0"/>
              <a:buNone/>
              <a:tabLst/>
              <a:defRPr/>
            </a:pPr>
            <a:r>
              <a:rPr kumimoji="0" lang="en-GB" sz="1050" b="0" i="0" u="none" strike="noStrike" kern="1200" cap="none" spc="0" normalizeH="0" baseline="0" noProof="0" dirty="0">
                <a:ln>
                  <a:noFill/>
                </a:ln>
                <a:solidFill>
                  <a:prstClr val="white"/>
                </a:solidFill>
                <a:effectLst/>
                <a:uLnTx/>
                <a:uFillTx/>
                <a:latin typeface="Funnel Sans" pitchFamily="2" charset="0"/>
                <a:ea typeface="Open Sans"/>
                <a:cs typeface="Open Sans"/>
              </a:rPr>
              <a:t>Ensure information flow</a:t>
            </a:r>
          </a:p>
        </p:txBody>
      </p:sp>
      <p:sp>
        <p:nvSpPr>
          <p:cNvPr id="27" name="TextBox 29">
            <a:extLst>
              <a:ext uri="{FF2B5EF4-FFF2-40B4-BE49-F238E27FC236}">
                <a16:creationId xmlns:a16="http://schemas.microsoft.com/office/drawing/2014/main" id="{25FDD3FB-5DD1-53AD-AD55-BBE0CFF3C0E8}"/>
              </a:ext>
            </a:extLst>
          </p:cNvPr>
          <p:cNvSpPr txBox="1"/>
          <p:nvPr/>
        </p:nvSpPr>
        <p:spPr>
          <a:xfrm>
            <a:off x="580327" y="1387562"/>
            <a:ext cx="114450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 robust governance structure ensuring investor control and strategic alignment</a:t>
            </a:r>
          </a:p>
        </p:txBody>
      </p:sp>
      <p:cxnSp>
        <p:nvCxnSpPr>
          <p:cNvPr id="28" name="Rechte verbindingslijn 37">
            <a:extLst>
              <a:ext uri="{FF2B5EF4-FFF2-40B4-BE49-F238E27FC236}">
                <a16:creationId xmlns:a16="http://schemas.microsoft.com/office/drawing/2014/main" id="{1E59E722-5904-2357-ABBF-EDB258DC72F3}"/>
              </a:ext>
            </a:extLst>
          </p:cNvPr>
          <p:cNvCxnSpPr>
            <a:cxnSpLocks/>
          </p:cNvCxnSpPr>
          <p:nvPr/>
        </p:nvCxnSpPr>
        <p:spPr>
          <a:xfrm>
            <a:off x="712382" y="2899043"/>
            <a:ext cx="2343892" cy="0"/>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30" name="Tekstvak 34">
            <a:extLst>
              <a:ext uri="{FF2B5EF4-FFF2-40B4-BE49-F238E27FC236}">
                <a16:creationId xmlns:a16="http://schemas.microsoft.com/office/drawing/2014/main" id="{79BD8BE6-2C6C-3EA5-BA61-0B4FB4E296DC}"/>
              </a:ext>
            </a:extLst>
          </p:cNvPr>
          <p:cNvSpPr txBox="1"/>
          <p:nvPr/>
        </p:nvSpPr>
        <p:spPr>
          <a:xfrm>
            <a:off x="722705" y="2582519"/>
            <a:ext cx="2339472" cy="256850"/>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i="0" u="none" strike="noStrike" kern="1200" cap="none" spc="0" normalizeH="0" baseline="0" noProof="0" dirty="0">
                <a:ln>
                  <a:noFill/>
                </a:ln>
                <a:solidFill>
                  <a:srgbClr val="FFA726"/>
                </a:solidFill>
                <a:effectLst/>
                <a:uLnTx/>
                <a:uFillTx/>
                <a:latin typeface="Raleway"/>
                <a:ea typeface="+mn-ea"/>
                <a:cs typeface="+mn-cs"/>
              </a:rPr>
              <a:t>KEY RESPONSIBILITIES</a:t>
            </a:r>
          </a:p>
        </p:txBody>
      </p:sp>
      <p:cxnSp>
        <p:nvCxnSpPr>
          <p:cNvPr id="32" name="Rechte verbindingslijn 37">
            <a:extLst>
              <a:ext uri="{FF2B5EF4-FFF2-40B4-BE49-F238E27FC236}">
                <a16:creationId xmlns:a16="http://schemas.microsoft.com/office/drawing/2014/main" id="{39371207-2CBA-116E-86A1-59BBF74D481A}"/>
              </a:ext>
            </a:extLst>
          </p:cNvPr>
          <p:cNvCxnSpPr>
            <a:cxnSpLocks/>
          </p:cNvCxnSpPr>
          <p:nvPr/>
        </p:nvCxnSpPr>
        <p:spPr>
          <a:xfrm>
            <a:off x="3327991" y="2899043"/>
            <a:ext cx="2768009" cy="0"/>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33" name="Tekstvak 34">
            <a:extLst>
              <a:ext uri="{FF2B5EF4-FFF2-40B4-BE49-F238E27FC236}">
                <a16:creationId xmlns:a16="http://schemas.microsoft.com/office/drawing/2014/main" id="{2CB78134-1AF9-729C-D85B-90F95F87A3A9}"/>
              </a:ext>
            </a:extLst>
          </p:cNvPr>
          <p:cNvSpPr txBox="1"/>
          <p:nvPr/>
        </p:nvSpPr>
        <p:spPr>
          <a:xfrm>
            <a:off x="3338314" y="2582519"/>
            <a:ext cx="2781968" cy="256850"/>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i="0" u="none" strike="noStrike" kern="1200" cap="none" spc="0" normalizeH="0" baseline="0" noProof="0" dirty="0">
                <a:ln>
                  <a:noFill/>
                </a:ln>
                <a:solidFill>
                  <a:srgbClr val="FFA726"/>
                </a:solidFill>
                <a:effectLst/>
                <a:uLnTx/>
                <a:uFillTx/>
                <a:latin typeface="Raleway"/>
                <a:ea typeface="+mn-ea"/>
                <a:cs typeface="+mn-cs"/>
              </a:rPr>
              <a:t>COMPOSITION</a:t>
            </a:r>
          </a:p>
        </p:txBody>
      </p:sp>
      <p:sp>
        <p:nvSpPr>
          <p:cNvPr id="35" name="TextBox 17">
            <a:extLst>
              <a:ext uri="{FF2B5EF4-FFF2-40B4-BE49-F238E27FC236}">
                <a16:creationId xmlns:a16="http://schemas.microsoft.com/office/drawing/2014/main" id="{4AE3AF0C-7E93-24C4-0C20-69075B9578A2}"/>
              </a:ext>
            </a:extLst>
          </p:cNvPr>
          <p:cNvSpPr txBox="1"/>
          <p:nvPr/>
        </p:nvSpPr>
        <p:spPr>
          <a:xfrm>
            <a:off x="684634" y="4116710"/>
            <a:ext cx="5435648" cy="404711"/>
          </a:xfrm>
          <a:prstGeom prst="roundRect">
            <a:avLst/>
          </a:prstGeom>
          <a:solidFill>
            <a:srgbClr val="B7D6E1"/>
          </a:solidFill>
        </p:spPr>
        <p:txBody>
          <a:bodyPr wrap="square" lIns="36000" tIns="36000" rIns="36000" bIns="36000" anchor="ctr" anchorCtr="0">
            <a:spAutoFit/>
          </a:bodyPr>
          <a:lstStyle>
            <a:defPPr>
              <a:defRPr lang="en-US"/>
            </a:defPPr>
            <a:lvl1pPr indent="0" algn="ctr">
              <a:lnSpc>
                <a:spcPct val="130000"/>
              </a:lnSpc>
              <a:spcBef>
                <a:spcPts val="0"/>
              </a:spcBef>
              <a:buClr>
                <a:srgbClr val="00549A"/>
              </a:buClr>
              <a:buSzPct val="150000"/>
              <a:buNone/>
              <a:defRPr sz="1600" b="1">
                <a:solidFill>
                  <a:schemeClr val="bg2"/>
                </a:solidFill>
                <a:ea typeface="Open Sans" panose="020B0606030504020204" pitchFamily="34" charset="0"/>
                <a:cs typeface="Open Sans" panose="020B0606030504020204" pitchFamily="34" charset="0"/>
              </a:defRPr>
            </a:lvl1pPr>
          </a:lstStyle>
          <a:p>
            <a:pPr marL="0" marR="0" lvl="0" indent="0" algn="ctr" defTabSz="914400" rtl="0" eaLnBrk="1" fontAlgn="auto" latinLnBrk="0" hangingPunct="1">
              <a:lnSpc>
                <a:spcPct val="130000"/>
              </a:lnSpc>
              <a:spcBef>
                <a:spcPts val="0"/>
              </a:spcBef>
              <a:spcAft>
                <a:spcPts val="0"/>
              </a:spcAft>
              <a:buClr>
                <a:srgbClr val="00549A"/>
              </a:buClr>
              <a:buSzPct val="150000"/>
              <a:buFontTx/>
              <a:buNone/>
              <a:tabLst/>
              <a:defRPr/>
            </a:pPr>
            <a:endParaRPr kumimoji="0" lang="en-GB" sz="1600" b="1" i="0" u="none" strike="noStrike" kern="1200" cap="none" spc="0" normalizeH="0" baseline="0" noProof="0" dirty="0">
              <a:ln>
                <a:noFill/>
              </a:ln>
              <a:solidFill>
                <a:srgbClr val="1A353E"/>
              </a:solidFill>
              <a:effectLst/>
              <a:uLnTx/>
              <a:uFillTx/>
              <a:latin typeface="Funnel Sans" pitchFamily="2" charset="0"/>
            </a:endParaRPr>
          </a:p>
        </p:txBody>
      </p:sp>
      <p:sp>
        <p:nvSpPr>
          <p:cNvPr id="36" name="TextBox 7">
            <a:extLst>
              <a:ext uri="{FF2B5EF4-FFF2-40B4-BE49-F238E27FC236}">
                <a16:creationId xmlns:a16="http://schemas.microsoft.com/office/drawing/2014/main" id="{12CFB454-7BEE-A877-9B96-94E267326EA7}"/>
              </a:ext>
            </a:extLst>
          </p:cNvPr>
          <p:cNvSpPr txBox="1"/>
          <p:nvPr/>
        </p:nvSpPr>
        <p:spPr>
          <a:xfrm>
            <a:off x="2332564" y="4158984"/>
            <a:ext cx="2460453" cy="335989"/>
          </a:xfrm>
          <a:prstGeom prst="rect">
            <a:avLst/>
          </a:prstGeom>
          <a:noFill/>
        </p:spPr>
        <p:txBody>
          <a:bodyPr wrap="square" rtlCol="0">
            <a:spAutoFit/>
          </a:bodyPr>
          <a:lstStyle/>
          <a:p>
            <a:pPr marL="0" marR="0" lvl="0" indent="0" algn="ctr" defTabSz="914400" rtl="0" eaLnBrk="1" fontAlgn="auto" latinLnBrk="0" hangingPunct="1">
              <a:lnSpc>
                <a:spcPts val="1944"/>
              </a:lnSpc>
              <a:spcBef>
                <a:spcPts val="0"/>
              </a:spcBef>
              <a:spcAft>
                <a:spcPts val="0"/>
              </a:spcAft>
              <a:buClr>
                <a:srgbClr val="00549A"/>
              </a:buClr>
              <a:buSzPct val="150000"/>
              <a:buFontTx/>
              <a:buNone/>
              <a:tabLst/>
              <a:defRPr/>
            </a:pPr>
            <a:r>
              <a:rPr kumimoji="0" lang="en-GB" sz="1800" b="1" i="0" u="none" strike="noStrike" kern="1200" cap="none" spc="0" normalizeH="0" baseline="0" noProof="0" dirty="0">
                <a:ln>
                  <a:noFill/>
                </a:ln>
                <a:solidFill>
                  <a:srgbClr val="173E55"/>
                </a:solidFill>
                <a:effectLst/>
                <a:uLnTx/>
                <a:uFillTx/>
                <a:latin typeface="Funnel Sans" pitchFamily="2" charset="0"/>
              </a:rPr>
              <a:t>Working Group</a:t>
            </a:r>
          </a:p>
        </p:txBody>
      </p:sp>
      <p:cxnSp>
        <p:nvCxnSpPr>
          <p:cNvPr id="37" name="Rechte verbindingslijn 37">
            <a:extLst>
              <a:ext uri="{FF2B5EF4-FFF2-40B4-BE49-F238E27FC236}">
                <a16:creationId xmlns:a16="http://schemas.microsoft.com/office/drawing/2014/main" id="{19C1C75E-AE09-585C-817D-9D867B294AAE}"/>
              </a:ext>
            </a:extLst>
          </p:cNvPr>
          <p:cNvCxnSpPr>
            <a:cxnSpLocks/>
          </p:cNvCxnSpPr>
          <p:nvPr/>
        </p:nvCxnSpPr>
        <p:spPr>
          <a:xfrm>
            <a:off x="712382" y="5020984"/>
            <a:ext cx="2343892" cy="0"/>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38" name="Tekstvak 34">
            <a:extLst>
              <a:ext uri="{FF2B5EF4-FFF2-40B4-BE49-F238E27FC236}">
                <a16:creationId xmlns:a16="http://schemas.microsoft.com/office/drawing/2014/main" id="{927938E4-1001-C204-365D-50D5985CE3E1}"/>
              </a:ext>
            </a:extLst>
          </p:cNvPr>
          <p:cNvSpPr txBox="1"/>
          <p:nvPr/>
        </p:nvSpPr>
        <p:spPr>
          <a:xfrm>
            <a:off x="722705" y="4704460"/>
            <a:ext cx="2339472" cy="256850"/>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i="0" u="none" strike="noStrike" kern="1200" cap="none" spc="0" normalizeH="0" baseline="0" noProof="0" dirty="0">
                <a:ln>
                  <a:noFill/>
                </a:ln>
                <a:solidFill>
                  <a:srgbClr val="FFA726"/>
                </a:solidFill>
                <a:effectLst/>
                <a:uLnTx/>
                <a:uFillTx/>
                <a:latin typeface="Raleway"/>
                <a:ea typeface="+mn-ea"/>
                <a:cs typeface="+mn-cs"/>
              </a:rPr>
              <a:t>KEY RESPONSIBILITIES</a:t>
            </a:r>
          </a:p>
        </p:txBody>
      </p:sp>
      <p:cxnSp>
        <p:nvCxnSpPr>
          <p:cNvPr id="39" name="Rechte verbindingslijn 37">
            <a:extLst>
              <a:ext uri="{FF2B5EF4-FFF2-40B4-BE49-F238E27FC236}">
                <a16:creationId xmlns:a16="http://schemas.microsoft.com/office/drawing/2014/main" id="{A20666D2-D55E-F57E-6FF7-43CBDBB79153}"/>
              </a:ext>
            </a:extLst>
          </p:cNvPr>
          <p:cNvCxnSpPr>
            <a:cxnSpLocks/>
          </p:cNvCxnSpPr>
          <p:nvPr/>
        </p:nvCxnSpPr>
        <p:spPr>
          <a:xfrm>
            <a:off x="3327991" y="5020984"/>
            <a:ext cx="2636296" cy="0"/>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
        <p:nvSpPr>
          <p:cNvPr id="40" name="Tekstvak 34">
            <a:extLst>
              <a:ext uri="{FF2B5EF4-FFF2-40B4-BE49-F238E27FC236}">
                <a16:creationId xmlns:a16="http://schemas.microsoft.com/office/drawing/2014/main" id="{90ABE016-F0FB-99D3-0282-72497E484B2C}"/>
              </a:ext>
            </a:extLst>
          </p:cNvPr>
          <p:cNvSpPr txBox="1"/>
          <p:nvPr/>
        </p:nvSpPr>
        <p:spPr>
          <a:xfrm>
            <a:off x="3338313" y="4704460"/>
            <a:ext cx="2636295" cy="256850"/>
          </a:xfrm>
          <a:prstGeom prst="rect">
            <a:avLst/>
          </a:prstGeom>
          <a:noFill/>
        </p:spPr>
        <p:txBody>
          <a:bodyPr wrap="square" tIns="36000">
            <a:noAutofit/>
          </a:bodyPr>
          <a:lstStyle/>
          <a:p>
            <a:pPr marL="0" marR="0" lvl="0" indent="0" algn="ctr" defTabSz="914400" rtl="0" eaLnBrk="1" fontAlgn="auto" latinLnBrk="0" hangingPunct="1">
              <a:lnSpc>
                <a:spcPct val="100000"/>
              </a:lnSpc>
              <a:spcBef>
                <a:spcPts val="600"/>
              </a:spcBef>
              <a:spcAft>
                <a:spcPts val="600"/>
              </a:spcAft>
              <a:buClr>
                <a:srgbClr val="90CEF1"/>
              </a:buClr>
              <a:buSzPct val="100000"/>
              <a:buFontTx/>
              <a:buNone/>
              <a:tabLst/>
              <a:defRPr/>
            </a:pPr>
            <a:r>
              <a:rPr kumimoji="0" lang="en-US" sz="1100" i="0" u="none" strike="noStrike" kern="1200" cap="none" spc="0" normalizeH="0" baseline="0" noProof="0" dirty="0">
                <a:ln>
                  <a:noFill/>
                </a:ln>
                <a:solidFill>
                  <a:srgbClr val="FFA726"/>
                </a:solidFill>
                <a:effectLst/>
                <a:uLnTx/>
                <a:uFillTx/>
                <a:latin typeface="Raleway"/>
                <a:ea typeface="+mn-ea"/>
                <a:cs typeface="+mn-cs"/>
              </a:rPr>
              <a:t>COMPOSITION</a:t>
            </a:r>
          </a:p>
        </p:txBody>
      </p:sp>
      <p:pic>
        <p:nvPicPr>
          <p:cNvPr id="41" name="Graphic 40">
            <a:extLst>
              <a:ext uri="{FF2B5EF4-FFF2-40B4-BE49-F238E27FC236}">
                <a16:creationId xmlns:a16="http://schemas.microsoft.com/office/drawing/2014/main" id="{7B655DCC-6580-36D3-803C-2021D05EE084}"/>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2266629" y="4142424"/>
            <a:ext cx="380880" cy="380880"/>
          </a:xfrm>
          <a:prstGeom prst="rect">
            <a:avLst/>
          </a:prstGeom>
        </p:spPr>
      </p:pic>
      <p:sp>
        <p:nvSpPr>
          <p:cNvPr id="45" name="TextBox 17">
            <a:extLst>
              <a:ext uri="{FF2B5EF4-FFF2-40B4-BE49-F238E27FC236}">
                <a16:creationId xmlns:a16="http://schemas.microsoft.com/office/drawing/2014/main" id="{5173591C-0DCE-8CA8-E72C-9DE94DEF237F}"/>
              </a:ext>
            </a:extLst>
          </p:cNvPr>
          <p:cNvSpPr txBox="1"/>
          <p:nvPr/>
        </p:nvSpPr>
        <p:spPr>
          <a:xfrm>
            <a:off x="6458113" y="1919460"/>
            <a:ext cx="5411366" cy="4175920"/>
          </a:xfrm>
          <a:prstGeom prst="roundRect">
            <a:avLst>
              <a:gd name="adj" fmla="val 5589"/>
            </a:avLst>
          </a:prstGeom>
          <a:solidFill>
            <a:srgbClr val="173E55"/>
          </a:solidFill>
        </p:spPr>
        <p:txBody>
          <a:bodyPr wrap="square" lIns="180000" tIns="36000" rIns="180000" bIns="36000" anchor="ctr" anchorCtr="0">
            <a:noAutofit/>
          </a:bodyPr>
          <a:lstStyle>
            <a:defPPr>
              <a:defRPr lang="en-US"/>
            </a:defPPr>
            <a:lvl1pPr indent="0" algn="ctr">
              <a:lnSpc>
                <a:spcPct val="130000"/>
              </a:lnSpc>
              <a:spcBef>
                <a:spcPts val="0"/>
              </a:spcBef>
              <a:buClr>
                <a:srgbClr val="00549A"/>
              </a:buClr>
              <a:buSzPct val="150000"/>
              <a:buNone/>
              <a:defRPr sz="1600" b="1">
                <a:solidFill>
                  <a:schemeClr val="bg2"/>
                </a:solidFill>
                <a:ea typeface="Open Sans" panose="020B0606030504020204" pitchFamily="34" charset="0"/>
                <a:cs typeface="Open Sans" panose="020B0606030504020204" pitchFamily="34" charset="0"/>
              </a:defRPr>
            </a:lvl1pPr>
          </a:lstStyle>
          <a:p>
            <a:pPr algn="l">
              <a:defRPr/>
            </a:pPr>
            <a:r>
              <a:rPr kumimoji="0" lang="en-GB" b="1" i="0" u="none" strike="noStrike" kern="1200" cap="none" spc="0" normalizeH="0" baseline="0" noProof="0" dirty="0">
                <a:ln>
                  <a:noFill/>
                </a:ln>
                <a:solidFill>
                  <a:srgbClr val="FFB703"/>
                </a:solidFill>
                <a:effectLst/>
                <a:uLnTx/>
                <a:uFillTx/>
                <a:latin typeface="Raleway"/>
                <a:ea typeface="+mn-ea"/>
                <a:cs typeface="+mn-cs"/>
              </a:rPr>
              <a:t>Governance Highlights</a:t>
            </a:r>
            <a:endParaRPr kumimoji="0" lang="en-GB" b="1" i="0" u="none" strike="noStrike" kern="1200" cap="none" spc="0" normalizeH="0" baseline="0" noProof="0" dirty="0">
              <a:ln>
                <a:noFill/>
              </a:ln>
              <a:solidFill>
                <a:srgbClr val="FFC000"/>
              </a:solidFill>
              <a:effectLst/>
              <a:uLnTx/>
              <a:uFillTx/>
              <a:latin typeface="Raleway"/>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The vehicle is being designed with a comprehensive governance structure.</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As part of the vehicle structure and aligned to the transaction process, committees  will be put in place:</a:t>
            </a:r>
          </a:p>
          <a:p>
            <a:pPr marL="742950" marR="0" lvl="1"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Investment Committee (post-DD) </a:t>
            </a:r>
          </a:p>
          <a:p>
            <a:pPr marL="742950" marR="0" lvl="1" indent="-285750" algn="just"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Portfolio and Risk Committee (post transaction approval).  </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1200" b="0" i="0" u="none" strike="noStrike" kern="1200" cap="none" spc="0" normalizeH="0" baseline="0" noProof="0" dirty="0">
              <a:ln>
                <a:noFill/>
              </a:ln>
              <a:solidFill>
                <a:prstClr val="white"/>
              </a:solidFill>
              <a:effectLst/>
              <a:uLnTx/>
              <a:uFillTx/>
              <a:latin typeface="Open Sans"/>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Incentives aligned with fund performance, ESG and impact criteria.</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Independent Risk and Compliance overseeing performance, risk exposure and alignment with diversification limits.</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Quarterly reporting and audited financials will be planned for.</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Independent Reviews and verifications will be planned for, to assess both the vehicle, as well as transactions.</a:t>
            </a:r>
          </a:p>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1200" b="0" i="0" u="none" strike="noStrike" kern="1200" cap="none" spc="0" normalizeH="0" baseline="0" noProof="0" dirty="0">
                <a:ln>
                  <a:noFill/>
                </a:ln>
                <a:solidFill>
                  <a:prstClr val="white"/>
                </a:solidFill>
                <a:effectLst/>
                <a:uLnTx/>
                <a:uFillTx/>
                <a:latin typeface="Open Sans"/>
                <a:ea typeface="+mn-ea"/>
                <a:cs typeface="+mn-cs"/>
              </a:rPr>
              <a:t>Active communication about successes and lessons learnt.</a:t>
            </a:r>
            <a:endParaRPr kumimoji="0" lang="en-KE" sz="1200" b="0" i="0" u="none" strike="noStrike" kern="1200" cap="none" spc="0" normalizeH="0" baseline="0" noProof="0">
              <a:ln>
                <a:noFill/>
              </a:ln>
              <a:solidFill>
                <a:prstClr val="white"/>
              </a:solidFill>
              <a:effectLst/>
              <a:uLnTx/>
              <a:uFillTx/>
              <a:latin typeface="Open Sans"/>
              <a:ea typeface="+mn-ea"/>
              <a:cs typeface="+mn-cs"/>
            </a:endParaRPr>
          </a:p>
        </p:txBody>
      </p:sp>
    </p:spTree>
    <p:extLst>
      <p:ext uri="{BB962C8B-B14F-4D97-AF65-F5344CB8AC3E}">
        <p14:creationId xmlns:p14="http://schemas.microsoft.com/office/powerpoint/2010/main" val="1542685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Call to Action</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5">
            <a:extLst>
              <a:ext uri="{FF2B5EF4-FFF2-40B4-BE49-F238E27FC236}">
                <a16:creationId xmlns:a16="http://schemas.microsoft.com/office/drawing/2014/main" id="{4D013BAA-FDB1-16F2-B067-7F84C42A39E2}"/>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Tree>
    <p:extLst>
      <p:ext uri="{BB962C8B-B14F-4D97-AF65-F5344CB8AC3E}">
        <p14:creationId xmlns:p14="http://schemas.microsoft.com/office/powerpoint/2010/main" val="2972474303"/>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7" name="TextBox 37">
            <a:extLst>
              <a:ext uri="{FF2B5EF4-FFF2-40B4-BE49-F238E27FC236}">
                <a16:creationId xmlns:a16="http://schemas.microsoft.com/office/drawing/2014/main" id="{216BD00B-AC5A-A01C-1173-540896C11D94}"/>
              </a:ext>
            </a:extLst>
          </p:cNvPr>
          <p:cNvSpPr txBox="1"/>
          <p:nvPr/>
        </p:nvSpPr>
        <p:spPr>
          <a:xfrm>
            <a:off x="631891" y="2177912"/>
            <a:ext cx="1951821" cy="1562959"/>
          </a:xfrm>
          <a:prstGeom prst="roundRect">
            <a:avLst>
              <a:gd name="adj" fmla="val 9052"/>
            </a:avLst>
          </a:prstGeom>
          <a:solidFill>
            <a:srgbClr val="B7D6E1"/>
          </a:solidFill>
        </p:spPr>
        <p:txBody>
          <a:bodyPr wrap="square" lIns="72000" rIns="216000" bIns="108000" numCol="1" spcCol="108000" rtlCol="0" anchor="ctr" anchorCtr="0">
            <a:noAutofit/>
          </a:bodyPr>
          <a:lstStyle/>
          <a:p>
            <a:pPr>
              <a:defRPr/>
            </a:pPr>
            <a:endParaRPr kumimoji="0" lang="en-US" sz="1200" b="0" i="0" u="none" strike="noStrike" kern="1200" cap="none" spc="0" normalizeH="0" baseline="0" noProof="0" dirty="0">
              <a:ln>
                <a:noFill/>
              </a:ln>
              <a:solidFill>
                <a:srgbClr val="F3F1ED"/>
              </a:solidFill>
              <a:effectLst/>
              <a:uLnTx/>
              <a:uFillTx/>
              <a:latin typeface="Open Sans"/>
              <a:ea typeface="+mn-ea"/>
              <a:cs typeface="+mn-cs"/>
            </a:endParaRPr>
          </a:p>
        </p:txBody>
      </p:sp>
      <p:sp>
        <p:nvSpPr>
          <p:cNvPr id="8" name="TextBox 37">
            <a:extLst>
              <a:ext uri="{FF2B5EF4-FFF2-40B4-BE49-F238E27FC236}">
                <a16:creationId xmlns:a16="http://schemas.microsoft.com/office/drawing/2014/main" id="{4C6805B8-E82B-0A2A-B3E9-F5B0C6BAAC07}"/>
              </a:ext>
            </a:extLst>
          </p:cNvPr>
          <p:cNvSpPr txBox="1"/>
          <p:nvPr/>
        </p:nvSpPr>
        <p:spPr>
          <a:xfrm>
            <a:off x="2831014" y="2177912"/>
            <a:ext cx="2935622" cy="1562959"/>
          </a:xfrm>
          <a:prstGeom prst="roundRect">
            <a:avLst>
              <a:gd name="adj" fmla="val 9052"/>
            </a:avLst>
          </a:prstGeom>
          <a:solidFill>
            <a:srgbClr val="B7D6E1"/>
          </a:solidFill>
        </p:spPr>
        <p:txBody>
          <a:bodyPr wrap="square" lIns="72000" rIns="216000" bIns="108000" numCol="1" spcCol="108000" rtlCol="0" anchor="ctr" anchorCtr="0">
            <a:noAutofit/>
          </a:bodyPr>
          <a:lstStyle/>
          <a:p>
            <a:pPr>
              <a:defRPr/>
            </a:pPr>
            <a:endParaRPr kumimoji="0" lang="en-US" sz="1200" b="0" i="0" u="none" strike="noStrike" kern="1200" cap="none" spc="0" normalizeH="0" baseline="0" noProof="0" dirty="0">
              <a:ln>
                <a:noFill/>
              </a:ln>
              <a:solidFill>
                <a:srgbClr val="F3F1ED"/>
              </a:solidFill>
              <a:effectLst/>
              <a:uLnTx/>
              <a:uFillTx/>
              <a:latin typeface="Open Sans"/>
              <a:ea typeface="+mn-ea"/>
              <a:cs typeface="+mn-cs"/>
            </a:endParaRPr>
          </a:p>
        </p:txBody>
      </p:sp>
      <p:sp>
        <p:nvSpPr>
          <p:cNvPr id="9" name="TextBox 37">
            <a:extLst>
              <a:ext uri="{FF2B5EF4-FFF2-40B4-BE49-F238E27FC236}">
                <a16:creationId xmlns:a16="http://schemas.microsoft.com/office/drawing/2014/main" id="{911A6E6B-B4DF-D71C-F548-DF11F560441C}"/>
              </a:ext>
            </a:extLst>
          </p:cNvPr>
          <p:cNvSpPr txBox="1"/>
          <p:nvPr/>
        </p:nvSpPr>
        <p:spPr>
          <a:xfrm>
            <a:off x="6013935" y="2177912"/>
            <a:ext cx="2935621" cy="1562959"/>
          </a:xfrm>
          <a:prstGeom prst="roundRect">
            <a:avLst>
              <a:gd name="adj" fmla="val 9052"/>
            </a:avLst>
          </a:prstGeom>
          <a:solidFill>
            <a:srgbClr val="B7D6E1"/>
          </a:solidFill>
        </p:spPr>
        <p:txBody>
          <a:bodyPr wrap="square" lIns="72000" rIns="216000" bIns="108000" numCol="1" spcCol="108000" rtlCol="0" anchor="ctr" anchorCtr="0">
            <a:noAutofit/>
          </a:bodyPr>
          <a:lstStyle/>
          <a:p>
            <a:pPr>
              <a:defRPr/>
            </a:pPr>
            <a:endParaRPr kumimoji="0" lang="en-US" sz="1200" b="0" i="0" u="none" strike="noStrike" kern="1200" cap="none" spc="0" normalizeH="0" baseline="0" noProof="0" dirty="0">
              <a:ln>
                <a:noFill/>
              </a:ln>
              <a:solidFill>
                <a:srgbClr val="F3F1ED"/>
              </a:solidFill>
              <a:effectLst/>
              <a:uLnTx/>
              <a:uFillTx/>
              <a:latin typeface="Open Sans"/>
              <a:ea typeface="+mn-ea"/>
              <a:cs typeface="+mn-cs"/>
            </a:endParaRPr>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Roadmap and Risks</a:t>
            </a: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 name="Tijdelijke aanduiding voor tekst 28">
            <a:extLst>
              <a:ext uri="{FF2B5EF4-FFF2-40B4-BE49-F238E27FC236}">
                <a16:creationId xmlns:a16="http://schemas.microsoft.com/office/drawing/2014/main" id="{3CA99D44-B47A-D559-D106-CF059826421B}"/>
              </a:ext>
            </a:extLst>
          </p:cNvPr>
          <p:cNvSpPr txBox="1">
            <a:spLocks/>
          </p:cNvSpPr>
          <p:nvPr/>
        </p:nvSpPr>
        <p:spPr>
          <a:xfrm>
            <a:off x="722705" y="2344776"/>
            <a:ext cx="1861007" cy="61099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pPr>
            <a:r>
              <a:rPr lang="nl-NL" sz="1600" b="1" dirty="0">
                <a:solidFill>
                  <a:srgbClr val="004D7A"/>
                </a:solidFill>
                <a:latin typeface="+mj-lt"/>
              </a:rPr>
              <a:t>Memorandum of Understanding (MOU)</a:t>
            </a:r>
          </a:p>
        </p:txBody>
      </p:sp>
      <p:sp>
        <p:nvSpPr>
          <p:cNvPr id="5" name="Tijdelijke aanduiding voor tekst 29">
            <a:extLst>
              <a:ext uri="{FF2B5EF4-FFF2-40B4-BE49-F238E27FC236}">
                <a16:creationId xmlns:a16="http://schemas.microsoft.com/office/drawing/2014/main" id="{0ACC9359-1861-B556-05D6-00491FD67AD0}"/>
              </a:ext>
            </a:extLst>
          </p:cNvPr>
          <p:cNvSpPr txBox="1">
            <a:spLocks/>
          </p:cNvSpPr>
          <p:nvPr/>
        </p:nvSpPr>
        <p:spPr>
          <a:xfrm>
            <a:off x="6038942" y="2344776"/>
            <a:ext cx="2910614" cy="3582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600" b="1" dirty="0">
                <a:solidFill>
                  <a:srgbClr val="004D7A"/>
                </a:solidFill>
                <a:latin typeface="+mj-lt"/>
              </a:rPr>
              <a:t>Facility</a:t>
            </a:r>
          </a:p>
        </p:txBody>
      </p:sp>
      <p:sp>
        <p:nvSpPr>
          <p:cNvPr id="6" name="Tijdelijke aanduiding voor tekst 30">
            <a:extLst>
              <a:ext uri="{FF2B5EF4-FFF2-40B4-BE49-F238E27FC236}">
                <a16:creationId xmlns:a16="http://schemas.microsoft.com/office/drawing/2014/main" id="{2269BFAE-E7E4-8696-B9E7-C12B2C7147EC}"/>
              </a:ext>
            </a:extLst>
          </p:cNvPr>
          <p:cNvSpPr txBox="1">
            <a:spLocks/>
          </p:cNvSpPr>
          <p:nvPr/>
        </p:nvSpPr>
        <p:spPr>
          <a:xfrm>
            <a:off x="2831012" y="2344776"/>
            <a:ext cx="2929520" cy="35823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600" b="1" dirty="0" err="1">
                <a:solidFill>
                  <a:srgbClr val="004D7A"/>
                </a:solidFill>
                <a:latin typeface="+mj-lt"/>
              </a:rPr>
              <a:t>Feasibility</a:t>
            </a:r>
            <a:r>
              <a:rPr lang="nl-NL" sz="1600" b="1" dirty="0">
                <a:solidFill>
                  <a:srgbClr val="004D7A"/>
                </a:solidFill>
                <a:latin typeface="+mj-lt"/>
              </a:rPr>
              <a:t> </a:t>
            </a:r>
          </a:p>
        </p:txBody>
      </p:sp>
      <p:sp>
        <p:nvSpPr>
          <p:cNvPr id="27" name="Tijdelijke aanduiding voor tekst 27">
            <a:extLst>
              <a:ext uri="{FF2B5EF4-FFF2-40B4-BE49-F238E27FC236}">
                <a16:creationId xmlns:a16="http://schemas.microsoft.com/office/drawing/2014/main" id="{25B5E282-256F-AA7F-8C49-0A6855125AF5}"/>
              </a:ext>
            </a:extLst>
          </p:cNvPr>
          <p:cNvSpPr txBox="1">
            <a:spLocks/>
          </p:cNvSpPr>
          <p:nvPr/>
        </p:nvSpPr>
        <p:spPr>
          <a:xfrm>
            <a:off x="810209" y="4344729"/>
            <a:ext cx="1699075" cy="1257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buNone/>
            </a:pPr>
            <a:r>
              <a:rPr lang="nl-NL" sz="900" dirty="0"/>
              <a:t>Support &amp; set up </a:t>
            </a:r>
            <a:br>
              <a:rPr lang="nl-NL" sz="900" dirty="0"/>
            </a:br>
            <a:r>
              <a:rPr lang="nl-NL" sz="900" dirty="0"/>
              <a:t>(</a:t>
            </a:r>
            <a:r>
              <a:rPr lang="nl-NL" sz="900" dirty="0" err="1"/>
              <a:t>Now</a:t>
            </a:r>
            <a:r>
              <a:rPr lang="nl-NL" sz="900" dirty="0"/>
              <a:t>–Sept. ‘25)</a:t>
            </a:r>
          </a:p>
          <a:p>
            <a:pPr marL="0" lvl="0" indent="0" algn="ctr">
              <a:lnSpc>
                <a:spcPct val="100000"/>
              </a:lnSpc>
              <a:buNone/>
            </a:pPr>
            <a:r>
              <a:rPr lang="nl-NL" sz="900" dirty="0" err="1"/>
              <a:t>MoU</a:t>
            </a:r>
            <a:r>
              <a:rPr lang="nl-NL" sz="900" dirty="0"/>
              <a:t>, </a:t>
            </a:r>
            <a:r>
              <a:rPr lang="nl-NL" sz="900" dirty="0" err="1"/>
              <a:t>governance</a:t>
            </a:r>
            <a:r>
              <a:rPr lang="nl-NL" sz="900" dirty="0"/>
              <a:t>, partnership </a:t>
            </a:r>
            <a:r>
              <a:rPr lang="nl-NL" sz="900" dirty="0" err="1"/>
              <a:t>announcement</a:t>
            </a:r>
            <a:endParaRPr lang="nl-NL" sz="900" dirty="0"/>
          </a:p>
          <a:p>
            <a:pPr marL="0" lvl="0" indent="0" algn="ctr">
              <a:lnSpc>
                <a:spcPct val="100000"/>
              </a:lnSpc>
              <a:buNone/>
            </a:pPr>
            <a:endParaRPr lang="nl-NL" sz="900" dirty="0"/>
          </a:p>
          <a:p>
            <a:pPr marL="0" lvl="0" indent="0" algn="ctr">
              <a:lnSpc>
                <a:spcPct val="100000"/>
              </a:lnSpc>
              <a:buNone/>
            </a:pPr>
            <a:endParaRPr lang="nl-NL" sz="900" dirty="0"/>
          </a:p>
        </p:txBody>
      </p:sp>
      <p:sp>
        <p:nvSpPr>
          <p:cNvPr id="28" name="Tijdelijke aanduiding voor tekst 31">
            <a:extLst>
              <a:ext uri="{FF2B5EF4-FFF2-40B4-BE49-F238E27FC236}">
                <a16:creationId xmlns:a16="http://schemas.microsoft.com/office/drawing/2014/main" id="{CA6211F5-0B44-57D3-24B8-063B42C77E0F}"/>
              </a:ext>
            </a:extLst>
          </p:cNvPr>
          <p:cNvSpPr txBox="1">
            <a:spLocks/>
          </p:cNvSpPr>
          <p:nvPr/>
        </p:nvSpPr>
        <p:spPr>
          <a:xfrm>
            <a:off x="722706" y="3890418"/>
            <a:ext cx="1857070" cy="3716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600" b="1">
                <a:solidFill>
                  <a:srgbClr val="B7D6E1"/>
                </a:solidFill>
                <a:latin typeface="+mj-lt"/>
              </a:rPr>
              <a:t>Phase 0</a:t>
            </a:r>
            <a:endParaRPr lang="nl-NL" sz="1600" b="1" dirty="0">
              <a:solidFill>
                <a:srgbClr val="B7D6E1"/>
              </a:solidFill>
              <a:latin typeface="+mj-lt"/>
            </a:endParaRPr>
          </a:p>
        </p:txBody>
      </p:sp>
      <p:sp>
        <p:nvSpPr>
          <p:cNvPr id="30" name="Tijdelijke aanduiding voor tekst 33">
            <a:extLst>
              <a:ext uri="{FF2B5EF4-FFF2-40B4-BE49-F238E27FC236}">
                <a16:creationId xmlns:a16="http://schemas.microsoft.com/office/drawing/2014/main" id="{B58E1D98-ED97-16A6-D2A1-41943C52716D}"/>
              </a:ext>
            </a:extLst>
          </p:cNvPr>
          <p:cNvSpPr txBox="1">
            <a:spLocks/>
          </p:cNvSpPr>
          <p:nvPr/>
        </p:nvSpPr>
        <p:spPr>
          <a:xfrm>
            <a:off x="2837116" y="3870993"/>
            <a:ext cx="2929520" cy="3716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600" b="1" dirty="0">
                <a:solidFill>
                  <a:srgbClr val="B7D6E1"/>
                </a:solidFill>
                <a:latin typeface="+mj-lt"/>
              </a:rPr>
              <a:t>Q 1/2 2026</a:t>
            </a:r>
          </a:p>
        </p:txBody>
      </p:sp>
      <p:sp>
        <p:nvSpPr>
          <p:cNvPr id="31" name="Tijdelijke aanduiding voor tekst 34">
            <a:extLst>
              <a:ext uri="{FF2B5EF4-FFF2-40B4-BE49-F238E27FC236}">
                <a16:creationId xmlns:a16="http://schemas.microsoft.com/office/drawing/2014/main" id="{59CA9013-D16D-8611-BB4B-210EE1E10D41}"/>
              </a:ext>
            </a:extLst>
          </p:cNvPr>
          <p:cNvSpPr txBox="1">
            <a:spLocks/>
          </p:cNvSpPr>
          <p:nvPr/>
        </p:nvSpPr>
        <p:spPr>
          <a:xfrm>
            <a:off x="5966814" y="3870993"/>
            <a:ext cx="1431286" cy="3716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600" b="1" dirty="0">
                <a:solidFill>
                  <a:srgbClr val="B7D6E1"/>
                </a:solidFill>
                <a:latin typeface="+mj-lt"/>
              </a:rPr>
              <a:t>Q 1/3 2026</a:t>
            </a:r>
          </a:p>
        </p:txBody>
      </p:sp>
      <p:sp>
        <p:nvSpPr>
          <p:cNvPr id="33" name="Tijdelijke aanduiding voor tekst 36">
            <a:extLst>
              <a:ext uri="{FF2B5EF4-FFF2-40B4-BE49-F238E27FC236}">
                <a16:creationId xmlns:a16="http://schemas.microsoft.com/office/drawing/2014/main" id="{57D2848B-FA6B-BA3D-85A7-9F6600826967}"/>
              </a:ext>
            </a:extLst>
          </p:cNvPr>
          <p:cNvSpPr txBox="1">
            <a:spLocks/>
          </p:cNvSpPr>
          <p:nvPr/>
        </p:nvSpPr>
        <p:spPr>
          <a:xfrm>
            <a:off x="2783986" y="4344729"/>
            <a:ext cx="1494964" cy="1257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buNone/>
            </a:pPr>
            <a:r>
              <a:rPr lang="nl-NL" sz="900" dirty="0"/>
              <a:t>Corporate engagement </a:t>
            </a:r>
            <a:br>
              <a:rPr lang="nl-NL" sz="900" dirty="0"/>
            </a:br>
            <a:r>
              <a:rPr lang="nl-NL" sz="900" dirty="0" err="1"/>
              <a:t>and</a:t>
            </a:r>
            <a:r>
              <a:rPr lang="nl-NL" sz="900" dirty="0"/>
              <a:t> </a:t>
            </a:r>
            <a:r>
              <a:rPr lang="nl-NL" sz="900" dirty="0" err="1"/>
              <a:t>alignment</a:t>
            </a:r>
            <a:r>
              <a:rPr lang="nl-NL" sz="900" dirty="0"/>
              <a:t> 6 </a:t>
            </a:r>
            <a:r>
              <a:rPr lang="nl-NL" sz="900" dirty="0" err="1"/>
              <a:t>months</a:t>
            </a:r>
            <a:endParaRPr lang="nl-NL" sz="900" dirty="0"/>
          </a:p>
          <a:p>
            <a:pPr marL="0" lvl="0" indent="0" algn="ctr">
              <a:lnSpc>
                <a:spcPct val="100000"/>
              </a:lnSpc>
              <a:buNone/>
            </a:pPr>
            <a:r>
              <a:rPr lang="nl-NL" sz="900" dirty="0" err="1"/>
              <a:t>Activate</a:t>
            </a:r>
            <a:r>
              <a:rPr lang="nl-NL" sz="900" dirty="0"/>
              <a:t> corporate engagement, workshops, </a:t>
            </a:r>
            <a:r>
              <a:rPr lang="nl-NL" sz="900" dirty="0" err="1"/>
              <a:t>identify</a:t>
            </a:r>
            <a:r>
              <a:rPr lang="nl-NL" sz="900" dirty="0"/>
              <a:t> investment </a:t>
            </a:r>
            <a:r>
              <a:rPr lang="nl-NL" sz="900" dirty="0" err="1"/>
              <a:t>priorities</a:t>
            </a:r>
            <a:r>
              <a:rPr lang="nl-NL" sz="900" dirty="0"/>
              <a:t> </a:t>
            </a:r>
            <a:r>
              <a:rPr lang="nl-NL" sz="900" dirty="0" err="1"/>
              <a:t>and</a:t>
            </a:r>
            <a:r>
              <a:rPr lang="nl-NL" sz="900" dirty="0"/>
              <a:t> pipeline</a:t>
            </a:r>
          </a:p>
          <a:p>
            <a:pPr marL="0" lvl="0" indent="0" algn="ctr">
              <a:lnSpc>
                <a:spcPct val="100000"/>
              </a:lnSpc>
              <a:buNone/>
            </a:pPr>
            <a:endParaRPr lang="nl-NL" sz="900" dirty="0"/>
          </a:p>
          <a:p>
            <a:pPr marL="0" lvl="0" indent="0" algn="ctr">
              <a:lnSpc>
                <a:spcPct val="100000"/>
              </a:lnSpc>
              <a:buNone/>
            </a:pPr>
            <a:endParaRPr lang="nl-NL" sz="900" dirty="0"/>
          </a:p>
        </p:txBody>
      </p:sp>
      <p:sp>
        <p:nvSpPr>
          <p:cNvPr id="34" name="Tijdelijke aanduiding voor tekst 37">
            <a:extLst>
              <a:ext uri="{FF2B5EF4-FFF2-40B4-BE49-F238E27FC236}">
                <a16:creationId xmlns:a16="http://schemas.microsoft.com/office/drawing/2014/main" id="{01EEFB8D-3FCE-1B74-580C-7BAC9F2AE436}"/>
              </a:ext>
            </a:extLst>
          </p:cNvPr>
          <p:cNvSpPr txBox="1">
            <a:spLocks/>
          </p:cNvSpPr>
          <p:nvPr/>
        </p:nvSpPr>
        <p:spPr>
          <a:xfrm>
            <a:off x="4206547" y="4344729"/>
            <a:ext cx="1546695" cy="1257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buNone/>
            </a:pPr>
            <a:r>
              <a:rPr lang="nl-NL" sz="900" dirty="0"/>
              <a:t>Corporate water investment facility </a:t>
            </a:r>
            <a:r>
              <a:rPr lang="nl-NL" sz="900" dirty="0" err="1"/>
              <a:t>proposal</a:t>
            </a:r>
            <a:r>
              <a:rPr lang="nl-NL" sz="900" dirty="0"/>
              <a:t> (6 </a:t>
            </a:r>
            <a:r>
              <a:rPr lang="nl-NL" sz="900" dirty="0" err="1"/>
              <a:t>months</a:t>
            </a:r>
            <a:r>
              <a:rPr lang="nl-NL" sz="900" dirty="0"/>
              <a:t>)</a:t>
            </a:r>
          </a:p>
          <a:p>
            <a:pPr marL="0" lvl="0" indent="0" algn="ctr">
              <a:lnSpc>
                <a:spcPct val="100000"/>
              </a:lnSpc>
              <a:buNone/>
            </a:pPr>
            <a:r>
              <a:rPr lang="nl-NL" sz="900" dirty="0" err="1"/>
              <a:t>Basin</a:t>
            </a:r>
            <a:r>
              <a:rPr lang="nl-NL" sz="900" dirty="0"/>
              <a:t> priority </a:t>
            </a:r>
            <a:r>
              <a:rPr lang="nl-NL" sz="900" dirty="0" err="1"/>
              <a:t>mapping</a:t>
            </a:r>
            <a:r>
              <a:rPr lang="nl-NL" sz="900" dirty="0"/>
              <a:t>, investment opportunity </a:t>
            </a:r>
            <a:r>
              <a:rPr lang="nl-NL" sz="900" dirty="0" err="1"/>
              <a:t>selection</a:t>
            </a:r>
            <a:r>
              <a:rPr lang="nl-NL" sz="900" dirty="0"/>
              <a:t> </a:t>
            </a:r>
            <a:r>
              <a:rPr lang="nl-NL" sz="900" dirty="0" err="1"/>
              <a:t>and</a:t>
            </a:r>
            <a:r>
              <a:rPr lang="nl-NL" sz="900" dirty="0"/>
              <a:t> </a:t>
            </a:r>
            <a:r>
              <a:rPr lang="nl-NL" sz="900" dirty="0" err="1"/>
              <a:t>briefs</a:t>
            </a:r>
            <a:r>
              <a:rPr lang="nl-NL" sz="900" dirty="0"/>
              <a:t>, vehicle </a:t>
            </a:r>
            <a:r>
              <a:rPr lang="nl-NL" sz="900" dirty="0" err="1"/>
              <a:t>structure</a:t>
            </a:r>
            <a:r>
              <a:rPr lang="nl-NL" sz="900" dirty="0"/>
              <a:t> analysis </a:t>
            </a:r>
            <a:r>
              <a:rPr lang="nl-NL" sz="900" dirty="0" err="1"/>
              <a:t>and</a:t>
            </a:r>
            <a:r>
              <a:rPr lang="nl-NL" sz="900" dirty="0"/>
              <a:t> </a:t>
            </a:r>
            <a:r>
              <a:rPr lang="nl-NL" sz="900" dirty="0" err="1"/>
              <a:t>recommended</a:t>
            </a:r>
            <a:r>
              <a:rPr lang="nl-NL" sz="900" dirty="0"/>
              <a:t> plan </a:t>
            </a:r>
          </a:p>
          <a:p>
            <a:pPr marL="0" lvl="0" indent="0" algn="ctr">
              <a:lnSpc>
                <a:spcPct val="100000"/>
              </a:lnSpc>
              <a:buNone/>
            </a:pPr>
            <a:endParaRPr lang="nl-NL" sz="900" dirty="0"/>
          </a:p>
        </p:txBody>
      </p:sp>
      <p:sp>
        <p:nvSpPr>
          <p:cNvPr id="35" name="Tijdelijke aanduiding voor tekst 38">
            <a:extLst>
              <a:ext uri="{FF2B5EF4-FFF2-40B4-BE49-F238E27FC236}">
                <a16:creationId xmlns:a16="http://schemas.microsoft.com/office/drawing/2014/main" id="{0D6662A5-3799-4408-1266-B0AB0E4C64A4}"/>
              </a:ext>
            </a:extLst>
          </p:cNvPr>
          <p:cNvSpPr txBox="1">
            <a:spLocks/>
          </p:cNvSpPr>
          <p:nvPr/>
        </p:nvSpPr>
        <p:spPr>
          <a:xfrm>
            <a:off x="6028109" y="4344729"/>
            <a:ext cx="1431286" cy="1257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buNone/>
            </a:pPr>
            <a:r>
              <a:rPr lang="nl-NL" sz="900" dirty="0"/>
              <a:t>Facility development</a:t>
            </a:r>
            <a:br>
              <a:rPr lang="nl-NL" sz="900" dirty="0"/>
            </a:br>
            <a:br>
              <a:rPr lang="nl-NL" sz="900" dirty="0"/>
            </a:br>
            <a:r>
              <a:rPr lang="nl-NL" sz="900" dirty="0" err="1"/>
              <a:t>Structuring</a:t>
            </a:r>
            <a:r>
              <a:rPr lang="nl-NL" sz="900" dirty="0"/>
              <a:t> of facility, design of investment vehicle, </a:t>
            </a:r>
            <a:r>
              <a:rPr lang="nl-NL" sz="900" dirty="0" err="1"/>
              <a:t>launch</a:t>
            </a:r>
            <a:r>
              <a:rPr lang="nl-NL" sz="900" dirty="0"/>
              <a:t> of Information Memorandum</a:t>
            </a:r>
          </a:p>
          <a:p>
            <a:pPr marL="0" lvl="0" indent="0" algn="ctr">
              <a:lnSpc>
                <a:spcPct val="100000"/>
              </a:lnSpc>
              <a:buNone/>
            </a:pPr>
            <a:endParaRPr lang="nl-NL" sz="900" dirty="0"/>
          </a:p>
          <a:p>
            <a:pPr marL="0" lvl="0" indent="0" algn="ctr">
              <a:lnSpc>
                <a:spcPct val="100000"/>
              </a:lnSpc>
              <a:buNone/>
            </a:pPr>
            <a:endParaRPr lang="nl-NL" sz="900" dirty="0"/>
          </a:p>
        </p:txBody>
      </p:sp>
      <p:sp>
        <p:nvSpPr>
          <p:cNvPr id="36" name="Tijdelijke aanduiding voor tekst 39">
            <a:extLst>
              <a:ext uri="{FF2B5EF4-FFF2-40B4-BE49-F238E27FC236}">
                <a16:creationId xmlns:a16="http://schemas.microsoft.com/office/drawing/2014/main" id="{E4E2241D-5177-48FF-3B8B-352959FA8A86}"/>
              </a:ext>
            </a:extLst>
          </p:cNvPr>
          <p:cNvSpPr txBox="1">
            <a:spLocks/>
          </p:cNvSpPr>
          <p:nvPr/>
        </p:nvSpPr>
        <p:spPr>
          <a:xfrm>
            <a:off x="7525468" y="4344729"/>
            <a:ext cx="1431286" cy="1257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buNone/>
            </a:pPr>
            <a:r>
              <a:rPr lang="nl-NL" sz="900" dirty="0"/>
              <a:t>Facility </a:t>
            </a:r>
            <a:r>
              <a:rPr lang="nl-NL" sz="900" dirty="0" err="1"/>
              <a:t>implementation</a:t>
            </a:r>
            <a:br>
              <a:rPr lang="nl-NL" sz="900" dirty="0"/>
            </a:br>
            <a:br>
              <a:rPr lang="nl-NL" sz="900" dirty="0"/>
            </a:br>
            <a:r>
              <a:rPr lang="nl-NL" sz="900" dirty="0"/>
              <a:t>Investor </a:t>
            </a:r>
            <a:r>
              <a:rPr lang="nl-NL" sz="900" dirty="0" err="1"/>
              <a:t>onboarding</a:t>
            </a:r>
            <a:r>
              <a:rPr lang="nl-NL" sz="900" dirty="0"/>
              <a:t> </a:t>
            </a:r>
            <a:r>
              <a:rPr lang="nl-NL" sz="900" dirty="0" err="1"/>
              <a:t>and</a:t>
            </a:r>
            <a:r>
              <a:rPr lang="nl-NL" sz="900" dirty="0"/>
              <a:t> fund </a:t>
            </a:r>
            <a:r>
              <a:rPr lang="nl-NL" sz="900" dirty="0" err="1"/>
              <a:t>raising</a:t>
            </a:r>
            <a:endParaRPr lang="nl-NL" sz="900" dirty="0"/>
          </a:p>
        </p:txBody>
      </p:sp>
      <p:cxnSp>
        <p:nvCxnSpPr>
          <p:cNvPr id="37" name="Straight Connector 27">
            <a:extLst>
              <a:ext uri="{FF2B5EF4-FFF2-40B4-BE49-F238E27FC236}">
                <a16:creationId xmlns:a16="http://schemas.microsoft.com/office/drawing/2014/main" id="{DDABF794-BF5F-9CE4-C7C6-472767CDBFA2}"/>
              </a:ext>
            </a:extLst>
          </p:cNvPr>
          <p:cNvCxnSpPr>
            <a:cxnSpLocks/>
          </p:cNvCxnSpPr>
          <p:nvPr/>
        </p:nvCxnSpPr>
        <p:spPr>
          <a:xfrm>
            <a:off x="643781" y="4242621"/>
            <a:ext cx="1865503" cy="0"/>
          </a:xfrm>
          <a:prstGeom prst="line">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39" name="TextBox 37">
            <a:extLst>
              <a:ext uri="{FF2B5EF4-FFF2-40B4-BE49-F238E27FC236}">
                <a16:creationId xmlns:a16="http://schemas.microsoft.com/office/drawing/2014/main" id="{115B733E-9A69-72CE-BE8D-C4F81AF23D7E}"/>
              </a:ext>
            </a:extLst>
          </p:cNvPr>
          <p:cNvSpPr txBox="1"/>
          <p:nvPr/>
        </p:nvSpPr>
        <p:spPr>
          <a:xfrm>
            <a:off x="9229060" y="1616149"/>
            <a:ext cx="2600706" cy="4837695"/>
          </a:xfrm>
          <a:prstGeom prst="roundRect">
            <a:avLst>
              <a:gd name="adj" fmla="val 9052"/>
            </a:avLst>
          </a:prstGeom>
          <a:solidFill>
            <a:srgbClr val="F3F1ED"/>
          </a:solidFill>
        </p:spPr>
        <p:txBody>
          <a:bodyPr wrap="square" lIns="216000" rIns="216000" bIns="108000" numCol="1" spcCol="108000" rtlCol="0" anchor="ctr" anchorCtr="0">
            <a:noAutofit/>
          </a:bodyPr>
          <a:lstStyle/>
          <a:p>
            <a:pPr>
              <a:defRPr/>
            </a:pPr>
            <a:r>
              <a:rPr kumimoji="0" lang="en-GB" sz="1600" b="1" i="0" u="none" strike="noStrike" kern="1200" cap="none" spc="0" normalizeH="0" baseline="0" noProof="0" dirty="0">
                <a:ln>
                  <a:noFill/>
                </a:ln>
                <a:solidFill>
                  <a:srgbClr val="FFB703"/>
                </a:solidFill>
                <a:effectLst/>
                <a:uLnTx/>
                <a:uFillTx/>
                <a:latin typeface="Raleway"/>
                <a:ea typeface="+mn-ea"/>
                <a:cs typeface="+mn-cs"/>
              </a:rPr>
              <a:t>Highlighted risk areas</a:t>
            </a:r>
          </a:p>
          <a:p>
            <a:pPr>
              <a:defRPr/>
            </a:pPr>
            <a:r>
              <a:rPr kumimoji="0" lang="en-GB" sz="1600" b="1" i="0" u="none" strike="noStrike" kern="1200" cap="none" spc="0" normalizeH="0" baseline="0" noProof="0" dirty="0">
                <a:ln>
                  <a:noFill/>
                </a:ln>
                <a:solidFill>
                  <a:srgbClr val="FFB703"/>
                </a:solidFill>
                <a:effectLst/>
                <a:uLnTx/>
                <a:uFillTx/>
                <a:latin typeface="Raleway"/>
                <a:ea typeface="+mn-ea"/>
                <a:cs typeface="+mn-cs"/>
              </a:rPr>
              <a:t> </a:t>
            </a:r>
            <a:endParaRPr kumimoji="0" lang="en-GB" sz="1600" b="1" i="0" u="none" strike="noStrike" kern="1200" cap="none" spc="0" normalizeH="0" baseline="0" noProof="0" dirty="0">
              <a:ln>
                <a:noFill/>
              </a:ln>
              <a:solidFill>
                <a:srgbClr val="004D7A"/>
              </a:solidFill>
              <a:effectLst/>
              <a:uLnTx/>
              <a:uFillTx/>
              <a:latin typeface="Raleway"/>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The Facility’s Risk Management Framework will include the following components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4D7A"/>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Risk Appetite Statement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Policies and procedures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Key risk indicators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Governance in place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Tools and technology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4D7A"/>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Key areas of risks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4D7A"/>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Governance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Reputational</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Investment/credit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Foreign exchange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Operational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4D7A"/>
                </a:solidFill>
                <a:effectLst/>
                <a:uLnTx/>
                <a:uFillTx/>
                <a:latin typeface="Open Sans"/>
                <a:ea typeface="+mn-ea"/>
                <a:cs typeface="+mn-cs"/>
              </a:rPr>
              <a:t>Impact / ESG</a:t>
            </a:r>
            <a:endParaRPr kumimoji="0" lang="en-KE" sz="1200" b="0" i="0" u="none" strike="noStrike" kern="1200" cap="none" spc="0" normalizeH="0" baseline="0" noProof="0">
              <a:ln>
                <a:noFill/>
              </a:ln>
              <a:solidFill>
                <a:srgbClr val="004D7A"/>
              </a:solidFill>
              <a:effectLst/>
              <a:uLnTx/>
              <a:uFillTx/>
              <a:latin typeface="Open Sans"/>
              <a:ea typeface="+mn-ea"/>
              <a:cs typeface="+mn-cs"/>
            </a:endParaRPr>
          </a:p>
        </p:txBody>
      </p:sp>
      <p:sp>
        <p:nvSpPr>
          <p:cNvPr id="40" name="Tijdelijke aanduiding voor tekst 34">
            <a:extLst>
              <a:ext uri="{FF2B5EF4-FFF2-40B4-BE49-F238E27FC236}">
                <a16:creationId xmlns:a16="http://schemas.microsoft.com/office/drawing/2014/main" id="{B4744CF5-07AF-CF36-7AB4-F7B508C3F018}"/>
              </a:ext>
            </a:extLst>
          </p:cNvPr>
          <p:cNvSpPr txBox="1">
            <a:spLocks/>
          </p:cNvSpPr>
          <p:nvPr/>
        </p:nvSpPr>
        <p:spPr>
          <a:xfrm>
            <a:off x="7540433" y="3870993"/>
            <a:ext cx="1431286" cy="37162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buNone/>
            </a:pPr>
            <a:r>
              <a:rPr lang="nl-NL" sz="1600" b="1" dirty="0">
                <a:solidFill>
                  <a:srgbClr val="B7D6E1"/>
                </a:solidFill>
                <a:latin typeface="+mj-lt"/>
              </a:rPr>
              <a:t>Q 4 2026</a:t>
            </a:r>
          </a:p>
        </p:txBody>
      </p:sp>
      <p:sp>
        <p:nvSpPr>
          <p:cNvPr id="41" name="TextBox 37">
            <a:extLst>
              <a:ext uri="{FF2B5EF4-FFF2-40B4-BE49-F238E27FC236}">
                <a16:creationId xmlns:a16="http://schemas.microsoft.com/office/drawing/2014/main" id="{A64D6E7C-7487-2959-2058-13B1D9EFA7FC}"/>
              </a:ext>
            </a:extLst>
          </p:cNvPr>
          <p:cNvSpPr txBox="1"/>
          <p:nvPr/>
        </p:nvSpPr>
        <p:spPr>
          <a:xfrm>
            <a:off x="631891" y="5836726"/>
            <a:ext cx="8339828" cy="617118"/>
          </a:xfrm>
          <a:prstGeom prst="roundRect">
            <a:avLst>
              <a:gd name="adj" fmla="val 13711"/>
            </a:avLst>
          </a:prstGeom>
          <a:solidFill>
            <a:srgbClr val="B7D6E1"/>
          </a:solidFill>
        </p:spPr>
        <p:txBody>
          <a:bodyPr wrap="square" lIns="360000" rIns="216000" bIns="108000" numCol="1" spcCol="108000" rtlCol="0" anchor="ctr" anchorCtr="0">
            <a:noAutofit/>
          </a:bodyPr>
          <a:lstStyle>
            <a:defPPr>
              <a:defRPr lang="en-US"/>
            </a:defPPr>
            <a:lvl1pPr marL="0" algn="l" defTabSz="914400" rtl="0" eaLnBrk="1" latinLnBrk="0" hangingPunct="1">
              <a:defRPr sz="1800" kern="1200">
                <a:solidFill>
                  <a:sysClr val="window" lastClr="FFFFFF"/>
                </a:solidFill>
                <a:latin typeface="Open Sans"/>
              </a:defRPr>
            </a:lvl1pPr>
            <a:lvl2pPr marL="457200" algn="l" defTabSz="914400" rtl="0" eaLnBrk="1" latinLnBrk="0" hangingPunct="1">
              <a:defRPr sz="1800" kern="1200">
                <a:solidFill>
                  <a:sysClr val="window" lastClr="FFFFFF"/>
                </a:solidFill>
                <a:latin typeface="Open Sans"/>
              </a:defRPr>
            </a:lvl2pPr>
            <a:lvl3pPr marL="914400" algn="l" defTabSz="914400" rtl="0" eaLnBrk="1" latinLnBrk="0" hangingPunct="1">
              <a:defRPr sz="1800" kern="1200">
                <a:solidFill>
                  <a:sysClr val="window" lastClr="FFFFFF"/>
                </a:solidFill>
                <a:latin typeface="Open Sans"/>
              </a:defRPr>
            </a:lvl3pPr>
            <a:lvl4pPr marL="1371600" algn="l" defTabSz="914400" rtl="0" eaLnBrk="1" latinLnBrk="0" hangingPunct="1">
              <a:defRPr sz="1800" kern="1200">
                <a:solidFill>
                  <a:sysClr val="window" lastClr="FFFFFF"/>
                </a:solidFill>
                <a:latin typeface="Open Sans"/>
              </a:defRPr>
            </a:lvl4pPr>
            <a:lvl5pPr marL="1828800" algn="l" defTabSz="914400" rtl="0" eaLnBrk="1" latinLnBrk="0" hangingPunct="1">
              <a:defRPr sz="1800" kern="1200">
                <a:solidFill>
                  <a:sysClr val="window" lastClr="FFFFFF"/>
                </a:solidFill>
                <a:latin typeface="Open Sans"/>
              </a:defRPr>
            </a:lvl5pPr>
            <a:lvl6pPr marL="2286000" algn="l" defTabSz="914400" rtl="0" eaLnBrk="1" latinLnBrk="0" hangingPunct="1">
              <a:defRPr sz="1800" kern="1200">
                <a:solidFill>
                  <a:sysClr val="window" lastClr="FFFFFF"/>
                </a:solidFill>
                <a:latin typeface="Open Sans"/>
              </a:defRPr>
            </a:lvl6pPr>
            <a:lvl7pPr marL="2743200" algn="l" defTabSz="914400" rtl="0" eaLnBrk="1" latinLnBrk="0" hangingPunct="1">
              <a:defRPr sz="1800" kern="1200">
                <a:solidFill>
                  <a:sysClr val="window" lastClr="FFFFFF"/>
                </a:solidFill>
                <a:latin typeface="Open Sans"/>
              </a:defRPr>
            </a:lvl7pPr>
            <a:lvl8pPr marL="3200400" algn="l" defTabSz="914400" rtl="0" eaLnBrk="1" latinLnBrk="0" hangingPunct="1">
              <a:defRPr sz="1800" kern="1200">
                <a:solidFill>
                  <a:sysClr val="window" lastClr="FFFFFF"/>
                </a:solidFill>
                <a:latin typeface="Open Sans"/>
              </a:defRPr>
            </a:lvl8pPr>
            <a:lvl9pPr marL="3657600" algn="l" defTabSz="914400" rtl="0" eaLnBrk="1" latinLnBrk="0" hangingPunct="1">
              <a:defRPr sz="1800" kern="1200">
                <a:solidFill>
                  <a:sysClr val="window" lastClr="FFFFFF"/>
                </a:solidFill>
                <a:latin typeface="Open San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Deployment &gt; 2027 – 2040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Portfolio Management &gt; 10-15 </a:t>
            </a:r>
            <a:r>
              <a:rPr kumimoji="0" lang="nl-NL" sz="1000" b="1" i="0" u="none" strike="noStrike" kern="1200" cap="none" spc="0" normalizeH="0" baseline="0" noProof="0" dirty="0" err="1">
                <a:ln>
                  <a:noFill/>
                </a:ln>
                <a:solidFill>
                  <a:srgbClr val="004D7A"/>
                </a:solidFill>
                <a:effectLst/>
                <a:uLnTx/>
                <a:uFillTx/>
                <a:latin typeface="Raleway" pitchFamily="2" charset="77"/>
                <a:ea typeface="+mn-ea"/>
                <a:cs typeface="+mn-cs"/>
              </a:rPr>
              <a:t>years</a:t>
            </a:r>
            <a:endPar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Exit </a:t>
            </a:r>
            <a:r>
              <a:rPr kumimoji="0" lang="nl-NL" sz="1000" b="1" i="0" u="none" strike="noStrike" kern="1200" cap="none" spc="0" normalizeH="0" baseline="0" noProof="0" dirty="0" err="1">
                <a:ln>
                  <a:noFill/>
                </a:ln>
                <a:solidFill>
                  <a:srgbClr val="004D7A"/>
                </a:solidFill>
                <a:effectLst/>
                <a:uLnTx/>
                <a:uFillTx/>
                <a:latin typeface="Raleway" pitchFamily="2" charset="77"/>
                <a:ea typeface="+mn-ea"/>
                <a:cs typeface="+mn-cs"/>
              </a:rPr>
              <a:t>Strategy</a:t>
            </a: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 &gt; </a:t>
            </a:r>
            <a:r>
              <a:rPr kumimoji="0" lang="nl-NL" sz="1000" b="1" i="0" u="none" strike="noStrike" kern="1200" cap="none" spc="0" normalizeH="0" baseline="0" noProof="0" dirty="0" err="1">
                <a:ln>
                  <a:noFill/>
                </a:ln>
                <a:solidFill>
                  <a:srgbClr val="004D7A"/>
                </a:solidFill>
                <a:effectLst/>
                <a:uLnTx/>
                <a:uFillTx/>
                <a:latin typeface="Raleway" pitchFamily="2" charset="77"/>
                <a:ea typeface="+mn-ea"/>
                <a:cs typeface="+mn-cs"/>
              </a:rPr>
              <a:t>From</a:t>
            </a: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 </a:t>
            </a:r>
            <a:r>
              <a:rPr kumimoji="0" lang="nl-NL" sz="1000" b="1" i="0" u="none" strike="noStrike" kern="1200" cap="none" spc="0" normalizeH="0" baseline="0" noProof="0" dirty="0" err="1">
                <a:ln>
                  <a:noFill/>
                </a:ln>
                <a:solidFill>
                  <a:srgbClr val="004D7A"/>
                </a:solidFill>
                <a:effectLst/>
                <a:uLnTx/>
                <a:uFillTx/>
                <a:latin typeface="Raleway" pitchFamily="2" charset="77"/>
                <a:ea typeface="+mn-ea"/>
                <a:cs typeface="+mn-cs"/>
              </a:rPr>
              <a:t>year</a:t>
            </a: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 10 </a:t>
            </a:r>
            <a:r>
              <a:rPr kumimoji="0" lang="nl-NL" sz="1000" b="1" i="0" u="none" strike="noStrike" kern="1200" cap="none" spc="0" normalizeH="0" baseline="0" noProof="0" dirty="0" err="1">
                <a:ln>
                  <a:noFill/>
                </a:ln>
                <a:solidFill>
                  <a:srgbClr val="004D7A"/>
                </a:solidFill>
                <a:effectLst/>
                <a:uLnTx/>
                <a:uFillTx/>
                <a:latin typeface="Raleway" pitchFamily="2" charset="77"/>
                <a:ea typeface="+mn-ea"/>
                <a:cs typeface="+mn-cs"/>
              </a:rPr>
              <a:t>onwards</a:t>
            </a:r>
            <a:r>
              <a:rPr kumimoji="0" lang="nl-NL" sz="1000" b="1" i="0" u="none" strike="noStrike" kern="1200" cap="none" spc="0" normalizeH="0" baseline="0" noProof="0" dirty="0">
                <a:ln>
                  <a:noFill/>
                </a:ln>
                <a:solidFill>
                  <a:srgbClr val="004D7A"/>
                </a:solidFill>
                <a:effectLst/>
                <a:uLnTx/>
                <a:uFillTx/>
                <a:latin typeface="Raleway" pitchFamily="2" charset="77"/>
                <a:ea typeface="+mn-ea"/>
                <a:cs typeface="+mn-cs"/>
              </a:rPr>
              <a:t>  </a:t>
            </a:r>
          </a:p>
        </p:txBody>
      </p:sp>
      <p:sp>
        <p:nvSpPr>
          <p:cNvPr id="42" name="TextBox 5">
            <a:extLst>
              <a:ext uri="{FF2B5EF4-FFF2-40B4-BE49-F238E27FC236}">
                <a16:creationId xmlns:a16="http://schemas.microsoft.com/office/drawing/2014/main" id="{4B3E5584-1B2E-146A-7C59-1A7DA164D27A}"/>
              </a:ext>
            </a:extLst>
          </p:cNvPr>
          <p:cNvSpPr txBox="1"/>
          <p:nvPr/>
        </p:nvSpPr>
        <p:spPr>
          <a:xfrm>
            <a:off x="627348" y="1514566"/>
            <a:ext cx="7180221"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pic>
        <p:nvPicPr>
          <p:cNvPr id="43" name="Graphic 42">
            <a:extLst>
              <a:ext uri="{FF2B5EF4-FFF2-40B4-BE49-F238E27FC236}">
                <a16:creationId xmlns:a16="http://schemas.microsoft.com/office/drawing/2014/main" id="{7A37D490-4FAA-780C-B1B5-A8F591BAE0E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11536" y="2721135"/>
            <a:ext cx="893933" cy="893933"/>
          </a:xfrm>
          <a:prstGeom prst="rect">
            <a:avLst/>
          </a:prstGeom>
        </p:spPr>
      </p:pic>
      <p:pic>
        <p:nvPicPr>
          <p:cNvPr id="44" name="Graphic 43">
            <a:extLst>
              <a:ext uri="{FF2B5EF4-FFF2-40B4-BE49-F238E27FC236}">
                <a16:creationId xmlns:a16="http://schemas.microsoft.com/office/drawing/2014/main" id="{866B48A8-39D4-34A7-99F0-2CB8C52B61E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8152" y="2684928"/>
            <a:ext cx="893933" cy="893933"/>
          </a:xfrm>
          <a:prstGeom prst="rect">
            <a:avLst/>
          </a:prstGeom>
        </p:spPr>
      </p:pic>
      <p:pic>
        <p:nvPicPr>
          <p:cNvPr id="45" name="Graphic 44">
            <a:extLst>
              <a:ext uri="{FF2B5EF4-FFF2-40B4-BE49-F238E27FC236}">
                <a16:creationId xmlns:a16="http://schemas.microsoft.com/office/drawing/2014/main" id="{0798F526-D21B-9376-17C4-F5A77637636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277905" y="2710502"/>
            <a:ext cx="893933" cy="893933"/>
          </a:xfrm>
          <a:prstGeom prst="rect">
            <a:avLst/>
          </a:prstGeom>
        </p:spPr>
      </p:pic>
      <p:pic>
        <p:nvPicPr>
          <p:cNvPr id="46" name="Graphic 45">
            <a:extLst>
              <a:ext uri="{FF2B5EF4-FFF2-40B4-BE49-F238E27FC236}">
                <a16:creationId xmlns:a16="http://schemas.microsoft.com/office/drawing/2014/main" id="{C113AE20-0370-B6E8-0086-46284C75293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84958" y="2688802"/>
            <a:ext cx="893933" cy="893933"/>
          </a:xfrm>
          <a:prstGeom prst="rect">
            <a:avLst/>
          </a:prstGeom>
        </p:spPr>
      </p:pic>
      <p:pic>
        <p:nvPicPr>
          <p:cNvPr id="47" name="Graphic 46">
            <a:extLst>
              <a:ext uri="{FF2B5EF4-FFF2-40B4-BE49-F238E27FC236}">
                <a16:creationId xmlns:a16="http://schemas.microsoft.com/office/drawing/2014/main" id="{E7EF0BCE-4993-2052-608B-C1615986442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488981" y="2742100"/>
            <a:ext cx="893933" cy="893933"/>
          </a:xfrm>
          <a:prstGeom prst="rect">
            <a:avLst/>
          </a:prstGeom>
        </p:spPr>
      </p:pic>
    </p:spTree>
    <p:extLst>
      <p:ext uri="{BB962C8B-B14F-4D97-AF65-F5344CB8AC3E}">
        <p14:creationId xmlns:p14="http://schemas.microsoft.com/office/powerpoint/2010/main" val="771836951"/>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Facility Structure - INDICATIVE</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Rectangle: Rounded Corners 22">
            <a:extLst>
              <a:ext uri="{FF2B5EF4-FFF2-40B4-BE49-F238E27FC236}">
                <a16:creationId xmlns:a16="http://schemas.microsoft.com/office/drawing/2014/main" id="{42013002-694E-D669-D28A-9207C98B8D49}"/>
              </a:ext>
            </a:extLst>
          </p:cNvPr>
          <p:cNvSpPr/>
          <p:nvPr/>
        </p:nvSpPr>
        <p:spPr>
          <a:xfrm>
            <a:off x="722697" y="3484467"/>
            <a:ext cx="4478128" cy="1060500"/>
          </a:xfrm>
          <a:prstGeom prst="roundRect">
            <a:avLst>
              <a:gd name="adj" fmla="val 5549"/>
            </a:avLst>
          </a:prstGeom>
          <a:solidFill>
            <a:srgbClr val="FFFFFF"/>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wrap="none" lIns="36000" tIns="108000" rIns="36000" rtlCol="0" anchor="t"/>
          <a:lstStyle/>
          <a:p>
            <a:pPr algn="ctr"/>
            <a:r>
              <a:rPr lang="en-GB" sz="1400" dirty="0">
                <a:solidFill>
                  <a:srgbClr val="004D7A"/>
                </a:solidFill>
                <a:latin typeface="Open Sans" panose="020B0606030504020204" pitchFamily="34" charset="0"/>
                <a:ea typeface="Open Sans" panose="020B0606030504020204" pitchFamily="34" charset="0"/>
                <a:cs typeface="Open Sans" panose="020B0606030504020204" pitchFamily="34" charset="0"/>
              </a:rPr>
              <a:t>Investment Facility</a:t>
            </a:r>
            <a:endParaRPr lang="en-GB" sz="1400" noProof="0" dirty="0">
              <a:solidFill>
                <a:srgbClr val="004D7A"/>
              </a:solidFill>
              <a:latin typeface="Open Sans" panose="020B0606030504020204" pitchFamily="34" charset="0"/>
              <a:ea typeface="Open Sans" panose="020B0606030504020204" pitchFamily="34" charset="0"/>
              <a:cs typeface="Open Sans" panose="020B0606030504020204" pitchFamily="34" charset="0"/>
            </a:endParaRPr>
          </a:p>
        </p:txBody>
      </p:sp>
      <p:cxnSp>
        <p:nvCxnSpPr>
          <p:cNvPr id="6" name="Straight Arrow Connector 9">
            <a:extLst>
              <a:ext uri="{FF2B5EF4-FFF2-40B4-BE49-F238E27FC236}">
                <a16:creationId xmlns:a16="http://schemas.microsoft.com/office/drawing/2014/main" id="{D71681F3-D20A-B88B-E7B9-9DCCFF0EEF1B}"/>
              </a:ext>
            </a:extLst>
          </p:cNvPr>
          <p:cNvCxnSpPr>
            <a:cxnSpLocks/>
          </p:cNvCxnSpPr>
          <p:nvPr/>
        </p:nvCxnSpPr>
        <p:spPr>
          <a:xfrm flipH="1">
            <a:off x="3899075" y="2964264"/>
            <a:ext cx="10553" cy="528069"/>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11">
            <a:extLst>
              <a:ext uri="{FF2B5EF4-FFF2-40B4-BE49-F238E27FC236}">
                <a16:creationId xmlns:a16="http://schemas.microsoft.com/office/drawing/2014/main" id="{4178EB47-72E3-28D0-D6AC-6D64890651E2}"/>
              </a:ext>
            </a:extLst>
          </p:cNvPr>
          <p:cNvCxnSpPr>
            <a:cxnSpLocks/>
          </p:cNvCxnSpPr>
          <p:nvPr/>
        </p:nvCxnSpPr>
        <p:spPr>
          <a:xfrm flipV="1">
            <a:off x="4699471" y="3024781"/>
            <a:ext cx="0" cy="459686"/>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17" name="Rectangle: Rounded Corners 30">
            <a:extLst>
              <a:ext uri="{FF2B5EF4-FFF2-40B4-BE49-F238E27FC236}">
                <a16:creationId xmlns:a16="http://schemas.microsoft.com/office/drawing/2014/main" id="{86981CE0-7681-29B1-006C-D59C67E0E628}"/>
              </a:ext>
            </a:extLst>
          </p:cNvPr>
          <p:cNvSpPr/>
          <p:nvPr/>
        </p:nvSpPr>
        <p:spPr>
          <a:xfrm>
            <a:off x="3116566" y="1864182"/>
            <a:ext cx="2097098" cy="547728"/>
          </a:xfrm>
          <a:prstGeom prst="roundRect">
            <a:avLst>
              <a:gd name="adj" fmla="val 7057"/>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Corporate</a:t>
            </a:r>
            <a:b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br>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Investors</a:t>
            </a:r>
            <a:endParaRPr lang="en-GB" sz="1050" noProof="0" dirty="0">
              <a:latin typeface="Open Sans" panose="020B0606030504020204" pitchFamily="34" charset="0"/>
              <a:ea typeface="Open Sans" panose="020B0606030504020204" pitchFamily="34" charset="0"/>
              <a:cs typeface="Open Sans" panose="020B0606030504020204" pitchFamily="34" charset="0"/>
            </a:endParaRPr>
          </a:p>
        </p:txBody>
      </p:sp>
      <p:pic>
        <p:nvPicPr>
          <p:cNvPr id="18" name="Picture 2" descr="Water Resilience Assessment Framework – A stepwise approach to building  long-term water resilience in a dynamic world">
            <a:extLst>
              <a:ext uri="{FF2B5EF4-FFF2-40B4-BE49-F238E27FC236}">
                <a16:creationId xmlns:a16="http://schemas.microsoft.com/office/drawing/2014/main" id="{5F3F9A6A-EEBA-5FEC-D745-FE2A5949B8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7015" y="1966318"/>
            <a:ext cx="807699" cy="330528"/>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Rounded Corners 30">
            <a:extLst>
              <a:ext uri="{FF2B5EF4-FFF2-40B4-BE49-F238E27FC236}">
                <a16:creationId xmlns:a16="http://schemas.microsoft.com/office/drawing/2014/main" id="{4EC620D7-BC53-4348-4D2A-5860BA185EB6}"/>
              </a:ext>
            </a:extLst>
          </p:cNvPr>
          <p:cNvSpPr/>
          <p:nvPr/>
        </p:nvSpPr>
        <p:spPr>
          <a:xfrm>
            <a:off x="3105934" y="2491503"/>
            <a:ext cx="2097098" cy="547728"/>
          </a:xfrm>
          <a:prstGeom prst="roundRect">
            <a:avLst>
              <a:gd name="adj" fmla="val 7057"/>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Corporate</a:t>
            </a:r>
            <a:b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br>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Investors</a:t>
            </a:r>
            <a:endParaRPr lang="en-GB" sz="1050" noProof="0" dirty="0">
              <a:latin typeface="Open Sans" panose="020B0606030504020204" pitchFamily="34" charset="0"/>
              <a:ea typeface="Open Sans" panose="020B0606030504020204" pitchFamily="34" charset="0"/>
              <a:cs typeface="Open Sans" panose="020B0606030504020204" pitchFamily="34" charset="0"/>
            </a:endParaRPr>
          </a:p>
        </p:txBody>
      </p:sp>
      <p:pic>
        <p:nvPicPr>
          <p:cNvPr id="26" name="Picture 12" descr="Government of Luxembourg | Land Portal">
            <a:extLst>
              <a:ext uri="{FF2B5EF4-FFF2-40B4-BE49-F238E27FC236}">
                <a16:creationId xmlns:a16="http://schemas.microsoft.com/office/drawing/2014/main" id="{32EFAF42-44F6-658E-172B-1DA51F5060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22211" y="2747938"/>
            <a:ext cx="957463" cy="247011"/>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Rounded Corners 30">
            <a:extLst>
              <a:ext uri="{FF2B5EF4-FFF2-40B4-BE49-F238E27FC236}">
                <a16:creationId xmlns:a16="http://schemas.microsoft.com/office/drawing/2014/main" id="{0013E9F0-05FC-DEEE-2CD1-4E2D7865855F}"/>
              </a:ext>
            </a:extLst>
          </p:cNvPr>
          <p:cNvSpPr/>
          <p:nvPr/>
        </p:nvSpPr>
        <p:spPr>
          <a:xfrm>
            <a:off x="699124" y="1885138"/>
            <a:ext cx="2097098" cy="1154093"/>
          </a:xfrm>
          <a:prstGeom prst="roundRect">
            <a:avLst>
              <a:gd name="adj" fmla="val 7057"/>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    Financial Sponsors</a:t>
            </a:r>
            <a:endParaRPr lang="en-GB" sz="1050" noProof="0" dirty="0">
              <a:latin typeface="Open Sans" panose="020B0606030504020204" pitchFamily="34" charset="0"/>
              <a:ea typeface="Open Sans" panose="020B0606030504020204" pitchFamily="34" charset="0"/>
              <a:cs typeface="Open Sans" panose="020B0606030504020204" pitchFamily="34" charset="0"/>
            </a:endParaRPr>
          </a:p>
        </p:txBody>
      </p:sp>
      <p:pic>
        <p:nvPicPr>
          <p:cNvPr id="28" name="Picture 4" descr="Dutch Ministry of Foreign Affairs – NWGN">
            <a:extLst>
              <a:ext uri="{FF2B5EF4-FFF2-40B4-BE49-F238E27FC236}">
                <a16:creationId xmlns:a16="http://schemas.microsoft.com/office/drawing/2014/main" id="{818C5B04-9D97-1999-090E-ABC2FB44BE3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670" y="2287106"/>
            <a:ext cx="656879" cy="25173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2" descr="Government of Luxembourg | Land Portal">
            <a:extLst>
              <a:ext uri="{FF2B5EF4-FFF2-40B4-BE49-F238E27FC236}">
                <a16:creationId xmlns:a16="http://schemas.microsoft.com/office/drawing/2014/main" id="{5BA10045-2446-8C14-65E8-3B664EF9E91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53044" y="2287106"/>
            <a:ext cx="957463" cy="247011"/>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A blue water droplet and text&#10;&#10;AI-generated content may be incorrect.">
            <a:extLst>
              <a:ext uri="{FF2B5EF4-FFF2-40B4-BE49-F238E27FC236}">
                <a16:creationId xmlns:a16="http://schemas.microsoft.com/office/drawing/2014/main" id="{5D368AE6-9EEA-1C81-A84F-B987C3834388}"/>
              </a:ext>
            </a:extLst>
          </p:cNvPr>
          <p:cNvPicPr>
            <a:picLocks noChangeAspect="1"/>
          </p:cNvPicPr>
          <p:nvPr/>
        </p:nvPicPr>
        <p:blipFill>
          <a:blip r:embed="rId7">
            <a:clrChange>
              <a:clrFrom>
                <a:srgbClr val="000000"/>
              </a:clrFrom>
              <a:clrTo>
                <a:srgbClr val="000000">
                  <a:alpha val="0"/>
                </a:srgbClr>
              </a:clrTo>
            </a:clrChange>
            <a:extLst>
              <a:ext uri="{28A0092B-C50C-407E-A947-70E740481C1C}">
                <a14:useLocalDpi xmlns:a14="http://schemas.microsoft.com/office/drawing/2010/main" val="0"/>
              </a:ext>
            </a:extLst>
          </a:blip>
          <a:stretch>
            <a:fillRect/>
          </a:stretch>
        </p:blipFill>
        <p:spPr>
          <a:xfrm>
            <a:off x="1398813" y="2547833"/>
            <a:ext cx="592401" cy="390316"/>
          </a:xfrm>
          <a:prstGeom prst="rect">
            <a:avLst/>
          </a:prstGeom>
        </p:spPr>
      </p:pic>
      <p:cxnSp>
        <p:nvCxnSpPr>
          <p:cNvPr id="33" name="Straight Arrow Connector 9">
            <a:extLst>
              <a:ext uri="{FF2B5EF4-FFF2-40B4-BE49-F238E27FC236}">
                <a16:creationId xmlns:a16="http://schemas.microsoft.com/office/drawing/2014/main" id="{409FEAB4-69AD-E5C6-1EBC-889C3AFE199B}"/>
              </a:ext>
            </a:extLst>
          </p:cNvPr>
          <p:cNvCxnSpPr>
            <a:cxnSpLocks/>
          </p:cNvCxnSpPr>
          <p:nvPr/>
        </p:nvCxnSpPr>
        <p:spPr>
          <a:xfrm>
            <a:off x="1747673" y="3039231"/>
            <a:ext cx="0" cy="445236"/>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34" name="Ovaal 33">
            <a:extLst>
              <a:ext uri="{FF2B5EF4-FFF2-40B4-BE49-F238E27FC236}">
                <a16:creationId xmlns:a16="http://schemas.microsoft.com/office/drawing/2014/main" id="{FF2FFE9F-E22E-3EE5-C56A-5E15E03B3F88}"/>
              </a:ext>
            </a:extLst>
          </p:cNvPr>
          <p:cNvSpPr/>
          <p:nvPr/>
        </p:nvSpPr>
        <p:spPr>
          <a:xfrm>
            <a:off x="1625675" y="3062711"/>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2</a:t>
            </a:r>
            <a:endParaRPr lang="nl-NL" sz="1200" dirty="0">
              <a:solidFill>
                <a:srgbClr val="004D7A"/>
              </a:solidFill>
            </a:endParaRPr>
          </a:p>
        </p:txBody>
      </p:sp>
      <p:sp>
        <p:nvSpPr>
          <p:cNvPr id="39" name="Rectangle: Rounded Corners 30">
            <a:extLst>
              <a:ext uri="{FF2B5EF4-FFF2-40B4-BE49-F238E27FC236}">
                <a16:creationId xmlns:a16="http://schemas.microsoft.com/office/drawing/2014/main" id="{01F0BE2A-6BE1-2446-9367-CD19B4BA20D7}"/>
              </a:ext>
            </a:extLst>
          </p:cNvPr>
          <p:cNvSpPr/>
          <p:nvPr/>
        </p:nvSpPr>
        <p:spPr>
          <a:xfrm>
            <a:off x="3068703" y="3865822"/>
            <a:ext cx="1999272" cy="547728"/>
          </a:xfrm>
          <a:prstGeom prst="roundRect">
            <a:avLst>
              <a:gd name="adj" fmla="val 7057"/>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Project facility</a:t>
            </a:r>
            <a:br>
              <a:rPr lang="en-GB" sz="12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br>
            <a:r>
              <a:rPr lang="en-GB" sz="12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(LP contributions)</a:t>
            </a:r>
            <a:endParaRPr lang="en-GB" sz="1000" noProof="0" dirty="0">
              <a:latin typeface="Open Sans" panose="020B0606030504020204" pitchFamily="34" charset="0"/>
              <a:ea typeface="Open Sans" panose="020B0606030504020204" pitchFamily="34" charset="0"/>
              <a:cs typeface="Open Sans" panose="020B0606030504020204" pitchFamily="34" charset="0"/>
            </a:endParaRPr>
          </a:p>
        </p:txBody>
      </p:sp>
      <p:sp>
        <p:nvSpPr>
          <p:cNvPr id="40" name="Rectangle: Rounded Corners 30">
            <a:extLst>
              <a:ext uri="{FF2B5EF4-FFF2-40B4-BE49-F238E27FC236}">
                <a16:creationId xmlns:a16="http://schemas.microsoft.com/office/drawing/2014/main" id="{1B594354-D1C9-3BBB-15D8-492E15AC18A7}"/>
              </a:ext>
            </a:extLst>
          </p:cNvPr>
          <p:cNvSpPr/>
          <p:nvPr/>
        </p:nvSpPr>
        <p:spPr>
          <a:xfrm>
            <a:off x="877330" y="3865822"/>
            <a:ext cx="1999272" cy="547728"/>
          </a:xfrm>
          <a:prstGeom prst="roundRect">
            <a:avLst>
              <a:gd name="adj" fmla="val 7057"/>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Fund manager</a:t>
            </a:r>
          </a:p>
          <a:p>
            <a:pPr algn="ctr"/>
            <a:r>
              <a:rPr lang="en-GB" sz="1200" dirty="0">
                <a:solidFill>
                  <a:srgbClr val="1E3250"/>
                </a:solidFill>
                <a:latin typeface="Open Sans" panose="020B0606030504020204" pitchFamily="34" charset="0"/>
                <a:ea typeface="Open Sans" panose="020B0606030504020204" pitchFamily="34" charset="0"/>
                <a:cs typeface="Open Sans" panose="020B0606030504020204" pitchFamily="34" charset="0"/>
              </a:rPr>
              <a:t>(GP)</a:t>
            </a:r>
            <a:endParaRPr lang="en-GB" sz="1000" noProof="0" dirty="0">
              <a:latin typeface="Open Sans" panose="020B0606030504020204" pitchFamily="34" charset="0"/>
              <a:ea typeface="Open Sans" panose="020B0606030504020204" pitchFamily="34" charset="0"/>
              <a:cs typeface="Open Sans" panose="020B0606030504020204" pitchFamily="34" charset="0"/>
            </a:endParaRPr>
          </a:p>
        </p:txBody>
      </p:sp>
      <p:sp>
        <p:nvSpPr>
          <p:cNvPr id="51" name="Rectangle: Rounded Corners 30">
            <a:extLst>
              <a:ext uri="{FF2B5EF4-FFF2-40B4-BE49-F238E27FC236}">
                <a16:creationId xmlns:a16="http://schemas.microsoft.com/office/drawing/2014/main" id="{1F5442CF-9FAC-E266-E8F5-1C7D7A4FCA41}"/>
              </a:ext>
            </a:extLst>
          </p:cNvPr>
          <p:cNvSpPr/>
          <p:nvPr/>
        </p:nvSpPr>
        <p:spPr>
          <a:xfrm>
            <a:off x="4197015" y="4989218"/>
            <a:ext cx="1003810" cy="879256"/>
          </a:xfrm>
          <a:prstGeom prst="roundRect">
            <a:avLst>
              <a:gd name="adj" fmla="val 7057"/>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Thematic sleeve</a:t>
            </a:r>
            <a:endParaRPr lang="en-GB" sz="900" noProof="0" dirty="0">
              <a:latin typeface="Open Sans" panose="020B0606030504020204" pitchFamily="34" charset="0"/>
              <a:ea typeface="Open Sans" panose="020B0606030504020204" pitchFamily="34" charset="0"/>
              <a:cs typeface="Open Sans" panose="020B0606030504020204" pitchFamily="34" charset="0"/>
            </a:endParaRPr>
          </a:p>
        </p:txBody>
      </p:sp>
      <p:sp>
        <p:nvSpPr>
          <p:cNvPr id="52" name="Rectangle: Rounded Corners 30">
            <a:extLst>
              <a:ext uri="{FF2B5EF4-FFF2-40B4-BE49-F238E27FC236}">
                <a16:creationId xmlns:a16="http://schemas.microsoft.com/office/drawing/2014/main" id="{5631313C-7CE5-CA20-7DE7-A81A36EB947A}"/>
              </a:ext>
            </a:extLst>
          </p:cNvPr>
          <p:cNvSpPr/>
          <p:nvPr/>
        </p:nvSpPr>
        <p:spPr>
          <a:xfrm>
            <a:off x="3069964" y="4989218"/>
            <a:ext cx="1003810" cy="879256"/>
          </a:xfrm>
          <a:prstGeom prst="roundRect">
            <a:avLst>
              <a:gd name="adj" fmla="val 7057"/>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b="1"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Africa Water Resilience sleeve</a:t>
            </a:r>
            <a:endParaRPr lang="en-GB" sz="900" b="1" noProof="0" dirty="0">
              <a:latin typeface="Open Sans" panose="020B0606030504020204" pitchFamily="34" charset="0"/>
              <a:ea typeface="Open Sans" panose="020B0606030504020204" pitchFamily="34" charset="0"/>
              <a:cs typeface="Open Sans" panose="020B0606030504020204" pitchFamily="34" charset="0"/>
            </a:endParaRPr>
          </a:p>
        </p:txBody>
      </p:sp>
      <p:sp>
        <p:nvSpPr>
          <p:cNvPr id="53" name="Rectangle: Rounded Corners 30">
            <a:extLst>
              <a:ext uri="{FF2B5EF4-FFF2-40B4-BE49-F238E27FC236}">
                <a16:creationId xmlns:a16="http://schemas.microsoft.com/office/drawing/2014/main" id="{417D5E23-93A2-2155-1AAC-549CBD403971}"/>
              </a:ext>
            </a:extLst>
          </p:cNvPr>
          <p:cNvSpPr/>
          <p:nvPr/>
        </p:nvSpPr>
        <p:spPr>
          <a:xfrm>
            <a:off x="699124" y="4989218"/>
            <a:ext cx="2226334" cy="879256"/>
          </a:xfrm>
          <a:prstGeom prst="roundRect">
            <a:avLst>
              <a:gd name="adj" fmla="val 7057"/>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Investment opportunities</a:t>
            </a:r>
            <a:b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br>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(Global)</a:t>
            </a:r>
            <a:endParaRPr lang="en-GB" sz="1050" noProof="0" dirty="0">
              <a:latin typeface="Open Sans" panose="020B0606030504020204" pitchFamily="34" charset="0"/>
              <a:ea typeface="Open Sans" panose="020B0606030504020204" pitchFamily="34" charset="0"/>
              <a:cs typeface="Open Sans" panose="020B0606030504020204" pitchFamily="34" charset="0"/>
            </a:endParaRPr>
          </a:p>
        </p:txBody>
      </p:sp>
      <p:sp>
        <p:nvSpPr>
          <p:cNvPr id="64" name="Rectangle: Rounded Corners 30">
            <a:extLst>
              <a:ext uri="{FF2B5EF4-FFF2-40B4-BE49-F238E27FC236}">
                <a16:creationId xmlns:a16="http://schemas.microsoft.com/office/drawing/2014/main" id="{FE72D006-E083-A939-E8E6-0FCEC09E3195}"/>
              </a:ext>
            </a:extLst>
          </p:cNvPr>
          <p:cNvSpPr/>
          <p:nvPr/>
        </p:nvSpPr>
        <p:spPr>
          <a:xfrm>
            <a:off x="3068702" y="6079498"/>
            <a:ext cx="2153387" cy="547728"/>
          </a:xfrm>
          <a:prstGeom prst="roundRect">
            <a:avLst>
              <a:gd name="adj" fmla="val 7057"/>
            </a:avLst>
          </a:prstGeom>
          <a:solidFill>
            <a:srgbClr val="B7D6E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noProof="0" dirty="0">
                <a:solidFill>
                  <a:srgbClr val="1E3250"/>
                </a:solidFill>
                <a:latin typeface="Open Sans" panose="020B0606030504020204" pitchFamily="34" charset="0"/>
                <a:ea typeface="Open Sans" panose="020B0606030504020204" pitchFamily="34" charset="0"/>
                <a:cs typeface="Open Sans" panose="020B0606030504020204" pitchFamily="34" charset="0"/>
              </a:rPr>
              <a:t>Investment opportunities</a:t>
            </a:r>
            <a:endParaRPr lang="en-GB" sz="1050" noProof="0" dirty="0">
              <a:latin typeface="Open Sans" panose="020B0606030504020204" pitchFamily="34" charset="0"/>
              <a:ea typeface="Open Sans" panose="020B0606030504020204" pitchFamily="34" charset="0"/>
              <a:cs typeface="Open Sans" panose="020B0606030504020204" pitchFamily="34" charset="0"/>
            </a:endParaRPr>
          </a:p>
        </p:txBody>
      </p:sp>
      <p:sp>
        <p:nvSpPr>
          <p:cNvPr id="65" name="Ovaal 64">
            <a:extLst>
              <a:ext uri="{FF2B5EF4-FFF2-40B4-BE49-F238E27FC236}">
                <a16:creationId xmlns:a16="http://schemas.microsoft.com/office/drawing/2014/main" id="{65672CBA-C606-A957-98C8-A443444416C4}"/>
              </a:ext>
            </a:extLst>
          </p:cNvPr>
          <p:cNvSpPr/>
          <p:nvPr/>
        </p:nvSpPr>
        <p:spPr>
          <a:xfrm>
            <a:off x="3776208" y="3062711"/>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3</a:t>
            </a:r>
            <a:endParaRPr lang="nl-NL" sz="1200" dirty="0">
              <a:solidFill>
                <a:srgbClr val="004D7A"/>
              </a:solidFill>
            </a:endParaRPr>
          </a:p>
        </p:txBody>
      </p:sp>
      <p:sp>
        <p:nvSpPr>
          <p:cNvPr id="69" name="Ovaal 68">
            <a:extLst>
              <a:ext uri="{FF2B5EF4-FFF2-40B4-BE49-F238E27FC236}">
                <a16:creationId xmlns:a16="http://schemas.microsoft.com/office/drawing/2014/main" id="{B416233A-8DDF-FC51-ED90-B13410AA362B}"/>
              </a:ext>
            </a:extLst>
          </p:cNvPr>
          <p:cNvSpPr/>
          <p:nvPr/>
        </p:nvSpPr>
        <p:spPr>
          <a:xfrm>
            <a:off x="4555141" y="3189711"/>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5</a:t>
            </a:r>
            <a:endParaRPr lang="nl-NL" sz="1200" dirty="0">
              <a:solidFill>
                <a:srgbClr val="004D7A"/>
              </a:solidFill>
            </a:endParaRPr>
          </a:p>
        </p:txBody>
      </p:sp>
      <p:sp>
        <p:nvSpPr>
          <p:cNvPr id="70" name="Ovaal 69">
            <a:extLst>
              <a:ext uri="{FF2B5EF4-FFF2-40B4-BE49-F238E27FC236}">
                <a16:creationId xmlns:a16="http://schemas.microsoft.com/office/drawing/2014/main" id="{3A311E88-4980-AEF3-078B-EE502DF90587}"/>
              </a:ext>
            </a:extLst>
          </p:cNvPr>
          <p:cNvSpPr/>
          <p:nvPr/>
        </p:nvSpPr>
        <p:spPr>
          <a:xfrm>
            <a:off x="745141" y="1936645"/>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1</a:t>
            </a:r>
            <a:endParaRPr lang="nl-NL" sz="1200" dirty="0">
              <a:solidFill>
                <a:srgbClr val="004D7A"/>
              </a:solidFill>
            </a:endParaRPr>
          </a:p>
        </p:txBody>
      </p:sp>
      <p:cxnSp>
        <p:nvCxnSpPr>
          <p:cNvPr id="71" name="Straight Arrow Connector 9">
            <a:extLst>
              <a:ext uri="{FF2B5EF4-FFF2-40B4-BE49-F238E27FC236}">
                <a16:creationId xmlns:a16="http://schemas.microsoft.com/office/drawing/2014/main" id="{1BC8C4B4-2B65-CEBF-14B0-4727E50A22CB}"/>
              </a:ext>
            </a:extLst>
          </p:cNvPr>
          <p:cNvCxnSpPr>
            <a:cxnSpLocks/>
          </p:cNvCxnSpPr>
          <p:nvPr/>
        </p:nvCxnSpPr>
        <p:spPr>
          <a:xfrm>
            <a:off x="1747673" y="4546298"/>
            <a:ext cx="0" cy="445236"/>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72" name="Ovaal 71">
            <a:extLst>
              <a:ext uri="{FF2B5EF4-FFF2-40B4-BE49-F238E27FC236}">
                <a16:creationId xmlns:a16="http://schemas.microsoft.com/office/drawing/2014/main" id="{F6EE2F24-F01E-35CC-9ECF-D10F28B2390D}"/>
              </a:ext>
            </a:extLst>
          </p:cNvPr>
          <p:cNvSpPr/>
          <p:nvPr/>
        </p:nvSpPr>
        <p:spPr>
          <a:xfrm>
            <a:off x="1625675" y="4569778"/>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4</a:t>
            </a:r>
            <a:endParaRPr lang="nl-NL" sz="1200" dirty="0">
              <a:solidFill>
                <a:srgbClr val="004D7A"/>
              </a:solidFill>
            </a:endParaRPr>
          </a:p>
        </p:txBody>
      </p:sp>
      <p:cxnSp>
        <p:nvCxnSpPr>
          <p:cNvPr id="73" name="Straight Arrow Connector 9">
            <a:extLst>
              <a:ext uri="{FF2B5EF4-FFF2-40B4-BE49-F238E27FC236}">
                <a16:creationId xmlns:a16="http://schemas.microsoft.com/office/drawing/2014/main" id="{10FF4069-F823-3194-1789-CA36B65E79A6}"/>
              </a:ext>
            </a:extLst>
          </p:cNvPr>
          <p:cNvCxnSpPr>
            <a:cxnSpLocks/>
          </p:cNvCxnSpPr>
          <p:nvPr/>
        </p:nvCxnSpPr>
        <p:spPr>
          <a:xfrm>
            <a:off x="3593406" y="4546298"/>
            <a:ext cx="0" cy="445236"/>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74" name="Ovaal 73">
            <a:extLst>
              <a:ext uri="{FF2B5EF4-FFF2-40B4-BE49-F238E27FC236}">
                <a16:creationId xmlns:a16="http://schemas.microsoft.com/office/drawing/2014/main" id="{27FDC024-99BD-8EF2-1D69-17B1318E4CAA}"/>
              </a:ext>
            </a:extLst>
          </p:cNvPr>
          <p:cNvSpPr/>
          <p:nvPr/>
        </p:nvSpPr>
        <p:spPr>
          <a:xfrm>
            <a:off x="3471408" y="4569778"/>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4</a:t>
            </a:r>
            <a:endParaRPr lang="nl-NL" sz="1200" dirty="0">
              <a:solidFill>
                <a:srgbClr val="004D7A"/>
              </a:solidFill>
            </a:endParaRPr>
          </a:p>
        </p:txBody>
      </p:sp>
      <p:cxnSp>
        <p:nvCxnSpPr>
          <p:cNvPr id="75" name="Straight Arrow Connector 9">
            <a:extLst>
              <a:ext uri="{FF2B5EF4-FFF2-40B4-BE49-F238E27FC236}">
                <a16:creationId xmlns:a16="http://schemas.microsoft.com/office/drawing/2014/main" id="{9B609382-0497-3E94-0F7D-7B242E41A4E9}"/>
              </a:ext>
            </a:extLst>
          </p:cNvPr>
          <p:cNvCxnSpPr>
            <a:cxnSpLocks/>
          </p:cNvCxnSpPr>
          <p:nvPr/>
        </p:nvCxnSpPr>
        <p:spPr>
          <a:xfrm>
            <a:off x="4677139" y="4546298"/>
            <a:ext cx="0" cy="445236"/>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76" name="Ovaal 75">
            <a:extLst>
              <a:ext uri="{FF2B5EF4-FFF2-40B4-BE49-F238E27FC236}">
                <a16:creationId xmlns:a16="http://schemas.microsoft.com/office/drawing/2014/main" id="{53C1FF39-E341-5A77-8BD9-0D53672E6423}"/>
              </a:ext>
            </a:extLst>
          </p:cNvPr>
          <p:cNvSpPr/>
          <p:nvPr/>
        </p:nvSpPr>
        <p:spPr>
          <a:xfrm>
            <a:off x="4555141" y="4569778"/>
            <a:ext cx="254946" cy="254946"/>
          </a:xfrm>
          <a:prstGeom prst="ellipse">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solidFill>
                  <a:srgbClr val="004D7A"/>
                </a:solidFill>
                <a:ea typeface="Open Sans" panose="020B0606030504020204" pitchFamily="34" charset="0"/>
                <a:cs typeface="Open Sans" panose="020B0606030504020204" pitchFamily="34" charset="0"/>
              </a:rPr>
              <a:t>4</a:t>
            </a:r>
            <a:endParaRPr lang="nl-NL" sz="1200" dirty="0">
              <a:solidFill>
                <a:srgbClr val="004D7A"/>
              </a:solidFill>
            </a:endParaRPr>
          </a:p>
        </p:txBody>
      </p:sp>
      <p:cxnSp>
        <p:nvCxnSpPr>
          <p:cNvPr id="77" name="Straight Arrow Connector 9">
            <a:extLst>
              <a:ext uri="{FF2B5EF4-FFF2-40B4-BE49-F238E27FC236}">
                <a16:creationId xmlns:a16="http://schemas.microsoft.com/office/drawing/2014/main" id="{9183488C-C837-394E-97B9-A0267265623E}"/>
              </a:ext>
            </a:extLst>
          </p:cNvPr>
          <p:cNvCxnSpPr>
            <a:cxnSpLocks/>
          </p:cNvCxnSpPr>
          <p:nvPr/>
        </p:nvCxnSpPr>
        <p:spPr>
          <a:xfrm>
            <a:off x="3593406" y="5850165"/>
            <a:ext cx="0" cy="229333"/>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cxnSp>
        <p:nvCxnSpPr>
          <p:cNvPr id="79" name="Straight Arrow Connector 9">
            <a:extLst>
              <a:ext uri="{FF2B5EF4-FFF2-40B4-BE49-F238E27FC236}">
                <a16:creationId xmlns:a16="http://schemas.microsoft.com/office/drawing/2014/main" id="{1E85E9C5-BF9C-054C-C5B0-459BC0599217}"/>
              </a:ext>
            </a:extLst>
          </p:cNvPr>
          <p:cNvCxnSpPr>
            <a:cxnSpLocks/>
          </p:cNvCxnSpPr>
          <p:nvPr/>
        </p:nvCxnSpPr>
        <p:spPr>
          <a:xfrm>
            <a:off x="4643272" y="5850165"/>
            <a:ext cx="0" cy="229333"/>
          </a:xfrm>
          <a:prstGeom prst="straightConnector1">
            <a:avLst/>
          </a:prstGeom>
          <a:ln w="28575">
            <a:solidFill>
              <a:srgbClr val="FFA726"/>
            </a:solidFill>
            <a:tailEnd type="arrow"/>
          </a:ln>
        </p:spPr>
        <p:style>
          <a:lnRef idx="1">
            <a:schemeClr val="accent1"/>
          </a:lnRef>
          <a:fillRef idx="0">
            <a:schemeClr val="accent1"/>
          </a:fillRef>
          <a:effectRef idx="0">
            <a:schemeClr val="accent1"/>
          </a:effectRef>
          <a:fontRef idx="minor">
            <a:schemeClr val="tx1"/>
          </a:fontRef>
        </p:style>
      </p:cxnSp>
      <p:sp>
        <p:nvSpPr>
          <p:cNvPr id="80" name="Rectangle: Rounded Corners 30">
            <a:extLst>
              <a:ext uri="{FF2B5EF4-FFF2-40B4-BE49-F238E27FC236}">
                <a16:creationId xmlns:a16="http://schemas.microsoft.com/office/drawing/2014/main" id="{62A15905-06A6-883A-1D44-480C594CAE67}"/>
              </a:ext>
            </a:extLst>
          </p:cNvPr>
          <p:cNvSpPr/>
          <p:nvPr/>
        </p:nvSpPr>
        <p:spPr>
          <a:xfrm>
            <a:off x="731902" y="6079498"/>
            <a:ext cx="2153387" cy="547728"/>
          </a:xfrm>
          <a:prstGeom prst="roundRect">
            <a:avLst>
              <a:gd name="adj" fmla="val 7057"/>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200" i="1" noProof="0" dirty="0">
                <a:solidFill>
                  <a:srgbClr val="B7D6E1"/>
                </a:solidFill>
                <a:latin typeface="Open Sans" panose="020B0606030504020204" pitchFamily="34" charset="0"/>
                <a:ea typeface="Open Sans" panose="020B0606030504020204" pitchFamily="34" charset="0"/>
                <a:cs typeface="Open Sans" panose="020B0606030504020204" pitchFamily="34" charset="0"/>
              </a:rPr>
              <a:t>Manager of project facility and investment facility</a:t>
            </a:r>
            <a:endParaRPr lang="en-GB" sz="1000" i="1" noProof="0" dirty="0">
              <a:solidFill>
                <a:srgbClr val="B7D6E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81" name="Afgeronde rechthoek 101">
            <a:extLst>
              <a:ext uri="{FF2B5EF4-FFF2-40B4-BE49-F238E27FC236}">
                <a16:creationId xmlns:a16="http://schemas.microsoft.com/office/drawing/2014/main" id="{DE0D0F71-E4D1-3598-ECE8-AF475E540640}"/>
              </a:ext>
            </a:extLst>
          </p:cNvPr>
          <p:cNvSpPr/>
          <p:nvPr/>
        </p:nvSpPr>
        <p:spPr>
          <a:xfrm>
            <a:off x="6170428" y="1865701"/>
            <a:ext cx="5603363" cy="4698356"/>
          </a:xfrm>
          <a:prstGeom prst="roundRect">
            <a:avLst>
              <a:gd name="adj" fmla="val 6217"/>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rIns="288000" rtlCol="0" anchor="ctr"/>
          <a:lstStyle/>
          <a:p>
            <a:pPr marL="0" marR="0" lvl="0" indent="0" algn="l" defTabSz="914400" rtl="0" eaLnBrk="1" fontAlgn="auto" latinLnBrk="0" hangingPunct="1">
              <a:lnSpc>
                <a:spcPct val="100000"/>
              </a:lnSpc>
              <a:spcBef>
                <a:spcPts val="600"/>
              </a:spcBef>
              <a:spcAft>
                <a:spcPts val="600"/>
              </a:spcAft>
              <a:buClr>
                <a:srgbClr val="E4A039"/>
              </a:buClr>
              <a:buSzPct val="100000"/>
              <a:buFontTx/>
              <a:buNone/>
              <a:tabLst/>
              <a:defRPr/>
            </a:pPr>
            <a:r>
              <a:rPr kumimoji="0" lang="en-GB" sz="1600" b="1" i="0" u="none" strike="noStrike" kern="1200" cap="none" spc="0" normalizeH="0" baseline="0" noProof="0" dirty="0">
                <a:ln>
                  <a:noFill/>
                </a:ln>
                <a:solidFill>
                  <a:srgbClr val="FFB703"/>
                </a:solidFill>
                <a:effectLst/>
                <a:uLnTx/>
                <a:uFillTx/>
                <a:latin typeface="Raleway"/>
                <a:ea typeface="+mn-ea"/>
                <a:cs typeface="+mn-cs"/>
              </a:rPr>
              <a:t>$2B+ Global Water Investment Facility</a:t>
            </a:r>
          </a:p>
          <a:p>
            <a:pPr marL="342900" marR="0" lvl="0" indent="-342900" algn="l" defTabSz="914400" rtl="0" eaLnBrk="1" fontAlgn="auto" latinLnBrk="0" hangingPunct="1">
              <a:lnSpc>
                <a:spcPct val="100000"/>
              </a:lnSpc>
              <a:spcBef>
                <a:spcPts val="1200"/>
              </a:spcBef>
              <a:spcAft>
                <a:spcPts val="600"/>
              </a:spcAft>
              <a:buClr>
                <a:srgbClr val="E4A039"/>
              </a:buClr>
              <a:buSzPct val="100000"/>
              <a:buFontTx/>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Financial sponsors include Aqua for All and the Governments of the Netherlands and Luxemburg.</a:t>
            </a:r>
          </a:p>
          <a:p>
            <a:pPr marL="342900" marR="0" lvl="0" indent="-342900" algn="l" defTabSz="914400" rtl="0" eaLnBrk="1" fontAlgn="auto" latinLnBrk="0" hangingPunct="1">
              <a:lnSpc>
                <a:spcPct val="100000"/>
              </a:lnSpc>
              <a:spcBef>
                <a:spcPts val="600"/>
              </a:spcBef>
              <a:spcAft>
                <a:spcPts val="600"/>
              </a:spcAft>
              <a:buClr>
                <a:srgbClr val="E4A039"/>
              </a:buClr>
              <a:buSzPct val="100000"/>
              <a:buFontTx/>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Initial funding is pooled in a project facility and transferred to the investment facility after feasibility and registration.</a:t>
            </a:r>
          </a:p>
          <a:p>
            <a:pPr marL="342900" marR="0" lvl="0" indent="-342900" algn="l" defTabSz="914400" rtl="0" eaLnBrk="1" fontAlgn="auto" latinLnBrk="0" hangingPunct="1">
              <a:lnSpc>
                <a:spcPct val="100000"/>
              </a:lnSpc>
              <a:spcBef>
                <a:spcPts val="600"/>
              </a:spcBef>
              <a:spcAft>
                <a:spcPts val="600"/>
              </a:spcAft>
              <a:buClr>
                <a:srgbClr val="E4A039"/>
              </a:buClr>
              <a:buSzPct val="100000"/>
              <a:buFontTx/>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Corporates and catalytic investors invest in a facility registered in the Netherlands or Luxembourg. Catalytic capital de-risks corporate participation and can be ring-fenced into dedicated sleeves for targeted strategies.</a:t>
            </a:r>
          </a:p>
          <a:p>
            <a:pPr marL="342900" marR="0" lvl="0" indent="-342900" algn="l" defTabSz="914400" rtl="0" eaLnBrk="1" fontAlgn="auto" latinLnBrk="0" hangingPunct="1">
              <a:lnSpc>
                <a:spcPct val="100000"/>
              </a:lnSpc>
              <a:spcBef>
                <a:spcPts val="600"/>
              </a:spcBef>
              <a:spcAft>
                <a:spcPts val="600"/>
              </a:spcAft>
              <a:buClr>
                <a:srgbClr val="E4A039"/>
              </a:buClr>
              <a:buSzPct val="100000"/>
              <a:buFontTx/>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The facility invests in water resilience opportunities, with co-investment options for corporates and catalytic investors.</a:t>
            </a:r>
          </a:p>
          <a:p>
            <a:pPr marL="342900" marR="0" lvl="0" indent="-342900" algn="l" defTabSz="914400" rtl="0" eaLnBrk="1" fontAlgn="auto" latinLnBrk="0" hangingPunct="1">
              <a:lnSpc>
                <a:spcPct val="100000"/>
              </a:lnSpc>
              <a:spcBef>
                <a:spcPts val="600"/>
              </a:spcBef>
              <a:spcAft>
                <a:spcPts val="600"/>
              </a:spcAft>
              <a:buClr>
                <a:srgbClr val="E4A039"/>
              </a:buClr>
              <a:buSzPct val="100000"/>
              <a:buFontTx/>
              <a:buAutoNum type="arabicPeriod"/>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Opportunities deliver positive IRR and strategic benefits such as value chain resilience, climate risk mitigation, and enhanced social license to operate.</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82" name="TextBox 29">
            <a:extLst>
              <a:ext uri="{FF2B5EF4-FFF2-40B4-BE49-F238E27FC236}">
                <a16:creationId xmlns:a16="http://schemas.microsoft.com/office/drawing/2014/main" id="{059AC120-27EC-5792-E15A-E1FB7AC6F730}"/>
              </a:ext>
            </a:extLst>
          </p:cNvPr>
          <p:cNvSpPr txBox="1"/>
          <p:nvPr/>
        </p:nvSpPr>
        <p:spPr>
          <a:xfrm>
            <a:off x="580327" y="1387562"/>
            <a:ext cx="114450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 blended finance mechanism for converting capital into financial and impact returns</a:t>
            </a:r>
          </a:p>
        </p:txBody>
      </p:sp>
    </p:spTree>
    <p:extLst>
      <p:ext uri="{BB962C8B-B14F-4D97-AF65-F5344CB8AC3E}">
        <p14:creationId xmlns:p14="http://schemas.microsoft.com/office/powerpoint/2010/main" val="3578349064"/>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Facility Structure - INDICATIVE</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5">
            <a:extLst>
              <a:ext uri="{FF2B5EF4-FFF2-40B4-BE49-F238E27FC236}">
                <a16:creationId xmlns:a16="http://schemas.microsoft.com/office/drawing/2014/main" id="{4D013BAA-FDB1-16F2-B067-7F84C42A39E2}"/>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Tree>
    <p:extLst>
      <p:ext uri="{BB962C8B-B14F-4D97-AF65-F5344CB8AC3E}">
        <p14:creationId xmlns:p14="http://schemas.microsoft.com/office/powerpoint/2010/main" val="21477774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Investment Terms - INDICATIVE</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11">
            <a:extLst>
              <a:ext uri="{FF2B5EF4-FFF2-40B4-BE49-F238E27FC236}">
                <a16:creationId xmlns:a16="http://schemas.microsoft.com/office/drawing/2014/main" id="{36B2BCD8-1258-D573-CD36-577DB714AA68}"/>
              </a:ext>
            </a:extLst>
          </p:cNvPr>
          <p:cNvSpPr txBox="1"/>
          <p:nvPr/>
        </p:nvSpPr>
        <p:spPr>
          <a:xfrm>
            <a:off x="631893" y="1998975"/>
            <a:ext cx="5464108" cy="341632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Commercially viable: </a:t>
            </a:r>
            <a:r>
              <a:rPr kumimoji="0" lang="en-GB" sz="1200" b="0" i="0" u="none" strike="noStrike" kern="1200" cap="none" spc="0" normalizeH="0" baseline="0" noProof="0" dirty="0">
                <a:ln>
                  <a:noFill/>
                </a:ln>
                <a:solidFill>
                  <a:prstClr val="white"/>
                </a:solidFill>
                <a:effectLst/>
                <a:uLnTx/>
                <a:uFillTx/>
                <a:latin typeface="Open Sans"/>
                <a:ea typeface="+mn-ea"/>
                <a:cs typeface="+mn-cs"/>
              </a:rPr>
              <a:t>Investments need to be commercially viable to focus on preservation of economic capital and minimise expected losses. Where required, project preparation and</a:t>
            </a:r>
            <a:r>
              <a:rPr kumimoji="0" lang="en-GB" sz="1200" b="0" i="0" u="none" strike="noStrike" kern="1200" cap="none" spc="0" normalizeH="0" baseline="0" noProof="0" dirty="0">
                <a:ln>
                  <a:noFill/>
                </a:ln>
                <a:solidFill>
                  <a:srgbClr val="B7D6E1"/>
                </a:solidFill>
                <a:effectLst/>
                <a:uLnTx/>
                <a:uFillTx/>
                <a:latin typeface="Open Sans"/>
                <a:ea typeface="+mn-ea"/>
                <a:cs typeface="+mn-cs"/>
              </a:rPr>
              <a:t> technical assistance </a:t>
            </a:r>
            <a:r>
              <a:rPr kumimoji="0" lang="en-GB" sz="1200" b="0" i="0" u="none" strike="noStrike" kern="1200" cap="none" spc="0" normalizeH="0" baseline="0" noProof="0" dirty="0">
                <a:ln>
                  <a:noFill/>
                </a:ln>
                <a:solidFill>
                  <a:prstClr val="white"/>
                </a:solidFill>
                <a:effectLst/>
                <a:uLnTx/>
                <a:uFillTx/>
                <a:latin typeface="Open Sans"/>
                <a:ea typeface="+mn-ea"/>
                <a:cs typeface="+mn-cs"/>
              </a:rPr>
              <a:t>will be offered as part of the financing package.</a:t>
            </a:r>
          </a:p>
          <a:p>
            <a:pPr marR="0" lvl="0" algn="l" defTabSz="9144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Selective / Additional: </a:t>
            </a:r>
            <a:r>
              <a:rPr kumimoji="0" lang="en-GB" sz="1200" b="0" i="0" u="none" strike="noStrike" kern="1200" cap="none" spc="0" normalizeH="0" baseline="0" noProof="0" dirty="0">
                <a:ln>
                  <a:noFill/>
                </a:ln>
                <a:solidFill>
                  <a:prstClr val="white"/>
                </a:solidFill>
                <a:effectLst/>
                <a:uLnTx/>
                <a:uFillTx/>
                <a:latin typeface="Open Sans"/>
                <a:ea typeface="+mn-ea"/>
                <a:cs typeface="+mn-cs"/>
              </a:rPr>
              <a:t>Addressing gaps in the market. Start with the need/ challenge and work backwards integrating impact and ESG assessments based on the facility’s impact and ESG policies and international best practice standards.</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Focus on speed: </a:t>
            </a:r>
            <a:r>
              <a:rPr kumimoji="0" lang="en-GB" sz="1200" b="0" i="0" u="none" strike="noStrike" kern="1200" cap="none" spc="0" normalizeH="0" baseline="0" noProof="0" dirty="0">
                <a:ln>
                  <a:noFill/>
                </a:ln>
                <a:solidFill>
                  <a:prstClr val="white"/>
                </a:solidFill>
                <a:effectLst/>
                <a:uLnTx/>
                <a:uFillTx/>
                <a:latin typeface="Open Sans"/>
                <a:ea typeface="+mn-ea"/>
                <a:cs typeface="+mn-cs"/>
              </a:rPr>
              <a:t>Execution is key. The water challenge is an urgent issue needing an urgent solution. Aggregation and a programmatic approach will accelerate the deployment timeline. </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Partnerships: </a:t>
            </a:r>
            <a:r>
              <a:rPr kumimoji="0" lang="en-GB" sz="1200" b="0" i="0" u="none" strike="noStrike" kern="1200" cap="none" spc="0" normalizeH="0" baseline="0" noProof="0" dirty="0">
                <a:ln>
                  <a:noFill/>
                </a:ln>
                <a:solidFill>
                  <a:prstClr val="white"/>
                </a:solidFill>
                <a:effectLst/>
                <a:uLnTx/>
                <a:uFillTx/>
                <a:latin typeface="Open Sans"/>
                <a:ea typeface="+mn-ea"/>
                <a:cs typeface="+mn-cs"/>
              </a:rPr>
              <a:t>Collaborative mindset. We can’t do this alone and look forward to working with leaders and stakeholders in the resilient water finance space.</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2" name="TextBox 29">
            <a:extLst>
              <a:ext uri="{FF2B5EF4-FFF2-40B4-BE49-F238E27FC236}">
                <a16:creationId xmlns:a16="http://schemas.microsoft.com/office/drawing/2014/main" id="{4574F450-30DD-19F7-8D26-A5DEE6C96584}"/>
              </a:ext>
            </a:extLst>
          </p:cNvPr>
          <p:cNvSpPr txBox="1"/>
          <p:nvPr/>
        </p:nvSpPr>
        <p:spPr>
          <a:xfrm>
            <a:off x="580328" y="1387562"/>
            <a:ext cx="6526619"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Deployment of capital across a diversified portfolio</a:t>
            </a:r>
          </a:p>
        </p:txBody>
      </p:sp>
      <p:graphicFrame>
        <p:nvGraphicFramePr>
          <p:cNvPr id="17" name="Table 16">
            <a:extLst>
              <a:ext uri="{FF2B5EF4-FFF2-40B4-BE49-F238E27FC236}">
                <a16:creationId xmlns:a16="http://schemas.microsoft.com/office/drawing/2014/main" id="{B9F73EBD-05B2-D1DA-6FE0-E5653D288655}"/>
              </a:ext>
            </a:extLst>
          </p:cNvPr>
          <p:cNvGraphicFramePr>
            <a:graphicFrameLocks noGrp="1"/>
          </p:cNvGraphicFramePr>
          <p:nvPr>
            <p:extLst>
              <p:ext uri="{D42A27DB-BD31-4B8C-83A1-F6EECF244321}">
                <p14:modId xmlns:p14="http://schemas.microsoft.com/office/powerpoint/2010/main" val="3934778026"/>
              </p:ext>
            </p:extLst>
          </p:nvPr>
        </p:nvGraphicFramePr>
        <p:xfrm>
          <a:off x="6367748" y="1561089"/>
          <a:ext cx="5391860" cy="4691771"/>
        </p:xfrm>
        <a:graphic>
          <a:graphicData uri="http://schemas.openxmlformats.org/drawingml/2006/table">
            <a:tbl>
              <a:tblPr firstRow="1" bandRow="1">
                <a:tableStyleId>{5C22544A-7EE6-4342-B048-85BDC9FD1C3A}</a:tableStyleId>
              </a:tblPr>
              <a:tblGrid>
                <a:gridCol w="978239">
                  <a:extLst>
                    <a:ext uri="{9D8B030D-6E8A-4147-A177-3AD203B41FA5}">
                      <a16:colId xmlns:a16="http://schemas.microsoft.com/office/drawing/2014/main" val="3295926270"/>
                    </a:ext>
                  </a:extLst>
                </a:gridCol>
                <a:gridCol w="4413621">
                  <a:extLst>
                    <a:ext uri="{9D8B030D-6E8A-4147-A177-3AD203B41FA5}">
                      <a16:colId xmlns:a16="http://schemas.microsoft.com/office/drawing/2014/main" val="757118891"/>
                    </a:ext>
                  </a:extLst>
                </a:gridCol>
              </a:tblGrid>
              <a:tr h="405929">
                <a:tc gridSpan="2">
                  <a:txBody>
                    <a:bodyPr/>
                    <a:lstStyle/>
                    <a:p>
                      <a:pPr algn="ctr"/>
                      <a:r>
                        <a:rPr lang="en-US" sz="1200" b="1" dirty="0">
                          <a:solidFill>
                            <a:srgbClr val="173E55"/>
                          </a:solidFill>
                          <a:latin typeface="+mj-lt"/>
                        </a:rPr>
                        <a:t>Vehicle Key Terms (indicative)</a:t>
                      </a:r>
                      <a:endParaRPr lang="en-KE" sz="1200" b="1">
                        <a:solidFill>
                          <a:srgbClr val="173E55"/>
                        </a:solidFill>
                        <a:latin typeface="+mj-lt"/>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FFA726"/>
                    </a:solidFill>
                  </a:tcPr>
                </a:tc>
                <a:tc hMerge="1">
                  <a:txBody>
                    <a:bodyPr/>
                    <a:lstStyle/>
                    <a:p>
                      <a:endParaRPr lang="en-KE"/>
                    </a:p>
                  </a:txBody>
                  <a:tcP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2564715794"/>
                  </a:ext>
                </a:extLst>
              </a:tr>
              <a:tr h="377288">
                <a:tc>
                  <a:txBody>
                    <a:bodyPr/>
                    <a:lstStyle/>
                    <a:p>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b="1" dirty="0">
                          <a:solidFill>
                            <a:srgbClr val="FFFFFF"/>
                          </a:solidFill>
                        </a:rPr>
                        <a:t>Global Water Investment </a:t>
                      </a:r>
                      <a:r>
                        <a:rPr lang="en-US" sz="1000" b="1" dirty="0" err="1">
                          <a:solidFill>
                            <a:srgbClr val="FFFFFF"/>
                          </a:solidFill>
                        </a:rPr>
                        <a:t>Faclity</a:t>
                      </a:r>
                      <a:r>
                        <a:rPr lang="en-US" sz="1000" b="1" dirty="0">
                          <a:solidFill>
                            <a:srgbClr val="FFFFFF"/>
                          </a:solidFill>
                        </a:rPr>
                        <a:t> </a:t>
                      </a:r>
                      <a:endParaRPr lang="en-KE" sz="1000" b="1">
                        <a:solidFill>
                          <a:srgbClr val="FFFFFF"/>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173E55"/>
                    </a:solidFill>
                  </a:tcPr>
                </a:tc>
                <a:extLst>
                  <a:ext uri="{0D108BD9-81ED-4DB2-BD59-A6C34878D82A}">
                    <a16:rowId xmlns:a16="http://schemas.microsoft.com/office/drawing/2014/main" val="2623841184"/>
                  </a:ext>
                </a:extLst>
              </a:tr>
              <a:tr h="509195">
                <a:tc>
                  <a:txBody>
                    <a:bodyPr/>
                    <a:lstStyle/>
                    <a:p>
                      <a:r>
                        <a:rPr lang="en-US" sz="1000" dirty="0">
                          <a:solidFill>
                            <a:srgbClr val="173E55"/>
                          </a:solidFill>
                        </a:rPr>
                        <a:t>Vehicle overview</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Closed-end Fund of Funds; Target Size: USD 1.5B; Term: 10–15 years; Geography: global</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643743612"/>
                  </a:ext>
                </a:extLst>
              </a:tr>
              <a:tr h="366621">
                <a:tc>
                  <a:txBody>
                    <a:bodyPr/>
                    <a:lstStyle/>
                    <a:p>
                      <a:r>
                        <a:rPr lang="en-US" sz="1000" dirty="0">
                          <a:solidFill>
                            <a:srgbClr val="173E55"/>
                          </a:solidFill>
                        </a:rPr>
                        <a:t>Investor base</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Corporate investors</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328657920"/>
                  </a:ext>
                </a:extLst>
              </a:tr>
              <a:tr h="794345">
                <a:tc>
                  <a:txBody>
                    <a:bodyPr/>
                    <a:lstStyle/>
                    <a:p>
                      <a:r>
                        <a:rPr lang="en-US" sz="1000" dirty="0">
                          <a:solidFill>
                            <a:srgbClr val="173E55"/>
                          </a:solidFill>
                        </a:rPr>
                        <a:t>Investment strategy</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Diversified exposure across Infrastructure, Nature-Based Solutions, Financial Institutions &amp; SMEs; Global focus on priority water basins; Instruments: Private Equity; Ticket size: USD 10–50m</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520098146"/>
                  </a:ext>
                </a:extLst>
              </a:tr>
              <a:tr h="0">
                <a:tc>
                  <a:txBody>
                    <a:bodyPr/>
                    <a:lstStyle/>
                    <a:p>
                      <a:r>
                        <a:rPr lang="en-US" sz="1000" dirty="0">
                          <a:solidFill>
                            <a:srgbClr val="173E55"/>
                          </a:solidFill>
                        </a:rPr>
                        <a:t>Capital commitment</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Minimum commitment: USD 25m; Capital calls over 5 years</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307759601"/>
                  </a:ext>
                </a:extLst>
              </a:tr>
              <a:tr h="397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173E55"/>
                          </a:solidFill>
                        </a:rPr>
                        <a:t>Fundraising timeline</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First Close: Dec 2026 (USD 250m); </a:t>
                      </a:r>
                    </a:p>
                    <a:p>
                      <a:r>
                        <a:rPr lang="en-US" sz="1000" dirty="0">
                          <a:solidFill>
                            <a:srgbClr val="173E55"/>
                          </a:solidFill>
                        </a:rPr>
                        <a:t>Final Close: Dec 2028 (USD 1.5B)</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2288449141"/>
                  </a:ext>
                </a:extLst>
              </a:tr>
              <a:tr h="3666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solidFill>
                            <a:srgbClr val="173E55"/>
                          </a:solidFill>
                        </a:rPr>
                        <a:t>Governance</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GP-managed; LPs: corporate investors; Advisory Committee: up to 6 LPs</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69968842"/>
                  </a:ext>
                </a:extLst>
              </a:tr>
              <a:tr h="366621">
                <a:tc>
                  <a:txBody>
                    <a:bodyPr/>
                    <a:lstStyle/>
                    <a:p>
                      <a:r>
                        <a:rPr lang="en-US" sz="1000" dirty="0">
                          <a:solidFill>
                            <a:srgbClr val="173E55"/>
                          </a:solidFill>
                        </a:rPr>
                        <a:t>Return and fees</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Target IRR: 5–8% gross; Management fee: 1%; ESG &amp; ecosystem support: 0.25% each</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460427271"/>
                  </a:ext>
                </a:extLst>
              </a:tr>
              <a:tr h="651770">
                <a:tc>
                  <a:txBody>
                    <a:bodyPr/>
                    <a:lstStyle/>
                    <a:p>
                      <a:r>
                        <a:rPr lang="en-US" sz="1000" dirty="0">
                          <a:solidFill>
                            <a:srgbClr val="173E55"/>
                          </a:solidFill>
                        </a:rPr>
                        <a:t>Exit strategy</a:t>
                      </a:r>
                      <a:endParaRPr lang="en-KE" sz="1000">
                        <a:solidFill>
                          <a:srgbClr val="173E55"/>
                        </a:solidFill>
                      </a:endParaRP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rgbClr val="B7D6E1"/>
                    </a:solidFill>
                  </a:tcPr>
                </a:tc>
                <a:tc>
                  <a:txBody>
                    <a:bodyPr/>
                    <a:lstStyle/>
                    <a:p>
                      <a:r>
                        <a:rPr lang="en-US" sz="1000" dirty="0">
                          <a:solidFill>
                            <a:srgbClr val="173E55"/>
                          </a:solidFill>
                        </a:rPr>
                        <a:t>From year 10 onwards in line with capital waterfall consideration and respective investors’ needs and repayment from underlying portfolio.</a:t>
                      </a:r>
                    </a:p>
                  </a:txBody>
                  <a:tcPr anchor="ctr">
                    <a:lnL w="12700" cap="flat" cmpd="sng" algn="ctr">
                      <a:solidFill>
                        <a:srgbClr val="173E55"/>
                      </a:solidFill>
                      <a:prstDash val="solid"/>
                      <a:round/>
                      <a:headEnd type="none" w="med" len="med"/>
                      <a:tailEnd type="none" w="med" len="med"/>
                    </a:lnL>
                    <a:lnR w="12700" cap="flat" cmpd="sng" algn="ctr">
                      <a:solidFill>
                        <a:srgbClr val="173E55"/>
                      </a:solidFill>
                      <a:prstDash val="solid"/>
                      <a:round/>
                      <a:headEnd type="none" w="med" len="med"/>
                      <a:tailEnd type="none" w="med" len="med"/>
                    </a:lnR>
                    <a:lnT w="12700" cap="flat" cmpd="sng" algn="ctr">
                      <a:solidFill>
                        <a:srgbClr val="173E55"/>
                      </a:solidFill>
                      <a:prstDash val="solid"/>
                      <a:round/>
                      <a:headEnd type="none" w="med" len="med"/>
                      <a:tailEnd type="none" w="med" len="med"/>
                    </a:lnT>
                    <a:lnB w="12700" cap="flat" cmpd="sng" algn="ctr">
                      <a:solidFill>
                        <a:srgbClr val="173E55"/>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394625216"/>
                  </a:ext>
                </a:extLst>
              </a:tr>
            </a:tbl>
          </a:graphicData>
        </a:graphic>
      </p:graphicFrame>
    </p:spTree>
    <p:extLst>
      <p:ext uri="{BB962C8B-B14F-4D97-AF65-F5344CB8AC3E}">
        <p14:creationId xmlns:p14="http://schemas.microsoft.com/office/powerpoint/2010/main" val="40941019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40" name="Afgeronde rechthoek 39">
            <a:extLst>
              <a:ext uri="{FF2B5EF4-FFF2-40B4-BE49-F238E27FC236}">
                <a16:creationId xmlns:a16="http://schemas.microsoft.com/office/drawing/2014/main" id="{CF46A489-D538-6816-CF7B-83C18D42219F}"/>
              </a:ext>
            </a:extLst>
          </p:cNvPr>
          <p:cNvSpPr/>
          <p:nvPr/>
        </p:nvSpPr>
        <p:spPr>
          <a:xfrm>
            <a:off x="631891" y="5470438"/>
            <a:ext cx="6704573" cy="1174905"/>
          </a:xfrm>
          <a:prstGeom prst="round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A Blended Finance Approach to Fundraising</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4574F450-30DD-19F7-8D26-A5DEE6C96584}"/>
              </a:ext>
            </a:extLst>
          </p:cNvPr>
          <p:cNvSpPr txBox="1"/>
          <p:nvPr/>
        </p:nvSpPr>
        <p:spPr>
          <a:xfrm>
            <a:off x="580328" y="1387562"/>
            <a:ext cx="652661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With an intent to structure the vehicle to respond to the pipeline of transactions including in emerging markets</a:t>
            </a:r>
          </a:p>
        </p:txBody>
      </p:sp>
      <p:sp>
        <p:nvSpPr>
          <p:cNvPr id="3" name="TextBox 11">
            <a:extLst>
              <a:ext uri="{FF2B5EF4-FFF2-40B4-BE49-F238E27FC236}">
                <a16:creationId xmlns:a16="http://schemas.microsoft.com/office/drawing/2014/main" id="{36B2BCD8-1258-D573-CD36-577DB714AA68}"/>
              </a:ext>
            </a:extLst>
          </p:cNvPr>
          <p:cNvSpPr txBox="1"/>
          <p:nvPr/>
        </p:nvSpPr>
        <p:spPr>
          <a:xfrm>
            <a:off x="631892" y="1998975"/>
            <a:ext cx="6704573" cy="360098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First tranche of seed capital secured: </a:t>
            </a:r>
            <a:r>
              <a:rPr kumimoji="0" lang="en-GB" sz="1200" b="0" i="0" u="none" strike="noStrike" kern="1200" cap="none" spc="0" normalizeH="0" baseline="0" noProof="0" dirty="0">
                <a:ln>
                  <a:noFill/>
                </a:ln>
                <a:solidFill>
                  <a:prstClr val="white"/>
                </a:solidFill>
                <a:effectLst/>
                <a:uLnTx/>
                <a:uFillTx/>
                <a:latin typeface="Open Sans"/>
                <a:ea typeface="+mn-ea"/>
                <a:cs typeface="+mn-cs"/>
              </a:rPr>
              <a:t>The Government of the Netherlands has committed its support to the Vehicle. Through Aqua for All it will provide EUR 250k funding to design the vehicle. The Government of Luxemburg will make a support statement at the WEF 2026 and has committed EUR 400-500k seed capital to set up the vehicle, disbursed in two tranches in 2026 – 2027. The WRC has initially committed for an amount of EUR 75k.</a:t>
            </a:r>
          </a:p>
          <a:p>
            <a:pPr marR="0" lvl="0" algn="l" defTabSz="914400" rtl="0" eaLnBrk="1" fontAlgn="auto" latinLnBrk="0" hangingPunct="1">
              <a:lnSpc>
                <a:spcPct val="100000"/>
              </a:lnSpc>
              <a:spcBef>
                <a:spcPts val="0"/>
              </a:spcBef>
              <a:spcAft>
                <a:spcPts val="0"/>
              </a:spcAft>
              <a:buClrTx/>
              <a:buSzTx/>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Investors in the vehicle:  </a:t>
            </a:r>
            <a:r>
              <a:rPr kumimoji="0" lang="en-GB" sz="1200" b="0" i="0" u="none" strike="noStrike" kern="1200" cap="none" spc="0" normalizeH="0" baseline="0" noProof="0" dirty="0">
                <a:ln>
                  <a:noFill/>
                </a:ln>
                <a:solidFill>
                  <a:prstClr val="white"/>
                </a:solidFill>
                <a:effectLst/>
                <a:uLnTx/>
                <a:uFillTx/>
                <a:latin typeface="Open Sans"/>
                <a:ea typeface="+mn-ea"/>
                <a:cs typeface="+mn-cs"/>
              </a:rPr>
              <a:t>The first corporate has expressed willingness to invest USD 50 million in the vehicle by end 2026. As per the diagram in slide 6, corporate investments are expected to scale up rapidly.  </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Funders of the vehicle</a:t>
            </a:r>
            <a:r>
              <a:rPr kumimoji="0" lang="en-GB" sz="1200" b="0" i="0" u="none" strike="noStrike" kern="1200" cap="none" spc="0" normalizeH="0" baseline="0" noProof="0" dirty="0">
                <a:ln>
                  <a:noFill/>
                </a:ln>
                <a:solidFill>
                  <a:prstClr val="white"/>
                </a:solidFill>
                <a:effectLst/>
                <a:uLnTx/>
                <a:uFillTx/>
                <a:latin typeface="Open Sans"/>
                <a:ea typeface="+mn-ea"/>
                <a:cs typeface="+mn-cs"/>
              </a:rPr>
              <a:t>: The team has an extensive network in both developed and developing countries with a mix of potential financiers, including private investors, concessional donors, development partners and institutions and family offices.</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GB" sz="1200" b="1" i="0" u="none" strike="noStrike" kern="1200" cap="none" spc="0" normalizeH="0" baseline="0" noProof="0" dirty="0">
                <a:ln>
                  <a:noFill/>
                </a:ln>
                <a:solidFill>
                  <a:srgbClr val="B7D6E1"/>
                </a:solidFill>
                <a:effectLst/>
                <a:uLnTx/>
                <a:uFillTx/>
                <a:latin typeface="Open Sans"/>
                <a:ea typeface="+mn-ea"/>
                <a:cs typeface="+mn-cs"/>
              </a:rPr>
              <a:t>Financial structuring capacity and demonstrated fundraising ability: </a:t>
            </a:r>
            <a:r>
              <a:rPr kumimoji="0" lang="en-GB" sz="1200" b="0" i="0" u="none" strike="noStrike" kern="1200" cap="none" spc="0" normalizeH="0" baseline="0" noProof="0" dirty="0">
                <a:ln>
                  <a:noFill/>
                </a:ln>
                <a:solidFill>
                  <a:prstClr val="white"/>
                </a:solidFill>
                <a:effectLst/>
                <a:uLnTx/>
                <a:uFillTx/>
                <a:latin typeface="Open Sans"/>
                <a:ea typeface="+mn-ea"/>
                <a:cs typeface="+mn-cs"/>
              </a:rPr>
              <a:t>The team has led on structuring successful funds and transactions that have mobilized significant private sector capital across developing markets, including, but not limited to:</a:t>
            </a:r>
          </a:p>
          <a:p>
            <a:pPr marL="285750" marR="0" lvl="0" indent="-2857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GB" sz="1200" b="0" i="0" u="none" strike="noStrike" kern="1200" cap="none" spc="0" normalizeH="0" baseline="0" noProof="0" dirty="0">
              <a:ln>
                <a:noFill/>
              </a:ln>
              <a:solidFill>
                <a:prstClr val="white"/>
              </a:solidFill>
              <a:effectLst/>
              <a:uLnTx/>
              <a:uFillTx/>
              <a:latin typeface="Open Sans"/>
              <a:ea typeface="+mn-ea"/>
              <a:cs typeface="+mn-cs"/>
            </a:endParaRPr>
          </a:p>
        </p:txBody>
      </p:sp>
      <p:sp>
        <p:nvSpPr>
          <p:cNvPr id="6" name="Afgeronde rechthoek 101">
            <a:extLst>
              <a:ext uri="{FF2B5EF4-FFF2-40B4-BE49-F238E27FC236}">
                <a16:creationId xmlns:a16="http://schemas.microsoft.com/office/drawing/2014/main" id="{5529DBC9-1C4F-7FAD-E745-FA679B15196A}"/>
              </a:ext>
            </a:extLst>
          </p:cNvPr>
          <p:cNvSpPr/>
          <p:nvPr/>
        </p:nvSpPr>
        <p:spPr>
          <a:xfrm>
            <a:off x="7470408" y="1562351"/>
            <a:ext cx="4359355" cy="5082992"/>
          </a:xfrm>
          <a:prstGeom prst="roundRect">
            <a:avLst>
              <a:gd name="adj" fmla="val 6217"/>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lIns="216000" rIns="288000" rtlCol="0" anchor="ctr"/>
          <a:lstStyle/>
          <a:p>
            <a:pPr marL="0" marR="0" lvl="0" indent="0" algn="l" defTabSz="914400" rtl="0" eaLnBrk="1" fontAlgn="auto" latinLnBrk="0" hangingPunct="1">
              <a:lnSpc>
                <a:spcPct val="100000"/>
              </a:lnSpc>
              <a:spcBef>
                <a:spcPts val="600"/>
              </a:spcBef>
              <a:spcAft>
                <a:spcPts val="600"/>
              </a:spcAft>
              <a:buClr>
                <a:srgbClr val="E4A039"/>
              </a:buClr>
              <a:buSzPct val="100000"/>
              <a:buFontTx/>
              <a:buNone/>
              <a:tabLst/>
              <a:defRPr/>
            </a:pPr>
            <a:r>
              <a:rPr kumimoji="0" lang="en-GB" sz="1600" b="1" i="0" u="none" strike="noStrike" kern="1200" cap="none" spc="0" normalizeH="0" baseline="0" noProof="0" dirty="0">
                <a:ln>
                  <a:noFill/>
                </a:ln>
                <a:solidFill>
                  <a:srgbClr val="FFB703"/>
                </a:solidFill>
                <a:effectLst/>
                <a:uLnTx/>
                <a:uFillTx/>
                <a:latin typeface="Raleway"/>
                <a:ea typeface="+mn-ea"/>
                <a:cs typeface="+mn-cs"/>
              </a:rPr>
              <a:t>Experience in deal sourcing and </a:t>
            </a:r>
            <a:br>
              <a:rPr kumimoji="0" lang="en-GB" sz="1600" b="1" i="0" u="none" strike="noStrike" kern="1200" cap="none" spc="0" normalizeH="0" baseline="0" noProof="0" dirty="0">
                <a:ln>
                  <a:noFill/>
                </a:ln>
                <a:solidFill>
                  <a:srgbClr val="FFB703"/>
                </a:solidFill>
                <a:effectLst/>
                <a:uLnTx/>
                <a:uFillTx/>
                <a:latin typeface="Raleway"/>
                <a:ea typeface="+mn-ea"/>
                <a:cs typeface="+mn-cs"/>
              </a:rPr>
            </a:br>
            <a:r>
              <a:rPr kumimoji="0" lang="en-GB" sz="1600" b="1" i="0" u="none" strike="noStrike" kern="1200" cap="none" spc="0" normalizeH="0" baseline="0" noProof="0" dirty="0">
                <a:ln>
                  <a:noFill/>
                </a:ln>
                <a:solidFill>
                  <a:srgbClr val="FFB703"/>
                </a:solidFill>
                <a:effectLst/>
                <a:uLnTx/>
                <a:uFillTx/>
                <a:latin typeface="Raleway"/>
                <a:ea typeface="+mn-ea"/>
                <a:cs typeface="+mn-cs"/>
              </a:rPr>
              <a:t>transaction management</a:t>
            </a:r>
          </a:p>
          <a:p>
            <a:pPr marL="342900" marR="0" lvl="0" indent="-342900" algn="l" defTabSz="914400" rtl="0" eaLnBrk="1" fontAlgn="auto" latinLnBrk="0" hangingPunct="1">
              <a:lnSpc>
                <a:spcPct val="100000"/>
              </a:lnSpc>
              <a:spcBef>
                <a:spcPts val="1200"/>
              </a:spcBef>
              <a:spcAft>
                <a:spcPts val="600"/>
              </a:spcAft>
              <a:buClr>
                <a:srgbClr val="E4A039"/>
              </a:buClr>
              <a:buSzPct val="100000"/>
              <a:buFont typeface="Courier New" panose="02070309020205020404" pitchFamily="49" charset="0"/>
              <a:buChar char="o"/>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The pipeline for the facility in all regions is strong. In Q1 2026 a market search will be conducted to update the pipeline to include most recent opportunities.</a:t>
            </a:r>
          </a:p>
          <a:p>
            <a:pPr marL="342900" marR="0" lvl="0" indent="-342900" algn="l" defTabSz="914400" rtl="0" eaLnBrk="1" fontAlgn="auto" latinLnBrk="0" hangingPunct="1">
              <a:lnSpc>
                <a:spcPct val="100000"/>
              </a:lnSpc>
              <a:spcBef>
                <a:spcPts val="1200"/>
              </a:spcBef>
              <a:spcAft>
                <a:spcPts val="600"/>
              </a:spcAft>
              <a:buClr>
                <a:srgbClr val="E4A039"/>
              </a:buClr>
              <a:buSzPct val="100000"/>
              <a:buFont typeface="Courier New" panose="02070309020205020404" pitchFamily="49" charset="0"/>
              <a:buChar char="o"/>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The team has extensive experience in originating, structuring and managing deals in developed and developing markets, including in Africa and Asia. All these deals have gone through a robust climate, ESG ,impact and risk assessment (positive and negative) which was signed off on by Boards, independent verifiers, ICs. </a:t>
            </a:r>
          </a:p>
          <a:p>
            <a:pPr marL="342900" marR="0" lvl="0" indent="-342900" algn="l" defTabSz="914400" rtl="0" eaLnBrk="1" fontAlgn="auto" latinLnBrk="0" hangingPunct="1">
              <a:lnSpc>
                <a:spcPct val="100000"/>
              </a:lnSpc>
              <a:spcBef>
                <a:spcPts val="1200"/>
              </a:spcBef>
              <a:spcAft>
                <a:spcPts val="600"/>
              </a:spcAft>
              <a:buClr>
                <a:srgbClr val="E4A039"/>
              </a:buClr>
              <a:buSzPct val="100000"/>
              <a:buFont typeface="Courier New" panose="02070309020205020404" pitchFamily="49" charset="0"/>
              <a:buChar char="o"/>
              <a:tabLst/>
              <a:defRPr/>
            </a:pPr>
            <a:r>
              <a:rPr kumimoji="0" lang="en-GB" sz="1200" b="0" i="0" u="none" strike="noStrike" kern="1200" cap="none" spc="0" normalizeH="0" baseline="0" noProof="0" dirty="0">
                <a:ln>
                  <a:noFill/>
                </a:ln>
                <a:solidFill>
                  <a:prstClr val="white"/>
                </a:solidFill>
                <a:effectLst/>
                <a:uLnTx/>
                <a:uFillTx/>
                <a:latin typeface="Open Sans"/>
                <a:ea typeface="Open Sans"/>
                <a:cs typeface="Open Sans"/>
              </a:rPr>
              <a:t>The team has the required and relevant experience in the targeted sectors and asset classes. Experience with asset management from strategy, business plan development, pipeline development, origination and execution of innovative transactions that set a new benchmark. </a:t>
            </a:r>
            <a:endParaRPr kumimoji="0" lang="nl-NL" sz="1200" b="0" i="0" u="none" strike="noStrike" kern="1200" cap="none" spc="0" normalizeH="0" baseline="0" noProof="0" dirty="0">
              <a:ln>
                <a:noFill/>
              </a:ln>
              <a:solidFill>
                <a:prstClr val="white"/>
              </a:solidFill>
              <a:effectLst/>
              <a:uLnTx/>
              <a:uFillTx/>
              <a:latin typeface="Open Sans"/>
              <a:ea typeface="+mn-ea"/>
              <a:cs typeface="+mn-cs"/>
            </a:endParaRPr>
          </a:p>
        </p:txBody>
      </p:sp>
      <p:pic>
        <p:nvPicPr>
          <p:cNvPr id="17" name="Picture 2" descr="File:Conrad N. Hilton Foundation logo ...">
            <a:extLst>
              <a:ext uri="{FF2B5EF4-FFF2-40B4-BE49-F238E27FC236}">
                <a16:creationId xmlns:a16="http://schemas.microsoft.com/office/drawing/2014/main" id="{B08619C0-B521-81D0-1AD5-A5BED04B995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32563" y="5875217"/>
            <a:ext cx="728739" cy="260403"/>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28">
            <a:extLst>
              <a:ext uri="{FF2B5EF4-FFF2-40B4-BE49-F238E27FC236}">
                <a16:creationId xmlns:a16="http://schemas.microsoft.com/office/drawing/2014/main" id="{0AB390DC-6C9A-925C-07DC-1DF111CF17D8}"/>
              </a:ext>
            </a:extLst>
          </p:cNvPr>
          <p:cNvSpPr txBox="1"/>
          <p:nvPr/>
        </p:nvSpPr>
        <p:spPr>
          <a:xfrm>
            <a:off x="859757" y="5599961"/>
            <a:ext cx="1064736" cy="197934"/>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FFB703"/>
                </a:solidFill>
                <a:effectLst/>
                <a:uLnTx/>
                <a:uFillTx/>
                <a:latin typeface="Raleway"/>
                <a:ea typeface="+mn-ea"/>
                <a:cs typeface="+mn-cs"/>
              </a:rPr>
              <a:t>Public funders:</a:t>
            </a:r>
          </a:p>
        </p:txBody>
      </p:sp>
      <p:sp>
        <p:nvSpPr>
          <p:cNvPr id="33" name="TextBox 29">
            <a:extLst>
              <a:ext uri="{FF2B5EF4-FFF2-40B4-BE49-F238E27FC236}">
                <a16:creationId xmlns:a16="http://schemas.microsoft.com/office/drawing/2014/main" id="{2D5CB265-4562-167A-0EFB-6B9DF5697374}"/>
              </a:ext>
            </a:extLst>
          </p:cNvPr>
          <p:cNvSpPr txBox="1"/>
          <p:nvPr/>
        </p:nvSpPr>
        <p:spPr>
          <a:xfrm>
            <a:off x="2332565" y="5599961"/>
            <a:ext cx="979256" cy="197934"/>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FFB703"/>
                </a:solidFill>
                <a:effectLst/>
                <a:uLnTx/>
                <a:uFillTx/>
                <a:latin typeface="Raleway"/>
                <a:ea typeface="+mn-ea"/>
                <a:cs typeface="+mn-cs"/>
              </a:rPr>
              <a:t>Foundations:</a:t>
            </a:r>
          </a:p>
        </p:txBody>
      </p:sp>
      <p:sp>
        <p:nvSpPr>
          <p:cNvPr id="34" name="TextBox 32">
            <a:extLst>
              <a:ext uri="{FF2B5EF4-FFF2-40B4-BE49-F238E27FC236}">
                <a16:creationId xmlns:a16="http://schemas.microsoft.com/office/drawing/2014/main" id="{C3D49589-DC34-B9BB-AFFB-A1DB7212FDEA}"/>
              </a:ext>
            </a:extLst>
          </p:cNvPr>
          <p:cNvSpPr txBox="1"/>
          <p:nvPr/>
        </p:nvSpPr>
        <p:spPr>
          <a:xfrm>
            <a:off x="4946791" y="5599961"/>
            <a:ext cx="1064735" cy="197934"/>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FFB703"/>
                </a:solidFill>
                <a:effectLst/>
                <a:uLnTx/>
                <a:uFillTx/>
                <a:latin typeface="Raleway"/>
                <a:ea typeface="+mn-ea"/>
                <a:cs typeface="+mn-cs"/>
              </a:rPr>
              <a:t>Private partners:</a:t>
            </a:r>
          </a:p>
        </p:txBody>
      </p:sp>
      <p:pic>
        <p:nvPicPr>
          <p:cNvPr id="36" name="Picture 4" descr="Coca-Cola Foundation - Acted">
            <a:extLst>
              <a:ext uri="{FF2B5EF4-FFF2-40B4-BE49-F238E27FC236}">
                <a16:creationId xmlns:a16="http://schemas.microsoft.com/office/drawing/2014/main" id="{632F6E25-E3BA-DCA0-4803-6BD8C994CA0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68308" y="6188024"/>
            <a:ext cx="468747" cy="27171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Ministry of Foreign Affairs of the ...">
            <a:extLst>
              <a:ext uri="{FF2B5EF4-FFF2-40B4-BE49-F238E27FC236}">
                <a16:creationId xmlns:a16="http://schemas.microsoft.com/office/drawing/2014/main" id="{3A2B6BC7-180A-987B-49F0-24B9B3BC5ED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22429" y="5902070"/>
            <a:ext cx="544431" cy="20847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Swiss Agency for Development and ...">
            <a:extLst>
              <a:ext uri="{FF2B5EF4-FFF2-40B4-BE49-F238E27FC236}">
                <a16:creationId xmlns:a16="http://schemas.microsoft.com/office/drawing/2014/main" id="{BB78C843-228D-E07D-CF86-F1FD729BEC6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22429" y="6148003"/>
            <a:ext cx="597870" cy="39785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0" descr="Triple Jump / Dutch Good Growth Fund – VC4A">
            <a:extLst>
              <a:ext uri="{FF2B5EF4-FFF2-40B4-BE49-F238E27FC236}">
                <a16:creationId xmlns:a16="http://schemas.microsoft.com/office/drawing/2014/main" id="{2B640530-5244-0508-6C34-9366E502C38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615928" y="5544045"/>
            <a:ext cx="711998" cy="711998"/>
          </a:xfrm>
          <a:prstGeom prst="rect">
            <a:avLst/>
          </a:prstGeom>
          <a:noFill/>
          <a:extLst>
            <a:ext uri="{909E8E84-426E-40DD-AFC4-6F175D3DCCD1}">
              <a14:hiddenFill xmlns:a14="http://schemas.microsoft.com/office/drawing/2010/main">
                <a:solidFill>
                  <a:srgbClr val="FFFFFF"/>
                </a:solidFill>
              </a14:hiddenFill>
            </a:ext>
          </a:extLst>
        </p:spPr>
      </p:pic>
      <p:sp>
        <p:nvSpPr>
          <p:cNvPr id="43" name="TextBox 31">
            <a:extLst>
              <a:ext uri="{FF2B5EF4-FFF2-40B4-BE49-F238E27FC236}">
                <a16:creationId xmlns:a16="http://schemas.microsoft.com/office/drawing/2014/main" id="{6ED4E47E-39C4-692B-741A-DAB14B874B5D}"/>
              </a:ext>
            </a:extLst>
          </p:cNvPr>
          <p:cNvSpPr txBox="1"/>
          <p:nvPr/>
        </p:nvSpPr>
        <p:spPr>
          <a:xfrm>
            <a:off x="3480690" y="5599961"/>
            <a:ext cx="1064736" cy="197934"/>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FFB703"/>
                </a:solidFill>
                <a:effectLst/>
                <a:uLnTx/>
                <a:uFillTx/>
                <a:latin typeface="Raleway"/>
                <a:ea typeface="+mn-ea"/>
                <a:cs typeface="+mn-cs"/>
              </a:rPr>
              <a:t>Asset managers:</a:t>
            </a:r>
          </a:p>
        </p:txBody>
      </p:sp>
      <p:pic>
        <p:nvPicPr>
          <p:cNvPr id="44" name="Picture 12" descr="NBK Posts KShs 1.2 billion Profit After ...">
            <a:extLst>
              <a:ext uri="{FF2B5EF4-FFF2-40B4-BE49-F238E27FC236}">
                <a16:creationId xmlns:a16="http://schemas.microsoft.com/office/drawing/2014/main" id="{3BD7AFE8-AF16-49FE-5C50-42C5C4B7D0C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258706" y="5808539"/>
            <a:ext cx="564264" cy="342869"/>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33">
            <a:extLst>
              <a:ext uri="{FF2B5EF4-FFF2-40B4-BE49-F238E27FC236}">
                <a16:creationId xmlns:a16="http://schemas.microsoft.com/office/drawing/2014/main" id="{09E9736D-946D-F77B-CD14-B7F720D07509}"/>
              </a:ext>
            </a:extLst>
          </p:cNvPr>
          <p:cNvSpPr txBox="1"/>
          <p:nvPr/>
        </p:nvSpPr>
        <p:spPr>
          <a:xfrm>
            <a:off x="6447727" y="5624289"/>
            <a:ext cx="720164" cy="205629"/>
          </a:xfrm>
          <a:prstGeom prst="rect">
            <a:avLst/>
          </a:prstGeom>
          <a:noFill/>
        </p:spPr>
        <p:txBody>
          <a:bodyPr wrap="square" lIns="18000" tIns="18000" rIns="18000" bIns="18000">
            <a:spAutoFit/>
          </a:bodyPr>
          <a:lstStyle>
            <a:defPPr>
              <a:defRPr lang="en-US"/>
            </a:defPPr>
            <a:lvl1pPr>
              <a:defRPr b="1">
                <a:solidFill>
                  <a:srgbClr val="FFB703"/>
                </a:solidFill>
                <a:latin typeface="+mj-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dirty="0">
                <a:ln>
                  <a:noFill/>
                </a:ln>
                <a:solidFill>
                  <a:srgbClr val="FFB703"/>
                </a:solidFill>
                <a:effectLst/>
                <a:uLnTx/>
                <a:uFillTx/>
                <a:latin typeface="Raleway"/>
                <a:ea typeface="+mn-ea"/>
                <a:cs typeface="+mn-cs"/>
              </a:rPr>
              <a:t>Funds:</a:t>
            </a:r>
          </a:p>
        </p:txBody>
      </p:sp>
      <p:pic>
        <p:nvPicPr>
          <p:cNvPr id="46" name="Picture 14" descr="$1 million equity investment deal ...">
            <a:extLst>
              <a:ext uri="{FF2B5EF4-FFF2-40B4-BE49-F238E27FC236}">
                <a16:creationId xmlns:a16="http://schemas.microsoft.com/office/drawing/2014/main" id="{64802B63-3091-9C80-3EC5-7C400B873EEF}"/>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3060" t="7210" r="22286" b="9688"/>
          <a:stretch>
            <a:fillRect/>
          </a:stretch>
        </p:blipFill>
        <p:spPr bwMode="auto">
          <a:xfrm>
            <a:off x="3368124" y="6145191"/>
            <a:ext cx="582129" cy="393973"/>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20" descr="APG - FSA">
            <a:extLst>
              <a:ext uri="{FF2B5EF4-FFF2-40B4-BE49-F238E27FC236}">
                <a16:creationId xmlns:a16="http://schemas.microsoft.com/office/drawing/2014/main" id="{BF1EDBF6-FDBC-0D52-B2D7-48AAB1BA186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077335" y="6030444"/>
            <a:ext cx="553376" cy="553376"/>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2" descr="Empowering Frontier Economies - Cardano ...">
            <a:extLst>
              <a:ext uri="{FF2B5EF4-FFF2-40B4-BE49-F238E27FC236}">
                <a16:creationId xmlns:a16="http://schemas.microsoft.com/office/drawing/2014/main" id="{5CD3F474-2737-37ED-0D29-5833BA864C85}"/>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rcRect b="29254"/>
          <a:stretch/>
        </p:blipFill>
        <p:spPr bwMode="auto">
          <a:xfrm>
            <a:off x="6229331" y="6208259"/>
            <a:ext cx="980743" cy="33090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24" descr="Rabobank, National Association Finance Business, gamelan ...">
            <a:extLst>
              <a:ext uri="{FF2B5EF4-FFF2-40B4-BE49-F238E27FC236}">
                <a16:creationId xmlns:a16="http://schemas.microsoft.com/office/drawing/2014/main" id="{74FA2A11-5FAE-0B0D-C786-8FEE084174F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358674" y="6208258"/>
            <a:ext cx="338270" cy="33827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6" descr="ILX Fund - SDG-Focused Emerging Market ...">
            <a:extLst>
              <a:ext uri="{FF2B5EF4-FFF2-40B4-BE49-F238E27FC236}">
                <a16:creationId xmlns:a16="http://schemas.microsoft.com/office/drawing/2014/main" id="{69138221-4D60-D17F-5498-C43A1C754AFB}"/>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347169" y="5875217"/>
            <a:ext cx="400221" cy="398443"/>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18" descr="GuarantCo | LinkedIn">
            <a:extLst>
              <a:ext uri="{FF2B5EF4-FFF2-40B4-BE49-F238E27FC236}">
                <a16:creationId xmlns:a16="http://schemas.microsoft.com/office/drawing/2014/main" id="{9BF8419B-07AE-EC7B-F3E1-F09F3DA34950}"/>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6759040" y="5789926"/>
            <a:ext cx="486451" cy="4864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39496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A blended finance approach to investing</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29">
            <a:extLst>
              <a:ext uri="{FF2B5EF4-FFF2-40B4-BE49-F238E27FC236}">
                <a16:creationId xmlns:a16="http://schemas.microsoft.com/office/drawing/2014/main" id="{A0AFBC0F-AA3C-648A-188C-8E9BB5C99EE3}"/>
              </a:ext>
            </a:extLst>
          </p:cNvPr>
          <p:cNvSpPr txBox="1"/>
          <p:nvPr/>
        </p:nvSpPr>
        <p:spPr>
          <a:xfrm>
            <a:off x="580328" y="1387562"/>
            <a:ext cx="6526619"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A726"/>
                </a:solidFill>
                <a:effectLst/>
                <a:uLnTx/>
                <a:uFillTx/>
                <a:latin typeface="Open Sans"/>
                <a:ea typeface="+mn-ea"/>
                <a:cs typeface="+mn-cs"/>
              </a:rPr>
              <a:t>Applied to the design of the Global Water Investment Facility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A726"/>
              </a:solidFill>
              <a:effectLst/>
              <a:uLnTx/>
              <a:uFillTx/>
              <a:latin typeface="Open Sans"/>
              <a:ea typeface="+mn-ea"/>
              <a:cs typeface="+mn-cs"/>
            </a:endParaRPr>
          </a:p>
        </p:txBody>
      </p:sp>
      <p:sp>
        <p:nvSpPr>
          <p:cNvPr id="4" name="TextBox 37">
            <a:extLst>
              <a:ext uri="{FF2B5EF4-FFF2-40B4-BE49-F238E27FC236}">
                <a16:creationId xmlns:a16="http://schemas.microsoft.com/office/drawing/2014/main" id="{CA40CD07-45BD-EC7F-1294-BD7BE4BCA244}"/>
              </a:ext>
            </a:extLst>
          </p:cNvPr>
          <p:cNvSpPr txBox="1"/>
          <p:nvPr/>
        </p:nvSpPr>
        <p:spPr>
          <a:xfrm>
            <a:off x="631893" y="2889490"/>
            <a:ext cx="3224090" cy="1424690"/>
          </a:xfrm>
          <a:prstGeom prst="roundRect">
            <a:avLst>
              <a:gd name="adj" fmla="val 13711"/>
            </a:avLst>
          </a:prstGeom>
          <a:solidFill>
            <a:schemeClr val="tx1"/>
          </a:solidFill>
        </p:spPr>
        <p:txBody>
          <a:bodyPr wrap="square" lIns="360000" rIns="216000" bIns="108000" numCol="1" spcCol="108000" rtlCol="0" anchor="t"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nl-NL" sz="1600" b="1" i="0" u="none" strike="noStrike" kern="1200" cap="none" spc="0" normalizeH="0" baseline="0" noProof="0" err="1">
                <a:ln>
                  <a:noFill/>
                </a:ln>
                <a:solidFill>
                  <a:srgbClr val="004088"/>
                </a:solidFill>
                <a:effectLst/>
                <a:uLnTx/>
                <a:uFillTx/>
                <a:latin typeface="Raleway" pitchFamily="2" charset="77"/>
                <a:ea typeface="+mn-ea"/>
                <a:cs typeface="+mn-cs"/>
              </a:rPr>
              <a:t>Blended</a:t>
            </a:r>
            <a:r>
              <a:rPr kumimoji="0" lang="nl-NL" sz="1600" b="1" i="0" u="none" strike="noStrike" kern="1200" cap="none" spc="0" normalizeH="0" baseline="0" noProof="0">
                <a:ln>
                  <a:noFill/>
                </a:ln>
                <a:solidFill>
                  <a:srgbClr val="004088"/>
                </a:solidFill>
                <a:effectLst/>
                <a:uLnTx/>
                <a:uFillTx/>
                <a:latin typeface="Raleway" pitchFamily="2" charset="77"/>
                <a:ea typeface="+mn-ea"/>
                <a:cs typeface="+mn-cs"/>
              </a:rPr>
              <a:t> Finance Providers</a:t>
            </a:r>
          </a:p>
        </p:txBody>
      </p:sp>
      <p:sp>
        <p:nvSpPr>
          <p:cNvPr id="5" name="TextBox 37">
            <a:extLst>
              <a:ext uri="{FF2B5EF4-FFF2-40B4-BE49-F238E27FC236}">
                <a16:creationId xmlns:a16="http://schemas.microsoft.com/office/drawing/2014/main" id="{5D02874B-2091-8174-C45B-DF94895D5F8A}"/>
              </a:ext>
            </a:extLst>
          </p:cNvPr>
          <p:cNvSpPr txBox="1"/>
          <p:nvPr/>
        </p:nvSpPr>
        <p:spPr>
          <a:xfrm>
            <a:off x="631893" y="1803973"/>
            <a:ext cx="10749908" cy="959038"/>
          </a:xfrm>
          <a:prstGeom prst="roundRect">
            <a:avLst>
              <a:gd name="adj" fmla="val 20825"/>
            </a:avLst>
          </a:prstGeom>
          <a:solidFill>
            <a:srgbClr val="FFA726"/>
          </a:solidFill>
        </p:spPr>
        <p:txBody>
          <a:bodyPr wrap="square" lIns="72000" rIns="72000" bIns="108000" numCol="1" spcCol="108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4088"/>
                </a:solidFill>
                <a:effectLst/>
                <a:uLnTx/>
                <a:uFillTx/>
                <a:latin typeface="Raleway"/>
                <a:ea typeface="+mn-ea"/>
                <a:cs typeface="Calibri" panose="020F0502020204030204" pitchFamily="34" charset="0"/>
              </a:rPr>
              <a:t>Definition:</a:t>
            </a:r>
            <a:endParaRPr kumimoji="0" lang="en-GB" sz="1400" b="0" i="0" u="none" strike="noStrike" kern="1200" cap="none" spc="0" normalizeH="0" baseline="0" noProof="0" dirty="0">
              <a:ln>
                <a:noFill/>
              </a:ln>
              <a:solidFill>
                <a:srgbClr val="004088"/>
              </a:solidFill>
              <a:effectLst/>
              <a:uLnTx/>
              <a:uFillTx/>
              <a:latin typeface="Raleway"/>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4088"/>
                </a:solidFill>
                <a:effectLst/>
                <a:uLnTx/>
                <a:uFillTx/>
                <a:latin typeface="Raleway"/>
                <a:ea typeface="+mn-ea"/>
                <a:cs typeface="Calibri" panose="020F0502020204030204" pitchFamily="34" charset="0"/>
              </a:rPr>
              <a:t>Blended finance is the strategic use of public finance for the mobilisation of private finance towards sustainable development goals</a:t>
            </a:r>
            <a:r>
              <a:rPr kumimoji="0" lang="en-GB" sz="1200" b="0" i="0" u="none" strike="noStrike" kern="1200" cap="none" spc="0" normalizeH="0" baseline="0" noProof="0" dirty="0">
                <a:ln>
                  <a:noFill/>
                </a:ln>
                <a:solidFill>
                  <a:srgbClr val="004088"/>
                </a:solidFill>
                <a:effectLst/>
                <a:uLnTx/>
                <a:uFillTx/>
                <a:latin typeface="Raleway"/>
                <a:ea typeface="+mn-ea"/>
                <a:cs typeface="Calibri" panose="020F0502020204030204" pitchFamily="34" charset="0"/>
              </a:rPr>
              <a:t>.</a:t>
            </a:r>
            <a:endParaRPr kumimoji="0" lang="en-GB" sz="1200" b="1" i="0" u="none" strike="noStrike" kern="1200" cap="none" spc="0" normalizeH="0" baseline="0" noProof="0" dirty="0">
              <a:ln>
                <a:noFill/>
              </a:ln>
              <a:solidFill>
                <a:srgbClr val="004088"/>
              </a:solidFill>
              <a:effectLst/>
              <a:uLnTx/>
              <a:uFillTx/>
              <a:latin typeface="Raleway"/>
              <a:ea typeface="+mn-ea"/>
              <a:cs typeface="+mn-cs"/>
            </a:endParaRPr>
          </a:p>
        </p:txBody>
      </p:sp>
      <p:pic>
        <p:nvPicPr>
          <p:cNvPr id="6" name="Picture 6" descr="Ministry of Foreign Affairs of the ...">
            <a:extLst>
              <a:ext uri="{FF2B5EF4-FFF2-40B4-BE49-F238E27FC236}">
                <a16:creationId xmlns:a16="http://schemas.microsoft.com/office/drawing/2014/main" id="{B82DCCF0-AD19-685A-17DE-7C6BD87BBF8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4324" y="3519951"/>
            <a:ext cx="1156067" cy="442682"/>
          </a:xfrm>
          <a:prstGeom prst="rect">
            <a:avLst/>
          </a:prstGeom>
          <a:noFill/>
          <a:extLst>
            <a:ext uri="{909E8E84-426E-40DD-AFC4-6F175D3DCCD1}">
              <a14:hiddenFill xmlns:a14="http://schemas.microsoft.com/office/drawing/2010/main">
                <a:solidFill>
                  <a:srgbClr val="FFFFFF"/>
                </a:solidFill>
              </a14:hiddenFill>
            </a:ext>
          </a:extLst>
        </p:spPr>
      </p:pic>
      <p:pic>
        <p:nvPicPr>
          <p:cNvPr id="7" name="Afbeelding 19">
            <a:extLst>
              <a:ext uri="{FF2B5EF4-FFF2-40B4-BE49-F238E27FC236}">
                <a16:creationId xmlns:a16="http://schemas.microsoft.com/office/drawing/2014/main" id="{AAEC01B6-2993-F212-D0FF-91A0EC7D0CDC}"/>
              </a:ext>
            </a:extLst>
          </p:cNvPr>
          <p:cNvPicPr>
            <a:picLocks noChangeAspect="1"/>
          </p:cNvPicPr>
          <p:nvPr/>
        </p:nvPicPr>
        <p:blipFill>
          <a:blip r:embed="rId4"/>
          <a:stretch>
            <a:fillRect/>
          </a:stretch>
        </p:blipFill>
        <p:spPr>
          <a:xfrm>
            <a:off x="1865880" y="3601835"/>
            <a:ext cx="756116" cy="449582"/>
          </a:xfrm>
          <a:prstGeom prst="rect">
            <a:avLst/>
          </a:prstGeom>
        </p:spPr>
      </p:pic>
      <p:sp>
        <p:nvSpPr>
          <p:cNvPr id="8" name="Rectangle: Rounded Corners 11">
            <a:extLst>
              <a:ext uri="{FF2B5EF4-FFF2-40B4-BE49-F238E27FC236}">
                <a16:creationId xmlns:a16="http://schemas.microsoft.com/office/drawing/2014/main" id="{37913CBD-7425-2D55-38FB-ADF80F11655F}"/>
              </a:ext>
            </a:extLst>
          </p:cNvPr>
          <p:cNvSpPr/>
          <p:nvPr/>
        </p:nvSpPr>
        <p:spPr>
          <a:xfrm>
            <a:off x="4456762" y="5851385"/>
            <a:ext cx="3064625" cy="462285"/>
          </a:xfrm>
          <a:prstGeom prst="roundRect">
            <a:avLst>
              <a:gd name="adj" fmla="val 25198"/>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Open Sans"/>
                <a:ea typeface="Open Sans"/>
                <a:cs typeface="Open Sans"/>
              </a:rPr>
              <a:t>Project level</a:t>
            </a:r>
            <a:endParaRPr kumimoji="0" lang="en-GB" sz="14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9" name="Rectangle: Rounded Corners 16">
            <a:extLst>
              <a:ext uri="{FF2B5EF4-FFF2-40B4-BE49-F238E27FC236}">
                <a16:creationId xmlns:a16="http://schemas.microsoft.com/office/drawing/2014/main" id="{ADFC65EF-24A1-51A5-2A2F-5F0FC6943838}"/>
              </a:ext>
            </a:extLst>
          </p:cNvPr>
          <p:cNvSpPr/>
          <p:nvPr/>
        </p:nvSpPr>
        <p:spPr>
          <a:xfrm>
            <a:off x="4456763" y="5204839"/>
            <a:ext cx="3064625" cy="475762"/>
          </a:xfrm>
          <a:prstGeom prst="roundRect">
            <a:avLst>
              <a:gd name="adj" fmla="val 24736"/>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Open Sans"/>
                <a:ea typeface="Open Sans"/>
                <a:cs typeface="Open Sans"/>
              </a:rPr>
              <a:t>Fund level</a:t>
            </a:r>
            <a:endParaRPr kumimoji="0" lang="en-GB" sz="14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7" name="Rectangle: Rounded Corners 17">
            <a:extLst>
              <a:ext uri="{FF2B5EF4-FFF2-40B4-BE49-F238E27FC236}">
                <a16:creationId xmlns:a16="http://schemas.microsoft.com/office/drawing/2014/main" id="{EF793232-2FA8-49E8-A133-FE0ABF217ECC}"/>
              </a:ext>
            </a:extLst>
          </p:cNvPr>
          <p:cNvSpPr/>
          <p:nvPr/>
        </p:nvSpPr>
        <p:spPr>
          <a:xfrm>
            <a:off x="4456763" y="4571771"/>
            <a:ext cx="3064625" cy="462285"/>
          </a:xfrm>
          <a:prstGeom prst="roundRect">
            <a:avLst>
              <a:gd name="adj" fmla="val 37433"/>
            </a:avLst>
          </a:prstGeom>
          <a:solidFill>
            <a:srgbClr val="004D7A"/>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Open Sans"/>
                <a:ea typeface="Open Sans"/>
                <a:cs typeface="Open Sans"/>
              </a:rPr>
              <a:t>Facility level</a:t>
            </a:r>
            <a:endParaRPr kumimoji="0" lang="en-GB" sz="1400" b="0" i="0" u="none" strike="noStrike" kern="1200" cap="none" spc="0" normalizeH="0" baseline="0" noProof="0">
              <a:ln>
                <a:noFill/>
              </a:ln>
              <a:solidFill>
                <a:prstClr val="whit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
        <p:nvSpPr>
          <p:cNvPr id="19" name="TextBox 37">
            <a:extLst>
              <a:ext uri="{FF2B5EF4-FFF2-40B4-BE49-F238E27FC236}">
                <a16:creationId xmlns:a16="http://schemas.microsoft.com/office/drawing/2014/main" id="{0F063374-E189-7E0A-94AE-C24780D71C1B}"/>
              </a:ext>
            </a:extLst>
          </p:cNvPr>
          <p:cNvSpPr txBox="1"/>
          <p:nvPr/>
        </p:nvSpPr>
        <p:spPr>
          <a:xfrm>
            <a:off x="7680853" y="4571771"/>
            <a:ext cx="3064625" cy="1741899"/>
          </a:xfrm>
          <a:prstGeom prst="roundRect">
            <a:avLst>
              <a:gd name="adj" fmla="val 13711"/>
            </a:avLst>
          </a:prstGeom>
          <a:solidFill>
            <a:srgbClr val="F3F1ED"/>
          </a:solidFill>
        </p:spPr>
        <p:txBody>
          <a:bodyPr wrap="square" lIns="360000" rIns="216000" bIns="108000" numCol="1" spcCol="1080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400" b="1" i="0" u="none" strike="noStrike" kern="1200" cap="none" spc="0" normalizeH="0" baseline="0" noProof="0" dirty="0" err="1">
                <a:ln>
                  <a:noFill/>
                </a:ln>
                <a:solidFill>
                  <a:srgbClr val="004D7A"/>
                </a:solidFill>
                <a:effectLst/>
                <a:uLnTx/>
                <a:uFillTx/>
                <a:latin typeface="Raleway" pitchFamily="2" charset="77"/>
                <a:ea typeface="+mn-ea"/>
                <a:cs typeface="+mn-cs"/>
              </a:rPr>
              <a:t>Catalytic</a:t>
            </a:r>
            <a:r>
              <a:rPr kumimoji="0" lang="nl-NL" sz="1400" b="1" i="0" u="none" strike="noStrike" kern="1200" cap="none" spc="0" normalizeH="0" baseline="0" noProof="0" dirty="0">
                <a:ln>
                  <a:noFill/>
                </a:ln>
                <a:solidFill>
                  <a:srgbClr val="004D7A"/>
                </a:solidFill>
                <a:effectLst/>
                <a:uLnTx/>
                <a:uFillTx/>
                <a:latin typeface="Raleway" pitchFamily="2" charset="77"/>
                <a:ea typeface="+mn-ea"/>
                <a:cs typeface="+mn-cs"/>
              </a:rPr>
              <a:t> effect: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Shifts</a:t>
            </a:r>
            <a:r>
              <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rPr>
              <a:t> risk </a:t>
            </a: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and</a:t>
            </a:r>
            <a:r>
              <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rPr>
              <a:t> return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Mobilizes</a:t>
            </a:r>
            <a:r>
              <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rPr>
              <a:t> </a:t>
            </a: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capital</a:t>
            </a:r>
            <a:endPar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Lowers</a:t>
            </a:r>
            <a:r>
              <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rPr>
              <a:t> </a:t>
            </a: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cost</a:t>
            </a:r>
            <a:r>
              <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rPr>
              <a:t> of </a:t>
            </a:r>
            <a:r>
              <a:rPr kumimoji="0" lang="nl-NL" sz="1400" i="0" u="none" strike="noStrike" kern="1200" cap="none" spc="0" normalizeH="0" baseline="0" noProof="0" dirty="0" err="1">
                <a:ln>
                  <a:noFill/>
                </a:ln>
                <a:solidFill>
                  <a:srgbClr val="004D7A"/>
                </a:solidFill>
                <a:effectLst/>
                <a:uLnTx/>
                <a:uFillTx/>
                <a:latin typeface="Raleway" pitchFamily="2" charset="77"/>
                <a:ea typeface="+mn-ea"/>
                <a:cs typeface="+mn-cs"/>
              </a:rPr>
              <a:t>capital</a:t>
            </a:r>
            <a:endParaRPr kumimoji="0" lang="nl-NL" sz="1400" i="0" u="none" strike="noStrike" kern="1200" cap="none" spc="0" normalizeH="0" baseline="0" noProof="0" dirty="0">
              <a:ln>
                <a:noFill/>
              </a:ln>
              <a:solidFill>
                <a:srgbClr val="004D7A"/>
              </a:solidFill>
              <a:effectLst/>
              <a:uLnTx/>
              <a:uFillTx/>
              <a:latin typeface="Raleway" pitchFamily="2" charset="77"/>
              <a:ea typeface="+mn-ea"/>
              <a:cs typeface="+mn-cs"/>
            </a:endParaRPr>
          </a:p>
        </p:txBody>
      </p:sp>
      <p:pic>
        <p:nvPicPr>
          <p:cNvPr id="20" name="Picture 2" descr="Swiss Agency for Development and Cooperation (SDC) - Global ...">
            <a:extLst>
              <a:ext uri="{FF2B5EF4-FFF2-40B4-BE49-F238E27FC236}">
                <a16:creationId xmlns:a16="http://schemas.microsoft.com/office/drawing/2014/main" id="{DB1C84A6-BC0C-45A1-2D92-F5C55D6A54A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13611" b="15401"/>
          <a:stretch>
            <a:fillRect/>
          </a:stretch>
        </p:blipFill>
        <p:spPr bwMode="auto">
          <a:xfrm>
            <a:off x="2711243" y="3555749"/>
            <a:ext cx="1144740" cy="541754"/>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37">
            <a:extLst>
              <a:ext uri="{FF2B5EF4-FFF2-40B4-BE49-F238E27FC236}">
                <a16:creationId xmlns:a16="http://schemas.microsoft.com/office/drawing/2014/main" id="{25954E89-FC72-B962-2B36-9240402BD022}"/>
              </a:ext>
            </a:extLst>
          </p:cNvPr>
          <p:cNvSpPr txBox="1"/>
          <p:nvPr/>
        </p:nvSpPr>
        <p:spPr>
          <a:xfrm>
            <a:off x="4456762" y="2844412"/>
            <a:ext cx="3152764" cy="1645958"/>
          </a:xfrm>
          <a:prstGeom prst="roundRect">
            <a:avLst>
              <a:gd name="adj" fmla="val 13711"/>
            </a:avLst>
          </a:prstGeom>
          <a:solidFill>
            <a:srgbClr val="B7D6E1"/>
          </a:solidFill>
        </p:spPr>
        <p:txBody>
          <a:bodyPr wrap="square" lIns="360000" rIns="216000" bIns="108000" numCol="1" spcCol="10800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4D7A"/>
              </a:solidFill>
              <a:effectLst/>
              <a:highlight>
                <a:srgbClr val="FFB703"/>
              </a:highligh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4D7A"/>
              </a:solidFill>
              <a:effectLst/>
              <a:highlight>
                <a:srgbClr val="FFB703"/>
              </a:highligh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4D7A"/>
              </a:solidFill>
              <a:effectLst/>
              <a:highlight>
                <a:srgbClr val="FFB703"/>
              </a:highlight>
              <a:uLnTx/>
              <a:uFillTx/>
              <a:latin typeface="Open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D7A"/>
                </a:solidFill>
                <a:effectLst/>
                <a:uLnTx/>
                <a:uFillTx/>
                <a:latin typeface="Open Sans"/>
                <a:ea typeface="+mn-ea"/>
                <a:cs typeface="+mn-cs"/>
              </a:rPr>
              <a:t>Corporate Water Investment Facility utilizes Blended Finance to invest across themes and sector opportunities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400" b="1" i="0" u="none" strike="noStrike" kern="1200" cap="none" spc="0" normalizeH="0" baseline="0" noProof="0" dirty="0">
              <a:ln>
                <a:noFill/>
              </a:ln>
              <a:solidFill>
                <a:srgbClr val="004D7A"/>
              </a:solidFill>
              <a:effectLst/>
              <a:highlight>
                <a:srgbClr val="FFB703"/>
              </a:highlight>
              <a:uLnTx/>
              <a:uFillTx/>
              <a:latin typeface="Raleway" pitchFamily="2" charset="77"/>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NL" sz="1400" b="1" i="0" u="none" strike="noStrike" kern="1200" cap="none" spc="0" normalizeH="0" baseline="0" noProof="0" dirty="0">
              <a:ln>
                <a:noFill/>
              </a:ln>
              <a:solidFill>
                <a:srgbClr val="004D7A"/>
              </a:solidFill>
              <a:effectLst/>
              <a:highlight>
                <a:srgbClr val="FFB703"/>
              </a:highlight>
              <a:uLnTx/>
              <a:uFillTx/>
              <a:latin typeface="Raleway" pitchFamily="2" charset="77"/>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400" b="1" i="0" u="none" strike="noStrike" kern="1200" cap="none" spc="0" normalizeH="0" baseline="0" noProof="0" dirty="0">
              <a:ln>
                <a:noFill/>
              </a:ln>
              <a:solidFill>
                <a:srgbClr val="004D7A"/>
              </a:solidFill>
              <a:effectLst/>
              <a:highlight>
                <a:srgbClr val="FFB703"/>
              </a:highlight>
              <a:uLnTx/>
              <a:uFillTx/>
              <a:latin typeface="Raleway" pitchFamily="2" charset="77"/>
              <a:ea typeface="+mn-ea"/>
              <a:cs typeface="+mn-cs"/>
            </a:endParaRPr>
          </a:p>
        </p:txBody>
      </p:sp>
      <p:cxnSp>
        <p:nvCxnSpPr>
          <p:cNvPr id="23" name="Gebogen verbindingslijn 22">
            <a:extLst>
              <a:ext uri="{FF2B5EF4-FFF2-40B4-BE49-F238E27FC236}">
                <a16:creationId xmlns:a16="http://schemas.microsoft.com/office/drawing/2014/main" id="{175CEBA0-1931-7570-054F-7D761E9F8DC4}"/>
              </a:ext>
            </a:extLst>
          </p:cNvPr>
          <p:cNvCxnSpPr>
            <a:stCxn id="4" idx="2"/>
            <a:endCxn id="17" idx="1"/>
          </p:cNvCxnSpPr>
          <p:nvPr/>
        </p:nvCxnSpPr>
        <p:spPr>
          <a:xfrm rot="16200000" flipH="1">
            <a:off x="3105983" y="3452134"/>
            <a:ext cx="488734" cy="2212825"/>
          </a:xfrm>
          <a:prstGeom prst="bentConnector2">
            <a:avLst/>
          </a:prstGeom>
          <a:ln>
            <a:solidFill>
              <a:srgbClr val="FFA726"/>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47500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Policies and Procedures Overview</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3" name="TextBox 5">
            <a:extLst>
              <a:ext uri="{FF2B5EF4-FFF2-40B4-BE49-F238E27FC236}">
                <a16:creationId xmlns:a16="http://schemas.microsoft.com/office/drawing/2014/main" id="{4D013BAA-FDB1-16F2-B067-7F84C42A39E2}"/>
              </a:ext>
            </a:extLst>
          </p:cNvPr>
          <p:cNvSpPr txBox="1"/>
          <p:nvPr/>
        </p:nvSpPr>
        <p:spPr>
          <a:xfrm>
            <a:off x="627348" y="2035024"/>
            <a:ext cx="7180221"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Policy area – document  - standard / alignment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endParaRPr>
          </a:p>
        </p:txBody>
      </p:sp>
    </p:spTree>
    <p:extLst>
      <p:ext uri="{BB962C8B-B14F-4D97-AF65-F5344CB8AC3E}">
        <p14:creationId xmlns:p14="http://schemas.microsoft.com/office/powerpoint/2010/main" val="204208852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Forecasts -  Assumptions</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5">
            <a:extLst>
              <a:ext uri="{FF2B5EF4-FFF2-40B4-BE49-F238E27FC236}">
                <a16:creationId xmlns:a16="http://schemas.microsoft.com/office/drawing/2014/main" id="{222DEE25-C8E6-0A0E-09E4-B3FE189918AC}"/>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Tree>
    <p:extLst>
      <p:ext uri="{BB962C8B-B14F-4D97-AF65-F5344CB8AC3E}">
        <p14:creationId xmlns:p14="http://schemas.microsoft.com/office/powerpoint/2010/main" val="1797316582"/>
      </p:ext>
    </p:extLst>
  </p:cSld>
  <p:clrMapOvr>
    <a:masterClrMapping/>
  </p:clrMapOvr>
  <p:extLst>
    <p:ext uri="{6950BFC3-D8DA-4A85-94F7-54DA5524770B}">
      <p188:commentRel xmlns:p188="http://schemas.microsoft.com/office/powerpoint/2018/8/main" r:id="rId3"/>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Forecasts -  Balance Sheet Development</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5">
            <a:extLst>
              <a:ext uri="{FF2B5EF4-FFF2-40B4-BE49-F238E27FC236}">
                <a16:creationId xmlns:a16="http://schemas.microsoft.com/office/drawing/2014/main" id="{222DEE25-C8E6-0A0E-09E4-B3FE189918AC}"/>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Tree>
    <p:extLst>
      <p:ext uri="{BB962C8B-B14F-4D97-AF65-F5344CB8AC3E}">
        <p14:creationId xmlns:p14="http://schemas.microsoft.com/office/powerpoint/2010/main" val="20676662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Forecasts -  Cash Flow &amp; Investor Returns </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5">
            <a:extLst>
              <a:ext uri="{FF2B5EF4-FFF2-40B4-BE49-F238E27FC236}">
                <a16:creationId xmlns:a16="http://schemas.microsoft.com/office/drawing/2014/main" id="{222DEE25-C8E6-0A0E-09E4-B3FE189918AC}"/>
              </a:ext>
            </a:extLst>
          </p:cNvPr>
          <p:cNvSpPr txBox="1"/>
          <p:nvPr/>
        </p:nvSpPr>
        <p:spPr>
          <a:xfrm>
            <a:off x="627348" y="2035024"/>
            <a:ext cx="7180221" cy="4924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t>Text</a:t>
            </a:r>
            <a:br>
              <a:rPr kumimoji="0" lang="en-GB" sz="1400" b="1" i="0" u="none" strike="noStrike" kern="1200" cap="none" spc="0" normalizeH="0" baseline="0" noProof="0" dirty="0">
                <a:ln>
                  <a:noFill/>
                </a:ln>
                <a:solidFill>
                  <a:srgbClr val="FFFFFF"/>
                </a:solidFill>
                <a:effectLst/>
                <a:uLnTx/>
                <a:uFillTx/>
                <a:latin typeface="Raleway" pitchFamily="2" charset="77"/>
                <a:ea typeface="+mn-ea"/>
                <a:cs typeface="+mn-cs"/>
              </a:rPr>
            </a:br>
            <a:r>
              <a:rPr kumimoji="0" lang="en-GB" sz="1200" b="0" i="0" u="none" strike="noStrike" kern="1200" cap="none" spc="0" normalizeH="0" baseline="0" noProof="0" dirty="0">
                <a:ln>
                  <a:noFill/>
                </a:ln>
                <a:solidFill>
                  <a:srgbClr val="FFFFFF"/>
                </a:solidFill>
                <a:effectLst/>
                <a:uLnTx/>
                <a:uFillTx/>
                <a:latin typeface="Open Sans"/>
                <a:ea typeface="+mn-ea"/>
                <a:cs typeface="+mn-cs"/>
              </a:rPr>
              <a:t>Text</a:t>
            </a:r>
          </a:p>
        </p:txBody>
      </p:sp>
    </p:spTree>
    <p:extLst>
      <p:ext uri="{BB962C8B-B14F-4D97-AF65-F5344CB8AC3E}">
        <p14:creationId xmlns:p14="http://schemas.microsoft.com/office/powerpoint/2010/main" val="38416503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2591C-C156-C9CF-4BE9-FDA48F2A4193}"/>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29F33A9D-966E-7280-BA5D-FCB4D0EA75D3}"/>
              </a:ext>
            </a:extLst>
          </p:cNvPr>
          <p:cNvSpPr txBox="1">
            <a:spLocks/>
          </p:cNvSpPr>
          <p:nvPr/>
        </p:nvSpPr>
        <p:spPr>
          <a:xfrm>
            <a:off x="631891" y="851854"/>
            <a:ext cx="9936871" cy="611413"/>
          </a:xfrm>
          <a:prstGeom prst="rect">
            <a:avLst/>
          </a:prstGeom>
        </p:spPr>
        <p:txBody>
          <a:bodyPr vert="horz" lIns="18000" tIns="18000" rIns="18000" bIns="18000" rtlCol="0" anchor="t" anchorCtr="0">
            <a:normAutofit/>
          </a:bodyPr>
          <a:lstStyle>
            <a:lvl1pPr algn="l" defTabSz="914400" rtl="0" eaLnBrk="1" latinLnBrk="0" hangingPunct="1">
              <a:lnSpc>
                <a:spcPct val="90000"/>
              </a:lnSpc>
              <a:spcBef>
                <a:spcPct val="0"/>
              </a:spcBef>
              <a:buNone/>
              <a:defRPr sz="3600" b="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3600" b="1" i="0" u="none" strike="noStrike" kern="1200" cap="none" spc="0" normalizeH="0" baseline="0" noProof="0" dirty="0">
                <a:ln>
                  <a:noFill/>
                </a:ln>
                <a:solidFill>
                  <a:srgbClr val="FFFFFF"/>
                </a:solidFill>
                <a:effectLst/>
                <a:uLnTx/>
                <a:uFillTx/>
                <a:latin typeface="Raleway"/>
                <a:ea typeface="+mj-ea"/>
                <a:cs typeface="+mj-cs"/>
              </a:rPr>
              <a:t>Disclaimer</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GB" sz="3600" b="1" i="0" u="none" strike="noStrike" kern="1200" cap="none" spc="0" normalizeH="0" baseline="0" noProof="0" dirty="0">
              <a:ln>
                <a:noFill/>
              </a:ln>
              <a:solidFill>
                <a:srgbClr val="FFFFFF"/>
              </a:solidFill>
              <a:effectLst/>
              <a:uLnTx/>
              <a:uFillTx/>
              <a:latin typeface="Raleway"/>
              <a:ea typeface="+mj-ea"/>
              <a:cs typeface="+mj-cs"/>
            </a:endParaRPr>
          </a:p>
        </p:txBody>
      </p:sp>
      <p:sp>
        <p:nvSpPr>
          <p:cNvPr id="11" name="Tijdelijke aanduiding voor tekst 3">
            <a:extLst>
              <a:ext uri="{FF2B5EF4-FFF2-40B4-BE49-F238E27FC236}">
                <a16:creationId xmlns:a16="http://schemas.microsoft.com/office/drawing/2014/main" id="{6ED32CE7-0892-9042-D85D-72904C31DFCA}"/>
              </a:ext>
            </a:extLst>
          </p:cNvPr>
          <p:cNvSpPr txBox="1">
            <a:spLocks/>
          </p:cNvSpPr>
          <p:nvPr/>
        </p:nvSpPr>
        <p:spPr>
          <a:xfrm>
            <a:off x="2332564"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2" name="Tijdelijke aanduiding voor tekst 3">
            <a:extLst>
              <a:ext uri="{FF2B5EF4-FFF2-40B4-BE49-F238E27FC236}">
                <a16:creationId xmlns:a16="http://schemas.microsoft.com/office/drawing/2014/main" id="{5BB880A3-535E-FA1B-325C-245F496EC8EB}"/>
              </a:ext>
            </a:extLst>
          </p:cNvPr>
          <p:cNvSpPr txBox="1">
            <a:spLocks/>
          </p:cNvSpPr>
          <p:nvPr/>
        </p:nvSpPr>
        <p:spPr>
          <a:xfrm>
            <a:off x="3924025"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 name="Tijdelijke aanduiding voor tekst 3">
            <a:extLst>
              <a:ext uri="{FF2B5EF4-FFF2-40B4-BE49-F238E27FC236}">
                <a16:creationId xmlns:a16="http://schemas.microsoft.com/office/drawing/2014/main" id="{F477FACA-D5DB-E6BA-DF05-46878F16A5E7}"/>
              </a:ext>
            </a:extLst>
          </p:cNvPr>
          <p:cNvSpPr txBox="1">
            <a:spLocks/>
          </p:cNvSpPr>
          <p:nvPr/>
        </p:nvSpPr>
        <p:spPr>
          <a:xfrm>
            <a:off x="5515486"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4" name="Tijdelijke aanduiding voor tekst 3">
            <a:extLst>
              <a:ext uri="{FF2B5EF4-FFF2-40B4-BE49-F238E27FC236}">
                <a16:creationId xmlns:a16="http://schemas.microsoft.com/office/drawing/2014/main" id="{ECA27A9D-DE68-86F3-03A6-983AC0D50325}"/>
              </a:ext>
            </a:extLst>
          </p:cNvPr>
          <p:cNvSpPr txBox="1">
            <a:spLocks/>
          </p:cNvSpPr>
          <p:nvPr/>
        </p:nvSpPr>
        <p:spPr>
          <a:xfrm>
            <a:off x="7106947"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5" name="Tijdelijke aanduiding voor tekst 3">
            <a:extLst>
              <a:ext uri="{FF2B5EF4-FFF2-40B4-BE49-F238E27FC236}">
                <a16:creationId xmlns:a16="http://schemas.microsoft.com/office/drawing/2014/main" id="{33B6D81B-B6C9-6C9D-4013-CBDD9520CF7C}"/>
              </a:ext>
            </a:extLst>
          </p:cNvPr>
          <p:cNvSpPr txBox="1">
            <a:spLocks/>
          </p:cNvSpPr>
          <p:nvPr/>
        </p:nvSpPr>
        <p:spPr>
          <a:xfrm>
            <a:off x="8698408"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6" name="Tijdelijke aanduiding voor tekst 3">
            <a:extLst>
              <a:ext uri="{FF2B5EF4-FFF2-40B4-BE49-F238E27FC236}">
                <a16:creationId xmlns:a16="http://schemas.microsoft.com/office/drawing/2014/main" id="{16D3EAF0-FEA8-8371-1CDA-5F43C03E6A6A}"/>
              </a:ext>
            </a:extLst>
          </p:cNvPr>
          <p:cNvSpPr txBox="1">
            <a:spLocks/>
          </p:cNvSpPr>
          <p:nvPr/>
        </p:nvSpPr>
        <p:spPr>
          <a:xfrm>
            <a:off x="10289870" y="265799"/>
            <a:ext cx="1539896" cy="337433"/>
          </a:xfrm>
          <a:prstGeom prst="roundRect">
            <a:avLst>
              <a:gd name="adj" fmla="val 50000"/>
            </a:avLst>
          </a:prstGeom>
          <a:solidFill>
            <a:srgbClr val="FFFFFF">
              <a:alpha val="36078"/>
            </a:srgbClr>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29" name="Tijdelijke aanduiding voor tekst 3">
            <a:extLst>
              <a:ext uri="{FF2B5EF4-FFF2-40B4-BE49-F238E27FC236}">
                <a16:creationId xmlns:a16="http://schemas.microsoft.com/office/drawing/2014/main" id="{50F979D9-A85D-2824-05A4-888389C21C04}"/>
              </a:ext>
            </a:extLst>
          </p:cNvPr>
          <p:cNvSpPr txBox="1">
            <a:spLocks/>
          </p:cNvSpPr>
          <p:nvPr/>
        </p:nvSpPr>
        <p:spPr>
          <a:xfrm>
            <a:off x="722705" y="265799"/>
            <a:ext cx="1539896" cy="337433"/>
          </a:xfrm>
          <a:prstGeom prst="roundRect">
            <a:avLst>
              <a:gd name="adj" fmla="val 50000"/>
            </a:avLst>
          </a:prstGeom>
          <a:solidFill>
            <a:srgbClr val="FFA726"/>
          </a:solidFill>
        </p:spPr>
        <p:txBody>
          <a:bodyPr vert="horz" lIns="18000" tIns="18000" rIns="18000" bIns="1800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gn="ctr">
              <a:lnSpc>
                <a:spcPct val="100000"/>
              </a:lnSpc>
              <a:spcBef>
                <a:spcPts val="0"/>
              </a:spcBef>
              <a:buFontTx/>
              <a:buNone/>
              <a:defRPr/>
            </a:pPr>
            <a:endParaRPr lang="en-GB" sz="800" cap="all" spc="110"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5" name="TextBox 1">
            <a:extLst>
              <a:ext uri="{FF2B5EF4-FFF2-40B4-BE49-F238E27FC236}">
                <a16:creationId xmlns:a16="http://schemas.microsoft.com/office/drawing/2014/main" id="{B3C542C0-F2EA-B000-DF35-D3A33EEAFC26}"/>
              </a:ext>
            </a:extLst>
          </p:cNvPr>
          <p:cNvSpPr txBox="1"/>
          <p:nvPr/>
        </p:nvSpPr>
        <p:spPr>
          <a:xfrm>
            <a:off x="631893" y="1553589"/>
            <a:ext cx="6624311" cy="47089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B7D6E1"/>
                </a:solidFill>
                <a:effectLst/>
                <a:uLnTx/>
                <a:uFillTx/>
                <a:latin typeface="Open Sans"/>
                <a:ea typeface="+mn-ea"/>
                <a:cs typeface="+mn-cs"/>
              </a:rPr>
              <a:t>This document has been prepared solely for informational purposes to outline a potential trajectory for identifying investment opportunities and, at a later stage, selecting and structuring an appropriate investment vehicle. It does not constitute, and should not be construed as, an offer to sell or a solicitation of an offer to buy any securities in the United States, United Kingdom,  the European Union or any other jurisdiction. Any such offer or solicitation will be made only through formal offering materials and in compliance with applicable securities laws.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B7D6E1"/>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B7D6E1"/>
                </a:solidFill>
                <a:effectLst/>
                <a:uLnTx/>
                <a:uFillTx/>
                <a:latin typeface="Open Sans"/>
                <a:ea typeface="+mn-ea"/>
                <a:cs typeface="+mn-cs"/>
              </a:rPr>
              <a:t>This document may contain forward-looking statements regarding anticipated strategies, market opportunities, and potential outcomes. These statements are based on current assumptions and expectations and involve risks, uncertainties, and other factors that could cause actual results to differ materially. While the trajectory described reflects Aqua for All’s strategy and capabilities, its implementation and outcomes will depend on future conditions, assumptions (including market conditions), and other factors beyond the control of Aqua for All. Past performance is not indicative of future results. The information contained herein has been prepared by Aqua for All and is subject to revision, completion, and amendment.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B7D6E1"/>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B7D6E1"/>
                </a:solidFill>
                <a:effectLst/>
                <a:uLnTx/>
                <a:uFillTx/>
                <a:latin typeface="Open Sans"/>
                <a:ea typeface="+mn-ea"/>
                <a:cs typeface="+mn-cs"/>
              </a:rPr>
              <a:t>Neither Aqua for All’s nor its directors, leads, managers, employees, or advisors make any representation or warranty, express or implied, as to the accuracy, completeness, or fairness of the information contained herein.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B7D6E1"/>
              </a:solidFill>
              <a:effectLst/>
              <a:uLnTx/>
              <a:uFillTx/>
              <a:latin typeface="Open San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dirty="0">
                <a:ln>
                  <a:noFill/>
                </a:ln>
                <a:solidFill>
                  <a:srgbClr val="B7D6E1"/>
                </a:solidFill>
                <a:effectLst/>
                <a:uLnTx/>
                <a:uFillTx/>
                <a:latin typeface="Open Sans"/>
                <a:ea typeface="+mn-ea"/>
                <a:cs typeface="+mn-cs"/>
              </a:rPr>
              <a:t>This presentation is confidential and may not be reproduced, distributed, or used for any purpose other than the evaluation of the information herein without the prior written consent of Aqua for All.</a:t>
            </a:r>
          </a:p>
        </p:txBody>
      </p:sp>
      <p:sp>
        <p:nvSpPr>
          <p:cNvPr id="6" name="Tekstvak 3">
            <a:extLst>
              <a:ext uri="{FF2B5EF4-FFF2-40B4-BE49-F238E27FC236}">
                <a16:creationId xmlns:a16="http://schemas.microsoft.com/office/drawing/2014/main" id="{FA453325-35AD-D343-07A8-CB8D6E4CBA80}"/>
              </a:ext>
            </a:extLst>
          </p:cNvPr>
          <p:cNvSpPr txBox="1"/>
          <p:nvPr/>
        </p:nvSpPr>
        <p:spPr>
          <a:xfrm>
            <a:off x="7885470" y="2938224"/>
            <a:ext cx="3844413"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B7D6E1"/>
                </a:solidFill>
                <a:effectLst/>
                <a:uLnTx/>
                <a:uFillTx/>
                <a:latin typeface="Funnel Sans" pitchFamily="2" charset="0"/>
                <a:ea typeface="+mn-ea"/>
                <a:cs typeface="+mn-cs"/>
              </a:rPr>
              <a:t>Johanna </a:t>
            </a:r>
            <a:r>
              <a:rPr kumimoji="0" lang="en-GB" sz="1600" b="0" i="0" u="none" strike="noStrike" kern="1200" cap="none" spc="0" normalizeH="0" baseline="0" noProof="0" dirty="0" err="1">
                <a:ln>
                  <a:noFill/>
                </a:ln>
                <a:solidFill>
                  <a:srgbClr val="B7D6E1"/>
                </a:solidFill>
                <a:effectLst/>
                <a:uLnTx/>
                <a:uFillTx/>
                <a:latin typeface="Funnel Sans" pitchFamily="2" charset="0"/>
                <a:ea typeface="+mn-ea"/>
                <a:cs typeface="+mn-cs"/>
              </a:rPr>
              <a:t>Westerdijkplein</a:t>
            </a:r>
            <a:r>
              <a:rPr kumimoji="0" lang="en-GB" sz="1600" b="0" i="0" u="none" strike="noStrike" kern="1200" cap="none" spc="0" normalizeH="0" baseline="0" noProof="0" dirty="0">
                <a:ln>
                  <a:noFill/>
                </a:ln>
                <a:solidFill>
                  <a:srgbClr val="B7D6E1"/>
                </a:solidFill>
                <a:effectLst/>
                <a:uLnTx/>
                <a:uFillTx/>
                <a:latin typeface="Funnel Sans" pitchFamily="2" charset="0"/>
                <a:ea typeface="+mn-ea"/>
                <a:cs typeface="+mn-cs"/>
              </a:rPr>
              <a:t> 1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B7D6E1"/>
                </a:solidFill>
                <a:effectLst/>
                <a:uLnTx/>
                <a:uFillTx/>
                <a:latin typeface="Funnel Sans" pitchFamily="2" charset="0"/>
                <a:ea typeface="+mn-ea"/>
                <a:cs typeface="+mn-cs"/>
              </a:rPr>
              <a:t>2521 EN The Hague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B7D6E1"/>
                </a:solidFill>
                <a:effectLst/>
                <a:uLnTx/>
                <a:uFillTx/>
                <a:latin typeface="Funnel Sans" pitchFamily="2" charset="0"/>
                <a:ea typeface="+mn-ea"/>
                <a:cs typeface="+mn-cs"/>
              </a:rPr>
              <a:t>The Netherlands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srgbClr val="B7D6E1"/>
              </a:solidFill>
              <a:effectLst/>
              <a:uLnTx/>
              <a:uFillTx/>
              <a:latin typeface="Funnel Sans" pitchFamily="2" charset="0"/>
              <a:ea typeface="+mn-ea"/>
              <a:cs typeface="+mn-cs"/>
            </a:endParaRPr>
          </a:p>
        </p:txBody>
      </p:sp>
      <p:sp>
        <p:nvSpPr>
          <p:cNvPr id="7" name="Afgeronde rechthoek 2">
            <a:extLst>
              <a:ext uri="{FF2B5EF4-FFF2-40B4-BE49-F238E27FC236}">
                <a16:creationId xmlns:a16="http://schemas.microsoft.com/office/drawing/2014/main" id="{F29B72A4-F25F-5093-4C56-22D9E61BC247}"/>
              </a:ext>
            </a:extLst>
          </p:cNvPr>
          <p:cNvSpPr/>
          <p:nvPr/>
        </p:nvSpPr>
        <p:spPr>
          <a:xfrm>
            <a:off x="7830489" y="4776057"/>
            <a:ext cx="3954374" cy="579406"/>
          </a:xfrm>
          <a:prstGeom prst="roundRect">
            <a:avLst>
              <a:gd name="adj" fmla="val 50000"/>
            </a:avLst>
          </a:prstGeom>
          <a:solidFill>
            <a:srgbClr val="FFA7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rgbClr val="002750"/>
                </a:solidFill>
                <a:effectLst/>
                <a:uLnTx/>
                <a:uFillTx/>
                <a:latin typeface="Funnel Sans" pitchFamily="2" charset="0"/>
                <a:ea typeface="+mn-ea"/>
                <a:cs typeface="+mn-cs"/>
              </a:rPr>
              <a:t>j.sluijs@aquaforall.org</a:t>
            </a:r>
          </a:p>
        </p:txBody>
      </p:sp>
      <p:sp>
        <p:nvSpPr>
          <p:cNvPr id="8" name="Title 1">
            <a:extLst>
              <a:ext uri="{FF2B5EF4-FFF2-40B4-BE49-F238E27FC236}">
                <a16:creationId xmlns:a16="http://schemas.microsoft.com/office/drawing/2014/main" id="{42938C5D-5887-5264-6C72-8F8F0B1F3CC7}"/>
              </a:ext>
            </a:extLst>
          </p:cNvPr>
          <p:cNvSpPr txBox="1">
            <a:spLocks/>
          </p:cNvSpPr>
          <p:nvPr/>
        </p:nvSpPr>
        <p:spPr>
          <a:xfrm>
            <a:off x="7973249" y="1654422"/>
            <a:ext cx="3586857" cy="959410"/>
          </a:xfrm>
          <a:prstGeom prst="rect">
            <a:avLst/>
          </a:prstGeom>
        </p:spPr>
        <p:txBody>
          <a:bodyPr vert="horz" lIns="18000" tIns="18000" rIns="18000" bIns="18000" rtlCol="0" anchor="b" anchorCtr="0">
            <a:normAutofit fontScale="97500"/>
          </a:bodyPr>
          <a:lstStyle>
            <a:lvl1pPr algn="ctr" defTabSz="914400" rtl="0" eaLnBrk="1" latinLnBrk="0" hangingPunct="1">
              <a:lnSpc>
                <a:spcPct val="90000"/>
              </a:lnSpc>
              <a:spcBef>
                <a:spcPct val="0"/>
              </a:spcBef>
              <a:buNone/>
              <a:defRPr sz="6000" b="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sz="4400" b="0" i="0" u="none" strike="noStrike" kern="1200" cap="none" spc="0" normalizeH="0" baseline="0" noProof="0">
                <a:ln>
                  <a:noFill/>
                </a:ln>
                <a:solidFill>
                  <a:prstClr val="white"/>
                </a:solidFill>
                <a:effectLst/>
                <a:uLnTx/>
                <a:uFillTx/>
                <a:latin typeface="Fivo Sans Med" pitchFamily="2" charset="77"/>
                <a:ea typeface="+mj-ea"/>
                <a:cs typeface="+mj-cs"/>
              </a:rPr>
              <a:t>Join us</a:t>
            </a:r>
          </a:p>
        </p:txBody>
      </p:sp>
      <p:cxnSp>
        <p:nvCxnSpPr>
          <p:cNvPr id="9" name="Rechte verbindingslijn 21">
            <a:extLst>
              <a:ext uri="{FF2B5EF4-FFF2-40B4-BE49-F238E27FC236}">
                <a16:creationId xmlns:a16="http://schemas.microsoft.com/office/drawing/2014/main" id="{6086F37F-F09F-535E-A156-B1CFE7D991C1}"/>
              </a:ext>
            </a:extLst>
          </p:cNvPr>
          <p:cNvCxnSpPr>
            <a:cxnSpLocks/>
          </p:cNvCxnSpPr>
          <p:nvPr/>
        </p:nvCxnSpPr>
        <p:spPr>
          <a:xfrm flipV="1">
            <a:off x="7570838" y="1504202"/>
            <a:ext cx="0" cy="4670355"/>
          </a:xfrm>
          <a:prstGeom prst="line">
            <a:avLst/>
          </a:prstGeom>
          <a:ln>
            <a:solidFill>
              <a:srgbClr val="FFA72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59415111"/>
      </p:ext>
    </p:extLst>
  </p:cSld>
  <p:clrMapOvr>
    <a:masterClrMapping/>
  </p:clrMapOvr>
</p:sld>
</file>

<file path=ppt/theme/theme1.xml><?xml version="1.0" encoding="utf-8"?>
<a:theme xmlns:a="http://schemas.openxmlformats.org/drawingml/2006/main" name="1_Office Theme">
  <a:themeElements>
    <a:clrScheme name="Aqua for all">
      <a:dk1>
        <a:sysClr val="windowText" lastClr="000000"/>
      </a:dk1>
      <a:lt1>
        <a:sysClr val="window" lastClr="FFFFFF"/>
      </a:lt1>
      <a:dk2>
        <a:srgbClr val="002750"/>
      </a:dk2>
      <a:lt2>
        <a:srgbClr val="90CEF1"/>
      </a:lt2>
      <a:accent1>
        <a:srgbClr val="6DACDE"/>
      </a:accent1>
      <a:accent2>
        <a:srgbClr val="3D85C6"/>
      </a:accent2>
      <a:accent3>
        <a:srgbClr val="3777BC"/>
      </a:accent3>
      <a:accent4>
        <a:srgbClr val="00549A"/>
      </a:accent4>
      <a:accent5>
        <a:srgbClr val="E4A039"/>
      </a:accent5>
      <a:accent6>
        <a:srgbClr val="B94F26"/>
      </a:accent6>
      <a:hlink>
        <a:srgbClr val="0563C1"/>
      </a:hlink>
      <a:folHlink>
        <a:srgbClr val="954F72"/>
      </a:folHlink>
    </a:clrScheme>
    <a:fontScheme name="Aqua for all">
      <a:majorFont>
        <a:latin typeface="Raleway"/>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Office Theme">
  <a:themeElements>
    <a:clrScheme name="Aqua for all">
      <a:dk1>
        <a:sysClr val="windowText" lastClr="000000"/>
      </a:dk1>
      <a:lt1>
        <a:sysClr val="window" lastClr="FFFFFF"/>
      </a:lt1>
      <a:dk2>
        <a:srgbClr val="002750"/>
      </a:dk2>
      <a:lt2>
        <a:srgbClr val="90CEF1"/>
      </a:lt2>
      <a:accent1>
        <a:srgbClr val="6DACDE"/>
      </a:accent1>
      <a:accent2>
        <a:srgbClr val="3D85C6"/>
      </a:accent2>
      <a:accent3>
        <a:srgbClr val="3777BC"/>
      </a:accent3>
      <a:accent4>
        <a:srgbClr val="00549A"/>
      </a:accent4>
      <a:accent5>
        <a:srgbClr val="E4A039"/>
      </a:accent5>
      <a:accent6>
        <a:srgbClr val="B94F26"/>
      </a:accent6>
      <a:hlink>
        <a:srgbClr val="0563C1"/>
      </a:hlink>
      <a:folHlink>
        <a:srgbClr val="954F72"/>
      </a:folHlink>
    </a:clrScheme>
    <a:fontScheme name="Aqua for all">
      <a:majorFont>
        <a:latin typeface="Raleway"/>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956204FD4E18443B9DFD143B663356B" ma:contentTypeVersion="18" ma:contentTypeDescription="Create a new document." ma:contentTypeScope="" ma:versionID="6ca027769d77e244b76dafaf6eb2eda9">
  <xsd:schema xmlns:xsd="http://www.w3.org/2001/XMLSchema" xmlns:xs="http://www.w3.org/2001/XMLSchema" xmlns:p="http://schemas.microsoft.com/office/2006/metadata/properties" xmlns:ns2="1a504244-3274-4e08-b9ba-80958950eea7" xmlns:ns3="41030970-95aa-4084-bb29-24f94ce0d7f8" targetNamespace="http://schemas.microsoft.com/office/2006/metadata/properties" ma:root="true" ma:fieldsID="2469aef1ca1c25cc535b5cc5429da985" ns2:_="" ns3:_="">
    <xsd:import namespace="1a504244-3274-4e08-b9ba-80958950eea7"/>
    <xsd:import namespace="41030970-95aa-4084-bb29-24f94ce0d7f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AutoKeyPoints" minOccurs="0"/>
                <xsd:element ref="ns2:MediaServiceKeyPoints" minOccurs="0"/>
                <xsd:element ref="ns3:SharedWithUsers" minOccurs="0"/>
                <xsd:element ref="ns3:SharedWithDetails"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Comment"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504244-3274-4e08-b9ba-80958950eea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AutoKeyPoints" ma:index="11" nillable="true" ma:displayName="MediaServiceAutoKeyPoints" ma:hidden="true" ma:internalName="MediaServiceAutoKeyPoints" ma:readOnly="true">
      <xsd:simpleType>
        <xsd:restriction base="dms:Note"/>
      </xsd:simpleType>
    </xsd:element>
    <xsd:element name="MediaServiceKeyPoints" ma:index="12" nillable="true" ma:displayName="KeyPoints" ma:internalName="MediaServiceKeyPoints"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hidden="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Comment" ma:index="20" nillable="true" ma:displayName="Comment" ma:description="Additional background info" ma:format="Dropdown" ma:internalName="Comment">
      <xsd:simpleType>
        <xsd:restriction base="dms:Text">
          <xsd:maxLength value="255"/>
        </xsd:restrictio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3166f45-9f25-48b4-aa3b-668e44f11e4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1030970-95aa-4084-bb29-24f94ce0d7f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2ed1983d-d296-4b9f-abe0-4a1ba2c3f6dc}" ma:internalName="TaxCatchAll" ma:showField="CatchAllData" ma:web="41030970-95aa-4084-bb29-24f94ce0d7f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41030970-95aa-4084-bb29-24f94ce0d7f8" xsi:nil="true"/>
    <Comment xmlns="1a504244-3274-4e08-b9ba-80958950eea7" xsi:nil="true"/>
    <lcf76f155ced4ddcb4097134ff3c332f xmlns="1a504244-3274-4e08-b9ba-80958950eea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3EBA4A9-738A-4E89-9D03-090287DFA1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504244-3274-4e08-b9ba-80958950eea7"/>
    <ds:schemaRef ds:uri="41030970-95aa-4084-bb29-24f94ce0d7f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BA5929-1CB6-473D-8F1A-301ACCDB5FA3}">
  <ds:schemaRefs>
    <ds:schemaRef ds:uri="http://schemas.microsoft.com/sharepoint/v3/contenttype/forms"/>
  </ds:schemaRefs>
</ds:datastoreItem>
</file>

<file path=customXml/itemProps3.xml><?xml version="1.0" encoding="utf-8"?>
<ds:datastoreItem xmlns:ds="http://schemas.openxmlformats.org/officeDocument/2006/customXml" ds:itemID="{51C2476F-95E9-4A2F-8C5C-320F049D6317}">
  <ds:schemaRefs>
    <ds:schemaRef ds:uri="http://www.w3.org/XML/1998/namespace"/>
    <ds:schemaRef ds:uri="http://schemas.microsoft.com/office/2006/documentManagement/types"/>
    <ds:schemaRef ds:uri="http://schemas.microsoft.com/office/2006/metadata/properties"/>
    <ds:schemaRef ds:uri="http://schemas.openxmlformats.org/package/2006/metadata/core-properties"/>
    <ds:schemaRef ds:uri="http://schemas.microsoft.com/office/infopath/2007/PartnerControls"/>
    <ds:schemaRef ds:uri="http://purl.org/dc/terms/"/>
    <ds:schemaRef ds:uri="http://purl.org/dc/elements/1.1/"/>
    <ds:schemaRef ds:uri="41030970-95aa-4084-bb29-24f94ce0d7f8"/>
    <ds:schemaRef ds:uri="1a504244-3274-4e08-b9ba-80958950eea7"/>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1583</TotalTime>
  <Words>7347</Words>
  <Application>Microsoft Macintosh PowerPoint</Application>
  <PresentationFormat>Breedbeeld</PresentationFormat>
  <Paragraphs>989</Paragraphs>
  <Slides>60</Slides>
  <Notes>53</Notes>
  <HiddenSlides>6</HiddenSlides>
  <MMClips>0</MMClips>
  <ScaleCrop>false</ScaleCrop>
  <HeadingPairs>
    <vt:vector size="6" baseType="variant">
      <vt:variant>
        <vt:lpstr>Gebruikte lettertypen</vt:lpstr>
      </vt:variant>
      <vt:variant>
        <vt:i4>12</vt:i4>
      </vt:variant>
      <vt:variant>
        <vt:lpstr>Thema</vt:lpstr>
      </vt:variant>
      <vt:variant>
        <vt:i4>2</vt:i4>
      </vt:variant>
      <vt:variant>
        <vt:lpstr>Diatitels</vt:lpstr>
      </vt:variant>
      <vt:variant>
        <vt:i4>60</vt:i4>
      </vt:variant>
    </vt:vector>
  </HeadingPairs>
  <TitlesOfParts>
    <vt:vector size="74" baseType="lpstr">
      <vt:lpstr>Aptos</vt:lpstr>
      <vt:lpstr>Arial</vt:lpstr>
      <vt:lpstr>Calibri</vt:lpstr>
      <vt:lpstr>Courier New</vt:lpstr>
      <vt:lpstr>Fivo Sans Med</vt:lpstr>
      <vt:lpstr>Funnel Sans</vt:lpstr>
      <vt:lpstr>Open Sans</vt:lpstr>
      <vt:lpstr>Raleway</vt:lpstr>
      <vt:lpstr>Raleway SemiBold</vt:lpstr>
      <vt:lpstr>Roboto</vt:lpstr>
      <vt:lpstr>Roboto Medium</vt:lpstr>
      <vt:lpstr>Wingdings</vt:lpstr>
      <vt:lpstr>1_Office Theme</vt:lpstr>
      <vt:lpstr>2_Office Theme</vt:lpstr>
      <vt:lpstr>Global Water Investment Facility  </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Ingwell Kuil</dc:creator>
  <cp:lastModifiedBy>lyn@rainbowcollection.nl</cp:lastModifiedBy>
  <cp:revision>5</cp:revision>
  <dcterms:created xsi:type="dcterms:W3CDTF">2026-04-14T04:37:22Z</dcterms:created>
  <dcterms:modified xsi:type="dcterms:W3CDTF">2026-04-16T08:12:12Z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0x0101004956204FD4E18443B9DFD143B663356B</vt:lpwstr>
  </property>
  <property fmtid="{D5CDD505-2E9C-101B-9397-08002B2CF9AE}" pid="3" name="MediaServiceImageTags">
    <vt:lpwstr/>
  </property>
</Properties>
</file>